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15"/>
  </p:normalViewPr>
  <p:slideViewPr>
    <p:cSldViewPr snapToGrid="0" snapToObjects="1">
      <p:cViewPr varScale="1">
        <p:scale>
          <a:sx n="106" d="100"/>
          <a:sy n="106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5EBBB5-5123-2C40-932A-54A40A1578AC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</dgm:pt>
    <dgm:pt modelId="{64766BFC-2A5B-CA46-BA2B-B6907C24B500}" type="pres">
      <dgm:prSet presAssocID="{925EBBB5-5123-2C40-932A-54A40A1578AC}" presName="diagram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456DDB06-51AE-214C-9927-949CCCCE35BC}" type="presOf" srcId="{925EBBB5-5123-2C40-932A-54A40A1578AC}" destId="{64766BFC-2A5B-CA46-BA2B-B6907C24B500}" srcOrd="0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AA1B60-7ED0-F747-B8DB-BF4DAE118B2B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66B27-DDF1-E643-8FBB-F195924B40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2760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66B27-DDF1-E643-8FBB-F195924B40BE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4393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82180-8295-514D-93D9-21B3D339C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E5B14F-84CE-334A-A48C-A1DAB5725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4CA355-F979-9946-8220-A7A1E5DFE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6025E0-76E0-1248-A58C-8217DE0B6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E43C92-D1C0-BE42-BE65-07DADEB4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329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A79E7-680B-AE43-A984-159DC7B81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FCF148-A0D9-7147-8606-8C0039ACC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F0D868-3720-3C40-8F7E-2C5D89B36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7284F0-46BC-074B-AF11-1BB1AD1EE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07B410-AA8C-E44A-91E4-EB3E71A92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0135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3D037-BDE0-F048-BB21-A6F244A97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AC8997-22A3-CF46-BFA7-59E8EADCB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4186F4-83A0-EB40-9641-0F3DEFA8A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D614C5-6D0D-8E40-9570-574D45DCA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BFD7DA-D737-CC4F-8A25-82A302F94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3930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AAC064-A5D5-8E4C-98DF-E1B5BF406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0E63DF-C8C2-BE4F-A1B6-AFD0484B8A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2C7297D-A731-DC4D-AAFA-FD902086E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3D64B5A-70BC-814C-AB13-3BB7181A1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F0B96E-5FF2-6847-8E0C-1C6D1B3B0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DB912B-1E0E-BB43-9211-74EF159F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3962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1A5D6-2214-7241-8DF4-041A6A413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8CCCE1-108A-1E49-B79B-BE5FD4AA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410C61-C4E3-7942-B591-1EA65489B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F69C531-C8BC-5E4B-B7AB-DD5C37A241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F6E8EC8-C349-6A4B-94DB-888FDF33F0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7F3B8C3-7BA5-AA4D-A9B8-CDD70ACBC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D6D74F3-1512-264C-ADA5-D9C714B69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C20374E-6C2C-FD4C-9BB1-E0510C238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2205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40AC45-73CA-A649-8D11-12390E592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F1D6F2-A0B9-4D44-9A2A-D2AC9BCBE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13DDC80-4624-B245-BA54-25F0DACD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7EFD38C-8B9B-6841-B717-0E6279002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538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CDBCD89-C60F-C64A-B8C4-4503E6012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87540FC-C0C2-E84D-9A4D-8C3898B74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D16EF0-015B-D943-9E92-8DC35AE7A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9743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44A9F-CFB7-AA43-8F67-5CA134E59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C3AB85-D551-BD42-9396-AF742EE9A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1F8C18-52B7-824B-B4CF-D767EF53B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8E4DB04-7F92-6749-8862-8385E5979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88B9F08-E707-554C-B787-2B47E9681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6DF808-AF8D-B54C-AEA8-0345B366D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2341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33E04F-5FF7-E649-ADDC-569F87DE0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87F5B1A-A3C1-AB47-A948-3F6D735030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0B98266-B36E-7449-B48D-4D74363E2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AB8E5B-210C-864D-BF11-6BD7F283F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3A4B64-A972-F747-87E0-0D2E1A976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CBA8F8-5D3A-874A-995D-2588C5B58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89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E770E-82BA-1043-ACCC-857FCA23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D9FA401-9B14-124B-8ACC-838B20C96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801D5C-25CB-BF4E-92C0-BF7262DD6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1CC6D1-7CBB-DD4C-87A6-FAA0F6C5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8366B0-7A7F-204C-95D6-506F379D8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2883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6319A34-50F0-4845-93A0-03481A6ED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AC4C66B-E73D-5A41-BA00-4B5382B16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2B85A5-42B3-6749-A1D7-D3D5828B0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61B1C-3E14-2A4C-937D-1B94A26AECCD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27E8B7-E29A-584C-9D3B-66EC64DE2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D5153C-E59B-8448-B60F-C345584E3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4940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987E7F0-A988-8E4C-BFCF-7FDCB32C8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7FE4B0-73A8-8E48-B0FF-03E0E6D78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D16D8B-2C5E-124C-AB0C-3C384A888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61B1C-3E14-2A4C-937D-1B94A26AECCD}" type="datetimeFigureOut">
              <a:rPr lang="pt-BR" smtClean="0"/>
              <a:t>16/08/2022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100249-7EF8-8542-B011-5F67A2603A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2DED2E-30D9-A643-9A1E-06A42CFC9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7DC4C-39F5-AB4C-8D75-FBBFC6E3CF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436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AC28F-E7ED-7441-BB0E-43B6D248D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8791"/>
            <a:ext cx="9144000" cy="628468"/>
          </a:xfrm>
        </p:spPr>
        <p:txBody>
          <a:bodyPr>
            <a:normAutofit/>
          </a:bodyPr>
          <a:lstStyle/>
          <a:p>
            <a:r>
              <a:rPr lang="pt-BR" sz="2800" dirty="0"/>
              <a:t>FLUXO DO FATURAMENTO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75EA524-FCDD-5644-BD42-1F6AFE9B97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3486018"/>
              </p:ext>
            </p:extLst>
          </p:nvPr>
        </p:nvGraphicFramePr>
        <p:xfrm>
          <a:off x="124326" y="1600200"/>
          <a:ext cx="11943348" cy="5051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EE66CB5B-AA50-984E-B604-9E312D650003}"/>
              </a:ext>
            </a:extLst>
          </p:cNvPr>
          <p:cNvCxnSpPr>
            <a:cxnSpLocks/>
          </p:cNvCxnSpPr>
          <p:nvPr/>
        </p:nvCxnSpPr>
        <p:spPr>
          <a:xfrm>
            <a:off x="1307306" y="1985963"/>
            <a:ext cx="4333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7E493CA8-0259-1349-88D0-249048021765}"/>
              </a:ext>
            </a:extLst>
          </p:cNvPr>
          <p:cNvSpPr/>
          <p:nvPr/>
        </p:nvSpPr>
        <p:spPr>
          <a:xfrm>
            <a:off x="124326" y="1600200"/>
            <a:ext cx="1182980" cy="771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CLIENTE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714F157-CBDE-9048-B9E5-B336794AF298}"/>
              </a:ext>
            </a:extLst>
          </p:cNvPr>
          <p:cNvSpPr/>
          <p:nvPr/>
        </p:nvSpPr>
        <p:spPr>
          <a:xfrm>
            <a:off x="1740694" y="1600200"/>
            <a:ext cx="1524000" cy="771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PEDIDOS NOVOS</a:t>
            </a:r>
          </a:p>
        </p:txBody>
      </p:sp>
      <p:sp>
        <p:nvSpPr>
          <p:cNvPr id="11" name="Retângulo Arredondado 10">
            <a:extLst>
              <a:ext uri="{FF2B5EF4-FFF2-40B4-BE49-F238E27FC236}">
                <a16:creationId xmlns:a16="http://schemas.microsoft.com/office/drawing/2014/main" id="{456FC1BB-6B7E-BD45-A891-B09FD7E02D5D}"/>
              </a:ext>
            </a:extLst>
          </p:cNvPr>
          <p:cNvSpPr/>
          <p:nvPr/>
        </p:nvSpPr>
        <p:spPr>
          <a:xfrm>
            <a:off x="4034972" y="1600200"/>
            <a:ext cx="2264228" cy="7715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55F73B90-34EB-1144-A1E2-6F97B270D572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264694" y="1976662"/>
            <a:ext cx="770278" cy="9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DF6FF1A-96E6-8D4D-8ED0-A7A3CA234D0F}"/>
              </a:ext>
            </a:extLst>
          </p:cNvPr>
          <p:cNvSpPr txBox="1"/>
          <p:nvPr/>
        </p:nvSpPr>
        <p:spPr>
          <a:xfrm>
            <a:off x="4238171" y="1600200"/>
            <a:ext cx="21013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DEPARTAMENTO DE </a:t>
            </a:r>
          </a:p>
          <a:p>
            <a:pPr algn="ctr"/>
            <a:r>
              <a:rPr lang="pt-BR" dirty="0">
                <a:solidFill>
                  <a:schemeClr val="bg1"/>
                </a:solidFill>
              </a:rPr>
              <a:t>VENDAS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507EF13-1408-DA4F-AF68-E66496097CD3}"/>
              </a:ext>
            </a:extLst>
          </p:cNvPr>
          <p:cNvSpPr txBox="1"/>
          <p:nvPr/>
        </p:nvSpPr>
        <p:spPr>
          <a:xfrm>
            <a:off x="5834743" y="1985961"/>
            <a:ext cx="362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8CD9FEC-FA0A-9F49-BEEA-1E349F06D15A}"/>
              </a:ext>
            </a:extLst>
          </p:cNvPr>
          <p:cNvSpPr/>
          <p:nvPr/>
        </p:nvSpPr>
        <p:spPr>
          <a:xfrm>
            <a:off x="9153351" y="2724368"/>
            <a:ext cx="1758489" cy="801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PENDENTES POR CREDITO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F1C10527-BC1E-FE45-9027-2925858A753F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6339515" y="1919529"/>
            <a:ext cx="729963" cy="3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tângulo Arredondado 28">
            <a:extLst>
              <a:ext uri="{FF2B5EF4-FFF2-40B4-BE49-F238E27FC236}">
                <a16:creationId xmlns:a16="http://schemas.microsoft.com/office/drawing/2014/main" id="{0DC1AA04-13C4-0742-BABF-2F6211E0083D}"/>
              </a:ext>
            </a:extLst>
          </p:cNvPr>
          <p:cNvSpPr/>
          <p:nvPr/>
        </p:nvSpPr>
        <p:spPr>
          <a:xfrm>
            <a:off x="7029519" y="1577294"/>
            <a:ext cx="2760067" cy="8011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DEPARTAMENTO DE CREDITO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A0BB499E-D807-2746-A11F-73DBF0CA7FF3}"/>
              </a:ext>
            </a:extLst>
          </p:cNvPr>
          <p:cNvSpPr txBox="1"/>
          <p:nvPr/>
        </p:nvSpPr>
        <p:spPr>
          <a:xfrm>
            <a:off x="11158330" y="19195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50" name="Conector Angulado 49">
            <a:extLst>
              <a:ext uri="{FF2B5EF4-FFF2-40B4-BE49-F238E27FC236}">
                <a16:creationId xmlns:a16="http://schemas.microsoft.com/office/drawing/2014/main" id="{04A0F6FA-3FB8-514C-929A-1142024B5F06}"/>
              </a:ext>
            </a:extLst>
          </p:cNvPr>
          <p:cNvCxnSpPr/>
          <p:nvPr/>
        </p:nvCxnSpPr>
        <p:spPr>
          <a:xfrm>
            <a:off x="8175171" y="2192118"/>
            <a:ext cx="914400" cy="914400"/>
          </a:xfrm>
          <a:prstGeom prst="bentConnector3">
            <a:avLst>
              <a:gd name="adj1" fmla="val 6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tângulo 51">
            <a:extLst>
              <a:ext uri="{FF2B5EF4-FFF2-40B4-BE49-F238E27FC236}">
                <a16:creationId xmlns:a16="http://schemas.microsoft.com/office/drawing/2014/main" id="{1CF4F97F-6FC9-CD4D-A78F-31C335786235}"/>
              </a:ext>
            </a:extLst>
          </p:cNvPr>
          <p:cNvSpPr/>
          <p:nvPr/>
        </p:nvSpPr>
        <p:spPr>
          <a:xfrm>
            <a:off x="4247767" y="2741054"/>
            <a:ext cx="1927254" cy="7844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PEDIDOS PENDENTES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E5CDD702-33C7-8847-A10A-DBFBBA710AFE}"/>
              </a:ext>
            </a:extLst>
          </p:cNvPr>
          <p:cNvCxnSpPr>
            <a:cxnSpLocks/>
          </p:cNvCxnSpPr>
          <p:nvPr/>
        </p:nvCxnSpPr>
        <p:spPr>
          <a:xfrm>
            <a:off x="5196840" y="2378421"/>
            <a:ext cx="0" cy="345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>
            <a:extLst>
              <a:ext uri="{FF2B5EF4-FFF2-40B4-BE49-F238E27FC236}">
                <a16:creationId xmlns:a16="http://schemas.microsoft.com/office/drawing/2014/main" id="{6E208268-98BA-0A4F-AB6E-8BCE8C4B452D}"/>
              </a:ext>
            </a:extLst>
          </p:cNvPr>
          <p:cNvCxnSpPr>
            <a:cxnSpLocks/>
          </p:cNvCxnSpPr>
          <p:nvPr/>
        </p:nvCxnSpPr>
        <p:spPr>
          <a:xfrm flipH="1">
            <a:off x="5212080" y="3429000"/>
            <a:ext cx="14554" cy="901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Angulado 62">
            <a:extLst>
              <a:ext uri="{FF2B5EF4-FFF2-40B4-BE49-F238E27FC236}">
                <a16:creationId xmlns:a16="http://schemas.microsoft.com/office/drawing/2014/main" id="{04B7D1B1-3A20-0B45-BBE2-F153D542653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73276" y="2911109"/>
            <a:ext cx="2025493" cy="7809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tângulo 68">
            <a:extLst>
              <a:ext uri="{FF2B5EF4-FFF2-40B4-BE49-F238E27FC236}">
                <a16:creationId xmlns:a16="http://schemas.microsoft.com/office/drawing/2014/main" id="{7B1C174B-84C3-F045-90D5-14F3AACEB337}"/>
              </a:ext>
            </a:extLst>
          </p:cNvPr>
          <p:cNvSpPr/>
          <p:nvPr/>
        </p:nvSpPr>
        <p:spPr>
          <a:xfrm>
            <a:off x="3052916" y="4314355"/>
            <a:ext cx="4794198" cy="77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CONSISTENCIA DOS PEDIDOS DO DIA</a:t>
            </a:r>
          </a:p>
        </p:txBody>
      </p:sp>
      <p:cxnSp>
        <p:nvCxnSpPr>
          <p:cNvPr id="71" name="Conector Angulado 70">
            <a:extLst>
              <a:ext uri="{FF2B5EF4-FFF2-40B4-BE49-F238E27FC236}">
                <a16:creationId xmlns:a16="http://schemas.microsoft.com/office/drawing/2014/main" id="{0B556F25-CFE9-944D-A6BD-8087B6F685B2}"/>
              </a:ext>
            </a:extLst>
          </p:cNvPr>
          <p:cNvCxnSpPr>
            <a:cxnSpLocks/>
          </p:cNvCxnSpPr>
          <p:nvPr/>
        </p:nvCxnSpPr>
        <p:spPr>
          <a:xfrm rot="10800000" flipV="1">
            <a:off x="7847114" y="3402350"/>
            <a:ext cx="1441627" cy="13691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579E03B4-FBFC-5447-B836-13340328D08D}"/>
              </a:ext>
            </a:extLst>
          </p:cNvPr>
          <p:cNvSpPr txBox="1"/>
          <p:nvPr/>
        </p:nvSpPr>
        <p:spPr>
          <a:xfrm>
            <a:off x="9288741" y="19195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0" name="Retângulo 79">
            <a:extLst>
              <a:ext uri="{FF2B5EF4-FFF2-40B4-BE49-F238E27FC236}">
                <a16:creationId xmlns:a16="http://schemas.microsoft.com/office/drawing/2014/main" id="{1266A0E9-50C1-6441-8FF7-85788668A2BA}"/>
              </a:ext>
            </a:extLst>
          </p:cNvPr>
          <p:cNvSpPr/>
          <p:nvPr/>
        </p:nvSpPr>
        <p:spPr>
          <a:xfrm>
            <a:off x="2466727" y="5507547"/>
            <a:ext cx="1771444" cy="9866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PEDIDOS  CERTOS OK</a:t>
            </a:r>
          </a:p>
        </p:txBody>
      </p:sp>
      <p:sp>
        <p:nvSpPr>
          <p:cNvPr id="81" name="Retângulo 80">
            <a:extLst>
              <a:ext uri="{FF2B5EF4-FFF2-40B4-BE49-F238E27FC236}">
                <a16:creationId xmlns:a16="http://schemas.microsoft.com/office/drawing/2014/main" id="{ADC21184-E312-5840-9E29-A538B690DD24}"/>
              </a:ext>
            </a:extLst>
          </p:cNvPr>
          <p:cNvSpPr/>
          <p:nvPr/>
        </p:nvSpPr>
        <p:spPr>
          <a:xfrm>
            <a:off x="6704898" y="5550989"/>
            <a:ext cx="1771445" cy="778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PEDIDOS COM PROBLEMA</a:t>
            </a:r>
          </a:p>
        </p:txBody>
      </p:sp>
      <p:cxnSp>
        <p:nvCxnSpPr>
          <p:cNvPr id="83" name="Conector de Seta Reta 82">
            <a:extLst>
              <a:ext uri="{FF2B5EF4-FFF2-40B4-BE49-F238E27FC236}">
                <a16:creationId xmlns:a16="http://schemas.microsoft.com/office/drawing/2014/main" id="{A3A9D90D-D611-FB47-85F3-E13DDD23554A}"/>
              </a:ext>
            </a:extLst>
          </p:cNvPr>
          <p:cNvCxnSpPr>
            <a:cxnSpLocks/>
          </p:cNvCxnSpPr>
          <p:nvPr/>
        </p:nvCxnSpPr>
        <p:spPr>
          <a:xfrm>
            <a:off x="3480619" y="5121786"/>
            <a:ext cx="0" cy="346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de Seta Reta 86">
            <a:extLst>
              <a:ext uri="{FF2B5EF4-FFF2-40B4-BE49-F238E27FC236}">
                <a16:creationId xmlns:a16="http://schemas.microsoft.com/office/drawing/2014/main" id="{FDE25339-5BA0-6A4E-91E4-929B9D39C50D}"/>
              </a:ext>
            </a:extLst>
          </p:cNvPr>
          <p:cNvCxnSpPr>
            <a:cxnSpLocks/>
          </p:cNvCxnSpPr>
          <p:nvPr/>
        </p:nvCxnSpPr>
        <p:spPr>
          <a:xfrm>
            <a:off x="7069478" y="5121786"/>
            <a:ext cx="0" cy="429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347979F2-AB2A-3547-AB43-103D6D94379A}"/>
              </a:ext>
            </a:extLst>
          </p:cNvPr>
          <p:cNvCxnSpPr>
            <a:cxnSpLocks/>
          </p:cNvCxnSpPr>
          <p:nvPr/>
        </p:nvCxnSpPr>
        <p:spPr>
          <a:xfrm>
            <a:off x="8476343" y="5928852"/>
            <a:ext cx="11140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sca 7">
            <a:extLst>
              <a:ext uri="{FF2B5EF4-FFF2-40B4-BE49-F238E27FC236}">
                <a16:creationId xmlns:a16="http://schemas.microsoft.com/office/drawing/2014/main" id="{46FAE797-9D27-2140-AC24-1A9D3AEA4E13}"/>
              </a:ext>
            </a:extLst>
          </p:cNvPr>
          <p:cNvSpPr/>
          <p:nvPr/>
        </p:nvSpPr>
        <p:spPr>
          <a:xfrm>
            <a:off x="9565559" y="5225093"/>
            <a:ext cx="1230258" cy="1292263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967B521-0BAE-284E-807B-A3608504B849}"/>
              </a:ext>
            </a:extLst>
          </p:cNvPr>
          <p:cNvSpPr txBox="1"/>
          <p:nvPr/>
        </p:nvSpPr>
        <p:spPr>
          <a:xfrm>
            <a:off x="10043652" y="5678128"/>
            <a:ext cx="353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98872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AC28F-E7ED-7441-BB0E-43B6D248D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8791"/>
            <a:ext cx="9144000" cy="628468"/>
          </a:xfrm>
        </p:spPr>
        <p:txBody>
          <a:bodyPr>
            <a:normAutofit/>
          </a:bodyPr>
          <a:lstStyle/>
          <a:p>
            <a:r>
              <a:rPr lang="pt-BR" sz="2800" dirty="0"/>
              <a:t>FLUXO DO FATURAMENTO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714F157-CBDE-9048-B9E5-B336794AF298}"/>
              </a:ext>
            </a:extLst>
          </p:cNvPr>
          <p:cNvSpPr/>
          <p:nvPr/>
        </p:nvSpPr>
        <p:spPr>
          <a:xfrm>
            <a:off x="4786166" y="1399065"/>
            <a:ext cx="2283308" cy="771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PEDIDOS OK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F1C10527-BC1E-FE45-9027-2925858A753F}"/>
              </a:ext>
            </a:extLst>
          </p:cNvPr>
          <p:cNvCxnSpPr>
            <a:cxnSpLocks/>
          </p:cNvCxnSpPr>
          <p:nvPr/>
        </p:nvCxnSpPr>
        <p:spPr>
          <a:xfrm flipH="1">
            <a:off x="6339515" y="1919529"/>
            <a:ext cx="729963" cy="3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A0BB499E-D807-2746-A11F-73DBF0CA7FF3}"/>
              </a:ext>
            </a:extLst>
          </p:cNvPr>
          <p:cNvSpPr txBox="1"/>
          <p:nvPr/>
        </p:nvSpPr>
        <p:spPr>
          <a:xfrm>
            <a:off x="11158330" y="19195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50" name="Conector Angulado 49">
            <a:extLst>
              <a:ext uri="{FF2B5EF4-FFF2-40B4-BE49-F238E27FC236}">
                <a16:creationId xmlns:a16="http://schemas.microsoft.com/office/drawing/2014/main" id="{04A0F6FA-3FB8-514C-929A-1142024B5F06}"/>
              </a:ext>
            </a:extLst>
          </p:cNvPr>
          <p:cNvCxnSpPr/>
          <p:nvPr/>
        </p:nvCxnSpPr>
        <p:spPr>
          <a:xfrm>
            <a:off x="7010400" y="2943803"/>
            <a:ext cx="914400" cy="914400"/>
          </a:xfrm>
          <a:prstGeom prst="bentConnector3">
            <a:avLst>
              <a:gd name="adj1" fmla="val 6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>
            <a:extLst>
              <a:ext uri="{FF2B5EF4-FFF2-40B4-BE49-F238E27FC236}">
                <a16:creationId xmlns:a16="http://schemas.microsoft.com/office/drawing/2014/main" id="{6E208268-98BA-0A4F-AB6E-8BCE8C4B452D}"/>
              </a:ext>
            </a:extLst>
          </p:cNvPr>
          <p:cNvCxnSpPr>
            <a:cxnSpLocks/>
          </p:cNvCxnSpPr>
          <p:nvPr/>
        </p:nvCxnSpPr>
        <p:spPr>
          <a:xfrm>
            <a:off x="6096000" y="2192118"/>
            <a:ext cx="0" cy="418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579E03B4-FBFC-5447-B836-13340328D08D}"/>
              </a:ext>
            </a:extLst>
          </p:cNvPr>
          <p:cNvSpPr txBox="1"/>
          <p:nvPr/>
        </p:nvSpPr>
        <p:spPr>
          <a:xfrm>
            <a:off x="9288741" y="19195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83" name="Conector de Seta Reta 82">
            <a:extLst>
              <a:ext uri="{FF2B5EF4-FFF2-40B4-BE49-F238E27FC236}">
                <a16:creationId xmlns:a16="http://schemas.microsoft.com/office/drawing/2014/main" id="{A3A9D90D-D611-FB47-85F3-E13DDD23554A}"/>
              </a:ext>
            </a:extLst>
          </p:cNvPr>
          <p:cNvCxnSpPr>
            <a:cxnSpLocks/>
          </p:cNvCxnSpPr>
          <p:nvPr/>
        </p:nvCxnSpPr>
        <p:spPr>
          <a:xfrm>
            <a:off x="9158748" y="4152688"/>
            <a:ext cx="0" cy="346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de Seta Reta 86">
            <a:extLst>
              <a:ext uri="{FF2B5EF4-FFF2-40B4-BE49-F238E27FC236}">
                <a16:creationId xmlns:a16="http://schemas.microsoft.com/office/drawing/2014/main" id="{FDE25339-5BA0-6A4E-91E4-929B9D39C50D}"/>
              </a:ext>
            </a:extLst>
          </p:cNvPr>
          <p:cNvCxnSpPr>
            <a:cxnSpLocks/>
          </p:cNvCxnSpPr>
          <p:nvPr/>
        </p:nvCxnSpPr>
        <p:spPr>
          <a:xfrm>
            <a:off x="6096000" y="3341560"/>
            <a:ext cx="0" cy="429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tângulo 92">
            <a:extLst>
              <a:ext uri="{FF2B5EF4-FFF2-40B4-BE49-F238E27FC236}">
                <a16:creationId xmlns:a16="http://schemas.microsoft.com/office/drawing/2014/main" id="{75D652D8-0D35-E540-800B-5F886D449227}"/>
              </a:ext>
            </a:extLst>
          </p:cNvPr>
          <p:cNvSpPr/>
          <p:nvPr/>
        </p:nvSpPr>
        <p:spPr>
          <a:xfrm>
            <a:off x="5132444" y="2649318"/>
            <a:ext cx="1877956" cy="75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CONSISTE CREDITO</a:t>
            </a:r>
          </a:p>
        </p:txBody>
      </p:sp>
      <p:sp>
        <p:nvSpPr>
          <p:cNvPr id="94" name="Retângulo Arredondado 93">
            <a:extLst>
              <a:ext uri="{FF2B5EF4-FFF2-40B4-BE49-F238E27FC236}">
                <a16:creationId xmlns:a16="http://schemas.microsoft.com/office/drawing/2014/main" id="{A3D7D85B-1FF1-0642-AEDA-CD48B9CFD217}"/>
              </a:ext>
            </a:extLst>
          </p:cNvPr>
          <p:cNvSpPr/>
          <p:nvPr/>
        </p:nvSpPr>
        <p:spPr>
          <a:xfrm>
            <a:off x="7905050" y="3388838"/>
            <a:ext cx="2560907" cy="763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PENDENTES POR  FALTA DE CREDITO</a:t>
            </a:r>
          </a:p>
        </p:txBody>
      </p:sp>
      <p:sp>
        <p:nvSpPr>
          <p:cNvPr id="95" name="Retângulo 94">
            <a:extLst>
              <a:ext uri="{FF2B5EF4-FFF2-40B4-BE49-F238E27FC236}">
                <a16:creationId xmlns:a16="http://schemas.microsoft.com/office/drawing/2014/main" id="{5F494D75-5ADB-134D-9727-F520263E1F17}"/>
              </a:ext>
            </a:extLst>
          </p:cNvPr>
          <p:cNvSpPr/>
          <p:nvPr/>
        </p:nvSpPr>
        <p:spPr>
          <a:xfrm>
            <a:off x="5165822" y="3770763"/>
            <a:ext cx="184457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BAIXA OS ESTOQUES</a:t>
            </a:r>
          </a:p>
        </p:txBody>
      </p:sp>
      <p:sp>
        <p:nvSpPr>
          <p:cNvPr id="96" name="Rosca 95">
            <a:extLst>
              <a:ext uri="{FF2B5EF4-FFF2-40B4-BE49-F238E27FC236}">
                <a16:creationId xmlns:a16="http://schemas.microsoft.com/office/drawing/2014/main" id="{4E21E61C-CB05-0145-A5F9-C6BF430C5CA5}"/>
              </a:ext>
            </a:extLst>
          </p:cNvPr>
          <p:cNvSpPr/>
          <p:nvPr/>
        </p:nvSpPr>
        <p:spPr>
          <a:xfrm>
            <a:off x="8657304" y="4499030"/>
            <a:ext cx="1047136" cy="914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7" name="Retângulo 96">
            <a:extLst>
              <a:ext uri="{FF2B5EF4-FFF2-40B4-BE49-F238E27FC236}">
                <a16:creationId xmlns:a16="http://schemas.microsoft.com/office/drawing/2014/main" id="{E4F440D3-B2E2-1E49-9E41-AAB5A8D83E57}"/>
              </a:ext>
            </a:extLst>
          </p:cNvPr>
          <p:cNvSpPr/>
          <p:nvPr/>
        </p:nvSpPr>
        <p:spPr>
          <a:xfrm>
            <a:off x="1961537" y="3770763"/>
            <a:ext cx="207952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PENDENTES POR FALTA DE ESTOQUE</a:t>
            </a:r>
          </a:p>
        </p:txBody>
      </p:sp>
      <p:cxnSp>
        <p:nvCxnSpPr>
          <p:cNvPr id="99" name="Conector de Seta Reta 98">
            <a:extLst>
              <a:ext uri="{FF2B5EF4-FFF2-40B4-BE49-F238E27FC236}">
                <a16:creationId xmlns:a16="http://schemas.microsoft.com/office/drawing/2014/main" id="{59069676-BF91-6A4E-94F5-B13D4B51F4E9}"/>
              </a:ext>
            </a:extLst>
          </p:cNvPr>
          <p:cNvCxnSpPr>
            <a:cxnSpLocks/>
          </p:cNvCxnSpPr>
          <p:nvPr/>
        </p:nvCxnSpPr>
        <p:spPr>
          <a:xfrm flipH="1">
            <a:off x="4041059" y="4152688"/>
            <a:ext cx="11247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de Seta Reta 103">
            <a:extLst>
              <a:ext uri="{FF2B5EF4-FFF2-40B4-BE49-F238E27FC236}">
                <a16:creationId xmlns:a16="http://schemas.microsoft.com/office/drawing/2014/main" id="{04F37722-4404-CF47-8871-5DF75CA4F076}"/>
              </a:ext>
            </a:extLst>
          </p:cNvPr>
          <p:cNvCxnSpPr>
            <a:cxnSpLocks/>
            <a:stCxn id="97" idx="2"/>
          </p:cNvCxnSpPr>
          <p:nvPr/>
        </p:nvCxnSpPr>
        <p:spPr>
          <a:xfrm>
            <a:off x="3001298" y="4685163"/>
            <a:ext cx="0" cy="624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tângulo 106">
            <a:extLst>
              <a:ext uri="{FF2B5EF4-FFF2-40B4-BE49-F238E27FC236}">
                <a16:creationId xmlns:a16="http://schemas.microsoft.com/office/drawing/2014/main" id="{13EE3181-D41C-0F47-9F44-C6202873817C}"/>
              </a:ext>
            </a:extLst>
          </p:cNvPr>
          <p:cNvSpPr/>
          <p:nvPr/>
        </p:nvSpPr>
        <p:spPr>
          <a:xfrm>
            <a:off x="2168013" y="5309419"/>
            <a:ext cx="187304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DEPARTAMENTO DE LOGISTICA</a:t>
            </a:r>
          </a:p>
        </p:txBody>
      </p:sp>
      <p:cxnSp>
        <p:nvCxnSpPr>
          <p:cNvPr id="109" name="Conector Angulado 108">
            <a:extLst>
              <a:ext uri="{FF2B5EF4-FFF2-40B4-BE49-F238E27FC236}">
                <a16:creationId xmlns:a16="http://schemas.microsoft.com/office/drawing/2014/main" id="{F2560A83-4837-BD42-934E-4CF34CA77AEB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01919" y="4347334"/>
            <a:ext cx="1108587" cy="6284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osca 111">
            <a:extLst>
              <a:ext uri="{FF2B5EF4-FFF2-40B4-BE49-F238E27FC236}">
                <a16:creationId xmlns:a16="http://schemas.microsoft.com/office/drawing/2014/main" id="{1A1A9BDC-6A14-B346-91B6-A9F35E83AC89}"/>
              </a:ext>
            </a:extLst>
          </p:cNvPr>
          <p:cNvSpPr/>
          <p:nvPr/>
        </p:nvSpPr>
        <p:spPr>
          <a:xfrm>
            <a:off x="132751" y="4499030"/>
            <a:ext cx="995494" cy="992806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14" name="Conector de Seta Reta 113">
            <a:extLst>
              <a:ext uri="{FF2B5EF4-FFF2-40B4-BE49-F238E27FC236}">
                <a16:creationId xmlns:a16="http://schemas.microsoft.com/office/drawing/2014/main" id="{058C9985-9DF4-C84D-8417-0F8959C277BB}"/>
              </a:ext>
            </a:extLst>
          </p:cNvPr>
          <p:cNvCxnSpPr>
            <a:cxnSpLocks/>
          </p:cNvCxnSpPr>
          <p:nvPr/>
        </p:nvCxnSpPr>
        <p:spPr>
          <a:xfrm>
            <a:off x="6061590" y="4685163"/>
            <a:ext cx="0" cy="624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tângulo com Canto Arredondado do Mesmo Lado 116">
            <a:extLst>
              <a:ext uri="{FF2B5EF4-FFF2-40B4-BE49-F238E27FC236}">
                <a16:creationId xmlns:a16="http://schemas.microsoft.com/office/drawing/2014/main" id="{0C5119A1-2FDF-C149-8621-A1304CAC3664}"/>
              </a:ext>
            </a:extLst>
          </p:cNvPr>
          <p:cNvSpPr/>
          <p:nvPr/>
        </p:nvSpPr>
        <p:spPr>
          <a:xfrm>
            <a:off x="5165807" y="5309419"/>
            <a:ext cx="1844577" cy="914401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PEDIDOS  OK PARA FATURAMENTO</a:t>
            </a:r>
          </a:p>
        </p:txBody>
      </p:sp>
    </p:spTree>
    <p:extLst>
      <p:ext uri="{BB962C8B-B14F-4D97-AF65-F5344CB8AC3E}">
        <p14:creationId xmlns:p14="http://schemas.microsoft.com/office/powerpoint/2010/main" val="766822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AC28F-E7ED-7441-BB0E-43B6D248D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8791"/>
            <a:ext cx="9144000" cy="628468"/>
          </a:xfrm>
        </p:spPr>
        <p:txBody>
          <a:bodyPr>
            <a:normAutofit/>
          </a:bodyPr>
          <a:lstStyle/>
          <a:p>
            <a:r>
              <a:rPr lang="pt-BR" sz="2800" dirty="0"/>
              <a:t>FLUXO DO FATURAMENTO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714F157-CBDE-9048-B9E5-B336794AF298}"/>
              </a:ext>
            </a:extLst>
          </p:cNvPr>
          <p:cNvSpPr/>
          <p:nvPr/>
        </p:nvSpPr>
        <p:spPr>
          <a:xfrm>
            <a:off x="4786166" y="1399065"/>
            <a:ext cx="2283308" cy="771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PEDIDOS OK PARA FATURAMENTO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F1C10527-BC1E-FE45-9027-2925858A753F}"/>
              </a:ext>
            </a:extLst>
          </p:cNvPr>
          <p:cNvCxnSpPr>
            <a:cxnSpLocks/>
          </p:cNvCxnSpPr>
          <p:nvPr/>
        </p:nvCxnSpPr>
        <p:spPr>
          <a:xfrm flipH="1">
            <a:off x="6339515" y="1919529"/>
            <a:ext cx="729963" cy="3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A0BB499E-D807-2746-A11F-73DBF0CA7FF3}"/>
              </a:ext>
            </a:extLst>
          </p:cNvPr>
          <p:cNvSpPr txBox="1"/>
          <p:nvPr/>
        </p:nvSpPr>
        <p:spPr>
          <a:xfrm>
            <a:off x="11158330" y="19195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50" name="Conector Angulado 49">
            <a:extLst>
              <a:ext uri="{FF2B5EF4-FFF2-40B4-BE49-F238E27FC236}">
                <a16:creationId xmlns:a16="http://schemas.microsoft.com/office/drawing/2014/main" id="{04A0F6FA-3FB8-514C-929A-1142024B5F06}"/>
              </a:ext>
            </a:extLst>
          </p:cNvPr>
          <p:cNvCxnSpPr>
            <a:cxnSpLocks/>
          </p:cNvCxnSpPr>
          <p:nvPr/>
        </p:nvCxnSpPr>
        <p:spPr>
          <a:xfrm>
            <a:off x="6145157" y="3564007"/>
            <a:ext cx="2703875" cy="6639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>
            <a:extLst>
              <a:ext uri="{FF2B5EF4-FFF2-40B4-BE49-F238E27FC236}">
                <a16:creationId xmlns:a16="http://schemas.microsoft.com/office/drawing/2014/main" id="{6E208268-98BA-0A4F-AB6E-8BCE8C4B452D}"/>
              </a:ext>
            </a:extLst>
          </p:cNvPr>
          <p:cNvCxnSpPr>
            <a:cxnSpLocks/>
          </p:cNvCxnSpPr>
          <p:nvPr/>
        </p:nvCxnSpPr>
        <p:spPr>
          <a:xfrm>
            <a:off x="6096000" y="2192118"/>
            <a:ext cx="0" cy="418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579E03B4-FBFC-5447-B836-13340328D08D}"/>
              </a:ext>
            </a:extLst>
          </p:cNvPr>
          <p:cNvSpPr txBox="1"/>
          <p:nvPr/>
        </p:nvSpPr>
        <p:spPr>
          <a:xfrm>
            <a:off x="9288741" y="19195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87" name="Conector de Seta Reta 86">
            <a:extLst>
              <a:ext uri="{FF2B5EF4-FFF2-40B4-BE49-F238E27FC236}">
                <a16:creationId xmlns:a16="http://schemas.microsoft.com/office/drawing/2014/main" id="{FDE25339-5BA0-6A4E-91E4-929B9D39C50D}"/>
              </a:ext>
            </a:extLst>
          </p:cNvPr>
          <p:cNvCxnSpPr>
            <a:cxnSpLocks/>
          </p:cNvCxnSpPr>
          <p:nvPr/>
        </p:nvCxnSpPr>
        <p:spPr>
          <a:xfrm>
            <a:off x="6145157" y="3349405"/>
            <a:ext cx="0" cy="429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tângulo 92">
            <a:extLst>
              <a:ext uri="{FF2B5EF4-FFF2-40B4-BE49-F238E27FC236}">
                <a16:creationId xmlns:a16="http://schemas.microsoft.com/office/drawing/2014/main" id="{75D652D8-0D35-E540-800B-5F886D449227}"/>
              </a:ext>
            </a:extLst>
          </p:cNvPr>
          <p:cNvSpPr/>
          <p:nvPr/>
        </p:nvSpPr>
        <p:spPr>
          <a:xfrm>
            <a:off x="5132444" y="2649318"/>
            <a:ext cx="1877956" cy="753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ARQUIVO DE  NOTAS FISCAIS</a:t>
            </a:r>
          </a:p>
        </p:txBody>
      </p:sp>
      <p:sp>
        <p:nvSpPr>
          <p:cNvPr id="95" name="Retângulo 94">
            <a:extLst>
              <a:ext uri="{FF2B5EF4-FFF2-40B4-BE49-F238E27FC236}">
                <a16:creationId xmlns:a16="http://schemas.microsoft.com/office/drawing/2014/main" id="{5F494D75-5ADB-134D-9727-F520263E1F17}"/>
              </a:ext>
            </a:extLst>
          </p:cNvPr>
          <p:cNvSpPr/>
          <p:nvPr/>
        </p:nvSpPr>
        <p:spPr>
          <a:xfrm>
            <a:off x="5165822" y="3770763"/>
            <a:ext cx="184457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EMISSAO DAS NOTAS FISCAIS</a:t>
            </a:r>
          </a:p>
        </p:txBody>
      </p:sp>
      <p:cxnSp>
        <p:nvCxnSpPr>
          <p:cNvPr id="114" name="Conector de Seta Reta 113">
            <a:extLst>
              <a:ext uri="{FF2B5EF4-FFF2-40B4-BE49-F238E27FC236}">
                <a16:creationId xmlns:a16="http://schemas.microsoft.com/office/drawing/2014/main" id="{058C9985-9DF4-C84D-8417-0F8959C277BB}"/>
              </a:ext>
            </a:extLst>
          </p:cNvPr>
          <p:cNvCxnSpPr>
            <a:cxnSpLocks/>
            <a:stCxn id="95" idx="2"/>
          </p:cNvCxnSpPr>
          <p:nvPr/>
        </p:nvCxnSpPr>
        <p:spPr>
          <a:xfrm flipH="1">
            <a:off x="6071422" y="4685163"/>
            <a:ext cx="16689" cy="368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tângulo com Canto Arredondado do Mesmo Lado 116">
            <a:extLst>
              <a:ext uri="{FF2B5EF4-FFF2-40B4-BE49-F238E27FC236}">
                <a16:creationId xmlns:a16="http://schemas.microsoft.com/office/drawing/2014/main" id="{0C5119A1-2FDF-C149-8621-A1304CAC3664}"/>
              </a:ext>
            </a:extLst>
          </p:cNvPr>
          <p:cNvSpPr/>
          <p:nvPr/>
        </p:nvSpPr>
        <p:spPr>
          <a:xfrm>
            <a:off x="5208122" y="5053576"/>
            <a:ext cx="1844577" cy="914401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33033FC-4F58-4744-BFCB-8D28DD3BD7A9}"/>
              </a:ext>
            </a:extLst>
          </p:cNvPr>
          <p:cNvSpPr/>
          <p:nvPr/>
        </p:nvSpPr>
        <p:spPr>
          <a:xfrm>
            <a:off x="8849031" y="3778608"/>
            <a:ext cx="2104091" cy="9144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EMISSAO DO ROMANEIO E ROTAS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66F2A80-1BEA-C249-9FCD-F653D264E9A6}"/>
              </a:ext>
            </a:extLst>
          </p:cNvPr>
          <p:cNvSpPr txBox="1"/>
          <p:nvPr/>
        </p:nvSpPr>
        <p:spPr>
          <a:xfrm>
            <a:off x="5208122" y="5172026"/>
            <a:ext cx="1802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DEPOSITOS REGIONAIS</a:t>
            </a:r>
          </a:p>
        </p:txBody>
      </p:sp>
      <p:cxnSp>
        <p:nvCxnSpPr>
          <p:cNvPr id="14" name="Conector Angulado 13">
            <a:extLst>
              <a:ext uri="{FF2B5EF4-FFF2-40B4-BE49-F238E27FC236}">
                <a16:creationId xmlns:a16="http://schemas.microsoft.com/office/drawing/2014/main" id="{9C76ABD1-C787-FC4C-A053-30DCDD2F8BA2}"/>
              </a:ext>
            </a:extLst>
          </p:cNvPr>
          <p:cNvCxnSpPr>
            <a:cxnSpLocks/>
          </p:cNvCxnSpPr>
          <p:nvPr/>
        </p:nvCxnSpPr>
        <p:spPr>
          <a:xfrm rot="10800000" flipV="1">
            <a:off x="7069477" y="4544714"/>
            <a:ext cx="1779555" cy="10154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ângulo Arredondado 17">
            <a:extLst>
              <a:ext uri="{FF2B5EF4-FFF2-40B4-BE49-F238E27FC236}">
                <a16:creationId xmlns:a16="http://schemas.microsoft.com/office/drawing/2014/main" id="{E5FC0237-576B-6E46-8720-6887D06A56EF}"/>
              </a:ext>
            </a:extLst>
          </p:cNvPr>
          <p:cNvSpPr/>
          <p:nvPr/>
        </p:nvSpPr>
        <p:spPr>
          <a:xfrm>
            <a:off x="3229896" y="5053576"/>
            <a:ext cx="1556270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CARREGA CAMINHOES</a:t>
            </a:r>
          </a:p>
        </p:txBody>
      </p:sp>
      <p:sp>
        <p:nvSpPr>
          <p:cNvPr id="38" name="Retângulo Arredondado 37">
            <a:extLst>
              <a:ext uri="{FF2B5EF4-FFF2-40B4-BE49-F238E27FC236}">
                <a16:creationId xmlns:a16="http://schemas.microsoft.com/office/drawing/2014/main" id="{182678FC-B962-0842-8B69-B15BC930E2F1}"/>
              </a:ext>
            </a:extLst>
          </p:cNvPr>
          <p:cNvSpPr/>
          <p:nvPr/>
        </p:nvSpPr>
        <p:spPr>
          <a:xfrm>
            <a:off x="929148" y="5053576"/>
            <a:ext cx="1694123" cy="914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CLIENTES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1A184FBC-EEDF-354E-8744-A20709467E24}"/>
              </a:ext>
            </a:extLst>
          </p:cNvPr>
          <p:cNvCxnSpPr>
            <a:cxnSpLocks/>
          </p:cNvCxnSpPr>
          <p:nvPr/>
        </p:nvCxnSpPr>
        <p:spPr>
          <a:xfrm flipH="1">
            <a:off x="4779287" y="5560142"/>
            <a:ext cx="613504" cy="8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8EB1B232-A4B6-A541-8058-5F57A5CEC693}"/>
              </a:ext>
            </a:extLst>
          </p:cNvPr>
          <p:cNvCxnSpPr>
            <a:cxnSpLocks/>
            <a:stCxn id="18" idx="1"/>
            <a:endCxn id="38" idx="3"/>
          </p:cNvCxnSpPr>
          <p:nvPr/>
        </p:nvCxnSpPr>
        <p:spPr>
          <a:xfrm flipH="1">
            <a:off x="2623271" y="5510777"/>
            <a:ext cx="6066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81206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92</Words>
  <Application>Microsoft Macintosh PowerPoint</Application>
  <PresentationFormat>Widescreen</PresentationFormat>
  <Paragraphs>39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FLUXO DO FATURAMENTO</vt:lpstr>
      <vt:lpstr>FLUXO DO FATURAMENTO</vt:lpstr>
      <vt:lpstr>FLUXO DO FATURAMENTO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 DO FATURAMENTO</dc:title>
  <dc:creator>EDGARD ALEXANDRE ROMANATO</dc:creator>
  <cp:lastModifiedBy>EDGARD ALEXANDRE ROMANATO</cp:lastModifiedBy>
  <cp:revision>1</cp:revision>
  <dcterms:created xsi:type="dcterms:W3CDTF">2022-05-16T17:47:23Z</dcterms:created>
  <dcterms:modified xsi:type="dcterms:W3CDTF">2022-08-16T17:37:00Z</dcterms:modified>
</cp:coreProperties>
</file>