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lvl1pPr>
      <a:defRPr>
        <a:latin typeface="+mj-lt"/>
        <a:ea typeface="+mj-ea"/>
        <a:cs typeface="+mj-cs"/>
        <a:sym typeface="Avenir Roman"/>
      </a:defRPr>
    </a:lvl1pPr>
    <a:lvl2pPr>
      <a:defRPr>
        <a:latin typeface="+mj-lt"/>
        <a:ea typeface="+mj-ea"/>
        <a:cs typeface="+mj-cs"/>
        <a:sym typeface="Avenir Roman"/>
      </a:defRPr>
    </a:lvl2pPr>
    <a:lvl3pPr>
      <a:defRPr>
        <a:latin typeface="+mj-lt"/>
        <a:ea typeface="+mj-ea"/>
        <a:cs typeface="+mj-cs"/>
        <a:sym typeface="Avenir Roman"/>
      </a:defRPr>
    </a:lvl3pPr>
    <a:lvl4pPr>
      <a:defRPr>
        <a:latin typeface="+mj-lt"/>
        <a:ea typeface="+mj-ea"/>
        <a:cs typeface="+mj-cs"/>
        <a:sym typeface="Avenir Roman"/>
      </a:defRPr>
    </a:lvl4pPr>
    <a:lvl5pPr>
      <a:defRPr>
        <a:latin typeface="+mj-lt"/>
        <a:ea typeface="+mj-ea"/>
        <a:cs typeface="+mj-cs"/>
        <a:sym typeface="Avenir Roman"/>
      </a:defRPr>
    </a:lvl5pPr>
    <a:lvl6pPr>
      <a:defRPr>
        <a:latin typeface="+mj-lt"/>
        <a:ea typeface="+mj-ea"/>
        <a:cs typeface="+mj-cs"/>
        <a:sym typeface="Avenir Roman"/>
      </a:defRPr>
    </a:lvl6pPr>
    <a:lvl7pPr>
      <a:defRPr>
        <a:latin typeface="+mj-lt"/>
        <a:ea typeface="+mj-ea"/>
        <a:cs typeface="+mj-cs"/>
        <a:sym typeface="Avenir Roman"/>
      </a:defRPr>
    </a:lvl7pPr>
    <a:lvl8pPr>
      <a:defRPr>
        <a:latin typeface="+mj-lt"/>
        <a:ea typeface="+mj-ea"/>
        <a:cs typeface="+mj-cs"/>
        <a:sym typeface="Avenir Roman"/>
      </a:defRPr>
    </a:lvl8pPr>
    <a:lvl9pPr>
      <a:defRPr>
        <a:latin typeface="+mj-lt"/>
        <a:ea typeface="+mj-ea"/>
        <a:cs typeface="+mj-cs"/>
        <a:sym typeface="Avenir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2EB"/>
          </a:solidFill>
        </a:fill>
      </a:tcStyle>
    </a:wholeTbl>
    <a:band2H>
      <a:tcTxStyle/>
      <a:tcStyle>
        <a:tcBdr/>
        <a:fill>
          <a:solidFill>
            <a:srgbClr val="E8EAF5"/>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4E67C8"/>
          </a:solidFill>
        </a:fill>
      </a:tcStyle>
    </a:firstRow>
  </a:tblStyle>
  <a:tblStyle styleId="{C7B018BB-80A7-4F77-B60F-C8B233D01FF8}"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1F7CF"/>
          </a:solidFill>
        </a:fill>
      </a:tcStyle>
    </a:wholeTbl>
    <a:band2H>
      <a:tcTxStyle/>
      <a:tcStyle>
        <a:tcBdr/>
        <a:fill>
          <a:solidFill>
            <a:srgbClr val="F0FBE9"/>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7EA52"/>
          </a:solidFill>
        </a:fill>
      </a:tcStyle>
    </a:firstRow>
  </a:tblStyle>
  <a:tblStyle styleId="{EEE7283C-3CF3-47DC-8721-378D4A62B228}"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ACDCB"/>
          </a:solidFill>
        </a:fill>
      </a:tcStyle>
    </a:wholeTbl>
    <a:band2H>
      <a:tcTxStyle/>
      <a:tcStyle>
        <a:tcBdr/>
        <a:fill>
          <a:solidFill>
            <a:srgbClr val="FCE8E7"/>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14124"/>
          </a:solidFill>
        </a:fill>
      </a:tcStyle>
    </a:firstRow>
  </a:tblStyle>
  <a:tblStyle styleId="{CF821DB8-F4EB-4A41-A1BA-3FCAFE7338EE}" styleName="">
    <a:tblBg/>
    <a:wholeTbl>
      <a:tcTxStyle b="on" i="on">
        <a:font>
          <a:latin typeface="Avenir Book"/>
          <a:ea typeface="Avenir Book"/>
          <a:cs typeface="Avenir Book"/>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venir Book"/>
          <a:ea typeface="Avenir Book"/>
          <a:cs typeface="Avenir Book"/>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4E67C8"/>
          </a:solidFill>
        </a:fill>
      </a:tcStyle>
    </a:firstCol>
    <a:lastRow>
      <a:tcTxStyle b="on" i="on">
        <a:font>
          <a:latin typeface="Avenir Book"/>
          <a:ea typeface="Avenir Book"/>
          <a:cs typeface="Avenir Book"/>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venir Book"/>
          <a:ea typeface="Avenir Book"/>
          <a:cs typeface="Avenir Book"/>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4E67C8"/>
          </a:solidFill>
        </a:fill>
      </a:tcStyle>
    </a:firstRow>
  </a:tblStyle>
  <a:tblStyle styleId="{33BA23B1-9221-436E-865A-0063620EA4FD}"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15"/>
  </p:normalViewPr>
  <p:slideViewPr>
    <p:cSldViewPr snapToGrid="0">
      <p:cViewPr varScale="1">
        <p:scale>
          <a:sx n="106" d="100"/>
          <a:sy n="106" d="100"/>
        </p:scale>
        <p:origin x="1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j-lt"/>
        <a:ea typeface="+mj-ea"/>
        <a:cs typeface="+mj-cs"/>
        <a:sym typeface="Avenir Roman"/>
      </a:defRPr>
    </a:lvl1pPr>
    <a:lvl2pPr indent="228600" defTabSz="457200">
      <a:lnSpc>
        <a:spcPct val="125000"/>
      </a:lnSpc>
      <a:defRPr sz="2400">
        <a:latin typeface="+mj-lt"/>
        <a:ea typeface="+mj-ea"/>
        <a:cs typeface="+mj-cs"/>
        <a:sym typeface="Avenir Roman"/>
      </a:defRPr>
    </a:lvl2pPr>
    <a:lvl3pPr indent="457200" defTabSz="457200">
      <a:lnSpc>
        <a:spcPct val="125000"/>
      </a:lnSpc>
      <a:defRPr sz="2400">
        <a:latin typeface="+mj-lt"/>
        <a:ea typeface="+mj-ea"/>
        <a:cs typeface="+mj-cs"/>
        <a:sym typeface="Avenir Roman"/>
      </a:defRPr>
    </a:lvl3pPr>
    <a:lvl4pPr indent="685800" defTabSz="457200">
      <a:lnSpc>
        <a:spcPct val="125000"/>
      </a:lnSpc>
      <a:defRPr sz="2400">
        <a:latin typeface="+mj-lt"/>
        <a:ea typeface="+mj-ea"/>
        <a:cs typeface="+mj-cs"/>
        <a:sym typeface="Avenir Roman"/>
      </a:defRPr>
    </a:lvl4pPr>
    <a:lvl5pPr indent="914400" defTabSz="457200">
      <a:lnSpc>
        <a:spcPct val="125000"/>
      </a:lnSpc>
      <a:defRPr sz="2400">
        <a:latin typeface="+mj-lt"/>
        <a:ea typeface="+mj-ea"/>
        <a:cs typeface="+mj-cs"/>
        <a:sym typeface="Avenir Roman"/>
      </a:defRPr>
    </a:lvl5pPr>
    <a:lvl6pPr indent="1143000" defTabSz="457200">
      <a:lnSpc>
        <a:spcPct val="125000"/>
      </a:lnSpc>
      <a:defRPr sz="2400">
        <a:latin typeface="+mj-lt"/>
        <a:ea typeface="+mj-ea"/>
        <a:cs typeface="+mj-cs"/>
        <a:sym typeface="Avenir Roman"/>
      </a:defRPr>
    </a:lvl6pPr>
    <a:lvl7pPr indent="1371600" defTabSz="457200">
      <a:lnSpc>
        <a:spcPct val="125000"/>
      </a:lnSpc>
      <a:defRPr sz="2400">
        <a:latin typeface="+mj-lt"/>
        <a:ea typeface="+mj-ea"/>
        <a:cs typeface="+mj-cs"/>
        <a:sym typeface="Avenir Roman"/>
      </a:defRPr>
    </a:lvl7pPr>
    <a:lvl8pPr indent="1600200" defTabSz="457200">
      <a:lnSpc>
        <a:spcPct val="125000"/>
      </a:lnSpc>
      <a:defRPr sz="2400">
        <a:latin typeface="+mj-lt"/>
        <a:ea typeface="+mj-ea"/>
        <a:cs typeface="+mj-cs"/>
        <a:sym typeface="Avenir Roman"/>
      </a:defRPr>
    </a:lvl8pPr>
    <a:lvl9pPr indent="1828800" defTabSz="457200">
      <a:lnSpc>
        <a:spcPct val="125000"/>
      </a:lnSpc>
      <a:defRPr sz="2400">
        <a:latin typeface="+mj-lt"/>
        <a:ea typeface="+mj-ea"/>
        <a:cs typeface="+mj-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10" name="Shape 10"/>
          <p:cNvSpPr/>
          <p:nvPr/>
        </p:nvSpPr>
        <p:spPr>
          <a:xfrm>
            <a:off x="0" y="3866920"/>
            <a:ext cx="9144000" cy="2991088"/>
          </a:xfrm>
          <a:prstGeom prst="rect">
            <a:avLst/>
          </a:prstGeom>
          <a:gradFill>
            <a:gsLst>
              <a:gs pos="0">
                <a:srgbClr val="FFFFFF">
                  <a:alpha val="91000"/>
                </a:srgbClr>
              </a:gs>
              <a:gs pos="37000">
                <a:srgbClr val="FFFFFF">
                  <a:alpha val="76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1" name="Shape 11"/>
          <p:cNvSpPr/>
          <p:nvPr/>
        </p:nvSpPr>
        <p:spPr>
          <a:xfrm>
            <a:off x="0" y="-3"/>
            <a:ext cx="9144000" cy="3866926"/>
          </a:xfrm>
          <a:prstGeom prst="rect">
            <a:avLst/>
          </a:prstGeom>
          <a:gradFill>
            <a:gsLst>
              <a:gs pos="0">
                <a:srgbClr val="FFFFFF">
                  <a:alpha val="89000"/>
                </a:srgbClr>
              </a:gs>
              <a:gs pos="48000">
                <a:srgbClr val="FFFFFF">
                  <a:alpha val="62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2" name="Shape 12"/>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3" name="Shape 13"/>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14" name="Shape 14"/>
          <p:cNvSpPr>
            <a:spLocks noGrp="1"/>
          </p:cNvSpPr>
          <p:nvPr>
            <p:ph type="body" idx="1"/>
          </p:nvPr>
        </p:nvSpPr>
        <p:spPr>
          <a:xfrm>
            <a:off x="1473795" y="5052545"/>
            <a:ext cx="5637011" cy="1805455"/>
          </a:xfrm>
          <a:prstGeom prst="rect">
            <a:avLst/>
          </a:prstGeom>
        </p:spPr>
        <p:txBody>
          <a:bodyPr/>
          <a:lstStyle>
            <a:lvl1pPr marL="0" indent="0" defTabSz="905255">
              <a:spcBef>
                <a:spcPts val="400"/>
              </a:spcBef>
              <a:buClrTx/>
              <a:buSzTx/>
              <a:buFontTx/>
              <a:buNone/>
              <a:defRPr sz="1800">
                <a:solidFill>
                  <a:srgbClr val="000000"/>
                </a:solidFill>
              </a:defRPr>
            </a:lvl1pPr>
            <a:lvl2pPr marL="530351" indent="-164590" defTabSz="905255">
              <a:spcBef>
                <a:spcPts val="400"/>
              </a:spcBef>
              <a:buClrTx/>
              <a:buFontTx/>
              <a:defRPr sz="1800">
                <a:solidFill>
                  <a:srgbClr val="000000"/>
                </a:solidFill>
              </a:defRPr>
            </a:lvl2pPr>
            <a:lvl3pPr marL="822960" indent="-182879" defTabSz="905255">
              <a:spcBef>
                <a:spcPts val="400"/>
              </a:spcBef>
              <a:buClrTx/>
              <a:buFontTx/>
              <a:defRPr sz="1800">
                <a:solidFill>
                  <a:srgbClr val="000000"/>
                </a:solidFill>
              </a:defRPr>
            </a:lvl3pPr>
            <a:lvl4pPr marL="1120138" indent="-205738" defTabSz="905255">
              <a:spcBef>
                <a:spcPts val="400"/>
              </a:spcBef>
              <a:buClrTx/>
              <a:buFontTx/>
              <a:defRPr sz="1800">
                <a:solidFill>
                  <a:srgbClr val="000000"/>
                </a:solidFill>
              </a:defRPr>
            </a:lvl4pPr>
            <a:lvl5pPr marL="1442136" indent="-235129" defTabSz="905255">
              <a:spcBef>
                <a:spcPts val="400"/>
              </a:spcBef>
              <a:buClrTx/>
              <a:buFontTx/>
              <a:defRPr sz="1800">
                <a:solidFill>
                  <a:srgbClr val="000000"/>
                </a:solidFill>
              </a:defRPr>
            </a:lvl5pPr>
          </a:lstStyle>
          <a:p>
            <a:pPr lvl="0"/>
            <a:r>
              <a:t>Nível de Corpo Um</a:t>
            </a:r>
          </a:p>
          <a:p>
            <a:pPr lvl="1"/>
            <a:r>
              <a:t>Nível de Corpo Dois</a:t>
            </a:r>
          </a:p>
          <a:p>
            <a:pPr lvl="2"/>
            <a:r>
              <a:t>Nível de Corpo Três</a:t>
            </a:r>
          </a:p>
          <a:p>
            <a:pPr lvl="3"/>
            <a:r>
              <a:t>Nível de Corpo Quatro</a:t>
            </a:r>
          </a:p>
          <a:p>
            <a:pPr lvl="4"/>
            <a:r>
              <a:t>Nível de Corpo Cinco</a:t>
            </a:r>
          </a:p>
        </p:txBody>
      </p:sp>
      <p:sp>
        <p:nvSpPr>
          <p:cNvPr id="15" name="Shape 15"/>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6" name="Shape 16"/>
          <p:cNvSpPr>
            <a:spLocks noGrp="1"/>
          </p:cNvSpPr>
          <p:nvPr>
            <p:ph type="title"/>
          </p:nvPr>
        </p:nvSpPr>
        <p:spPr>
          <a:xfrm>
            <a:off x="817581" y="3132290"/>
            <a:ext cx="7175352" cy="1920258"/>
          </a:xfrm>
          <a:prstGeom prst="rect">
            <a:avLst/>
          </a:prstGeom>
        </p:spPr>
        <p:txBody>
          <a:bodyPr/>
          <a:lstStyle>
            <a:lvl1pPr marL="640080" indent="-457200">
              <a:defRPr sz="5400"/>
            </a:lvl1pPr>
          </a:lstStyle>
          <a:p>
            <a:pPr lvl="0">
              <a:defRPr sz="1800">
                <a:solidFill>
                  <a:srgbClr val="000000"/>
                </a:solidFill>
              </a:defRPr>
            </a:pPr>
            <a:r>
              <a:rPr sz="5400">
                <a:solidFill>
                  <a:srgbClr val="111423">
                    <a:alpha val="82500"/>
                  </a:srgbClr>
                </a:solidFill>
              </a:rPr>
              <a:t>Texto do Título</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18" name="Shape 18"/>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9" name="Shape 19"/>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20" name="Shape 20"/>
          <p:cNvSpPr>
            <a:spLocks noGrp="1"/>
          </p:cNvSpPr>
          <p:nvPr>
            <p:ph type="body" idx="1"/>
          </p:nvPr>
        </p:nvSpPr>
        <p:spPr>
          <a:xfrm>
            <a:off x="1143000" y="731519"/>
            <a:ext cx="6400800"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2" name="Shape 22"/>
          <p:cNvSpPr/>
          <p:nvPr/>
        </p:nvSpPr>
        <p:spPr>
          <a:xfrm>
            <a:off x="0" y="3866920"/>
            <a:ext cx="9144000" cy="2991088"/>
          </a:xfrm>
          <a:prstGeom prst="rect">
            <a:avLst/>
          </a:prstGeom>
          <a:gradFill>
            <a:gsLst>
              <a:gs pos="0">
                <a:srgbClr val="FFFFFF">
                  <a:alpha val="92000"/>
                </a:srgbClr>
              </a:gs>
              <a:gs pos="37000">
                <a:srgbClr val="FFFFFF">
                  <a:alpha val="77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3" name="Shape 23"/>
          <p:cNvSpPr/>
          <p:nvPr/>
        </p:nvSpPr>
        <p:spPr>
          <a:xfrm>
            <a:off x="0" y="-3"/>
            <a:ext cx="9144000" cy="3866926"/>
          </a:xfrm>
          <a:prstGeom prst="rect">
            <a:avLst/>
          </a:prstGeom>
          <a:gradFill>
            <a:gsLst>
              <a:gs pos="0">
                <a:srgbClr val="FFFFFF">
                  <a:alpha val="90000"/>
                </a:srgbClr>
              </a:gs>
              <a:gs pos="48000">
                <a:srgbClr val="FFFFFF">
                  <a:alpha val="63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4" name="Shape 24"/>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5" name="Shape 25"/>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26" name="Shape 26"/>
          <p:cNvSpPr>
            <a:spLocks noGrp="1"/>
          </p:cNvSpPr>
          <p:nvPr>
            <p:ph type="title"/>
          </p:nvPr>
        </p:nvSpPr>
        <p:spPr>
          <a:xfrm>
            <a:off x="2033195" y="0"/>
            <a:ext cx="5966667" cy="4595996"/>
          </a:xfrm>
          <a:prstGeom prst="rect">
            <a:avLst/>
          </a:prstGeom>
        </p:spPr>
        <p:txBody>
          <a:bodyPr anchor="b"/>
          <a:lstStyle>
            <a:lvl1pPr algn="r"/>
          </a:lstStyle>
          <a:p>
            <a:pPr lvl="0">
              <a:defRPr sz="1800">
                <a:solidFill>
                  <a:srgbClr val="000000"/>
                </a:solidFill>
              </a:defRPr>
            </a:pPr>
            <a:r>
              <a:rPr sz="4600">
                <a:solidFill>
                  <a:srgbClr val="111423">
                    <a:alpha val="82500"/>
                  </a:srgbClr>
                </a:solidFill>
              </a:rPr>
              <a:t>Texto do Título</a:t>
            </a:r>
          </a:p>
        </p:txBody>
      </p:sp>
      <p:sp>
        <p:nvSpPr>
          <p:cNvPr id="27" name="Shape 27"/>
          <p:cNvSpPr>
            <a:spLocks noGrp="1"/>
          </p:cNvSpPr>
          <p:nvPr>
            <p:ph type="body" idx="1"/>
          </p:nvPr>
        </p:nvSpPr>
        <p:spPr>
          <a:xfrm>
            <a:off x="2022437" y="4607511"/>
            <a:ext cx="5970497" cy="2250490"/>
          </a:xfrm>
          <a:prstGeom prst="rect">
            <a:avLst/>
          </a:prstGeom>
        </p:spPr>
        <p:txBody>
          <a:bodyPr/>
          <a:lstStyle>
            <a:lvl1pPr marL="0" indent="0" algn="r">
              <a:spcBef>
                <a:spcPts val="400"/>
              </a:spcBef>
              <a:buClrTx/>
              <a:buSzTx/>
              <a:buFontTx/>
              <a:buNone/>
              <a:defRPr sz="2000">
                <a:solidFill>
                  <a:srgbClr val="212745"/>
                </a:solidFill>
              </a:defRPr>
            </a:lvl1pPr>
            <a:lvl2pPr marL="548638" indent="-182879" algn="r">
              <a:spcBef>
                <a:spcPts val="400"/>
              </a:spcBef>
              <a:buClrTx/>
              <a:buFontTx/>
              <a:defRPr sz="2000">
                <a:solidFill>
                  <a:srgbClr val="212745"/>
                </a:solidFill>
              </a:defRPr>
            </a:lvl2pPr>
            <a:lvl3pPr marL="843280" indent="-203198" algn="r">
              <a:spcBef>
                <a:spcPts val="400"/>
              </a:spcBef>
              <a:buClrTx/>
              <a:buFontTx/>
              <a:defRPr sz="2000">
                <a:solidFill>
                  <a:srgbClr val="212745"/>
                </a:solidFill>
              </a:defRPr>
            </a:lvl3pPr>
            <a:lvl4pPr marL="1143000" indent="-228600" algn="r">
              <a:spcBef>
                <a:spcPts val="400"/>
              </a:spcBef>
              <a:buClrTx/>
              <a:buFontTx/>
              <a:defRPr sz="2000">
                <a:solidFill>
                  <a:srgbClr val="212745"/>
                </a:solidFill>
              </a:defRPr>
            </a:lvl4pPr>
            <a:lvl5pPr marL="1468262" indent="-261256" algn="r">
              <a:spcBef>
                <a:spcPts val="400"/>
              </a:spcBef>
              <a:buClrTx/>
              <a:buFontTx/>
              <a:defRPr sz="2000">
                <a:solidFill>
                  <a:srgbClr val="212745"/>
                </a:solidFill>
              </a:defRPr>
            </a:lvl5pPr>
          </a:lstStyle>
          <a:p>
            <a:pPr lvl="0">
              <a:defRPr sz="1800">
                <a:solidFill>
                  <a:srgbClr val="000000"/>
                </a:solidFill>
              </a:defRPr>
            </a:pPr>
            <a:r>
              <a:rPr sz="2000">
                <a:solidFill>
                  <a:srgbClr val="212745"/>
                </a:solidFill>
              </a:rPr>
              <a:t>Nível de Corpo Um</a:t>
            </a:r>
          </a:p>
          <a:p>
            <a:pPr lvl="1">
              <a:defRPr sz="1800">
                <a:solidFill>
                  <a:srgbClr val="000000"/>
                </a:solidFill>
              </a:defRPr>
            </a:pPr>
            <a:r>
              <a:rPr sz="2000">
                <a:solidFill>
                  <a:srgbClr val="212745"/>
                </a:solidFill>
              </a:rPr>
              <a:t>Nível de Corpo Dois</a:t>
            </a:r>
          </a:p>
          <a:p>
            <a:pPr lvl="2">
              <a:defRPr sz="1800">
                <a:solidFill>
                  <a:srgbClr val="000000"/>
                </a:solidFill>
              </a:defRPr>
            </a:pPr>
            <a:r>
              <a:rPr sz="2000">
                <a:solidFill>
                  <a:srgbClr val="212745"/>
                </a:solidFill>
              </a:rPr>
              <a:t>Nível de Corpo Três</a:t>
            </a:r>
          </a:p>
          <a:p>
            <a:pPr lvl="3">
              <a:defRPr sz="1800">
                <a:solidFill>
                  <a:srgbClr val="000000"/>
                </a:solidFill>
              </a:defRPr>
            </a:pPr>
            <a:r>
              <a:rPr sz="2000">
                <a:solidFill>
                  <a:srgbClr val="212745"/>
                </a:solidFill>
              </a:rPr>
              <a:t>Nível de Corpo Quatro</a:t>
            </a:r>
          </a:p>
          <a:p>
            <a:pPr lvl="4">
              <a:defRPr sz="1800">
                <a:solidFill>
                  <a:srgbClr val="000000"/>
                </a:solidFill>
              </a:defRPr>
            </a:pPr>
            <a:r>
              <a:rPr sz="2000">
                <a:solidFill>
                  <a:srgbClr val="212745"/>
                </a:solidFill>
              </a:rPr>
              <a:t>Nível de Corpo Cinco</a:t>
            </a:r>
          </a:p>
        </p:txBody>
      </p:sp>
      <p:sp>
        <p:nvSpPr>
          <p:cNvPr id="28" name="Shape 28"/>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0" name="Shape 30"/>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31" name="Shape 31"/>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32" name="Shape 32"/>
          <p:cNvSpPr>
            <a:spLocks noGrp="1"/>
          </p:cNvSpPr>
          <p:nvPr>
            <p:ph type="body" idx="1"/>
          </p:nvPr>
        </p:nvSpPr>
        <p:spPr>
          <a:xfrm>
            <a:off x="1142999" y="731519"/>
            <a:ext cx="3346704"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34" name="Shape 34"/>
          <p:cNvSpPr>
            <a:spLocks noGrp="1"/>
          </p:cNvSpPr>
          <p:nvPr>
            <p:ph type="body" idx="1"/>
          </p:nvPr>
        </p:nvSpPr>
        <p:spPr>
          <a:xfrm>
            <a:off x="1143000" y="0"/>
            <a:ext cx="3346704" cy="1371282"/>
          </a:xfrm>
          <a:prstGeom prst="rect">
            <a:avLst/>
          </a:prstGeom>
        </p:spPr>
        <p:txBody>
          <a:bodyPr anchor="b">
            <a:noAutofit/>
          </a:bodyPr>
          <a:lstStyle>
            <a:lvl1pPr marL="0" indent="0" algn="ctr">
              <a:buClrTx/>
              <a:buSzTx/>
              <a:buFontTx/>
              <a:buNone/>
              <a:defRPr sz="2400">
                <a:solidFill>
                  <a:srgbClr val="111423">
                    <a:alpha val="82500"/>
                  </a:srgbClr>
                </a:solidFill>
                <a:latin typeface="Trebuchet MS Bold"/>
                <a:ea typeface="Trebuchet MS Bold"/>
                <a:cs typeface="Trebuchet MS Bold"/>
                <a:sym typeface="Trebuchet MS Bold"/>
              </a:defRPr>
            </a:lvl1pPr>
            <a:lvl2pPr marL="585213" indent="-219453" algn="ctr">
              <a:buClrTx/>
              <a:buFontTx/>
              <a:defRPr sz="2400">
                <a:solidFill>
                  <a:srgbClr val="111423">
                    <a:alpha val="82500"/>
                  </a:srgbClr>
                </a:solidFill>
                <a:latin typeface="Trebuchet MS Bold"/>
                <a:ea typeface="Trebuchet MS Bold"/>
                <a:cs typeface="Trebuchet MS Bold"/>
                <a:sym typeface="Trebuchet MS Bold"/>
              </a:defRPr>
            </a:lvl2pPr>
            <a:lvl3pPr marL="883919" indent="-243838" algn="ctr">
              <a:buClrTx/>
              <a:buFontTx/>
              <a:defRPr sz="2400">
                <a:solidFill>
                  <a:srgbClr val="111423">
                    <a:alpha val="82500"/>
                  </a:srgbClr>
                </a:solidFill>
                <a:latin typeface="Trebuchet MS Bold"/>
                <a:ea typeface="Trebuchet MS Bold"/>
                <a:cs typeface="Trebuchet MS Bold"/>
                <a:sym typeface="Trebuchet MS Bold"/>
              </a:defRPr>
            </a:lvl3pPr>
            <a:lvl4pPr marL="1188719" indent="-274319" algn="ctr">
              <a:buClrTx/>
              <a:buFontTx/>
              <a:defRPr sz="2400">
                <a:solidFill>
                  <a:srgbClr val="111423">
                    <a:alpha val="82500"/>
                  </a:srgbClr>
                </a:solidFill>
                <a:latin typeface="Trebuchet MS Bold"/>
                <a:ea typeface="Trebuchet MS Bold"/>
                <a:cs typeface="Trebuchet MS Bold"/>
                <a:sym typeface="Trebuchet MS Bold"/>
              </a:defRPr>
            </a:lvl4pPr>
            <a:lvl5pPr marL="1520515" indent="-313507" algn="ctr">
              <a:buClrTx/>
              <a:buFontTx/>
              <a:defRPr sz="2400">
                <a:solidFill>
                  <a:srgbClr val="111423">
                    <a:alpha val="82500"/>
                  </a:srgbClr>
                </a:solidFill>
                <a:latin typeface="Trebuchet MS Bold"/>
                <a:ea typeface="Trebuchet MS Bold"/>
                <a:cs typeface="Trebuchet MS Bold"/>
                <a:sym typeface="Trebuchet MS Bold"/>
              </a:defRPr>
            </a:lvl5pPr>
          </a:lstStyle>
          <a:p>
            <a:pPr lvl="0">
              <a:defRPr sz="1800">
                <a:solidFill>
                  <a:srgbClr val="000000"/>
                </a:solidFill>
              </a:defRPr>
            </a:pPr>
            <a:r>
              <a:rPr sz="2400">
                <a:solidFill>
                  <a:srgbClr val="111423">
                    <a:alpha val="82500"/>
                  </a:srgbClr>
                </a:solidFill>
              </a:rPr>
              <a:t>Nível de Corpo Um</a:t>
            </a:r>
          </a:p>
          <a:p>
            <a:pPr lvl="1">
              <a:defRPr sz="1800">
                <a:solidFill>
                  <a:srgbClr val="000000"/>
                </a:solidFill>
              </a:defRPr>
            </a:pPr>
            <a:r>
              <a:rPr sz="2400">
                <a:solidFill>
                  <a:srgbClr val="111423">
                    <a:alpha val="82500"/>
                  </a:srgbClr>
                </a:solidFill>
              </a:rPr>
              <a:t>Nível de Corpo Dois</a:t>
            </a:r>
          </a:p>
          <a:p>
            <a:pPr lvl="2">
              <a:defRPr sz="1800">
                <a:solidFill>
                  <a:srgbClr val="000000"/>
                </a:solidFill>
              </a:defRPr>
            </a:pPr>
            <a:r>
              <a:rPr sz="2400">
                <a:solidFill>
                  <a:srgbClr val="111423">
                    <a:alpha val="82500"/>
                  </a:srgbClr>
                </a:solidFill>
              </a:rPr>
              <a:t>Nível de Corpo Três</a:t>
            </a:r>
          </a:p>
          <a:p>
            <a:pPr lvl="3">
              <a:defRPr sz="1800">
                <a:solidFill>
                  <a:srgbClr val="000000"/>
                </a:solidFill>
              </a:defRPr>
            </a:pPr>
            <a:r>
              <a:rPr sz="2400">
                <a:solidFill>
                  <a:srgbClr val="111423">
                    <a:alpha val="82500"/>
                  </a:srgbClr>
                </a:solidFill>
              </a:rPr>
              <a:t>Nível de Corpo Quatro</a:t>
            </a:r>
          </a:p>
          <a:p>
            <a:pPr lvl="4">
              <a:defRPr sz="1800">
                <a:solidFill>
                  <a:srgbClr val="000000"/>
                </a:solidFill>
              </a:defRPr>
            </a:pPr>
            <a:r>
              <a:rPr sz="2400">
                <a:solidFill>
                  <a:srgbClr val="111423">
                    <a:alpha val="82500"/>
                  </a:srgbClr>
                </a:solidFill>
              </a:rPr>
              <a:t>Nível de Corpo Cinco</a:t>
            </a:r>
          </a:p>
        </p:txBody>
      </p:sp>
      <p:sp>
        <p:nvSpPr>
          <p:cNvPr id="35" name="Shape 35"/>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36" name="Shape 36"/>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38" name="Shape 38"/>
          <p:cNvSpPr>
            <a:spLocks noGrp="1"/>
          </p:cNvSpPr>
          <p:nvPr>
            <p:ph type="title"/>
          </p:nvPr>
        </p:nvSpPr>
        <p:spPr>
          <a:xfrm>
            <a:off x="1793288" y="4372168"/>
            <a:ext cx="6512512" cy="1143001"/>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39" name="Shape 39"/>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41" name="Shape 41"/>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43" name="Shape 43"/>
          <p:cNvSpPr>
            <a:spLocks noGrp="1"/>
          </p:cNvSpPr>
          <p:nvPr>
            <p:ph type="title"/>
          </p:nvPr>
        </p:nvSpPr>
        <p:spPr>
          <a:xfrm>
            <a:off x="839095" y="0"/>
            <a:ext cx="3636086" cy="3468295"/>
          </a:xfrm>
          <a:prstGeom prst="rect">
            <a:avLst/>
          </a:prstGeom>
        </p:spPr>
        <p:txBody>
          <a:bodyPr anchor="b"/>
          <a:lstStyle>
            <a:lvl1pPr marL="228600" indent="-228600">
              <a:defRPr sz="2800"/>
            </a:lvl1pPr>
          </a:lstStyle>
          <a:p>
            <a:pPr lvl="0">
              <a:defRPr sz="1800">
                <a:solidFill>
                  <a:srgbClr val="000000"/>
                </a:solidFill>
              </a:defRPr>
            </a:pPr>
            <a:r>
              <a:rPr sz="2800">
                <a:solidFill>
                  <a:srgbClr val="111423">
                    <a:alpha val="82500"/>
                  </a:srgbClr>
                </a:solidFill>
              </a:rPr>
              <a:t>Texto do Título</a:t>
            </a:r>
          </a:p>
        </p:txBody>
      </p:sp>
      <p:sp>
        <p:nvSpPr>
          <p:cNvPr id="44" name="Shape 44"/>
          <p:cNvSpPr>
            <a:spLocks noGrp="1"/>
          </p:cNvSpPr>
          <p:nvPr>
            <p:ph type="body" idx="1"/>
          </p:nvPr>
        </p:nvSpPr>
        <p:spPr>
          <a:xfrm>
            <a:off x="4593514" y="0"/>
            <a:ext cx="4017086" cy="6357771"/>
          </a:xfrm>
          <a:prstGeom prst="rect">
            <a:avLst/>
          </a:prstGeom>
        </p:spPr>
        <p:txBody>
          <a:bodyPr anchor="ct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45" name="Shape 45"/>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47" name="Shape 47"/>
          <p:cNvSpPr/>
          <p:nvPr/>
        </p:nvSpPr>
        <p:spPr>
          <a:xfrm>
            <a:off x="0" y="3866920"/>
            <a:ext cx="9144000" cy="2991088"/>
          </a:xfrm>
          <a:prstGeom prst="rect">
            <a:avLst/>
          </a:prstGeom>
          <a:gradFill>
            <a:gsLst>
              <a:gs pos="0">
                <a:srgbClr val="FFFFFF">
                  <a:alpha val="92000"/>
                </a:srgbClr>
              </a:gs>
              <a:gs pos="37000">
                <a:srgbClr val="FFFFFF">
                  <a:alpha val="77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8" name="Shape 48"/>
          <p:cNvSpPr/>
          <p:nvPr/>
        </p:nvSpPr>
        <p:spPr>
          <a:xfrm>
            <a:off x="0" y="-3"/>
            <a:ext cx="9144000" cy="3866926"/>
          </a:xfrm>
          <a:prstGeom prst="rect">
            <a:avLst/>
          </a:prstGeom>
          <a:gradFill>
            <a:gsLst>
              <a:gs pos="0">
                <a:srgbClr val="FFFFFF">
                  <a:alpha val="90000"/>
                </a:srgbClr>
              </a:gs>
              <a:gs pos="48000">
                <a:srgbClr val="FFFFFF">
                  <a:alpha val="63000"/>
                </a:srgbClr>
              </a:gs>
              <a:gs pos="100000">
                <a:srgbClr val="B4DCFA">
                  <a:alpha val="80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9" name="Shape 49"/>
          <p:cNvSpPr/>
          <p:nvPr/>
        </p:nvSpPr>
        <p:spPr>
          <a:xfrm>
            <a:off x="0" y="2652310"/>
            <a:ext cx="9144000" cy="2286001"/>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0" name="Shape 50"/>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4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1" name="Shape 51"/>
          <p:cNvSpPr>
            <a:spLocks noGrp="1"/>
          </p:cNvSpPr>
          <p:nvPr>
            <p:ph type="body" idx="1"/>
          </p:nvPr>
        </p:nvSpPr>
        <p:spPr>
          <a:xfrm>
            <a:off x="877887" y="0"/>
            <a:ext cx="3694115" cy="3173506"/>
          </a:xfrm>
          <a:prstGeom prst="rect">
            <a:avLst/>
          </a:prstGeom>
        </p:spPr>
        <p:txBody>
          <a:bodyPr anchor="b"/>
          <a:lstStyle>
            <a:lvl1pPr marL="182879">
              <a:spcBef>
                <a:spcPts val="300"/>
              </a:spcBef>
              <a:defRPr sz="1600"/>
            </a:lvl1pPr>
            <a:lvl2pPr marL="512062" indent="-146301">
              <a:spcBef>
                <a:spcPts val="300"/>
              </a:spcBef>
              <a:defRPr sz="1600"/>
            </a:lvl2pPr>
            <a:lvl3pPr marL="802640" indent="-162559">
              <a:spcBef>
                <a:spcPts val="300"/>
              </a:spcBef>
              <a:defRPr sz="1600"/>
            </a:lvl3pPr>
            <a:lvl4pPr marL="1097280" indent="-182880">
              <a:spcBef>
                <a:spcPts val="300"/>
              </a:spcBef>
              <a:defRPr sz="1600"/>
            </a:lvl4pPr>
            <a:lvl5pPr marL="1416012" indent="-209004">
              <a:spcBef>
                <a:spcPts val="300"/>
              </a:spcBef>
              <a:defRPr sz="1600"/>
            </a:lvl5pPr>
          </a:lstStyle>
          <a:p>
            <a:pPr lvl="0">
              <a:defRPr sz="1800">
                <a:solidFill>
                  <a:srgbClr val="000000"/>
                </a:solidFill>
              </a:defRPr>
            </a:pPr>
            <a:r>
              <a:rPr sz="1600">
                <a:solidFill>
                  <a:srgbClr val="404040"/>
                </a:solidFill>
              </a:rPr>
              <a:t>Nível de Corpo Um</a:t>
            </a:r>
          </a:p>
          <a:p>
            <a:pPr lvl="1">
              <a:defRPr sz="1800">
                <a:solidFill>
                  <a:srgbClr val="000000"/>
                </a:solidFill>
              </a:defRPr>
            </a:pPr>
            <a:r>
              <a:rPr sz="1600">
                <a:solidFill>
                  <a:srgbClr val="404040"/>
                </a:solidFill>
              </a:rPr>
              <a:t>Nível de Corpo Dois</a:t>
            </a:r>
          </a:p>
          <a:p>
            <a:pPr lvl="2">
              <a:defRPr sz="1800">
                <a:solidFill>
                  <a:srgbClr val="000000"/>
                </a:solidFill>
              </a:defRPr>
            </a:pPr>
            <a:r>
              <a:rPr sz="1600">
                <a:solidFill>
                  <a:srgbClr val="404040"/>
                </a:solidFill>
              </a:rPr>
              <a:t>Nível de Corpo Três</a:t>
            </a:r>
          </a:p>
          <a:p>
            <a:pPr lvl="3">
              <a:defRPr sz="1800">
                <a:solidFill>
                  <a:srgbClr val="000000"/>
                </a:solidFill>
              </a:defRPr>
            </a:pPr>
            <a:r>
              <a:rPr sz="1600">
                <a:solidFill>
                  <a:srgbClr val="404040"/>
                </a:solidFill>
              </a:rPr>
              <a:t>Nível de Corpo Quatro</a:t>
            </a:r>
          </a:p>
          <a:p>
            <a:pPr lvl="4">
              <a:defRPr sz="1800">
                <a:solidFill>
                  <a:srgbClr val="000000"/>
                </a:solidFill>
              </a:defRPr>
            </a:pPr>
            <a:r>
              <a:rPr sz="1600">
                <a:solidFill>
                  <a:srgbClr val="404040"/>
                </a:solidFill>
              </a:rPr>
              <a:t>Nível de Corpo Cinco</a:t>
            </a:r>
          </a:p>
        </p:txBody>
      </p:sp>
      <p:sp>
        <p:nvSpPr>
          <p:cNvPr id="52" name="Shape 52"/>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53" name="Shape 53"/>
          <p:cNvSpPr>
            <a:spLocks noGrp="1"/>
          </p:cNvSpPr>
          <p:nvPr>
            <p:ph type="title"/>
          </p:nvPr>
        </p:nvSpPr>
        <p:spPr>
          <a:xfrm>
            <a:off x="727268" y="3173502"/>
            <a:ext cx="6383538" cy="2433923"/>
          </a:xfrm>
          <a:prstGeom prst="rect">
            <a:avLst/>
          </a:prstGeom>
        </p:spPr>
        <p:txBody>
          <a:bodyPr anchor="b"/>
          <a:lstStyle/>
          <a:p>
            <a:pPr lvl="0">
              <a:defRPr sz="1800">
                <a:solidFill>
                  <a:srgbClr val="000000"/>
                </a:solidFill>
              </a:defRPr>
            </a:pPr>
            <a:r>
              <a:rPr sz="4600">
                <a:solidFill>
                  <a:srgbClr val="111423">
                    <a:alpha val="82500"/>
                  </a:srgbClr>
                </a:solidFill>
              </a:rPr>
              <a:t>Texto do Título</a:t>
            </a: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55" name="Shape 55"/>
          <p:cNvSpPr>
            <a:spLocks noGrp="1"/>
          </p:cNvSpPr>
          <p:nvPr>
            <p:ph type="title"/>
          </p:nvPr>
        </p:nvSpPr>
        <p:spPr>
          <a:xfrm>
            <a:off x="1793288" y="4372168"/>
            <a:ext cx="6512512" cy="2485832"/>
          </a:xfrm>
          <a:prstGeom prst="rect">
            <a:avLst/>
          </a:prstGeom>
        </p:spPr>
        <p:txBody>
          <a:bodyPr/>
          <a:lstStyle>
            <a:lvl1pPr algn="r"/>
          </a:lstStyle>
          <a:p>
            <a:pPr lvl="0">
              <a:defRPr sz="1800">
                <a:solidFill>
                  <a:srgbClr val="000000"/>
                </a:solidFill>
              </a:defRPr>
            </a:pPr>
            <a:r>
              <a:rPr sz="4600">
                <a:solidFill>
                  <a:srgbClr val="111423">
                    <a:alpha val="82500"/>
                  </a:srgbClr>
                </a:solidFill>
              </a:rPr>
              <a:t>Texto do Título</a:t>
            </a:r>
          </a:p>
        </p:txBody>
      </p:sp>
      <p:sp>
        <p:nvSpPr>
          <p:cNvPr id="56" name="Shape 56"/>
          <p:cNvSpPr>
            <a:spLocks noGrp="1"/>
          </p:cNvSpPr>
          <p:nvPr>
            <p:ph type="body" idx="1"/>
          </p:nvPr>
        </p:nvSpPr>
        <p:spPr>
          <a:xfrm>
            <a:off x="1905000" y="731519"/>
            <a:ext cx="6400800" cy="3640650"/>
          </a:xfrm>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57" name="Shape 57"/>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59" name="Shape 59"/>
          <p:cNvSpPr>
            <a:spLocks noGrp="1"/>
          </p:cNvSpPr>
          <p:nvPr>
            <p:ph type="title"/>
          </p:nvPr>
        </p:nvSpPr>
        <p:spPr>
          <a:prstGeom prst="rect">
            <a:avLst/>
          </a:prstGeom>
        </p:spPr>
        <p:txBody>
          <a:bodyPr/>
          <a:lstStyle/>
          <a:p>
            <a:pPr lvl="0">
              <a:defRPr sz="1800">
                <a:solidFill>
                  <a:srgbClr val="000000"/>
                </a:solidFill>
              </a:defRPr>
            </a:pPr>
            <a:r>
              <a:rPr sz="4600">
                <a:solidFill>
                  <a:srgbClr val="111423">
                    <a:alpha val="82500"/>
                  </a:srgbClr>
                </a:solidFill>
              </a:rPr>
              <a:t>Texto do Título</a:t>
            </a:r>
          </a:p>
        </p:txBody>
      </p:sp>
      <p:sp>
        <p:nvSpPr>
          <p:cNvPr id="60" name="Shape 60"/>
          <p:cNvSpPr>
            <a:spLocks noGrp="1"/>
          </p:cNvSpPr>
          <p:nvPr>
            <p:ph type="body" idx="1"/>
          </p:nvPr>
        </p:nvSpPr>
        <p:spPr>
          <a:prstGeom prst="rect">
            <a:avLst/>
          </a:prstGeom>
        </p:spPr>
        <p:txBody>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61" name="Shape 61"/>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9DD5FF"/>
            </a:gs>
            <a:gs pos="60000">
              <a:srgbClr val="FFFFFF"/>
            </a:gs>
            <a:gs pos="100000">
              <a:srgbClr val="5BB9FF"/>
            </a:gs>
          </a:gsLst>
          <a:path path="circle">
            <a:fillToRect l="50000" t="50000" r="50000" b="50000"/>
          </a:path>
        </a:gradFill>
        <a:effectLst/>
      </p:bgPr>
    </p:bg>
    <p:spTree>
      <p:nvGrpSpPr>
        <p:cNvPr id="1" name=""/>
        <p:cNvGrpSpPr/>
        <p:nvPr/>
      </p:nvGrpSpPr>
      <p:grpSpPr>
        <a:xfrm>
          <a:off x="0" y="0"/>
          <a:ext cx="0" cy="0"/>
          <a:chOff x="0" y="0"/>
          <a:chExt cx="0" cy="0"/>
        </a:xfrm>
      </p:grpSpPr>
      <p:sp>
        <p:nvSpPr>
          <p:cNvPr id="2" name="Shape 2"/>
          <p:cNvSpPr/>
          <p:nvPr/>
        </p:nvSpPr>
        <p:spPr>
          <a:xfrm>
            <a:off x="0" y="5105400"/>
            <a:ext cx="9144000" cy="1752600"/>
          </a:xfrm>
          <a:prstGeom prst="rect">
            <a:avLst/>
          </a:prstGeom>
          <a:gradFill>
            <a:gsLst>
              <a:gs pos="0">
                <a:srgbClr val="FFFFFF">
                  <a:alpha val="91000"/>
                </a:srgbClr>
              </a:gs>
              <a:gs pos="37000">
                <a:srgbClr val="FFFFFF">
                  <a:alpha val="76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3" name="Shape 3"/>
          <p:cNvSpPr/>
          <p:nvPr/>
        </p:nvSpPr>
        <p:spPr>
          <a:xfrm>
            <a:off x="0" y="0"/>
            <a:ext cx="9144000" cy="5105400"/>
          </a:xfrm>
          <a:prstGeom prst="rect">
            <a:avLst/>
          </a:prstGeom>
          <a:gradFill>
            <a:gsLst>
              <a:gs pos="0">
                <a:srgbClr val="FFFFFF">
                  <a:alpha val="89000"/>
                </a:srgbClr>
              </a:gs>
              <a:gs pos="48000">
                <a:srgbClr val="FFFFFF">
                  <a:alpha val="62000"/>
                </a:srgbClr>
              </a:gs>
              <a:gs pos="100000">
                <a:srgbClr val="B4DCFA">
                  <a:alpha val="7900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4" name="Shape 4"/>
          <p:cNvSpPr/>
          <p:nvPr/>
        </p:nvSpPr>
        <p:spPr>
          <a:xfrm>
            <a:off x="0" y="3768304"/>
            <a:ext cx="9144000" cy="2286008"/>
          </a:xfrm>
          <a:prstGeom prst="rect">
            <a:avLst/>
          </a:prstGeom>
          <a:gradFill>
            <a:gsLst>
              <a:gs pos="0">
                <a:srgbClr val="FFFFFF">
                  <a:alpha val="0"/>
                </a:srgbClr>
              </a:gs>
              <a:gs pos="29000">
                <a:srgbClr val="FFFFFF">
                  <a:alpha val="30000"/>
                </a:srgbClr>
              </a:gs>
              <a:gs pos="45000">
                <a:srgbClr val="B4DCFA">
                  <a:alpha val="40000"/>
                </a:srgbClr>
              </a:gs>
              <a:gs pos="55000">
                <a:srgbClr val="FFFFFF">
                  <a:alpha val="26000"/>
                </a:srgbClr>
              </a:gs>
              <a:gs pos="64999">
                <a:srgbClr val="B4DCFA">
                  <a:alpha val="60000"/>
                </a:srgbClr>
              </a:gs>
              <a:gs pos="100000">
                <a:srgbClr val="FFFFFF">
                  <a:alpha val="0"/>
                </a:srgbClr>
              </a:gs>
            </a:gsLst>
            <a:lin ang="5400000"/>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5" name="Shape 5"/>
          <p:cNvSpPr/>
          <p:nvPr/>
        </p:nvSpPr>
        <p:spPr>
          <a:xfrm>
            <a:off x="-816" y="1599744"/>
            <a:ext cx="9143775" cy="5105016"/>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gradFill>
            <a:gsLst>
              <a:gs pos="0">
                <a:srgbClr val="FFFFFF"/>
              </a:gs>
              <a:gs pos="56000">
                <a:srgbClr val="FFFFFF">
                  <a:alpha val="0"/>
                </a:srgbClr>
              </a:gs>
            </a:gsLst>
            <a:path path="circle">
              <a:fillToRect l="37721" t="-19636" r="62278" b="119636"/>
            </a:path>
          </a:gradFill>
          <a:ln w="12700">
            <a:miter lim="400000"/>
          </a:ln>
        </p:spPr>
        <p:txBody>
          <a:bodyPr lIns="0" tIns="0" rIns="0" bIns="0" anchor="ctr"/>
          <a:lstStyle/>
          <a:p>
            <a:pPr lvl="0" algn="ctr">
              <a:defRPr>
                <a:solidFill>
                  <a:srgbClr val="FFFFFF"/>
                </a:solidFill>
                <a:latin typeface="Trebuchet MS"/>
                <a:ea typeface="Trebuchet MS"/>
                <a:cs typeface="Trebuchet MS"/>
                <a:sym typeface="Trebuchet MS"/>
              </a:defRPr>
            </a:pPr>
            <a:endParaRPr/>
          </a:p>
        </p:txBody>
      </p:sp>
      <p:sp>
        <p:nvSpPr>
          <p:cNvPr id="6" name="Shape 6"/>
          <p:cNvSpPr>
            <a:spLocks noGrp="1"/>
          </p:cNvSpPr>
          <p:nvPr>
            <p:ph type="title"/>
          </p:nvPr>
        </p:nvSpPr>
        <p:spPr>
          <a:xfrm>
            <a:off x="1153756" y="376515"/>
            <a:ext cx="2057402" cy="6481487"/>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lstStyle/>
          <a:p>
            <a:pPr lvl="0">
              <a:defRPr sz="1800">
                <a:solidFill>
                  <a:srgbClr val="000000"/>
                </a:solidFill>
              </a:defRPr>
            </a:pPr>
            <a:r>
              <a:rPr sz="4600">
                <a:solidFill>
                  <a:srgbClr val="111423">
                    <a:alpha val="82500"/>
                  </a:srgbClr>
                </a:solidFill>
              </a:rPr>
              <a:t>Texto do Título</a:t>
            </a:r>
          </a:p>
        </p:txBody>
      </p:sp>
      <p:sp>
        <p:nvSpPr>
          <p:cNvPr id="7" name="Shape 7"/>
          <p:cNvSpPr>
            <a:spLocks noGrp="1"/>
          </p:cNvSpPr>
          <p:nvPr>
            <p:ph type="body" idx="1"/>
          </p:nvPr>
        </p:nvSpPr>
        <p:spPr>
          <a:xfrm>
            <a:off x="3324111" y="731519"/>
            <a:ext cx="4829289" cy="6126482"/>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normAutofit/>
          </a:bodyPr>
          <a:lstStyle/>
          <a:p>
            <a:pPr lvl="0">
              <a:defRPr sz="1800">
                <a:solidFill>
                  <a:srgbClr val="000000"/>
                </a:solidFill>
              </a:defRPr>
            </a:pPr>
            <a:r>
              <a:rPr sz="2200">
                <a:solidFill>
                  <a:srgbClr val="404040"/>
                </a:solidFill>
              </a:rPr>
              <a:t>Nível de Corpo Um</a:t>
            </a:r>
          </a:p>
          <a:p>
            <a:pPr lvl="1">
              <a:defRPr sz="1800">
                <a:solidFill>
                  <a:srgbClr val="000000"/>
                </a:solidFill>
              </a:defRPr>
            </a:pPr>
            <a:r>
              <a:rPr sz="2200">
                <a:solidFill>
                  <a:srgbClr val="404040"/>
                </a:solidFill>
              </a:rPr>
              <a:t>Nível de Corpo Dois</a:t>
            </a:r>
          </a:p>
          <a:p>
            <a:pPr lvl="2">
              <a:defRPr sz="1800">
                <a:solidFill>
                  <a:srgbClr val="000000"/>
                </a:solidFill>
              </a:defRPr>
            </a:pPr>
            <a:r>
              <a:rPr sz="2200">
                <a:solidFill>
                  <a:srgbClr val="404040"/>
                </a:solidFill>
              </a:rPr>
              <a:t>Nível de Corpo Três</a:t>
            </a:r>
          </a:p>
          <a:p>
            <a:pPr lvl="3">
              <a:defRPr sz="1800">
                <a:solidFill>
                  <a:srgbClr val="000000"/>
                </a:solidFill>
              </a:defRPr>
            </a:pPr>
            <a:r>
              <a:rPr sz="2200">
                <a:solidFill>
                  <a:srgbClr val="404040"/>
                </a:solidFill>
              </a:rPr>
              <a:t>Nível de Corpo Quatro</a:t>
            </a:r>
          </a:p>
          <a:p>
            <a:pPr lvl="4">
              <a:defRPr sz="1800">
                <a:solidFill>
                  <a:srgbClr val="000000"/>
                </a:solidFill>
              </a:defRPr>
            </a:pPr>
            <a:r>
              <a:rPr sz="2200">
                <a:solidFill>
                  <a:srgbClr val="404040"/>
                </a:solidFill>
              </a:rPr>
              <a:t>Nível de Corpo Cinco</a:t>
            </a:r>
          </a:p>
        </p:txBody>
      </p:sp>
      <p:sp>
        <p:nvSpPr>
          <p:cNvPr id="8" name="Shape 8"/>
          <p:cNvSpPr>
            <a:spLocks noGrp="1"/>
          </p:cNvSpPr>
          <p:nvPr>
            <p:ph type="sldNum" sz="quarter" idx="2"/>
          </p:nvPr>
        </p:nvSpPr>
        <p:spPr>
          <a:xfrm>
            <a:off x="3810000" y="6220140"/>
            <a:ext cx="1828800" cy="269237"/>
          </a:xfrm>
          <a:prstGeom prst="rect">
            <a:avLst/>
          </a:prstGeom>
          <a:ln w="12700">
            <a:miter lim="400000"/>
          </a:ln>
        </p:spPr>
        <p:txBody>
          <a:bodyPr lIns="45718" tIns="45718" rIns="45718" bIns="45718" anchor="ctr">
            <a:spAutoFit/>
          </a:bodyPr>
          <a:lstStyle>
            <a:lvl1pPr algn="ctr">
              <a:defRPr sz="1200">
                <a:solidFill>
                  <a:srgbClr val="808080"/>
                </a:solidFill>
                <a:latin typeface="Trebuchet MS Bold"/>
                <a:ea typeface="Trebuchet MS Bold"/>
                <a:cs typeface="Trebuchet MS Bold"/>
                <a:sym typeface="Trebuchet MS Bold"/>
              </a:defRPr>
            </a:lvl1pPr>
          </a:lstStyle>
          <a:p>
            <a:pPr lvl="0"/>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320040" indent="-320040">
        <a:buClr>
          <a:srgbClr val="C3260C"/>
        </a:buClr>
        <a:buSzPct val="128000"/>
        <a:buFont typeface="Georgia"/>
        <a:buChar char="*"/>
        <a:defRPr sz="4600">
          <a:solidFill>
            <a:srgbClr val="111423">
              <a:alpha val="82500"/>
            </a:srgbClr>
          </a:solidFill>
          <a:latin typeface="Trebuchet MS Bold"/>
          <a:ea typeface="Trebuchet MS Bold"/>
          <a:cs typeface="Trebuchet MS Bold"/>
          <a:sym typeface="Trebuchet MS Bold"/>
        </a:defRPr>
      </a:lvl1pPr>
      <a:lvl2pPr>
        <a:buClr>
          <a:srgbClr val="C3260C"/>
        </a:buClr>
        <a:buFont typeface="Georgia"/>
        <a:defRPr sz="4600">
          <a:solidFill>
            <a:srgbClr val="111423">
              <a:alpha val="82500"/>
            </a:srgbClr>
          </a:solidFill>
          <a:latin typeface="Trebuchet MS Bold"/>
          <a:ea typeface="Trebuchet MS Bold"/>
          <a:cs typeface="Trebuchet MS Bold"/>
          <a:sym typeface="Trebuchet MS Bold"/>
        </a:defRPr>
      </a:lvl2pPr>
      <a:lvl3pPr>
        <a:buClr>
          <a:srgbClr val="C3260C"/>
        </a:buClr>
        <a:buFont typeface="Georgia"/>
        <a:defRPr sz="4600">
          <a:solidFill>
            <a:srgbClr val="111423">
              <a:alpha val="82500"/>
            </a:srgbClr>
          </a:solidFill>
          <a:latin typeface="Trebuchet MS Bold"/>
          <a:ea typeface="Trebuchet MS Bold"/>
          <a:cs typeface="Trebuchet MS Bold"/>
          <a:sym typeface="Trebuchet MS Bold"/>
        </a:defRPr>
      </a:lvl3pPr>
      <a:lvl4pPr>
        <a:buClr>
          <a:srgbClr val="C3260C"/>
        </a:buClr>
        <a:buFont typeface="Georgia"/>
        <a:defRPr sz="4600">
          <a:solidFill>
            <a:srgbClr val="111423">
              <a:alpha val="82500"/>
            </a:srgbClr>
          </a:solidFill>
          <a:latin typeface="Trebuchet MS Bold"/>
          <a:ea typeface="Trebuchet MS Bold"/>
          <a:cs typeface="Trebuchet MS Bold"/>
          <a:sym typeface="Trebuchet MS Bold"/>
        </a:defRPr>
      </a:lvl4pPr>
      <a:lvl5pPr>
        <a:buClr>
          <a:srgbClr val="C3260C"/>
        </a:buClr>
        <a:buFont typeface="Georgia"/>
        <a:defRPr sz="4600">
          <a:solidFill>
            <a:srgbClr val="111423">
              <a:alpha val="82500"/>
            </a:srgbClr>
          </a:solidFill>
          <a:latin typeface="Trebuchet MS Bold"/>
          <a:ea typeface="Trebuchet MS Bold"/>
          <a:cs typeface="Trebuchet MS Bold"/>
          <a:sym typeface="Trebuchet MS Bold"/>
        </a:defRPr>
      </a:lvl5pPr>
      <a:lvl6pPr>
        <a:buClr>
          <a:srgbClr val="C3260C"/>
        </a:buClr>
        <a:buFont typeface="Georgia"/>
        <a:defRPr sz="4600">
          <a:solidFill>
            <a:srgbClr val="111423">
              <a:alpha val="82500"/>
            </a:srgbClr>
          </a:solidFill>
          <a:latin typeface="Trebuchet MS Bold"/>
          <a:ea typeface="Trebuchet MS Bold"/>
          <a:cs typeface="Trebuchet MS Bold"/>
          <a:sym typeface="Trebuchet MS Bold"/>
        </a:defRPr>
      </a:lvl6pPr>
      <a:lvl7pPr>
        <a:buClr>
          <a:srgbClr val="C3260C"/>
        </a:buClr>
        <a:buFont typeface="Georgia"/>
        <a:defRPr sz="4600">
          <a:solidFill>
            <a:srgbClr val="111423">
              <a:alpha val="82500"/>
            </a:srgbClr>
          </a:solidFill>
          <a:latin typeface="Trebuchet MS Bold"/>
          <a:ea typeface="Trebuchet MS Bold"/>
          <a:cs typeface="Trebuchet MS Bold"/>
          <a:sym typeface="Trebuchet MS Bold"/>
        </a:defRPr>
      </a:lvl7pPr>
      <a:lvl8pPr>
        <a:buClr>
          <a:srgbClr val="C3260C"/>
        </a:buClr>
        <a:buFont typeface="Georgia"/>
        <a:defRPr sz="4600">
          <a:solidFill>
            <a:srgbClr val="111423">
              <a:alpha val="82500"/>
            </a:srgbClr>
          </a:solidFill>
          <a:latin typeface="Trebuchet MS Bold"/>
          <a:ea typeface="Trebuchet MS Bold"/>
          <a:cs typeface="Trebuchet MS Bold"/>
          <a:sym typeface="Trebuchet MS Bold"/>
        </a:defRPr>
      </a:lvl8pPr>
      <a:lvl9pPr>
        <a:buClr>
          <a:srgbClr val="C3260C"/>
        </a:buClr>
        <a:buFont typeface="Georgia"/>
        <a:defRPr sz="4600">
          <a:solidFill>
            <a:srgbClr val="111423">
              <a:alpha val="82500"/>
            </a:srgbClr>
          </a:solidFill>
          <a:latin typeface="Trebuchet MS Bold"/>
          <a:ea typeface="Trebuchet MS Bold"/>
          <a:cs typeface="Trebuchet MS Bold"/>
          <a:sym typeface="Trebuchet MS Bold"/>
        </a:defRPr>
      </a:lvl9pPr>
    </p:titleStyle>
    <p:bodyStyle>
      <a:lvl1pPr marL="228600" indent="-182879">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1pPr>
      <a:lvl2pPr marL="566927" indent="-201166">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2pPr>
      <a:lvl3pPr marL="863600" indent="-223519">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3pPr>
      <a:lvl4pPr marL="1165860" indent="-251460">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4pPr>
      <a:lvl5pPr marL="1494389" indent="-287381">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5pPr>
      <a:lvl6pPr marL="1768710" indent="-287381">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6pPr>
      <a:lvl7pPr marL="2070461"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7pPr>
      <a:lvl8pPr marL="2390500"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8pPr>
      <a:lvl9pPr marL="2692254" indent="-287382">
        <a:spcBef>
          <a:spcPts val="500"/>
        </a:spcBef>
        <a:buClr>
          <a:srgbClr val="C3260C"/>
        </a:buClr>
        <a:buSzPct val="130000"/>
        <a:buFont typeface="Georgia"/>
        <a:buChar char="*"/>
        <a:defRPr sz="2200">
          <a:solidFill>
            <a:srgbClr val="404040"/>
          </a:solidFill>
          <a:latin typeface="Trebuchet MS"/>
          <a:ea typeface="Trebuchet MS"/>
          <a:cs typeface="Trebuchet MS"/>
          <a:sym typeface="Trebuchet MS"/>
        </a:defRPr>
      </a:lvl9pPr>
    </p:bodyStyle>
    <p:otherStyle>
      <a:lvl1pPr algn="ctr">
        <a:defRPr sz="1200">
          <a:solidFill>
            <a:schemeClr val="tx1"/>
          </a:solidFill>
          <a:latin typeface="+mn-lt"/>
          <a:ea typeface="+mn-ea"/>
          <a:cs typeface="+mn-cs"/>
          <a:sym typeface="Trebuchet MS Bold"/>
        </a:defRPr>
      </a:lvl1pPr>
      <a:lvl2pPr algn="ctr">
        <a:defRPr sz="1200">
          <a:solidFill>
            <a:schemeClr val="tx1"/>
          </a:solidFill>
          <a:latin typeface="+mn-lt"/>
          <a:ea typeface="+mn-ea"/>
          <a:cs typeface="+mn-cs"/>
          <a:sym typeface="Trebuchet MS Bold"/>
        </a:defRPr>
      </a:lvl2pPr>
      <a:lvl3pPr algn="ctr">
        <a:defRPr sz="1200">
          <a:solidFill>
            <a:schemeClr val="tx1"/>
          </a:solidFill>
          <a:latin typeface="+mn-lt"/>
          <a:ea typeface="+mn-ea"/>
          <a:cs typeface="+mn-cs"/>
          <a:sym typeface="Trebuchet MS Bold"/>
        </a:defRPr>
      </a:lvl3pPr>
      <a:lvl4pPr algn="ctr">
        <a:defRPr sz="1200">
          <a:solidFill>
            <a:schemeClr val="tx1"/>
          </a:solidFill>
          <a:latin typeface="+mn-lt"/>
          <a:ea typeface="+mn-ea"/>
          <a:cs typeface="+mn-cs"/>
          <a:sym typeface="Trebuchet MS Bold"/>
        </a:defRPr>
      </a:lvl4pPr>
      <a:lvl5pPr algn="ctr">
        <a:defRPr sz="1200">
          <a:solidFill>
            <a:schemeClr val="tx1"/>
          </a:solidFill>
          <a:latin typeface="+mn-lt"/>
          <a:ea typeface="+mn-ea"/>
          <a:cs typeface="+mn-cs"/>
          <a:sym typeface="Trebuchet MS Bold"/>
        </a:defRPr>
      </a:lvl5pPr>
      <a:lvl6pPr algn="ctr">
        <a:defRPr sz="1200">
          <a:solidFill>
            <a:schemeClr val="tx1"/>
          </a:solidFill>
          <a:latin typeface="+mn-lt"/>
          <a:ea typeface="+mn-ea"/>
          <a:cs typeface="+mn-cs"/>
          <a:sym typeface="Trebuchet MS Bold"/>
        </a:defRPr>
      </a:lvl6pPr>
      <a:lvl7pPr algn="ctr">
        <a:defRPr sz="1200">
          <a:solidFill>
            <a:schemeClr val="tx1"/>
          </a:solidFill>
          <a:latin typeface="+mn-lt"/>
          <a:ea typeface="+mn-ea"/>
          <a:cs typeface="+mn-cs"/>
          <a:sym typeface="Trebuchet MS Bold"/>
        </a:defRPr>
      </a:lvl7pPr>
      <a:lvl8pPr algn="ctr">
        <a:defRPr sz="1200">
          <a:solidFill>
            <a:schemeClr val="tx1"/>
          </a:solidFill>
          <a:latin typeface="+mn-lt"/>
          <a:ea typeface="+mn-ea"/>
          <a:cs typeface="+mn-cs"/>
          <a:sym typeface="Trebuchet MS Bold"/>
        </a:defRPr>
      </a:lvl8pPr>
      <a:lvl9pPr algn="ctr">
        <a:defRPr sz="1200">
          <a:solidFill>
            <a:schemeClr val="tx1"/>
          </a:solidFill>
          <a:latin typeface="+mn-lt"/>
          <a:ea typeface="+mn-ea"/>
          <a:cs typeface="+mn-cs"/>
          <a:sym typeface="Trebuchet MS Bol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Shape 65"/>
          <p:cNvSpPr>
            <a:spLocks noGrp="1"/>
          </p:cNvSpPr>
          <p:nvPr>
            <p:ph type="body" idx="1"/>
          </p:nvPr>
        </p:nvSpPr>
        <p:spPr>
          <a:xfrm>
            <a:off x="633607" y="2821063"/>
            <a:ext cx="7773245" cy="3113607"/>
          </a:xfrm>
          <a:prstGeom prst="rect">
            <a:avLst/>
          </a:prstGeom>
        </p:spPr>
        <p:txBody>
          <a:bodyPr/>
          <a:lstStyle>
            <a:lvl1pPr>
              <a:defRPr sz="3100">
                <a:solidFill>
                  <a:srgbClr val="212745"/>
                </a:solidFill>
              </a:defRPr>
            </a:lvl1pPr>
          </a:lstStyle>
          <a:p>
            <a:pPr lvl="0">
              <a:defRPr sz="1800">
                <a:solidFill>
                  <a:srgbClr val="000000"/>
                </a:solidFill>
              </a:defRPr>
            </a:pPr>
            <a:r>
              <a:rPr sz="3100">
                <a:solidFill>
                  <a:srgbClr val="212745"/>
                </a:solidFill>
              </a:rPr>
              <a:t>ROTEIRO PARA A OCORRÊNCIA DO FATURAMENTO EM UMA EMPRESA DE MANUFATURA OU DE TRANSFORMAÇÃO.</a:t>
            </a:r>
          </a:p>
        </p:txBody>
      </p:sp>
      <p:sp>
        <p:nvSpPr>
          <p:cNvPr id="66" name="Shape 66"/>
          <p:cNvSpPr>
            <a:spLocks noGrp="1"/>
          </p:cNvSpPr>
          <p:nvPr>
            <p:ph type="title"/>
          </p:nvPr>
        </p:nvSpPr>
        <p:spPr>
          <a:xfrm>
            <a:off x="817580" y="688978"/>
            <a:ext cx="7175353" cy="1653814"/>
          </a:xfrm>
          <a:prstGeom prst="rect">
            <a:avLst/>
          </a:prstGeom>
        </p:spPr>
        <p:txBody>
          <a:bodyPr lIns="0" tIns="0" rIns="0" bIns="0">
            <a:normAutofit/>
          </a:bodyPr>
          <a:lstStyle>
            <a:lvl1pPr marL="0" indent="0" algn="ctr">
              <a:buSzTx/>
              <a:buNone/>
            </a:lvl1pPr>
          </a:lstStyle>
          <a:p>
            <a:pPr lvl="0">
              <a:defRPr sz="1800">
                <a:solidFill>
                  <a:srgbClr val="000000"/>
                </a:solidFill>
              </a:defRPr>
            </a:pPr>
            <a:r>
              <a:rPr sz="5400">
                <a:solidFill>
                  <a:srgbClr val="111423">
                    <a:alpha val="82500"/>
                  </a:srgbClr>
                </a:solidFill>
              </a:rPr>
              <a:t>FATURAMENTO</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hape 68"/>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2</a:t>
            </a:fld>
            <a:endParaRPr sz="1100">
              <a:solidFill>
                <a:srgbClr val="808080"/>
              </a:solidFill>
            </a:endParaRPr>
          </a:p>
        </p:txBody>
      </p:sp>
      <p:sp>
        <p:nvSpPr>
          <p:cNvPr id="69" name="Shape 69"/>
          <p:cNvSpPr>
            <a:spLocks noGrp="1"/>
          </p:cNvSpPr>
          <p:nvPr>
            <p:ph type="body" idx="1"/>
          </p:nvPr>
        </p:nvSpPr>
        <p:spPr>
          <a:xfrm>
            <a:off x="350242" y="731515"/>
            <a:ext cx="8443516" cy="5878288"/>
          </a:xfrm>
          <a:prstGeom prst="rect">
            <a:avLst/>
          </a:prstGeom>
        </p:spPr>
        <p:txBody>
          <a:bodyPr/>
          <a:lstStyle/>
          <a:p>
            <a:pPr marL="453816" lvl="0" indent="-408095">
              <a:defRPr sz="1800">
                <a:solidFill>
                  <a:srgbClr val="000000"/>
                </a:solidFill>
              </a:defRPr>
            </a:pPr>
            <a:r>
              <a:rPr sz="2200">
                <a:solidFill>
                  <a:srgbClr val="404040"/>
                </a:solidFill>
                <a:latin typeface="Trebuchet MS Bold"/>
                <a:ea typeface="Trebuchet MS Bold"/>
                <a:cs typeface="Trebuchet MS Bold"/>
                <a:sym typeface="Trebuchet MS Bold"/>
              </a:rPr>
              <a:t>CICLO BASICO PARA QUE HAJA UM FATURAMENTO NUMA EMPRESA DE MANUFATURA OU TRANSFORMAÇÃO.</a:t>
            </a:r>
            <a:endParaRPr>
              <a:latin typeface="Trebuchet MS Bold"/>
              <a:ea typeface="Trebuchet MS Bold"/>
              <a:cs typeface="Trebuchet MS Bold"/>
              <a:sym typeface="Trebuchet MS Bold"/>
            </a:endParaRPr>
          </a:p>
          <a:p>
            <a:pPr marL="453816" lvl="0" indent="-408095">
              <a:defRPr sz="1800">
                <a:solidFill>
                  <a:srgbClr val="000000"/>
                </a:solidFill>
              </a:defRPr>
            </a:pPr>
            <a:r>
              <a:rPr sz="2200">
                <a:solidFill>
                  <a:srgbClr val="404040"/>
                </a:solidFill>
              </a:rPr>
              <a:t>1) TEM QUE HAVER UM PRODUTO A SER VENDIDO.</a:t>
            </a:r>
          </a:p>
          <a:p>
            <a:pPr marL="453816" lvl="0" indent="-408095">
              <a:defRPr sz="1800">
                <a:solidFill>
                  <a:srgbClr val="000000"/>
                </a:solidFill>
              </a:defRPr>
            </a:pPr>
            <a:r>
              <a:rPr sz="2200">
                <a:solidFill>
                  <a:srgbClr val="404040"/>
                </a:solidFill>
              </a:rPr>
              <a:t>2) ESSE PRODUTO TEM QUE SER FABRICADO</a:t>
            </a:r>
          </a:p>
          <a:p>
            <a:pPr marL="453816" lvl="0" indent="-408095">
              <a:defRPr sz="1800">
                <a:solidFill>
                  <a:srgbClr val="000000"/>
                </a:solidFill>
              </a:defRPr>
            </a:pPr>
            <a:r>
              <a:rPr sz="2200">
                <a:solidFill>
                  <a:srgbClr val="404040"/>
                </a:solidFill>
              </a:rPr>
              <a:t>3) HA NECESSIDADE DE MATERIAS PRIMAS</a:t>
            </a:r>
          </a:p>
          <a:p>
            <a:pPr marL="453816" lvl="0" indent="-408095">
              <a:defRPr sz="1800">
                <a:solidFill>
                  <a:srgbClr val="000000"/>
                </a:solidFill>
              </a:defRPr>
            </a:pPr>
            <a:r>
              <a:rPr sz="2200">
                <a:solidFill>
                  <a:srgbClr val="404040"/>
                </a:solidFill>
              </a:rPr>
              <a:t>4) HA NECESSIDADE DE FORNECEDORES DESSA MATERIA PRIMA</a:t>
            </a:r>
          </a:p>
          <a:p>
            <a:pPr marL="453816" lvl="0" indent="-408095">
              <a:defRPr sz="1800">
                <a:solidFill>
                  <a:srgbClr val="000000"/>
                </a:solidFill>
              </a:defRPr>
            </a:pPr>
            <a:r>
              <a:rPr sz="2200">
                <a:solidFill>
                  <a:srgbClr val="404040"/>
                </a:solidFill>
              </a:rPr>
              <a:t>5) HA NECESSIDADE DE UMA FORMULAÇÃO DO PRODUTO</a:t>
            </a:r>
          </a:p>
          <a:p>
            <a:pPr marL="453816" lvl="0" indent="-408095">
              <a:defRPr sz="1800">
                <a:solidFill>
                  <a:srgbClr val="000000"/>
                </a:solidFill>
              </a:defRPr>
            </a:pPr>
            <a:r>
              <a:rPr sz="2200">
                <a:solidFill>
                  <a:srgbClr val="404040"/>
                </a:solidFill>
              </a:rPr>
              <a:t>6) DEVE HAVER UM PROCESSO DE COMPRA DESSES MATERIAIS</a:t>
            </a:r>
          </a:p>
          <a:p>
            <a:pPr marL="453816" lvl="0" indent="-408095">
              <a:defRPr sz="1800">
                <a:solidFill>
                  <a:srgbClr val="000000"/>
                </a:solidFill>
              </a:defRPr>
            </a:pPr>
            <a:r>
              <a:rPr sz="2200">
                <a:solidFill>
                  <a:srgbClr val="404040"/>
                </a:solidFill>
              </a:rPr>
              <a:t>7) DEVE HAVER UM LOCAL PARA  ESTOCAREM ESSE MATERIAL</a:t>
            </a:r>
          </a:p>
          <a:p>
            <a:pPr marL="453816" lvl="0" indent="-408095">
              <a:defRPr sz="1800">
                <a:solidFill>
                  <a:srgbClr val="000000"/>
                </a:solidFill>
              </a:defRPr>
            </a:pPr>
            <a:r>
              <a:rPr sz="2200">
                <a:solidFill>
                  <a:srgbClr val="404040"/>
                </a:solidFill>
              </a:rPr>
              <a:t>8) HA NECESSIDADE DE UMA LINHA DE PRODUÇÃO</a:t>
            </a:r>
          </a:p>
          <a:p>
            <a:pPr marL="453816" lvl="0" indent="-408095">
              <a:defRPr sz="1800">
                <a:solidFill>
                  <a:srgbClr val="000000"/>
                </a:solidFill>
              </a:defRPr>
            </a:pPr>
            <a:r>
              <a:rPr sz="2200">
                <a:solidFill>
                  <a:srgbClr val="404040"/>
                </a:solidFill>
              </a:rPr>
              <a:t>9) HA NECESSIDADE DE PESSOAS CAPACITADAS A PRODUZIR</a:t>
            </a:r>
          </a:p>
          <a:p>
            <a:pPr marL="453816" lvl="0" indent="-408095">
              <a:defRPr sz="1800">
                <a:solidFill>
                  <a:srgbClr val="000000"/>
                </a:solidFill>
              </a:defRPr>
            </a:pPr>
            <a:r>
              <a:rPr sz="2200">
                <a:solidFill>
                  <a:srgbClr val="404040"/>
                </a:solidFill>
              </a:rPr>
              <a:t>10) O PRODUTO ACABADO DEVE SER ESTOCADO.</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Shape 71"/>
          <p:cNvSpPr>
            <a:spLocks noGrp="1"/>
          </p:cNvSpPr>
          <p:nvPr>
            <p:ph type="body" idx="1"/>
          </p:nvPr>
        </p:nvSpPr>
        <p:spPr>
          <a:xfrm>
            <a:off x="337181" y="425531"/>
            <a:ext cx="7978489" cy="6006938"/>
          </a:xfrm>
          <a:prstGeom prst="rect">
            <a:avLst/>
          </a:prstGeom>
        </p:spPr>
        <p:txBody>
          <a:bodyPr/>
          <a:lstStyle/>
          <a:p>
            <a:pPr marL="453816" lvl="0" indent="-408095">
              <a:defRPr sz="1800">
                <a:solidFill>
                  <a:srgbClr val="000000"/>
                </a:solidFill>
              </a:defRPr>
            </a:pPr>
            <a:r>
              <a:rPr sz="2200">
                <a:solidFill>
                  <a:srgbClr val="404040"/>
                </a:solidFill>
                <a:latin typeface="Trebuchet MS Bold"/>
                <a:ea typeface="Trebuchet MS Bold"/>
                <a:cs typeface="Trebuchet MS Bold"/>
                <a:sym typeface="Trebuchet MS Bold"/>
              </a:rPr>
              <a:t>CICLO BASICO PARA QUE HAJA UM FATURAMENTO NUMA EMPRESA DE MANUFATURA OU TRANSFORMAÇÃO.</a:t>
            </a:r>
            <a:endParaRPr>
              <a:latin typeface="Trebuchet MS Bold"/>
              <a:ea typeface="Trebuchet MS Bold"/>
              <a:cs typeface="Trebuchet MS Bold"/>
              <a:sym typeface="Trebuchet MS Bold"/>
            </a:endParaRPr>
          </a:p>
          <a:p>
            <a:pPr marL="272752" lvl="0" indent="-227031">
              <a:defRPr sz="1800">
                <a:solidFill>
                  <a:srgbClr val="000000"/>
                </a:solidFill>
              </a:defRPr>
            </a:pPr>
            <a:r>
              <a:rPr sz="1900">
                <a:solidFill>
                  <a:srgbClr val="404040"/>
                </a:solidFill>
              </a:rPr>
              <a:t>1)QUANTOS PRODUTOS SAO PRODUZIDOS NESSA EMPRESA?</a:t>
            </a:r>
            <a:endParaRPr sz="1900"/>
          </a:p>
          <a:p>
            <a:pPr marL="272752" lvl="0" indent="-227031">
              <a:defRPr sz="1800">
                <a:solidFill>
                  <a:srgbClr val="000000"/>
                </a:solidFill>
              </a:defRPr>
            </a:pPr>
            <a:r>
              <a:rPr sz="1900">
                <a:solidFill>
                  <a:srgbClr val="404040"/>
                </a:solidFill>
              </a:rPr>
              <a:t>2) QUANTOS FORNECEDORES DE MATERIAS PRIMAS TRABALHAM CONOSCO?</a:t>
            </a:r>
            <a:endParaRPr sz="1900"/>
          </a:p>
          <a:p>
            <a:pPr marL="272752" lvl="0" indent="-227031">
              <a:defRPr sz="1800">
                <a:solidFill>
                  <a:srgbClr val="000000"/>
                </a:solidFill>
              </a:defRPr>
            </a:pPr>
            <a:r>
              <a:rPr sz="1900">
                <a:solidFill>
                  <a:srgbClr val="404040"/>
                </a:solidFill>
              </a:rPr>
              <a:t>3) QUANTOS TIPOS DE PRODUTOS FABRICAMOS?</a:t>
            </a:r>
            <a:endParaRPr sz="1900"/>
          </a:p>
          <a:p>
            <a:pPr marL="272752" lvl="0" indent="-227031">
              <a:defRPr sz="1800">
                <a:solidFill>
                  <a:srgbClr val="000000"/>
                </a:solidFill>
              </a:defRPr>
            </a:pPr>
            <a:r>
              <a:rPr sz="1900">
                <a:solidFill>
                  <a:srgbClr val="404040"/>
                </a:solidFill>
              </a:rPr>
              <a:t>4) QUAL PRODUTO ESTA SENDO O MAIS VENDIDO NO MOMENTO?</a:t>
            </a:r>
            <a:endParaRPr sz="1900"/>
          </a:p>
          <a:p>
            <a:pPr marL="272752" lvl="0" indent="-227031">
              <a:defRPr sz="1800">
                <a:solidFill>
                  <a:srgbClr val="000000"/>
                </a:solidFill>
              </a:defRPr>
            </a:pPr>
            <a:r>
              <a:rPr sz="1900">
                <a:solidFill>
                  <a:srgbClr val="404040"/>
                </a:solidFill>
              </a:rPr>
              <a:t>5) COMO ESTAO SENDO TRABALHADAS AS COMPRAS? HA UM SISTEMA?</a:t>
            </a:r>
            <a:endParaRPr sz="1900"/>
          </a:p>
          <a:p>
            <a:pPr marL="272752" lvl="0" indent="-227031">
              <a:defRPr sz="1800">
                <a:solidFill>
                  <a:srgbClr val="000000"/>
                </a:solidFill>
              </a:defRPr>
            </a:pPr>
            <a:r>
              <a:rPr sz="1900">
                <a:solidFill>
                  <a:srgbClr val="404040"/>
                </a:solidFill>
              </a:rPr>
              <a:t>6) SE EXISTE UM SISTEMA, QUANTOS PEDIDOS SAO COLOCADOS POR MES? PARA QUANTOS ITENS? PARA QUANTOS FORNECEDORES?</a:t>
            </a:r>
            <a:endParaRPr sz="1900"/>
          </a:p>
          <a:p>
            <a:pPr marL="272752" lvl="0" indent="-227031">
              <a:defRPr sz="1800">
                <a:solidFill>
                  <a:srgbClr val="000000"/>
                </a:solidFill>
              </a:defRPr>
            </a:pPr>
            <a:r>
              <a:rPr sz="1900">
                <a:solidFill>
                  <a:srgbClr val="404040"/>
                </a:solidFill>
              </a:rPr>
              <a:t>7) EXISTE UM DEPARTAMENTO DE LOGISTICA? QUEM CUIDA DA ESTOCAGEM DA MATERIA PRIMA COMPRADA.</a:t>
            </a:r>
            <a:endParaRPr sz="1900"/>
          </a:p>
          <a:p>
            <a:pPr marL="272752" lvl="0" indent="-227031">
              <a:defRPr sz="1800">
                <a:solidFill>
                  <a:srgbClr val="000000"/>
                </a:solidFill>
              </a:defRPr>
            </a:pPr>
            <a:r>
              <a:rPr sz="1900">
                <a:solidFill>
                  <a:srgbClr val="404040"/>
                </a:solidFill>
              </a:rPr>
              <a:t>8) QUEM FAZ O RECEBIMENTO DAS MATERIAS PRIMAS? EXISTE UM SISTEMA PARA LIGAR COM COMPRAS?</a:t>
            </a:r>
            <a:endParaRPr sz="1900"/>
          </a:p>
          <a:p>
            <a:pPr marL="272752" lvl="0" indent="-227031">
              <a:defRPr sz="1800">
                <a:solidFill>
                  <a:srgbClr val="000000"/>
                </a:solidFill>
              </a:defRPr>
            </a:pPr>
            <a:r>
              <a:rPr sz="1900">
                <a:solidFill>
                  <a:srgbClr val="404040"/>
                </a:solidFill>
              </a:rPr>
              <a:t>9) QUANTAS LINHAS DE PRODUÇÃO EXISTEM NA EMPRESA?</a:t>
            </a:r>
            <a:endParaRPr sz="1900"/>
          </a:p>
          <a:p>
            <a:pPr marL="272752" lvl="0" indent="-227031">
              <a:defRPr sz="1800">
                <a:solidFill>
                  <a:srgbClr val="000000"/>
                </a:solidFill>
              </a:defRPr>
            </a:pPr>
            <a:r>
              <a:rPr sz="1900">
                <a:solidFill>
                  <a:srgbClr val="404040"/>
                </a:solidFill>
              </a:rPr>
              <a:t>!0) A PRODUÇÃO ESTA AUTOMATIZADA?</a:t>
            </a:r>
            <a:endParaRPr sz="1900"/>
          </a:p>
          <a:p>
            <a:pPr marL="272752" lvl="0" indent="-227031">
              <a:defRPr sz="1800">
                <a:solidFill>
                  <a:srgbClr val="000000"/>
                </a:solidFill>
              </a:defRPr>
            </a:pPr>
            <a:r>
              <a:rPr sz="1900">
                <a:solidFill>
                  <a:srgbClr val="404040"/>
                </a:solidFill>
              </a:rPr>
              <a:t>11) TEMOS FALTA DE MAO DE OBRA?</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4</a:t>
            </a:fld>
            <a:endParaRPr sz="1100">
              <a:solidFill>
                <a:srgbClr val="808080"/>
              </a:solidFill>
            </a:endParaRPr>
          </a:p>
        </p:txBody>
      </p:sp>
      <p:sp>
        <p:nvSpPr>
          <p:cNvPr id="74" name="Shape 74"/>
          <p:cNvSpPr>
            <a:spLocks noGrp="1"/>
          </p:cNvSpPr>
          <p:nvPr>
            <p:ph type="body" idx="1"/>
          </p:nvPr>
        </p:nvSpPr>
        <p:spPr>
          <a:xfrm>
            <a:off x="578494" y="731518"/>
            <a:ext cx="7987011" cy="5764678"/>
          </a:xfrm>
          <a:prstGeom prst="rect">
            <a:avLst/>
          </a:prstGeom>
        </p:spPr>
        <p:txBody>
          <a:bodyPr/>
          <a:lstStyle/>
          <a:p>
            <a:pPr marL="453816" lvl="0" indent="-408095">
              <a:defRPr sz="1800">
                <a:solidFill>
                  <a:srgbClr val="000000"/>
                </a:solidFill>
              </a:defRPr>
            </a:pPr>
            <a:r>
              <a:rPr sz="2200">
                <a:solidFill>
                  <a:srgbClr val="404040"/>
                </a:solidFill>
                <a:latin typeface="Trebuchet MS Bold"/>
                <a:ea typeface="Trebuchet MS Bold"/>
                <a:cs typeface="Trebuchet MS Bold"/>
                <a:sym typeface="Trebuchet MS Bold"/>
              </a:rPr>
              <a:t>CICLO BASICO PARA QUE HAJA UM FATURAMENTO NUMA EMPRESA DE MANUFATURA OU TRANSFORMAÇÃO.</a:t>
            </a:r>
            <a:endParaRPr>
              <a:latin typeface="Trebuchet MS Bold"/>
              <a:ea typeface="Trebuchet MS Bold"/>
              <a:cs typeface="Trebuchet MS Bold"/>
              <a:sym typeface="Trebuchet MS Bold"/>
            </a:endParaRPr>
          </a:p>
          <a:p>
            <a:pPr marL="453816" lvl="0" indent="-408095">
              <a:defRPr sz="1800">
                <a:solidFill>
                  <a:srgbClr val="000000"/>
                </a:solidFill>
              </a:defRPr>
            </a:pPr>
            <a:r>
              <a:rPr sz="2200">
                <a:solidFill>
                  <a:srgbClr val="404040"/>
                </a:solidFill>
              </a:rPr>
              <a:t>SE HOUVER UM SISTEMA PARA CUIDAR DE TUDO ISSO, VAMOS INICIAR OS PROCEDIMENTOS PARA A EXECUÇÃO DO FATURAMENTO, PELO TRABALHO DO VENDEDOR EM SEU DIA A DIA E COM OS ELEMENTOS QUE ESSE VENDEDOR POSSUI.</a:t>
            </a:r>
          </a:p>
          <a:p>
            <a:pPr marL="453816" lvl="0" indent="-408095">
              <a:defRPr sz="1800">
                <a:solidFill>
                  <a:srgbClr val="000000"/>
                </a:solidFill>
              </a:defRPr>
            </a:pPr>
            <a:r>
              <a:rPr sz="2200">
                <a:solidFill>
                  <a:srgbClr val="404040"/>
                </a:solidFill>
              </a:rPr>
              <a:t>TODOS OS VENDEDORES TEM SEUS PONTOS DE VENDAS PREVIAMENTE DETERMINADOS E PODEM SER POR AREAS, POR PRIORIDADES, ETC.</a:t>
            </a:r>
          </a:p>
          <a:p>
            <a:pPr marL="453816" lvl="0" indent="-408095">
              <a:defRPr sz="1800">
                <a:solidFill>
                  <a:srgbClr val="000000"/>
                </a:solidFill>
              </a:defRPr>
            </a:pPr>
            <a:r>
              <a:rPr sz="2200">
                <a:solidFill>
                  <a:srgbClr val="404040"/>
                </a:solidFill>
              </a:rPr>
              <a:t>ELE VAI TIRAR SEUS PEDIDOS E ENVIA-LOS PARA PROCESSAMENTO, NORMALMENTE EM BATCH, DEVIDO AO GRANDE VOLUME DIARIO. </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5</a:t>
            </a:fld>
            <a:endParaRPr sz="1100">
              <a:solidFill>
                <a:srgbClr val="808080"/>
              </a:solidFill>
            </a:endParaRPr>
          </a:p>
        </p:txBody>
      </p:sp>
      <p:sp>
        <p:nvSpPr>
          <p:cNvPr id="77" name="Shape 77"/>
          <p:cNvSpPr/>
          <p:nvPr/>
        </p:nvSpPr>
        <p:spPr>
          <a:xfrm>
            <a:off x="132081" y="1529722"/>
            <a:ext cx="8879838" cy="7141003"/>
          </a:xfrm>
          <a:prstGeom prst="rect">
            <a:avLst/>
          </a:prstGeom>
          <a:ln w="12700">
            <a:miter lim="400000"/>
          </a:ln>
          <a:extLst>
            <a:ext uri="{C572A759-6A51-4108-AA02-DFA0A04FC94B}">
              <ma14:wrappingTextBoxFlag xmlns:ma14="http://schemas.microsoft.com/office/mac/drawingml/2011/main" xmlns="" val="1"/>
            </a:ext>
          </a:extLst>
        </p:spPr>
        <p:txBody>
          <a:bodyPr lIns="45718" tIns="45718" rIns="45718" bIns="45718">
            <a:spAutoFit/>
          </a:bodyPr>
          <a:lstStyle/>
          <a:p>
            <a:pPr lvl="0">
              <a:spcBef>
                <a:spcPts val="800"/>
              </a:spcBef>
            </a:pPr>
            <a:r>
              <a:rPr sz="2800">
                <a:latin typeface="Arial"/>
                <a:ea typeface="Arial"/>
                <a:cs typeface="Arial"/>
                <a:sym typeface="Arial"/>
              </a:rPr>
              <a:t>O TRABALHO DE VENDAS</a:t>
            </a:r>
          </a:p>
          <a:p>
            <a:pPr lvl="0">
              <a:spcBef>
                <a:spcPts val="800"/>
              </a:spcBef>
            </a:pPr>
            <a:r>
              <a:rPr sz="1700">
                <a:latin typeface="Arial"/>
                <a:ea typeface="Arial"/>
                <a:cs typeface="Arial"/>
                <a:sym typeface="Arial"/>
              </a:rPr>
              <a:t>O OBJETIVO DO VENDEDOR EH VENDER”. ELE TRABALHA </a:t>
            </a:r>
          </a:p>
          <a:p>
            <a:pPr lvl="0">
              <a:spcBef>
                <a:spcPts val="800"/>
              </a:spcBef>
            </a:pPr>
            <a:r>
              <a:rPr sz="1700">
                <a:latin typeface="Arial"/>
                <a:ea typeface="Arial"/>
                <a:cs typeface="Arial"/>
                <a:sym typeface="Arial"/>
              </a:rPr>
              <a:t>SEMPRE CORRENDO ATRAS DE METAS ESTIPULADAS E QUE</a:t>
            </a:r>
            <a:endParaRPr sz="1700">
              <a:latin typeface="Times New Roman"/>
              <a:ea typeface="Times New Roman"/>
              <a:cs typeface="Times New Roman"/>
              <a:sym typeface="Times New Roman"/>
            </a:endParaRPr>
          </a:p>
          <a:p>
            <a:pPr lvl="0">
              <a:spcBef>
                <a:spcPts val="800"/>
              </a:spcBef>
            </a:pPr>
            <a:r>
              <a:rPr sz="1700">
                <a:latin typeface="Arial"/>
                <a:ea typeface="Arial"/>
                <a:cs typeface="Arial"/>
                <a:sym typeface="Arial"/>
              </a:rPr>
              <a:t>DEVEM SER ATINGIDAS. </a:t>
            </a:r>
          </a:p>
          <a:p>
            <a:pPr lvl="0">
              <a:spcBef>
                <a:spcPts val="800"/>
              </a:spcBef>
            </a:pPr>
            <a:r>
              <a:rPr sz="1700">
                <a:latin typeface="Arial"/>
                <a:ea typeface="Arial"/>
                <a:cs typeface="Arial"/>
                <a:sym typeface="Arial"/>
              </a:rPr>
              <a:t>ESSAS METAS SAO ESTIPULADAS EM REUNIÕES DE VENDAS COM MARKETING E NORMALMENTE COM A PARTICIPAÇÃO DO COMERCIAL. (PRODUÇÃO TAMBEM)</a:t>
            </a:r>
          </a:p>
          <a:p>
            <a:pPr lvl="0">
              <a:spcBef>
                <a:spcPts val="800"/>
              </a:spcBef>
            </a:pPr>
            <a:endParaRPr sz="1700">
              <a:latin typeface="Arial"/>
              <a:ea typeface="Arial"/>
              <a:cs typeface="Arial"/>
              <a:sym typeface="Arial"/>
            </a:endParaRPr>
          </a:p>
          <a:p>
            <a:pPr lvl="0">
              <a:spcBef>
                <a:spcPts val="800"/>
              </a:spcBef>
            </a:pPr>
            <a:r>
              <a:rPr sz="1700">
                <a:latin typeface="Arial"/>
                <a:ea typeface="Arial"/>
                <a:cs typeface="Arial"/>
                <a:sym typeface="Arial"/>
              </a:rPr>
              <a:t> ELAS ABRANGEM DE 3 A 6 MESES FUTUROS E SAO ESTIPULADAS POR REGIAO DE VENDAS.</a:t>
            </a:r>
            <a:endParaRPr sz="1700">
              <a:latin typeface="Times New Roman"/>
              <a:ea typeface="Times New Roman"/>
              <a:cs typeface="Times New Roman"/>
              <a:sym typeface="Times New Roman"/>
            </a:endParaRPr>
          </a:p>
          <a:p>
            <a:pPr lvl="0">
              <a:spcBef>
                <a:spcPts val="800"/>
              </a:spcBef>
            </a:pPr>
            <a:endParaRPr sz="1700">
              <a:latin typeface="Arial"/>
              <a:ea typeface="Arial"/>
              <a:cs typeface="Arial"/>
              <a:sym typeface="Arial"/>
            </a:endParaRPr>
          </a:p>
          <a:p>
            <a:pPr lvl="0">
              <a:spcBef>
                <a:spcPts val="800"/>
              </a:spcBef>
            </a:pPr>
            <a:r>
              <a:rPr sz="1700">
                <a:latin typeface="Arial"/>
                <a:ea typeface="Arial"/>
                <a:cs typeface="Arial"/>
                <a:sym typeface="Arial"/>
              </a:rPr>
              <a:t> A META DE SAO PAULO EH MUITO DIFERENTE DA META DA BAHIA, QUE EH BEM DIFERENTE DA META DO ACRE.</a:t>
            </a:r>
            <a:endParaRPr sz="2800">
              <a:latin typeface="Times Roman"/>
              <a:ea typeface="Times Roman"/>
              <a:cs typeface="Times Roman"/>
              <a:sym typeface="Times Roman"/>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a:p>
            <a:pPr lvl="0">
              <a:spcBef>
                <a:spcPts val="800"/>
              </a:spcBef>
            </a:pPr>
            <a:endParaRPr sz="2800">
              <a:latin typeface="Arial"/>
              <a:ea typeface="Arial"/>
              <a:cs typeface="Arial"/>
              <a:sym typeface="Arial"/>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hape 79"/>
          <p:cNvSpPr>
            <a:spLocks noGrp="1"/>
          </p:cNvSpPr>
          <p:nvPr>
            <p:ph type="body" idx="1"/>
          </p:nvPr>
        </p:nvSpPr>
        <p:spPr>
          <a:xfrm>
            <a:off x="172450" y="0"/>
            <a:ext cx="8971554" cy="6726681"/>
          </a:xfrm>
          <a:prstGeom prst="rect">
            <a:avLst/>
          </a:prstGeom>
        </p:spPr>
        <p:txBody>
          <a:bodyPr/>
          <a:lstStyle/>
          <a:p>
            <a:pPr marL="0" lvl="0" indent="35659" defTabSz="713230">
              <a:spcBef>
                <a:spcPts val="300"/>
              </a:spcBef>
              <a:buSzTx/>
              <a:buNone/>
              <a:defRPr sz="1800">
                <a:solidFill>
                  <a:srgbClr val="000000"/>
                </a:solidFill>
              </a:defRPr>
            </a:pPr>
            <a:r>
              <a:rPr sz="1700">
                <a:solidFill>
                  <a:srgbClr val="404040"/>
                </a:solidFill>
              </a:rPr>
              <a:t> –</a:t>
            </a:r>
            <a:endParaRPr sz="1700"/>
          </a:p>
          <a:p>
            <a:pPr marL="0" lvl="0" indent="35659" defTabSz="713230">
              <a:spcBef>
                <a:spcPts val="300"/>
              </a:spcBef>
              <a:buSzTx/>
              <a:buNone/>
              <a:defRPr sz="1800">
                <a:solidFill>
                  <a:srgbClr val="000000"/>
                </a:solidFill>
              </a:defRPr>
            </a:pPr>
            <a:endParaRPr sz="1700"/>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CONSIDERADA POR MUITOS, A PRINCIPAL AREA</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DA EMPRESA.</a:t>
            </a:r>
            <a:endParaRPr sz="1400">
              <a:solidFill>
                <a:srgbClr val="010101"/>
              </a:solidFill>
              <a:latin typeface="Times New Roman"/>
              <a:ea typeface="Times New Roman"/>
              <a:cs typeface="Times New Roman"/>
              <a:sym typeface="Times New Roman"/>
            </a:endParaRPr>
          </a:p>
          <a:p>
            <a:pPr marL="2436061" lvl="0" indent="-2436061" defTabSz="713230">
              <a:spcBef>
                <a:spcPts val="600"/>
              </a:spcBef>
              <a:buClr>
                <a:srgbClr val="FFFFFF"/>
              </a:buClr>
              <a:buSzPct val="100000"/>
              <a:buFont typeface="Arial"/>
              <a:buChar char="•"/>
              <a:defRPr sz="1800">
                <a:solidFill>
                  <a:srgbClr val="000000"/>
                </a:solidFill>
              </a:defRPr>
            </a:pPr>
            <a:endParaRPr sz="1400">
              <a:solidFill>
                <a:srgbClr val="010101"/>
              </a:solidFill>
              <a:latin typeface="Arial"/>
              <a:ea typeface="Arial"/>
              <a:cs typeface="Arial"/>
              <a:sym typeface="Arial"/>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SEM VENDER O FATURAMENTO INEXISTE E A</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EMPRESA NAO CONSEGUE MANTER-SE NO </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MERCADO.</a:t>
            </a:r>
            <a:endParaRPr sz="1400">
              <a:solidFill>
                <a:srgbClr val="010101"/>
              </a:solidFill>
              <a:latin typeface="Times New Roman"/>
              <a:ea typeface="Times New Roman"/>
              <a:cs typeface="Times New Roman"/>
              <a:sym typeface="Times New Roman"/>
            </a:endParaRPr>
          </a:p>
          <a:p>
            <a:pPr marL="2436061" lvl="0" indent="-2436061" defTabSz="713230">
              <a:spcBef>
                <a:spcPts val="600"/>
              </a:spcBef>
              <a:buClr>
                <a:srgbClr val="FFFFFF"/>
              </a:buClr>
              <a:buSzPct val="100000"/>
              <a:buFont typeface="Arial"/>
              <a:buChar char="•"/>
              <a:defRPr sz="1800">
                <a:solidFill>
                  <a:srgbClr val="000000"/>
                </a:solidFill>
              </a:defRPr>
            </a:pPr>
            <a:endParaRPr sz="1400">
              <a:solidFill>
                <a:srgbClr val="010101"/>
              </a:solidFill>
              <a:latin typeface="Arial"/>
              <a:ea typeface="Arial"/>
              <a:cs typeface="Arial"/>
              <a:sym typeface="Arial"/>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RESPONSÁVEL TAMBEM, PELO BOM RELACIONA-</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MENTO COM OS CLIENTES.</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endParaRPr sz="1400">
              <a:solidFill>
                <a:srgbClr val="010101"/>
              </a:solidFill>
              <a:latin typeface="Arial"/>
              <a:ea typeface="Arial"/>
              <a:cs typeface="Arial"/>
              <a:sym typeface="Arial"/>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VENDER EH UMA ARTE E EXISTEM VENDEDORES</a:t>
            </a:r>
            <a:endParaRPr sz="1400">
              <a:solidFill>
                <a:srgbClr val="010101"/>
              </a:solidFill>
              <a:latin typeface="Times New Roman"/>
              <a:ea typeface="Times New Roman"/>
              <a:cs typeface="Times New Roman"/>
              <a:sym typeface="Times New Roman"/>
            </a:endParaRPr>
          </a:p>
          <a:p>
            <a:pPr marL="0" lvl="0" indent="0" defTabSz="713230">
              <a:spcBef>
                <a:spcPts val="600"/>
              </a:spcBef>
              <a:buSzTx/>
              <a:buNone/>
              <a:defRPr sz="1800">
                <a:solidFill>
                  <a:srgbClr val="000000"/>
                </a:solidFill>
              </a:defRPr>
            </a:pPr>
            <a:r>
              <a:rPr>
                <a:solidFill>
                  <a:srgbClr val="010101"/>
                </a:solidFill>
                <a:latin typeface="Arial"/>
                <a:ea typeface="Arial"/>
                <a:cs typeface="Arial"/>
                <a:sym typeface="Arial"/>
              </a:rPr>
              <a:t>QUE PODEM SER CONSIDERADOS ARTISTAS VERDADEIROS. (vende geladeira para esquimó).</a:t>
            </a:r>
            <a:endParaRPr sz="1700">
              <a:latin typeface="Times Roman"/>
              <a:ea typeface="Times Roman"/>
              <a:cs typeface="Times Roman"/>
              <a:sym typeface="Times Roman"/>
            </a:endParaRPr>
          </a:p>
          <a:p>
            <a:pPr marL="0" lvl="0" indent="35659" defTabSz="713230">
              <a:spcBef>
                <a:spcPts val="300"/>
              </a:spcBef>
              <a:buSzTx/>
              <a:buNone/>
              <a:defRPr sz="1800">
                <a:solidFill>
                  <a:srgbClr val="000000"/>
                </a:solidFill>
              </a:defRPr>
            </a:pPr>
            <a:endParaRPr sz="1700"/>
          </a:p>
          <a:p>
            <a:pPr marL="0" lvl="0" indent="35659" defTabSz="713230">
              <a:spcBef>
                <a:spcPts val="300"/>
              </a:spcBef>
              <a:buSzTx/>
              <a:buNone/>
              <a:defRPr sz="1800">
                <a:solidFill>
                  <a:srgbClr val="000000"/>
                </a:solidFill>
              </a:defRPr>
            </a:pPr>
            <a:endParaRPr sz="1700"/>
          </a:p>
          <a:p>
            <a:pPr marL="0" lvl="0" indent="35659" defTabSz="713230">
              <a:spcBef>
                <a:spcPts val="300"/>
              </a:spcBef>
              <a:buSzTx/>
              <a:buNone/>
              <a:defRPr sz="1800">
                <a:solidFill>
                  <a:srgbClr val="000000"/>
                </a:solidFill>
              </a:defRPr>
            </a:pPr>
            <a:endParaRPr sz="1500"/>
          </a:p>
          <a:p>
            <a:pPr marL="0" lvl="0" indent="35659" defTabSz="713230">
              <a:spcBef>
                <a:spcPts val="300"/>
              </a:spcBef>
              <a:buSzTx/>
              <a:buNone/>
              <a:defRPr sz="1800">
                <a:solidFill>
                  <a:srgbClr val="000000"/>
                </a:solidFill>
              </a:defRPr>
            </a:pPr>
            <a:endParaRPr sz="1500"/>
          </a:p>
          <a:p>
            <a:pPr marL="0" lvl="0" indent="35659" defTabSz="713230">
              <a:spcBef>
                <a:spcPts val="300"/>
              </a:spcBef>
              <a:buSzTx/>
              <a:buNone/>
              <a:defRPr sz="1800">
                <a:solidFill>
                  <a:srgbClr val="000000"/>
                </a:solidFill>
              </a:defRPr>
            </a:pPr>
            <a:endParaRPr sz="1500"/>
          </a:p>
          <a:p>
            <a:pPr marL="0" lvl="1" indent="285289" defTabSz="713230">
              <a:spcBef>
                <a:spcPts val="300"/>
              </a:spcBef>
              <a:buSzTx/>
              <a:buNone/>
              <a:defRPr sz="1800">
                <a:solidFill>
                  <a:srgbClr val="000000"/>
                </a:solidFill>
              </a:defRPr>
            </a:pPr>
            <a:r>
              <a:rPr sz="1500">
                <a:solidFill>
                  <a:srgbClr val="404040"/>
                </a:solidFill>
              </a:rPr>
              <a:t>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hape 81"/>
          <p:cNvSpPr>
            <a:spLocks noGrp="1"/>
          </p:cNvSpPr>
          <p:nvPr>
            <p:ph type="sldNum" sz="quarter" idx="2"/>
          </p:nvPr>
        </p:nvSpPr>
        <p:spPr>
          <a:xfrm>
            <a:off x="3810000" y="6220140"/>
            <a:ext cx="1828800" cy="269241"/>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7</a:t>
            </a:fld>
            <a:endParaRPr sz="1100">
              <a:solidFill>
                <a:srgbClr val="808080"/>
              </a:solidFill>
            </a:endParaRPr>
          </a:p>
        </p:txBody>
      </p:sp>
      <p:sp>
        <p:nvSpPr>
          <p:cNvPr id="82" name="Shape 82"/>
          <p:cNvSpPr>
            <a:spLocks noGrp="1"/>
          </p:cNvSpPr>
          <p:nvPr>
            <p:ph type="title"/>
          </p:nvPr>
        </p:nvSpPr>
        <p:spPr>
          <a:xfrm>
            <a:off x="320087" y="244668"/>
            <a:ext cx="8503826" cy="5807577"/>
          </a:xfrm>
          <a:prstGeom prst="rect">
            <a:avLst/>
          </a:prstGeom>
        </p:spPr>
        <p:txBody>
          <a:bodyPr lIns="0" tIns="0" rIns="0" bIns="0">
            <a:normAutofit/>
          </a:bodyPr>
          <a:lstStyle/>
          <a:p>
            <a:pPr marL="325119" lvl="0" indent="-325119" algn="l" defTabSz="473201">
              <a:lnSpc>
                <a:spcPct val="120000"/>
              </a:lnSpc>
              <a:spcBef>
                <a:spcPts val="3400"/>
              </a:spcBef>
              <a:buClr>
                <a:srgbClr val="FFFFFF"/>
              </a:buClr>
              <a:buSzPct val="75000"/>
              <a:buFont typeface="Helvetica"/>
              <a:buChar char="•"/>
              <a:defRPr sz="1800">
                <a:solidFill>
                  <a:srgbClr val="000000"/>
                </a:solidFill>
              </a:defRPr>
            </a:pPr>
            <a:r>
              <a:rPr sz="1600">
                <a:solidFill>
                  <a:srgbClr val="010101"/>
                </a:solidFill>
                <a:latin typeface="+mn-lt"/>
                <a:ea typeface="+mn-ea"/>
                <a:cs typeface="+mn-cs"/>
                <a:sym typeface="Helvetica"/>
              </a:rPr>
              <a:t>O DEPTO DE PRODUÇÃO, NORMALMENTE TEM UMA DIRETORIA INDEPENDENTE, QUE CUIDA DE TUDO QUE DEVE SER MANUFATURADO DENTRO DE UMA INDUSTRIA.</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ESSA DIRETORIA TEM VARIAS SUB DIVISÕES, A SABER: PLANEJAMENTO CENTRAL, PLANEJAMENTO FABRICA, ENGENHARIA DE PRODUÇÃO E O CHAO DE FABRICA.</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ALEM DE PRODUZIR, EXISTEM OUTRAS FUNÇÕES QUE SAO RESPONSABILIDADE DA PRODUÇÃO, COMO :</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 MANTER AS LINHAS SEMPRE LIMPAS E PRONTAS PARA FUNCIONAR, O QUE DEMANDA MECANICOS, APARELHOS DE TESTE, PECAS DE REPOSIÇÃO, GRAXA, ETC.</a:t>
            </a:r>
          </a:p>
          <a:p>
            <a:pPr marL="411480" lvl="0" indent="-411480" algn="l" defTabSz="473201">
              <a:lnSpc>
                <a:spcPct val="120000"/>
              </a:lnSpc>
              <a:spcBef>
                <a:spcPts val="3400"/>
              </a:spcBef>
              <a:buSzTx/>
              <a:buNone/>
              <a:defRPr sz="1800">
                <a:solidFill>
                  <a:srgbClr val="000000"/>
                </a:solidFill>
              </a:defRPr>
            </a:pPr>
            <a:r>
              <a:rPr sz="1600">
                <a:solidFill>
                  <a:srgbClr val="010101"/>
                </a:solidFill>
                <a:latin typeface="+mn-lt"/>
                <a:ea typeface="+mn-ea"/>
                <a:cs typeface="+mn-cs"/>
                <a:sym typeface="Helvetica"/>
              </a:rPr>
              <a:t>TER UMA EQUIPE DE ENGENHEIROS DE PRODUÇÃO, QUE DEVEM CUIDAR DAS PARADAS DE MAQUINA OBRIGATÓRIAS, PARA EVITAR QUEBRAS POR EXCESSO DE UTILIZAÇÃO.</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p:cNvSpPr>
          <p:nvPr>
            <p:ph type="body" idx="1"/>
          </p:nvPr>
        </p:nvSpPr>
        <p:spPr>
          <a:xfrm>
            <a:off x="597495" y="723229"/>
            <a:ext cx="8253811" cy="5573790"/>
          </a:xfrm>
          <a:prstGeom prst="rect">
            <a:avLst/>
          </a:prstGeom>
        </p:spPr>
        <p:txBody>
          <a:bodyPr/>
          <a:lstStyle/>
          <a:p>
            <a:pPr marL="325119" lvl="0" indent="-325119" defTabSz="473201">
              <a:spcBef>
                <a:spcPts val="3400"/>
              </a:spcBef>
              <a:buClr>
                <a:srgbClr val="FFFFFF"/>
              </a:buClr>
              <a:buSzPct val="75000"/>
              <a:buFont typeface="Helvetica Light"/>
              <a:buChar char="•"/>
            </a:pPr>
            <a:r>
              <a:rPr sz="1600">
                <a:solidFill>
                  <a:srgbClr val="111111"/>
                </a:solidFill>
                <a:latin typeface="Helvetica Light"/>
                <a:ea typeface="Helvetica Light"/>
                <a:cs typeface="Helvetica Light"/>
                <a:sym typeface="Helvetica Light"/>
              </a:rPr>
              <a:t>TER UM PLANEJAMENTO CENTRAL QUE DEVERA TRABALHAR EM CONJUNTO COM O PLANEJAMENTO FABRICA, MAS CADA QUAL COM SUAS FUNÇÕES ESPECIFICAS. EXEMPLO - O PLANEJAMENTO CENTRAL, TEM POR RESPONSABILIDADE EMITIR AS REQUISIÇÕES, QUE COMPRAS IRA TRANSFORMAR EM PEDIDOS PARA OS FORNECEDORES. ANTES DE ELABORAR AS REQUISIÇÕES, ELES CHECAM OS ESTOQUES DE PRODUTOS ACABADOS, CHECAM COM VENDAS AS ESTIMATIVAS ELABORADAS PELO MARKETING E SOMENTE APOS ESSES PROCEDIMENTOS, ENVIAM AO PLANEJAMENTO FABRICA AS QUANTIDADES QUE DEVERÃO SER PRODUZIDAS.</a:t>
            </a:r>
          </a:p>
          <a:p>
            <a:pPr marL="325119" lvl="0" indent="-325119" defTabSz="473201">
              <a:spcBef>
                <a:spcPts val="3400"/>
              </a:spcBef>
              <a:buClr>
                <a:srgbClr val="FFFFFF"/>
              </a:buClr>
              <a:buSzPct val="75000"/>
              <a:buFont typeface="Helvetica Light"/>
              <a:buChar char="•"/>
            </a:pPr>
            <a:r>
              <a:rPr sz="1600">
                <a:solidFill>
                  <a:srgbClr val="111111"/>
                </a:solidFill>
                <a:latin typeface="Helvetica Light"/>
                <a:ea typeface="Helvetica Light"/>
                <a:cs typeface="Helvetica Light"/>
                <a:sym typeface="Helvetica Light"/>
              </a:rPr>
              <a:t>O PLANEJAMENTO FABRICA, POR SUA VEZ, PEGA ESSES NUMEROS COM AS QUANTIDADES DE PRODUTOS ACABADOS A SEREM PRODUZIDAS E EXECUTAM A CHAMADA EXPLOSÃO, QUE NADA MAIS EH  QUE PEGAR ESSAS QUANTIDADES E SUBMETER AS FORMULAS DO PRODUTO, PARA ENTAO SABER QUANTO DE CADA COMPONENTE DESSE PRODUTO SERA NECESSARIO PARA A FABRICAÇÃO DAQUELE PRODUTO. ESSAS QUANTIDADES SAO ENVIADAS AO PLANEJAMENTO CENTRAL, QUE DEVERÃO CHECAR OS ESTOQUES  EXISTENTES DE CADA COMPONENTE E SOMENTE DEPOIS DESSA CHECAGEM PODERÃO EMITIR AS REQUISIÇÕES QUE SERAO UTILIZADAS POR COMPRAS</a:t>
            </a:r>
          </a:p>
        </p:txBody>
      </p:sp>
      <p:sp>
        <p:nvSpPr>
          <p:cNvPr id="85" name="Shape 85"/>
          <p:cNvSpPr>
            <a:spLocks noGrp="1"/>
          </p:cNvSpPr>
          <p:nvPr>
            <p:ph type="sldNum" sz="quarter" idx="2"/>
          </p:nvPr>
        </p:nvSpPr>
        <p:spPr>
          <a:xfrm>
            <a:off x="3810000" y="6143940"/>
            <a:ext cx="1828800" cy="152405"/>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8</a:t>
            </a:fld>
            <a:endParaRPr sz="1100">
              <a:solidFill>
                <a:srgbClr val="808080"/>
              </a:solidFill>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87"/>
          <p:cNvSpPr>
            <a:spLocks noGrp="1"/>
          </p:cNvSpPr>
          <p:nvPr>
            <p:ph type="body" idx="1"/>
          </p:nvPr>
        </p:nvSpPr>
        <p:spPr>
          <a:xfrm>
            <a:off x="304050" y="640317"/>
            <a:ext cx="8716962" cy="5726829"/>
          </a:xfrm>
          <a:prstGeom prst="rect">
            <a:avLst/>
          </a:prstGeom>
        </p:spPr>
        <p:txBody>
          <a:bodyPr/>
          <a:lstStyle/>
          <a:p>
            <a:pPr marL="462280" lvl="0" indent="-462280" defTabSz="531622">
              <a:spcBef>
                <a:spcPts val="3800"/>
              </a:spcBef>
              <a:buClr>
                <a:srgbClr val="FFFFFF"/>
              </a:buClr>
              <a:buSzPct val="75000"/>
              <a:buFont typeface="Helvetica Light"/>
              <a:buChar char="•"/>
            </a:pPr>
            <a:r>
              <a:rPr>
                <a:latin typeface="Helvetica Light"/>
                <a:ea typeface="Helvetica Light"/>
                <a:cs typeface="Helvetica Light"/>
                <a:sym typeface="Helvetica Light"/>
              </a:rPr>
              <a:t>O PLANEJAMENTO CENTRAL, TAMBEM TEM A RESPONSABILIDADE DE ELABORAR UM RELATÓRIO PARA LOGISTICA COM UMA PREVISÃO DAS QUANTIDADE DE CADA COMPONENTE. MATERIA PRIMA DEVERA COMPOR O ESTOQUE, PARA QUE SEJA PROVIDENCIADO O LOCAL DE ESTOCAGEM. FICA SOB A RESPONSABILIDADE DE COMPRAS DETERMINAR AS DATAS QUE ESSE MATERIAL SERAO ENTREGUES, POIS COMPRAS EH QUEM FECHA ESSA DATAS COM OS FORNECEDORES E MESMO PROCURANDO OBEDECER AS DATAS ESTIPULADAS NAS REQUISIÇÕES, SEMPRE HA ALTERAÇÕES DE ALGUNS DIAS, EM UM OU OUTRO COMPONENTE.</a:t>
            </a:r>
          </a:p>
          <a:p>
            <a:pPr marL="462280" lvl="0" indent="-462280" defTabSz="531622">
              <a:spcBef>
                <a:spcPts val="3800"/>
              </a:spcBef>
              <a:buClr>
                <a:srgbClr val="FFFFFF"/>
              </a:buClr>
              <a:buSzPct val="75000"/>
              <a:buFont typeface="Helvetica Light"/>
              <a:buChar char="•"/>
            </a:pPr>
            <a:r>
              <a:rPr>
                <a:latin typeface="Helvetica Light"/>
                <a:ea typeface="Helvetica Light"/>
                <a:cs typeface="Helvetica Light"/>
                <a:sym typeface="Helvetica Light"/>
              </a:rPr>
              <a:t>CABE AO PLANEJAMENTO FABRICA, MONTAR AS LINHAS DE FABRICAÇÃO, OU SEJA, PREPARANDO O CHAO DE FABRICA, DE ACORDO COM O ESTABELECIDO. LOGICAMENTE ESSAS PRODUÇÕES NAO SEGUEM TOTALMENTE O PLANO ESTABELECIDO, TENDO ADEQUAÇÕES DE ACORDO COM AS NECESSIDADES E APROVEITAMENTO DE COMPONENTES JA COLOCADOS NA LINHA OU POR PROBLEMAS COMO QUEBRA DE MAQUINAS OU MANUTENÇÕES PREVENTIVAS. ELES TEM LIBERDADE PARA AGIR DA MELHOR FORMA POSSÍVEL, DESDE QUE NUNCA FALTE PRODUTOS ACABADOS POR FALHA DA PRODUÇÃO.</a:t>
            </a:r>
            <a:r>
              <a:rPr>
                <a:solidFill>
                  <a:srgbClr val="FFFFFF"/>
                </a:solidFill>
                <a:latin typeface="Helvetica Light"/>
                <a:ea typeface="Helvetica Light"/>
                <a:cs typeface="Helvetica Light"/>
                <a:sym typeface="Helvetica Light"/>
              </a:rPr>
              <a:t> </a:t>
            </a:r>
          </a:p>
        </p:txBody>
      </p:sp>
      <p:sp>
        <p:nvSpPr>
          <p:cNvPr id="88" name="Shape 88"/>
          <p:cNvSpPr>
            <a:spLocks noGrp="1"/>
          </p:cNvSpPr>
          <p:nvPr>
            <p:ph type="sldNum" sz="quarter" idx="2"/>
          </p:nvPr>
        </p:nvSpPr>
        <p:spPr>
          <a:xfrm>
            <a:off x="3810000" y="6143940"/>
            <a:ext cx="1828800" cy="152405"/>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9</a:t>
            </a:fld>
            <a:endParaRPr sz="1100">
              <a:solidFill>
                <a:srgbClr val="808080"/>
              </a:solidFill>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90"/>
          <p:cNvSpPr>
            <a:spLocks noGrp="1"/>
          </p:cNvSpPr>
          <p:nvPr>
            <p:ph type="body" idx="1"/>
          </p:nvPr>
        </p:nvSpPr>
        <p:spPr>
          <a:xfrm>
            <a:off x="428876" y="899498"/>
            <a:ext cx="8286247" cy="4710582"/>
          </a:xfrm>
          <a:prstGeom prst="rect">
            <a:avLst/>
          </a:prstGeom>
        </p:spPr>
        <p:txBody>
          <a:bodyPr/>
          <a:lstStyle/>
          <a:p>
            <a:pPr lvl="0" defTabSz="473201">
              <a:spcBef>
                <a:spcPts val="3400"/>
              </a:spcBef>
            </a:pPr>
            <a:r>
              <a:rPr sz="1600">
                <a:solidFill>
                  <a:srgbClr val="060606"/>
                </a:solidFill>
                <a:latin typeface="Helvetica Light"/>
                <a:ea typeface="Helvetica Light"/>
                <a:cs typeface="Helvetica Light"/>
                <a:sym typeface="Helvetica Light"/>
              </a:rPr>
              <a:t>O PLANEJAMENTO CENTRAL, TAMBEM TEM A RESPONSABILIDADE DE ELABORAR UM RELATÓRIO PARA LOGISTICA COM UMA PREVISÃO DAS QUANTIDADE DE CADA COMPONENTE. MATERIA PRIMA DEVERA COMPOR O ESTOQUE, PARA QUE SEJA PROVIDENCIADO O LOCAL DE ESTOCAGEM. FICA SOB A RESPONSABILIDADE DE COMPRAS DETERMINAR AS DATAS QUE ESSE MATERIAL SERAO ENTREGUES, POIS COMPRAS EH QUEM FECHA ESSA DATAS COM OS FORNECEDORES E MESMO PROCURANDO OBEDECER AS DATAS ESTIPULADAS NAS REQUISIÇÕES, SEMPRE HA ALTERAÇÕES DE ALGUNS DIAS, EM UM OU OUTRO COMPONENTE.</a:t>
            </a:r>
          </a:p>
          <a:p>
            <a:pPr lvl="0" defTabSz="473201">
              <a:spcBef>
                <a:spcPts val="3400"/>
              </a:spcBef>
            </a:pPr>
            <a:r>
              <a:rPr sz="1600">
                <a:solidFill>
                  <a:srgbClr val="060606"/>
                </a:solidFill>
                <a:latin typeface="Helvetica Light"/>
                <a:ea typeface="Helvetica Light"/>
                <a:cs typeface="Helvetica Light"/>
                <a:sym typeface="Helvetica Light"/>
              </a:rPr>
              <a:t>CABE AO PLANEJAMENTO FABRICA, MONTAR AS LINHAS DE FABRICAÇÃO, OU SEJA, PREPARANDO O CHAO DE FABRICA, DE ACORDO COM O ESTABELECIDO. LOGICAMENTE ESSAS PRODUÇÕES NAO SEGUEM TOTALMENTE O PLANO ESTABELECIDO, TENDO ADEQUAÇÕES DE ACORDO COM AS NECESSIDADES E APROVEITAMENTO DE COMPONENTES JA COLOCADOS NA LINHA OU POR PROBLEMAS COMO QUEBRA DE MAQUINAS OU MANUTENÇÕES PREVENTIVAS. ELES TEM LIBERDADE PARA AGIR DA MELHOR FORMA POSSÍVEL, DESDE QUE NUNCA FALTE PRODUTOS ACABADOS POR FALHA DA PRODUÇÃO.  </a:t>
            </a:r>
          </a:p>
          <a:p>
            <a:pPr lvl="0" defTabSz="689260">
              <a:spcBef>
                <a:spcPts val="200"/>
              </a:spcBef>
            </a:pPr>
            <a:r>
              <a:rPr sz="1600">
                <a:solidFill>
                  <a:srgbClr val="060606"/>
                </a:solidFill>
              </a:rPr>
              <a:t>  </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hape 92"/>
          <p:cNvSpPr>
            <a:spLocks noGrp="1"/>
          </p:cNvSpPr>
          <p:nvPr>
            <p:ph type="body" idx="1"/>
          </p:nvPr>
        </p:nvSpPr>
        <p:spPr>
          <a:xfrm>
            <a:off x="172450" y="743194"/>
            <a:ext cx="8971554" cy="5983491"/>
          </a:xfrm>
          <a:prstGeom prst="rect">
            <a:avLst/>
          </a:prstGeom>
        </p:spPr>
        <p:txBody>
          <a:bodyPr/>
          <a:lstStyle/>
          <a:p>
            <a:pPr marL="0" lvl="0" indent="0">
              <a:spcBef>
                <a:spcPts val="2000"/>
              </a:spcBef>
              <a:buSzTx/>
              <a:buNone/>
              <a:defRPr sz="1800">
                <a:solidFill>
                  <a:srgbClr val="000000"/>
                </a:solidFill>
              </a:defRPr>
            </a:pPr>
            <a:endParaRPr>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500" b="1">
                <a:latin typeface="Century Gothic"/>
                <a:ea typeface="Century Gothic"/>
                <a:cs typeface="Century Gothic"/>
                <a:sym typeface="Century Gothic"/>
              </a:rPr>
              <a:t>LOGISTICA</a:t>
            </a:r>
          </a:p>
          <a:p>
            <a:pPr marL="0" lvl="0" indent="0">
              <a:spcBef>
                <a:spcPts val="2000"/>
              </a:spcBef>
              <a:buSzTx/>
              <a:buNone/>
              <a:defRPr sz="1800">
                <a:solidFill>
                  <a:srgbClr val="000000"/>
                </a:solidFill>
              </a:defRPr>
            </a:pPr>
            <a:r>
              <a:rPr sz="2200">
                <a:effectLst>
                  <a:outerShdw blurRad="101600" dist="12700" dir="3600000" rotWithShape="0">
                    <a:srgbClr val="000000">
                      <a:alpha val="30000"/>
                    </a:srgbClr>
                  </a:outerShdw>
                </a:effectLst>
                <a:latin typeface="Century Gothic"/>
                <a:ea typeface="Century Gothic"/>
                <a:cs typeface="Century Gothic"/>
                <a:sym typeface="Century Gothic"/>
              </a:rPr>
              <a:t>ESSE SETOR EH RESPONSÁVEL PELA MOVIMENTAÇÃO DOS PRODUTOS ENTRE OS VARIOS LOCAIS PERTENCENTES A EMPRESA. </a:t>
            </a:r>
            <a:endParaRPr>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200">
                <a:effectLst>
                  <a:outerShdw blurRad="101600" dist="12700" dir="3600000" rotWithShape="0">
                    <a:srgbClr val="000000">
                      <a:alpha val="30000"/>
                    </a:srgbClr>
                  </a:outerShdw>
                </a:effectLst>
                <a:latin typeface="Century Gothic"/>
                <a:ea typeface="Century Gothic"/>
                <a:cs typeface="Century Gothic"/>
                <a:sym typeface="Century Gothic"/>
              </a:rPr>
              <a:t>ESSES SITES OU LOCAIS PODEM SER: DEPOSITOS, FABRICAS, ARMAZÉNS ALUGADOS OU QUALQUER LUGAR QUE SIRVA PARA GUARDAR A MERCADORIA.</a:t>
            </a:r>
            <a:endParaRPr>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200">
                <a:effectLst>
                  <a:outerShdw blurRad="101600" dist="12700" dir="3600000" rotWithShape="0">
                    <a:srgbClr val="000000">
                      <a:alpha val="30000"/>
                    </a:srgbClr>
                  </a:outerShdw>
                </a:effectLst>
                <a:latin typeface="Century Gothic"/>
                <a:ea typeface="Century Gothic"/>
                <a:cs typeface="Century Gothic"/>
                <a:sym typeface="Century Gothic"/>
              </a:rPr>
              <a:t>AS EMPRESAS, NORMALMENTE MANTEM UM DEPOSITO DE PRODUTOS ACABADOS CENTRAL NO MESMO LOCAL DA FABRICA E OUTROS ESPALHADOS  POR VARIOS ESTADOS, PREVIAMENTE ESCOLHIDOS PELO DEPTO. DE LOGISTICA. O ABASTECIMENTO DESSES DEPOSITOS FICA A CARGO DO SETOR DE DISTRIBUIÇÃO</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body" idx="1"/>
          </p:nvPr>
        </p:nvSpPr>
        <p:spPr>
          <a:xfrm>
            <a:off x="86223" y="1512682"/>
            <a:ext cx="8971554" cy="5279658"/>
          </a:xfrm>
          <a:prstGeom prst="rect">
            <a:avLst/>
          </a:prstGeom>
        </p:spPr>
        <p:txBody>
          <a:bodyPr/>
          <a:lstStyle/>
          <a:p>
            <a:pPr marL="0" lvl="0" indent="0">
              <a:spcBef>
                <a:spcPts val="2000"/>
              </a:spcBef>
              <a:buSzTx/>
              <a:buNone/>
              <a:defRPr sz="1800">
                <a:solidFill>
                  <a:srgbClr val="000000"/>
                </a:solidFill>
              </a:defRPr>
            </a:pPr>
            <a:r>
              <a:rPr sz="2300" b="1">
                <a:latin typeface="Century Gothic"/>
                <a:ea typeface="Century Gothic"/>
                <a:cs typeface="Century Gothic"/>
                <a:sym typeface="Century Gothic"/>
              </a:rPr>
              <a:t>LOGISTICA</a:t>
            </a:r>
            <a:r>
              <a:rPr sz="2300">
                <a:effectLst>
                  <a:outerShdw blurRad="101600" dist="12700" dir="3600000" rotWithShape="0">
                    <a:srgbClr val="000000">
                      <a:alpha val="30000"/>
                    </a:srgbClr>
                  </a:outerShdw>
                </a:effectLst>
                <a:latin typeface="Century Gothic"/>
                <a:ea typeface="Century Gothic"/>
                <a:cs typeface="Century Gothic"/>
                <a:sym typeface="Century Gothic"/>
              </a:rPr>
              <a:t> –  OS PRODUTOS ACABADOS, SAEM DA PRODUÇÃO E VAO PARA O DEPOSITO CENTRAL, QUE OS ARMAZENA. O SISTEMA DE FATURAMENTO, EMITE AS NOTAS FISCAIS, COM OS PRODUTOS SAINDO DOS DEPÓSITOS DE CADA ESTADO E CABE A DISTRIBUIÇÃO  FAZER COM QUE ESSES PRODUTOS CHEGUEM AOS CLIENTES.</a:t>
            </a:r>
            <a:endParaRPr sz="2300">
              <a:latin typeface="Century Gothic"/>
              <a:ea typeface="Century Gothic"/>
              <a:cs typeface="Century Gothic"/>
              <a:sym typeface="Century Gothic"/>
            </a:endParaRPr>
          </a:p>
          <a:p>
            <a:pPr marL="0" lvl="0" indent="0">
              <a:spcBef>
                <a:spcPts val="2000"/>
              </a:spcBef>
              <a:buSzTx/>
              <a:buNone/>
              <a:defRPr sz="1800">
                <a:solidFill>
                  <a:srgbClr val="000000"/>
                </a:solidFill>
              </a:defRPr>
            </a:pPr>
            <a:r>
              <a:rPr sz="2300">
                <a:effectLst>
                  <a:outerShdw blurRad="101600" dist="12700" dir="3600000" rotWithShape="0">
                    <a:srgbClr val="000000">
                      <a:alpha val="30000"/>
                    </a:srgbClr>
                  </a:outerShdw>
                </a:effectLst>
                <a:latin typeface="Century Gothic"/>
                <a:ea typeface="Century Gothic"/>
                <a:cs typeface="Century Gothic"/>
                <a:sym typeface="Century Gothic"/>
              </a:rPr>
              <a:t>O TRANSPORTE DESSES PRODUTOS ENTRE DEPÓSITOS   COSTUMA SER COM CAMINHÕES PRÓPRIOS. PARA OS CLIENTES FAZEREM ESSE TRANSPORTE UTILIZAM TRANSPORTADORAS CONTRATADAS.</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96"/>
          <p:cNvSpPr>
            <a:spLocks noGrp="1"/>
          </p:cNvSpPr>
          <p:nvPr>
            <p:ph type="body" idx="1"/>
          </p:nvPr>
        </p:nvSpPr>
        <p:spPr>
          <a:xfrm>
            <a:off x="350836" y="208583"/>
            <a:ext cx="8627169" cy="6440834"/>
          </a:xfrm>
          <a:prstGeom prst="rect">
            <a:avLst/>
          </a:prstGeom>
        </p:spPr>
        <p:txBody>
          <a:bodyPr/>
          <a:lstStyle/>
          <a:p>
            <a:pPr marL="0" lvl="1" indent="365758">
              <a:buSzTx/>
              <a:buNone/>
            </a:pPr>
            <a:endParaRPr/>
          </a:p>
          <a:p>
            <a:pPr lvl="0" defTabSz="914400">
              <a:spcBef>
                <a:spcPts val="600"/>
              </a:spcBef>
            </a:pPr>
            <a:r>
              <a:rPr sz="2900">
                <a:latin typeface="Georgia"/>
                <a:ea typeface="Georgia"/>
                <a:cs typeface="Georgia"/>
                <a:sym typeface="Georgia"/>
              </a:rPr>
              <a:t>DIRETORIA DE RH</a:t>
            </a:r>
          </a:p>
          <a:p>
            <a:pPr lvl="0" defTabSz="914400">
              <a:spcBef>
                <a:spcPts val="600"/>
              </a:spcBef>
            </a:pPr>
            <a:endParaRPr>
              <a:latin typeface="Georgia"/>
              <a:ea typeface="Georgia"/>
              <a:cs typeface="Georgia"/>
              <a:sym typeface="Georgia"/>
            </a:endParaRPr>
          </a:p>
          <a:p>
            <a:pPr lvl="0" defTabSz="914400">
              <a:spcBef>
                <a:spcPts val="600"/>
              </a:spcBef>
            </a:pPr>
            <a:r>
              <a:rPr sz="2700">
                <a:latin typeface="Georgia"/>
                <a:ea typeface="Georgia"/>
                <a:cs typeface="Georgia"/>
                <a:sym typeface="Georgia"/>
              </a:rPr>
              <a:t>RECRUTAMENTO E SELEÇÃO</a:t>
            </a:r>
          </a:p>
          <a:p>
            <a:pPr lvl="0" defTabSz="914400">
              <a:spcBef>
                <a:spcPts val="600"/>
              </a:spcBef>
            </a:pPr>
            <a:r>
              <a:rPr sz="2700">
                <a:latin typeface="Georgia"/>
                <a:ea typeface="Georgia"/>
                <a:cs typeface="Georgia"/>
                <a:sym typeface="Georgia"/>
              </a:rPr>
              <a:t>DESENHO DE CARGOS/ AVALIAÇÃO DE DESEMPENHO</a:t>
            </a:r>
          </a:p>
          <a:p>
            <a:pPr lvl="0" defTabSz="914400">
              <a:spcBef>
                <a:spcPts val="600"/>
              </a:spcBef>
            </a:pPr>
            <a:r>
              <a:rPr sz="2700">
                <a:latin typeface="Georgia"/>
                <a:ea typeface="Georgia"/>
                <a:cs typeface="Georgia"/>
                <a:sym typeface="Georgia"/>
              </a:rPr>
              <a:t>REMUNERACAO/ BENEFICIOS/SERVIÇOS</a:t>
            </a:r>
          </a:p>
          <a:p>
            <a:pPr lvl="0" defTabSz="914400">
              <a:spcBef>
                <a:spcPts val="600"/>
              </a:spcBef>
            </a:pPr>
            <a:r>
              <a:rPr sz="2700">
                <a:latin typeface="Georgia"/>
                <a:ea typeface="Georgia"/>
                <a:cs typeface="Georgia"/>
                <a:sym typeface="Georgia"/>
              </a:rPr>
              <a:t>TREINAMENTO/ MUDANCAS/COMUNICAÇÕES</a:t>
            </a:r>
          </a:p>
          <a:p>
            <a:pPr lvl="0" defTabSz="914400">
              <a:spcBef>
                <a:spcPts val="600"/>
              </a:spcBef>
            </a:pPr>
            <a:r>
              <a:rPr sz="2700">
                <a:latin typeface="Georgia"/>
                <a:ea typeface="Georgia"/>
                <a:cs typeface="Georgia"/>
                <a:sym typeface="Georgia"/>
              </a:rPr>
              <a:t>DISCIPLINA/ QUALIDADE DE VIDA/ HIGIENE/ SEGURANCA/ RELAÇÕES TRABALHISTAS</a:t>
            </a:r>
          </a:p>
          <a:p>
            <a:pPr lvl="0" defTabSz="914400">
              <a:spcBef>
                <a:spcPts val="600"/>
              </a:spcBef>
            </a:pPr>
            <a:r>
              <a:rPr sz="2700">
                <a:latin typeface="Georgia"/>
                <a:ea typeface="Georgia"/>
                <a:cs typeface="Georgia"/>
                <a:sym typeface="Georgia"/>
              </a:rPr>
              <a:t>SISTEMAS DE INFORMAÇÕES PESSOAIS</a:t>
            </a:r>
          </a:p>
        </p:txBody>
      </p:sp>
      <p:sp>
        <p:nvSpPr>
          <p:cNvPr id="97" name="Shape 97"/>
          <p:cNvSpPr>
            <a:spLocks noGrp="1"/>
          </p:cNvSpPr>
          <p:nvPr>
            <p:ph type="sldNum" sz="quarter" idx="2"/>
          </p:nvPr>
        </p:nvSpPr>
        <p:spPr>
          <a:xfrm>
            <a:off x="3810000" y="6143940"/>
            <a:ext cx="1828800" cy="152405"/>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13</a:t>
            </a:fld>
            <a:endParaRPr sz="1100">
              <a:solidFill>
                <a:srgbClr val="808080"/>
              </a:solidFill>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Shape 99"/>
          <p:cNvSpPr>
            <a:spLocks noGrp="1"/>
          </p:cNvSpPr>
          <p:nvPr>
            <p:ph type="body" idx="1"/>
          </p:nvPr>
        </p:nvSpPr>
        <p:spPr>
          <a:xfrm>
            <a:off x="467933" y="605050"/>
            <a:ext cx="7973188" cy="5521250"/>
          </a:xfrm>
          <a:prstGeom prst="rect">
            <a:avLst/>
          </a:prstGeom>
        </p:spPr>
        <p:txBody>
          <a:bodyPr/>
          <a:lstStyle/>
          <a:p>
            <a:pPr lvl="0" defTabSz="914400">
              <a:spcBef>
                <a:spcPts val="600"/>
              </a:spcBef>
            </a:pPr>
            <a:r>
              <a:rPr sz="2200">
                <a:latin typeface="Georgia"/>
                <a:ea typeface="Georgia"/>
                <a:cs typeface="Georgia"/>
                <a:sym typeface="Georgia"/>
              </a:rPr>
              <a:t>O DEPARTAMENTO DE RH, DEIXOU DE SER  UM MERO DEPARTAMENTO DE APOIO, PARA SER UM DEPARTAMENTO ESTRATEGICO DENTRO DAS EMPRESAS.</a:t>
            </a:r>
          </a:p>
          <a:p>
            <a:pPr lvl="0" defTabSz="914400">
              <a:spcBef>
                <a:spcPts val="600"/>
              </a:spcBef>
            </a:pPr>
            <a:r>
              <a:rPr sz="2200">
                <a:latin typeface="Georgia"/>
                <a:ea typeface="Georgia"/>
                <a:cs typeface="Georgia"/>
                <a:sym typeface="Georgia"/>
              </a:rPr>
              <a:t>ATUALMENTE ELE ESTA COMO RESPONSÁVEL PELA GESTAO DO CONHECIMENTO, TAREFA SUPER IMPORTANTE POIS SIGNIFICA MANTER A INTELIGÊNCIA DA EMPRESA, ATRAVÉS DE SEUS FUNCIONÁRIOS, SIGNIFICA CULTIVAR E AMPLIAR ESSA CULTURA DE MANEIRA QUE A EMPRESA POSSA CRESCER E ACOMPANHAR O MERCADO.</a:t>
            </a:r>
          </a:p>
          <a:p>
            <a:pPr lvl="0" defTabSz="914400">
              <a:spcBef>
                <a:spcPts val="600"/>
              </a:spcBef>
            </a:pPr>
            <a:r>
              <a:rPr sz="2200">
                <a:latin typeface="Georgia"/>
                <a:ea typeface="Georgia"/>
                <a:cs typeface="Georgia"/>
                <a:sym typeface="Georgia"/>
              </a:rPr>
              <a:t>CABE AO RH TAMBEM, ATUAR JUNTO AS DIVERSAS GERENCIAS E DIRETORIAS PARA DESCOBRIR E DESENVOLVER OS TALENTOS QUE PODERÃO VIR A SE OS FUTUROS DIRETORES DA EMPRESA.</a:t>
            </a:r>
          </a:p>
        </p:txBody>
      </p:sp>
      <p:sp>
        <p:nvSpPr>
          <p:cNvPr id="100" name="Shape 100"/>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14</a:t>
            </a:fld>
            <a:endParaRPr sz="1100">
              <a:solidFill>
                <a:srgbClr val="808080"/>
              </a:solidFil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hape 102"/>
          <p:cNvSpPr>
            <a:spLocks noGrp="1"/>
          </p:cNvSpPr>
          <p:nvPr>
            <p:ph type="body" idx="1"/>
          </p:nvPr>
        </p:nvSpPr>
        <p:spPr>
          <a:xfrm>
            <a:off x="617092" y="1089691"/>
            <a:ext cx="7742164" cy="5411240"/>
          </a:xfrm>
          <a:prstGeom prst="rect">
            <a:avLst/>
          </a:prstGeom>
        </p:spPr>
        <p:txBody>
          <a:bodyPr/>
          <a:lstStyle/>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TIPO DE EMPRESA – AUTO PECAS – SOMENTE COMPRA ITENS JA MANUFATURADOS = FAROL, LAMPADA, VELA, CORREIA DE FREIO, ETC.</a:t>
            </a:r>
            <a:endParaRPr sz="2200">
              <a:latin typeface="Century Gothic"/>
              <a:ea typeface="Century Gothic"/>
              <a:cs typeface="Century Gothic"/>
              <a:sym typeface="Century Gothic"/>
            </a:endParaRPr>
          </a:p>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EMPRESA DE TRANSFORMAÇÃO – MANUFATURA A PECA, TEM ENTRADA /PROCESSAMENTO E SAIDA. EX. CAFÉ, BOM BRILL, SABONETE, MANTEIGA, ETC.</a:t>
            </a:r>
            <a:endParaRPr sz="2200">
              <a:latin typeface="Century Gothic"/>
              <a:ea typeface="Century Gothic"/>
              <a:cs typeface="Century Gothic"/>
              <a:sym typeface="Century Gothic"/>
            </a:endParaRPr>
          </a:p>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EMPRESA DE SERVIÇOS – ENTREGA PRODUTOS – LAVA  CARROS, LAVA VIDRAÇAS, ARRUMA A CASA. ETC.</a:t>
            </a:r>
            <a:endParaRPr sz="2200">
              <a:latin typeface="Century Gothic"/>
              <a:ea typeface="Century Gothic"/>
              <a:cs typeface="Century Gothic"/>
              <a:sym typeface="Century Gothic"/>
            </a:endParaRPr>
          </a:p>
          <a:p>
            <a:pPr lvl="0" defTabSz="914400">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EMPRESA DE MILAGRES – RECEBE A MULHER FEIA E DEVOLVE BONITA, CABELEIREIROS. MUITO LUCRATIVA, MAS COM A MATERIA PRIMA MAIS DIFICIL DE TRANSFORMAR</a:t>
            </a:r>
            <a:r>
              <a:rPr sz="2400" b="1">
                <a:effectLst>
                  <a:outerShdw blurRad="101600" dist="12700" dir="3600000" rotWithShape="0">
                    <a:srgbClr val="000000">
                      <a:alpha val="30000"/>
                    </a:srgbClr>
                  </a:outerShdw>
                </a:effectLst>
                <a:latin typeface="Century Gothic"/>
                <a:ea typeface="Century Gothic"/>
                <a:cs typeface="Century Gothic"/>
                <a:sym typeface="Century Gothic"/>
              </a:rPr>
              <a:t>.</a:t>
            </a:r>
          </a:p>
        </p:txBody>
      </p:sp>
      <p:sp>
        <p:nvSpPr>
          <p:cNvPr id="103" name="Shape 103"/>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15</a:t>
            </a:fld>
            <a:endParaRPr sz="1100">
              <a:solidFill>
                <a:srgbClr val="808080"/>
              </a:solidFill>
            </a:endParaRPr>
          </a:p>
        </p:txBody>
      </p:sp>
      <p:sp>
        <p:nvSpPr>
          <p:cNvPr id="104" name="Shape 104"/>
          <p:cNvSpPr>
            <a:spLocks noGrp="1"/>
          </p:cNvSpPr>
          <p:nvPr>
            <p:ph type="title"/>
          </p:nvPr>
        </p:nvSpPr>
        <p:spPr>
          <a:xfrm>
            <a:off x="817581" y="442420"/>
            <a:ext cx="7175352" cy="493204"/>
          </a:xfrm>
          <a:prstGeom prst="rect">
            <a:avLst/>
          </a:prstGeom>
        </p:spPr>
        <p:txBody>
          <a:bodyPr lIns="0" tIns="0" rIns="0" bIns="0">
            <a:normAutofit/>
          </a:bodyPr>
          <a:lstStyle>
            <a:lvl1pPr marL="1193291" indent="-1028700" defTabSz="822958">
              <a:defRPr sz="2700"/>
            </a:lvl1pPr>
          </a:lstStyle>
          <a:p>
            <a:pPr lvl="0">
              <a:defRPr sz="1800">
                <a:solidFill>
                  <a:srgbClr val="000000"/>
                </a:solidFill>
              </a:defRPr>
            </a:pPr>
            <a:r>
              <a:rPr sz="2700">
                <a:solidFill>
                  <a:srgbClr val="111423">
                    <a:alpha val="82500"/>
                  </a:srgbClr>
                </a:solidFill>
              </a:rPr>
              <a:t>COMPRAS E RECEBIMENTOS</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hape 106"/>
          <p:cNvSpPr>
            <a:spLocks noGrp="1"/>
          </p:cNvSpPr>
          <p:nvPr>
            <p:ph type="body" idx="1"/>
          </p:nvPr>
        </p:nvSpPr>
        <p:spPr>
          <a:xfrm>
            <a:off x="738775" y="291455"/>
            <a:ext cx="7519797" cy="6275092"/>
          </a:xfrm>
          <a:prstGeom prst="rect">
            <a:avLst/>
          </a:prstGeom>
        </p:spPr>
        <p:txBody>
          <a:bodyPr/>
          <a:lstStyle/>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MANTEM O CADASTRO DE FORNECEDORES ATUALIZADO, COM OS PRECOS DE CADA ITEM E COM O PRECO PRATICADO PELOS CONCORRENTES DESSE FORNECEDOR.</a:t>
            </a:r>
            <a:endParaRPr>
              <a:latin typeface="Century Gothic"/>
              <a:ea typeface="Century Gothic"/>
              <a:cs typeface="Century Gothic"/>
              <a:sym typeface="Century Gothic"/>
            </a:endParaRPr>
          </a:p>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FAZ O CONTATO COM O FORNECEDOR PARA QUALQUER DIVERGENCIA ENTRE O PEDIDO FEITO E A ENTREGA DA MERCADORIA, SEJA PRECO, PRAZO, QUALIDADE, ETC.</a:t>
            </a:r>
            <a:endParaRPr>
              <a:latin typeface="Century Gothic"/>
              <a:ea typeface="Century Gothic"/>
              <a:cs typeface="Century Gothic"/>
              <a:sym typeface="Century Gothic"/>
            </a:endParaRPr>
          </a:p>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MANTEM O ARQUIVO DE PEDIDOS E CORRE ATRAS DOS PENDENTES PARA QUE NAO FALTE ITENS PARA PRODUÇÃO.</a:t>
            </a:r>
            <a:endParaRPr>
              <a:latin typeface="Century Gothic"/>
              <a:ea typeface="Century Gothic"/>
              <a:cs typeface="Century Gothic"/>
              <a:sym typeface="Century Gothic"/>
            </a:endParaRPr>
          </a:p>
          <a:p>
            <a:pPr lvl="0" defTabSz="914400">
              <a:spcBef>
                <a:spcPts val="2000"/>
              </a:spcBef>
            </a:pPr>
            <a:r>
              <a:rPr sz="2400">
                <a:effectLst>
                  <a:outerShdw blurRad="101600" dist="12700" dir="3600000" rotWithShape="0">
                    <a:srgbClr val="000000">
                      <a:alpha val="30000"/>
                    </a:srgbClr>
                  </a:outerShdw>
                </a:effectLst>
                <a:latin typeface="Century Gothic"/>
                <a:ea typeface="Century Gothic"/>
                <a:cs typeface="Century Gothic"/>
                <a:sym typeface="Century Gothic"/>
              </a:rPr>
              <a:t>FAZ O CONTATO COM O RECEBIMENTO PARA AS DIVERGENCIAS ENTRE OS PEDIDOS E AS NOTAS FISCAIS DE ENTREGA</a:t>
            </a:r>
            <a:r>
              <a:rPr sz="2400" b="1">
                <a:effectLst>
                  <a:outerShdw blurRad="101600" dist="12700" dir="3600000" rotWithShape="0">
                    <a:srgbClr val="000000">
                      <a:alpha val="30000"/>
                    </a:srgbClr>
                  </a:outerShdw>
                </a:effectLst>
                <a:latin typeface="Century Gothic"/>
                <a:ea typeface="Century Gothic"/>
                <a:cs typeface="Century Gothic"/>
                <a:sym typeface="Century Gothic"/>
              </a:rPr>
              <a:t>.</a:t>
            </a:r>
          </a:p>
        </p:txBody>
      </p:sp>
      <p:sp>
        <p:nvSpPr>
          <p:cNvPr id="107" name="Shape 107"/>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16</a:t>
            </a:fld>
            <a:endParaRPr sz="1100">
              <a:solidFill>
                <a:srgbClr val="808080"/>
              </a:solidFill>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a:spLocks noGrp="1"/>
          </p:cNvSpPr>
          <p:nvPr>
            <p:ph type="body" idx="1"/>
          </p:nvPr>
        </p:nvSpPr>
        <p:spPr>
          <a:xfrm>
            <a:off x="724812" y="614071"/>
            <a:ext cx="7694377" cy="5629858"/>
          </a:xfrm>
          <a:prstGeom prst="rect">
            <a:avLst/>
          </a:prstGeom>
        </p:spPr>
        <p:txBody>
          <a:bodyPr/>
          <a:lstStyle/>
          <a:p>
            <a:pPr lvl="0" defTabSz="914400">
              <a:lnSpc>
                <a:spcPct val="90000"/>
              </a:lnSpc>
              <a:spcBef>
                <a:spcPts val="2000"/>
              </a:spcBef>
            </a:pPr>
            <a:r>
              <a:rPr sz="2200">
                <a:latin typeface="Century Gothic"/>
                <a:ea typeface="Century Gothic"/>
                <a:cs typeface="Century Gothic"/>
                <a:sym typeface="Century Gothic"/>
              </a:rPr>
              <a:t>  R</a:t>
            </a:r>
            <a:r>
              <a:rPr sz="2200">
                <a:effectLst>
                  <a:outerShdw blurRad="101600" dist="12700" dir="3600000" rotWithShape="0">
                    <a:srgbClr val="000000">
                      <a:alpha val="30000"/>
                    </a:srgbClr>
                  </a:outerShdw>
                </a:effectLst>
                <a:latin typeface="Century Gothic"/>
                <a:ea typeface="Century Gothic"/>
                <a:cs typeface="Century Gothic"/>
                <a:sym typeface="Century Gothic"/>
              </a:rPr>
              <a:t>ECEBIMENTO DE MATERIAIS E MATERIAS PRIMAS:</a:t>
            </a:r>
            <a:endParaRPr sz="2200">
              <a:latin typeface="Century Gothic"/>
              <a:ea typeface="Century Gothic"/>
              <a:cs typeface="Century Gothic"/>
              <a:sym typeface="Century Gothic"/>
            </a:endParaRPr>
          </a:p>
          <a:p>
            <a:pPr lvl="0" defTabSz="914400">
              <a:lnSpc>
                <a:spcPct val="90000"/>
              </a:lnSpc>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RECEBE O MATERIAL ACOMPANHADO DA NOTA FISCAL DO FORNECEDOR, FAZ AS VERIFICAÇÕES DE CADA ITEM DA NOTA, COMPARA TUDO COM O PEDIDO DE COMPRAS, FAZ O RECEBIMENTO DIGITAL, ENCAMINHANDO A ENTREGA PARA O DEPOSITO QUE FAZ O RECEBIMENTO FISICO, LIBERA O CAMINHÃO E DEVOLVE A N. FISCAL PARA O SETOR DE RECEBIMENTOS</a:t>
            </a:r>
            <a:r>
              <a:rPr sz="2200" b="1">
                <a:effectLst>
                  <a:outerShdw blurRad="101600" dist="12700" dir="3600000" rotWithShape="0">
                    <a:srgbClr val="000000">
                      <a:alpha val="30000"/>
                    </a:srgbClr>
                  </a:outerShdw>
                </a:effectLst>
                <a:latin typeface="Century Gothic"/>
                <a:ea typeface="Century Gothic"/>
                <a:cs typeface="Century Gothic"/>
                <a:sym typeface="Century Gothic"/>
              </a:rPr>
              <a:t>.</a:t>
            </a:r>
          </a:p>
          <a:p>
            <a:pPr lvl="0" defTabSz="914400">
              <a:lnSpc>
                <a:spcPct val="90000"/>
              </a:lnSpc>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ENVIA AS FATURAS PARA O CONTAS A PAGAR, PARA PAGAMENTO AOS FORNECEDORES.</a:t>
            </a:r>
          </a:p>
          <a:p>
            <a:pPr lvl="0" defTabSz="914400">
              <a:lnSpc>
                <a:spcPct val="90000"/>
              </a:lnSpc>
              <a:spcBef>
                <a:spcPts val="2000"/>
              </a:spcBef>
            </a:pPr>
            <a:r>
              <a:rPr sz="2200">
                <a:effectLst>
                  <a:outerShdw blurRad="101600" dist="12700" dir="3600000" rotWithShape="0">
                    <a:srgbClr val="000000">
                      <a:alpha val="30000"/>
                    </a:srgbClr>
                  </a:outerShdw>
                </a:effectLst>
                <a:latin typeface="Century Gothic"/>
                <a:ea typeface="Century Gothic"/>
                <a:cs typeface="Century Gothic"/>
                <a:sym typeface="Century Gothic"/>
              </a:rPr>
              <a:t> CASO HAJA ALGUMA IRREGULARIDADE O COMPRADOR FICA RESPONSÁVEL POR DAR UM RETORNO AO CONTAS A PAGAR. </a:t>
            </a:r>
          </a:p>
        </p:txBody>
      </p:sp>
      <p:sp>
        <p:nvSpPr>
          <p:cNvPr id="110" name="Shape 110"/>
          <p:cNvSpPr>
            <a:spLocks noGrp="1"/>
          </p:cNvSpPr>
          <p:nvPr>
            <p:ph type="sldNum" sz="quarter" idx="2"/>
          </p:nvPr>
        </p:nvSpPr>
        <p:spPr>
          <a:xfrm>
            <a:off x="3810000" y="6220140"/>
            <a:ext cx="1828800" cy="26923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defTabSz="850391">
              <a:defRPr sz="1100"/>
            </a:lvl1pPr>
          </a:lstStyle>
          <a:p>
            <a:pPr lvl="0">
              <a:defRPr sz="1800">
                <a:solidFill>
                  <a:srgbClr val="000000"/>
                </a:solidFill>
              </a:defRPr>
            </a:pPr>
            <a:fld id="{86CB4B4D-7CA3-9044-876B-883B54F8677D}" type="slidenum">
              <a:rPr sz="1100">
                <a:solidFill>
                  <a:srgbClr val="808080"/>
                </a:solidFill>
              </a:rPr>
              <a:t>17</a:t>
            </a:fld>
            <a:endParaRPr sz="1100">
              <a:solidFill>
                <a:srgbClr val="808080"/>
              </a:solidFill>
            </a:endParaRPr>
          </a:p>
        </p:txBody>
      </p:sp>
    </p:spTree>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E67C8"/>
      </a:accent1>
      <a:accent2>
        <a:srgbClr val="5ECCF3"/>
      </a:accent2>
      <a:accent3>
        <a:srgbClr val="A7EA52"/>
      </a:accent3>
      <a:accent4>
        <a:srgbClr val="5DCEAF"/>
      </a:accent4>
      <a:accent5>
        <a:srgbClr val="FF8021"/>
      </a:accent5>
      <a:accent6>
        <a:srgbClr val="F14124"/>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E67C8"/>
      </a:accent1>
      <a:accent2>
        <a:srgbClr val="5ECCF3"/>
      </a:accent2>
      <a:accent3>
        <a:srgbClr val="A7EA52"/>
      </a:accent3>
      <a:accent4>
        <a:srgbClr val="5DCEAF"/>
      </a:accent4>
      <a:accent5>
        <a:srgbClr val="FF8021"/>
      </a:accent5>
      <a:accent6>
        <a:srgbClr val="F14124"/>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
          <a:effectLst>
            <a:outerShdw blurRad="38100" dist="22984" dir="5400000" rotWithShape="0">
              <a:srgbClr val="000000">
                <a:alpha val="4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E67C8"/>
          </a:solidFill>
          <a:prstDash val="solid"/>
          <a:bevel/>
        </a:ln>
        <a:effectLst>
          <a:outerShdw blurRad="38100" dist="22984" dir="5400000" rotWithShape="0">
            <a:srgbClr val="000000">
              <a:alpha val="45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1731</Words>
  <Application>Microsoft Macintosh PowerPoint</Application>
  <PresentationFormat>Apresentação na tela (4:3)</PresentationFormat>
  <Paragraphs>116</Paragraphs>
  <Slides>17</Slides>
  <Notes>0</Notes>
  <HiddenSlides>0</HiddenSlides>
  <MMClips>0</MMClips>
  <ScaleCrop>false</ScaleCrop>
  <HeadingPairs>
    <vt:vector size="6" baseType="variant">
      <vt:variant>
        <vt:lpstr>Fontes usadas</vt:lpstr>
      </vt:variant>
      <vt:variant>
        <vt:i4>10</vt:i4>
      </vt:variant>
      <vt:variant>
        <vt:lpstr>Tema</vt:lpstr>
      </vt:variant>
      <vt:variant>
        <vt:i4>1</vt:i4>
      </vt:variant>
      <vt:variant>
        <vt:lpstr>Títulos de slides</vt:lpstr>
      </vt:variant>
      <vt:variant>
        <vt:i4>17</vt:i4>
      </vt:variant>
    </vt:vector>
  </HeadingPairs>
  <TitlesOfParts>
    <vt:vector size="28" baseType="lpstr">
      <vt:lpstr>Arial</vt:lpstr>
      <vt:lpstr>Avenir Roman</vt:lpstr>
      <vt:lpstr>Century Gothic</vt:lpstr>
      <vt:lpstr>Georgia</vt:lpstr>
      <vt:lpstr>Helvetica</vt:lpstr>
      <vt:lpstr>Helvetica Light</vt:lpstr>
      <vt:lpstr>Times New Roman</vt:lpstr>
      <vt:lpstr>Times Roman</vt:lpstr>
      <vt:lpstr>Trebuchet MS</vt:lpstr>
      <vt:lpstr>Trebuchet MS Bold</vt:lpstr>
      <vt:lpstr>Default</vt:lpstr>
      <vt:lpstr>FATURAMENTO</vt:lpstr>
      <vt:lpstr>Apresentação do PowerPoint</vt:lpstr>
      <vt:lpstr>Apresentação do PowerPoint</vt:lpstr>
      <vt:lpstr>Apresentação do PowerPoint</vt:lpstr>
      <vt:lpstr>Apresentação do PowerPoint</vt:lpstr>
      <vt:lpstr>Apresentação do PowerPoint</vt:lpstr>
      <vt:lpstr>O DEPTO DE PRODUÇÃO, NORMALMENTE TEM UMA DIRETORIA INDEPENDENTE, QUE CUIDA DE TUDO QUE DEVE SER MANUFATURADO DENTRO DE UMA INDUSTRIA. ESSA DIRETORIA TEM VARIAS SUB DIVISÕES, A SABER: PLANEJAMENTO CENTRAL, PLANEJAMENTO FABRICA, ENGENHARIA DE PRODUÇÃO E O CHAO DE FABRICA. ALEM DE PRODUZIR, EXISTEM OUTRAS FUNÇÕES QUE SAO RESPONSABILIDADE DA PRODUÇÃO, COMO :  MANTER AS LINHAS SEMPRE LIMPAS E PRONTAS PARA FUNCIONAR, O QUE DEMANDA MECANICOS, APARELHOS DE TESTE, PECAS DE REPOSIÇÃO, GRAXA, ETC. TER UMA EQUIPE DE ENGENHEIROS DE PRODUÇÃO, QUE DEVEM CUIDAR DAS PARADAS DE MAQUINA OBRIGATÓRIAS, PARA EVITAR QUEBRAS POR EXCESSO DE UTILIZAÇÃO.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COMPRAS E RECEBIMENTOS</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FATURAMENTO</dc:title>
  <cp:lastModifiedBy>EDGARD ALEXANDRE ROMANATO</cp:lastModifiedBy>
  <cp:revision>1</cp:revision>
  <dcterms:modified xsi:type="dcterms:W3CDTF">2022-08-16T17:41:12Z</dcterms:modified>
</cp:coreProperties>
</file>