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46"/>
  </p:normalViewPr>
  <p:slideViewPr>
    <p:cSldViewPr snapToGrid="0" snapToObjects="1">
      <p:cViewPr varScale="1">
        <p:scale>
          <a:sx n="112" d="100"/>
          <a:sy n="112" d="100"/>
        </p:scale>
        <p:origin x="5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4/4/22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F32AD-C34A-B24F-9CF8-F8C46035D6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COMPRAS E RECEBIMENTO DE MATERIAIS</a:t>
            </a:r>
          </a:p>
        </p:txBody>
      </p:sp>
    </p:spTree>
    <p:extLst>
      <p:ext uri="{BB962C8B-B14F-4D97-AF65-F5344CB8AC3E}">
        <p14:creationId xmlns:p14="http://schemas.microsoft.com/office/powerpoint/2010/main" val="3808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/>
          </a:bodyPr>
          <a:lstStyle/>
          <a:p>
            <a:r>
              <a:rPr lang="pt-BR" sz="2800" dirty="0"/>
              <a:t>DEPTO DE COMPRAS - FUNCIONAMENTO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 DEPTO DE COMPRAS TEM QUE TER 3 INFORMACOES ESSENCIAIS PARA PODER EXECUTAR SEU SERVICO, A SABER:</a:t>
            </a:r>
          </a:p>
          <a:p>
            <a:pPr>
              <a:buFont typeface="+mj-lt"/>
              <a:buAutoNum type="arabicPeriod"/>
            </a:pPr>
            <a:r>
              <a:rPr lang="pt-BR" dirty="0"/>
              <a:t>O QUE DEVE SER COMPRADO (INSUMO/COMPONENTES DO PRODUTO)</a:t>
            </a:r>
          </a:p>
          <a:p>
            <a:pPr>
              <a:buFont typeface="+mj-lt"/>
              <a:buAutoNum type="arabicPeriod"/>
            </a:pPr>
            <a:r>
              <a:rPr lang="pt-BR" dirty="0"/>
              <a:t>QUANTO DE CADA COMPONENTE COMPRAR</a:t>
            </a:r>
          </a:p>
          <a:p>
            <a:pPr>
              <a:buFont typeface="+mj-lt"/>
              <a:buAutoNum type="arabicPeriod"/>
            </a:pPr>
            <a:r>
              <a:rPr lang="pt-BR" dirty="0"/>
              <a:t>QUANDO DEVE SER ENTREGUE ESSE MATERIAL</a:t>
            </a:r>
          </a:p>
          <a:p>
            <a:pPr marL="0" indent="0">
              <a:buNone/>
            </a:pPr>
            <a:r>
              <a:rPr lang="pt-BR" dirty="0"/>
              <a:t>TODAS ESSAS INFORMACOES DEVEM CONSTAR DO PLANO DE PRODUCAO, ELABORADO PELOS PLNEJAMENTOS FABRICA/CENTRAL, ATRAVES DE UM DOCUMENTO CHAMADO “REQUISICAO DE COMPRAS”</a:t>
            </a:r>
          </a:p>
          <a:p>
            <a:pPr marL="0" indent="0">
              <a:buNone/>
            </a:pPr>
            <a:r>
              <a:rPr lang="pt-BR" dirty="0"/>
              <a:t>COM ESSE DOCUMENTO, O COMPRADOR VAI ESCOLHER O FORNECEDOR OU FORNECEDORES E INICIAR A NEGOCIACAO DE QUANTIDADE E VALOR A SER COBRADO POR CADA MATERIA PRIMA E A DISPONIBILIDADE DE DATAS DE ENTREGA.</a:t>
            </a:r>
          </a:p>
          <a:p>
            <a:pPr marL="0" indent="0">
              <a:buNone/>
            </a:pPr>
            <a:r>
              <a:rPr lang="pt-BR" dirty="0"/>
              <a:t>BASICAMENTE SERIA ISSO O TRABALHO DE COMPRAS A GROSSO MODO, MAS EXISTEM VARIAS COMPLICACOES, PRINCIPALMENTE PORQUE ESSE SUB-SISTEMA DE COMPRAS TRABALHA LIGADO AO SUB-SISTEMA DE RECEBIMENTOS DESSES ITENS ADQUIRIDOS.</a:t>
            </a:r>
          </a:p>
        </p:txBody>
      </p:sp>
    </p:spTree>
    <p:extLst>
      <p:ext uri="{BB962C8B-B14F-4D97-AF65-F5344CB8AC3E}">
        <p14:creationId xmlns:p14="http://schemas.microsoft.com/office/powerpoint/2010/main" val="236949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/>
          </a:bodyPr>
          <a:lstStyle/>
          <a:p>
            <a:r>
              <a:rPr lang="pt-BR" sz="2800" dirty="0"/>
              <a:t>DEPTO DE COMPRAS - FUNCIONAMENTO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 DEPTO DE COMPRAS TEM QUE TER 3 INFORMACOES ESSENCIAIS PARA PODER EXECUTAR SEU SERVICO, A SABER:</a:t>
            </a:r>
          </a:p>
          <a:p>
            <a:pPr>
              <a:buFont typeface="+mj-lt"/>
              <a:buAutoNum type="arabicPeriod"/>
            </a:pPr>
            <a:r>
              <a:rPr lang="pt-BR" dirty="0"/>
              <a:t>O QUE DEVE SER COMPRADO (INSUMO/COMPONENTES DO PRODUTO)</a:t>
            </a:r>
          </a:p>
          <a:p>
            <a:pPr>
              <a:buFont typeface="+mj-lt"/>
              <a:buAutoNum type="arabicPeriod"/>
            </a:pPr>
            <a:r>
              <a:rPr lang="pt-BR" dirty="0"/>
              <a:t>QUANTO DE CADA COMPONENTE COMPRAR</a:t>
            </a:r>
          </a:p>
          <a:p>
            <a:pPr>
              <a:buFont typeface="+mj-lt"/>
              <a:buAutoNum type="arabicPeriod"/>
            </a:pPr>
            <a:r>
              <a:rPr lang="pt-BR" dirty="0"/>
              <a:t>QUANDO DEVE SER ENTREGUE ESSE MATERIAL</a:t>
            </a:r>
          </a:p>
          <a:p>
            <a:pPr marL="0" indent="0">
              <a:buNone/>
            </a:pPr>
            <a:r>
              <a:rPr lang="pt-BR" dirty="0"/>
              <a:t>TODAS ESSAS INFORMACOES DEVEM CONSTAR DO PLANO DE PRODUCAO, ELABORADO PELOS PLNEJAMENTOS FABRICA/CENTRAL, ATRAVES DE UM DOCUMENTO CHAMADO “REQUISICAO DE COMPRAS”</a:t>
            </a:r>
          </a:p>
          <a:p>
            <a:pPr marL="0" indent="0">
              <a:buNone/>
            </a:pPr>
            <a:r>
              <a:rPr lang="pt-BR" dirty="0"/>
              <a:t>COM ESSE DOCUMENTO, O COMPRADOR VAI ESCOLHER O FORNECEDOR OU FORNECEDORES E INICIAR A NEGOCIACAO DE QUANTIDADE E VALOR A SER COBRADO POR CADA MATERIA PRIMA E A DISPONIBILIDADE DE DATAS DE ENTREGA.</a:t>
            </a:r>
          </a:p>
          <a:p>
            <a:pPr marL="0" indent="0">
              <a:buNone/>
            </a:pPr>
            <a:r>
              <a:rPr lang="pt-BR" dirty="0"/>
              <a:t>BASICAMENTE SERIA ISSO O TRABALHO DE COMPRAS A GROSSO MODO, MAS EXISTEM VARIAS COMPLICACOES, PRINCIPALMENTE PORQUE ESSE SUB-SISTEMA DE COMPRAS TRABALHA LIGADO AO SUB-SISTEMA DE RECEBIMENTOS DESSES ITENS ADQUIRIDOS.</a:t>
            </a:r>
          </a:p>
        </p:txBody>
      </p:sp>
    </p:spTree>
    <p:extLst>
      <p:ext uri="{BB962C8B-B14F-4D97-AF65-F5344CB8AC3E}">
        <p14:creationId xmlns:p14="http://schemas.microsoft.com/office/powerpoint/2010/main" val="349243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/>
          </a:bodyPr>
          <a:lstStyle/>
          <a:p>
            <a:r>
              <a:rPr lang="pt-BR" sz="2800" dirty="0"/>
              <a:t>DEPTO DE COMPRAS - FUNCIONAMENTO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1" y="1200150"/>
            <a:ext cx="11413172" cy="5497830"/>
          </a:xfrm>
        </p:spPr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sp>
        <p:nvSpPr>
          <p:cNvPr id="5" name="Shape 94">
            <a:extLst>
              <a:ext uri="{FF2B5EF4-FFF2-40B4-BE49-F238E27FC236}">
                <a16:creationId xmlns:a16="http://schemas.microsoft.com/office/drawing/2014/main" id="{599F3664-0053-E24A-AF12-65116D1EBB8C}"/>
              </a:ext>
            </a:extLst>
          </p:cNvPr>
          <p:cNvSpPr/>
          <p:nvPr/>
        </p:nvSpPr>
        <p:spPr>
          <a:xfrm>
            <a:off x="5486400" y="6278562"/>
            <a:ext cx="32004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000" b="1">
                <a:solidFill>
                  <a:srgbClr val="FFFFFF"/>
                </a:solidFill>
              </a:rPr>
              <a:t>2/29/16</a:t>
            </a:r>
          </a:p>
        </p:txBody>
      </p:sp>
      <p:grpSp>
        <p:nvGrpSpPr>
          <p:cNvPr id="6" name="Group 97">
            <a:extLst>
              <a:ext uri="{FF2B5EF4-FFF2-40B4-BE49-F238E27FC236}">
                <a16:creationId xmlns:a16="http://schemas.microsoft.com/office/drawing/2014/main" id="{86118985-360C-E048-9459-5A40E19702FB}"/>
              </a:ext>
            </a:extLst>
          </p:cNvPr>
          <p:cNvGrpSpPr/>
          <p:nvPr/>
        </p:nvGrpSpPr>
        <p:grpSpPr>
          <a:xfrm>
            <a:off x="1614709" y="1868708"/>
            <a:ext cx="1632866" cy="612656"/>
            <a:chOff x="-1" y="0"/>
            <a:chExt cx="1632865" cy="612654"/>
          </a:xfrm>
        </p:grpSpPr>
        <p:sp>
          <p:nvSpPr>
            <p:cNvPr id="7" name="Shape 95">
              <a:extLst>
                <a:ext uri="{FF2B5EF4-FFF2-40B4-BE49-F238E27FC236}">
                  <a16:creationId xmlns:a16="http://schemas.microsoft.com/office/drawing/2014/main" id="{0DD6D57A-0E55-744C-ADF8-C1A7FABE4435}"/>
                </a:ext>
              </a:extLst>
            </p:cNvPr>
            <p:cNvSpPr/>
            <p:nvPr/>
          </p:nvSpPr>
          <p:spPr>
            <a:xfrm>
              <a:off x="-2" y="-1"/>
              <a:ext cx="1632866" cy="612656"/>
            </a:xfrm>
            <a:prstGeom prst="rect">
              <a:avLst/>
            </a:prstGeom>
            <a:gradFill flip="none" rotWithShape="1">
              <a:gsLst>
                <a:gs pos="0">
                  <a:srgbClr val="40AFD3"/>
                </a:gs>
                <a:gs pos="100000">
                  <a:srgbClr val="A5E2FF"/>
                </a:gs>
              </a:gsLst>
              <a:lin ang="16200000" scaled="0"/>
            </a:gradFill>
            <a:ln w="9525" cap="flat">
              <a:solidFill>
                <a:srgbClr val="4CA4C0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8" name="Shape 96">
              <a:extLst>
                <a:ext uri="{FF2B5EF4-FFF2-40B4-BE49-F238E27FC236}">
                  <a16:creationId xmlns:a16="http://schemas.microsoft.com/office/drawing/2014/main" id="{A15CEA87-5A84-8649-B0E3-67563498AAFC}"/>
                </a:ext>
              </a:extLst>
            </p:cNvPr>
            <p:cNvSpPr/>
            <p:nvPr/>
          </p:nvSpPr>
          <p:spPr>
            <a:xfrm>
              <a:off x="-2" y="166625"/>
              <a:ext cx="1632866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 dirty="0">
                  <a:solidFill>
                    <a:srgbClr val="FFFFFF"/>
                  </a:solidFill>
                </a:rPr>
                <a:t>MARKETING</a:t>
              </a:r>
            </a:p>
          </p:txBody>
        </p:sp>
      </p:grpSp>
      <p:sp>
        <p:nvSpPr>
          <p:cNvPr id="9" name="Shape 98">
            <a:extLst>
              <a:ext uri="{FF2B5EF4-FFF2-40B4-BE49-F238E27FC236}">
                <a16:creationId xmlns:a16="http://schemas.microsoft.com/office/drawing/2014/main" id="{325619BD-D81A-9A4B-A00F-6801A796F9B8}"/>
              </a:ext>
            </a:extLst>
          </p:cNvPr>
          <p:cNvSpPr/>
          <p:nvPr/>
        </p:nvSpPr>
        <p:spPr>
          <a:xfrm>
            <a:off x="3447141" y="1931847"/>
            <a:ext cx="978413" cy="484637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0AFD3"/>
              </a:gs>
              <a:gs pos="100000">
                <a:srgbClr val="A5E2FF"/>
              </a:gs>
            </a:gsLst>
            <a:lin ang="16200000"/>
          </a:gradFill>
          <a:ln>
            <a:solidFill>
              <a:srgbClr val="4CA4C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grpSp>
        <p:nvGrpSpPr>
          <p:cNvPr id="10" name="Group 101">
            <a:extLst>
              <a:ext uri="{FF2B5EF4-FFF2-40B4-BE49-F238E27FC236}">
                <a16:creationId xmlns:a16="http://schemas.microsoft.com/office/drawing/2014/main" id="{DC156BDF-AD4E-9E4E-983F-F985EFEF8381}"/>
              </a:ext>
            </a:extLst>
          </p:cNvPr>
          <p:cNvGrpSpPr/>
          <p:nvPr/>
        </p:nvGrpSpPr>
        <p:grpSpPr>
          <a:xfrm>
            <a:off x="4425545" y="1741708"/>
            <a:ext cx="1561603" cy="1011800"/>
            <a:chOff x="0" y="-1"/>
            <a:chExt cx="1561601" cy="1011798"/>
          </a:xfrm>
        </p:grpSpPr>
        <p:sp>
          <p:nvSpPr>
            <p:cNvPr id="11" name="Shape 99">
              <a:extLst>
                <a:ext uri="{FF2B5EF4-FFF2-40B4-BE49-F238E27FC236}">
                  <a16:creationId xmlns:a16="http://schemas.microsoft.com/office/drawing/2014/main" id="{8356634B-467F-1440-AB4A-05FF714202A9}"/>
                </a:ext>
              </a:extLst>
            </p:cNvPr>
            <p:cNvSpPr/>
            <p:nvPr/>
          </p:nvSpPr>
          <p:spPr>
            <a:xfrm>
              <a:off x="-1" y="-2"/>
              <a:ext cx="1561602" cy="1011800"/>
            </a:xfrm>
            <a:prstGeom prst="rect">
              <a:avLst/>
            </a:prstGeom>
            <a:gradFill flip="none" rotWithShape="1">
              <a:gsLst>
                <a:gs pos="0">
                  <a:srgbClr val="40AFD3"/>
                </a:gs>
                <a:gs pos="100000">
                  <a:srgbClr val="A5E2FF"/>
                </a:gs>
              </a:gsLst>
              <a:lin ang="16200000" scaled="0"/>
            </a:gradFill>
            <a:ln w="9525" cap="flat">
              <a:solidFill>
                <a:srgbClr val="4CA4C0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12" name="Shape 100">
              <a:extLst>
                <a:ext uri="{FF2B5EF4-FFF2-40B4-BE49-F238E27FC236}">
                  <a16:creationId xmlns:a16="http://schemas.microsoft.com/office/drawing/2014/main" id="{142153FF-DB8E-984B-AE8D-3B9E3038760D}"/>
                </a:ext>
              </a:extLst>
            </p:cNvPr>
            <p:cNvSpPr/>
            <p:nvPr/>
          </p:nvSpPr>
          <p:spPr>
            <a:xfrm>
              <a:off x="-1" y="86797"/>
              <a:ext cx="1561602" cy="838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PLANEJAM/ DA PRODUÇÃO</a:t>
              </a:r>
            </a:p>
          </p:txBody>
        </p:sp>
      </p:grpSp>
      <p:sp>
        <p:nvSpPr>
          <p:cNvPr id="13" name="Shape 102">
            <a:extLst>
              <a:ext uri="{FF2B5EF4-FFF2-40B4-BE49-F238E27FC236}">
                <a16:creationId xmlns:a16="http://schemas.microsoft.com/office/drawing/2014/main" id="{B3C63ECE-D7FA-864B-B3FC-64E94E4A9642}"/>
              </a:ext>
            </a:extLst>
          </p:cNvPr>
          <p:cNvSpPr/>
          <p:nvPr/>
        </p:nvSpPr>
        <p:spPr>
          <a:xfrm>
            <a:off x="6114796" y="1931847"/>
            <a:ext cx="978413" cy="549517"/>
          </a:xfrm>
          <a:prstGeom prst="rightArrow">
            <a:avLst>
              <a:gd name="adj1" fmla="val 30190"/>
              <a:gd name="adj2" fmla="val 50000"/>
            </a:avLst>
          </a:prstGeom>
          <a:gradFill>
            <a:gsLst>
              <a:gs pos="0">
                <a:srgbClr val="40AFD3"/>
              </a:gs>
              <a:gs pos="100000">
                <a:srgbClr val="A5E2FF"/>
              </a:gs>
            </a:gsLst>
            <a:lin ang="16200000"/>
          </a:gradFill>
          <a:ln>
            <a:solidFill>
              <a:srgbClr val="4CA4C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grpSp>
        <p:nvGrpSpPr>
          <p:cNvPr id="14" name="Group 105">
            <a:extLst>
              <a:ext uri="{FF2B5EF4-FFF2-40B4-BE49-F238E27FC236}">
                <a16:creationId xmlns:a16="http://schemas.microsoft.com/office/drawing/2014/main" id="{3A95CD0F-CE88-B14A-A9A7-2D88E73F8825}"/>
              </a:ext>
            </a:extLst>
          </p:cNvPr>
          <p:cNvGrpSpPr/>
          <p:nvPr/>
        </p:nvGrpSpPr>
        <p:grpSpPr>
          <a:xfrm>
            <a:off x="7073496" y="1728644"/>
            <a:ext cx="1613310" cy="1313556"/>
            <a:chOff x="0" y="-1"/>
            <a:chExt cx="1613308" cy="1313554"/>
          </a:xfrm>
        </p:grpSpPr>
        <p:sp>
          <p:nvSpPr>
            <p:cNvPr id="15" name="Shape 103">
              <a:extLst>
                <a:ext uri="{FF2B5EF4-FFF2-40B4-BE49-F238E27FC236}">
                  <a16:creationId xmlns:a16="http://schemas.microsoft.com/office/drawing/2014/main" id="{848B5A50-787F-6948-AE07-7D122A3D6EFC}"/>
                </a:ext>
              </a:extLst>
            </p:cNvPr>
            <p:cNvSpPr/>
            <p:nvPr/>
          </p:nvSpPr>
          <p:spPr>
            <a:xfrm>
              <a:off x="-1" y="-2"/>
              <a:ext cx="1613309" cy="1313556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40AFD3"/>
                </a:gs>
                <a:gs pos="100000">
                  <a:srgbClr val="A5E2FF"/>
                </a:gs>
              </a:gsLst>
              <a:lin ang="16200000" scaled="0"/>
            </a:gradFill>
            <a:ln w="9525" cap="flat">
              <a:solidFill>
                <a:srgbClr val="4CA4C0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16" name="Shape 104">
              <a:extLst>
                <a:ext uri="{FF2B5EF4-FFF2-40B4-BE49-F238E27FC236}">
                  <a16:creationId xmlns:a16="http://schemas.microsoft.com/office/drawing/2014/main" id="{BA3123E5-D387-6344-BD3A-BF9C8918FB1D}"/>
                </a:ext>
              </a:extLst>
            </p:cNvPr>
            <p:cNvSpPr/>
            <p:nvPr/>
          </p:nvSpPr>
          <p:spPr>
            <a:xfrm>
              <a:off x="64122" y="517074"/>
              <a:ext cx="1485062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COMPRAS</a:t>
              </a:r>
            </a:p>
          </p:txBody>
        </p:sp>
      </p:grpSp>
      <p:sp>
        <p:nvSpPr>
          <p:cNvPr id="17" name="Shape 106">
            <a:extLst>
              <a:ext uri="{FF2B5EF4-FFF2-40B4-BE49-F238E27FC236}">
                <a16:creationId xmlns:a16="http://schemas.microsoft.com/office/drawing/2014/main" id="{C1614143-B352-0E4D-9408-3AEAE7364CFA}"/>
              </a:ext>
            </a:extLst>
          </p:cNvPr>
          <p:cNvSpPr/>
          <p:nvPr/>
        </p:nvSpPr>
        <p:spPr>
          <a:xfrm>
            <a:off x="7667969" y="3042192"/>
            <a:ext cx="484637" cy="9784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250"/>
                </a:moveTo>
                <a:lnTo>
                  <a:pt x="5400" y="1625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50"/>
                </a:lnTo>
                <a:lnTo>
                  <a:pt x="21600" y="16250"/>
                </a:lnTo>
                <a:lnTo>
                  <a:pt x="10800" y="21600"/>
                </a:lnTo>
                <a:close/>
              </a:path>
            </a:pathLst>
          </a:custGeom>
          <a:gradFill>
            <a:gsLst>
              <a:gs pos="0">
                <a:srgbClr val="40AFD3"/>
              </a:gs>
              <a:gs pos="100000">
                <a:srgbClr val="A5E2FF"/>
              </a:gs>
            </a:gsLst>
            <a:lin ang="16200000"/>
          </a:gradFill>
          <a:ln>
            <a:solidFill>
              <a:srgbClr val="4CA4C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grpSp>
        <p:nvGrpSpPr>
          <p:cNvPr id="18" name="Group 109">
            <a:extLst>
              <a:ext uri="{FF2B5EF4-FFF2-40B4-BE49-F238E27FC236}">
                <a16:creationId xmlns:a16="http://schemas.microsoft.com/office/drawing/2014/main" id="{29E9D58F-B58B-9243-B976-6BC1E59AEAE8}"/>
              </a:ext>
            </a:extLst>
          </p:cNvPr>
          <p:cNvGrpSpPr/>
          <p:nvPr/>
        </p:nvGrpSpPr>
        <p:grpSpPr>
          <a:xfrm>
            <a:off x="6765978" y="4020601"/>
            <a:ext cx="2040574" cy="914408"/>
            <a:chOff x="0" y="0"/>
            <a:chExt cx="2040572" cy="914407"/>
          </a:xfrm>
        </p:grpSpPr>
        <p:sp>
          <p:nvSpPr>
            <p:cNvPr id="19" name="Shape 107">
              <a:extLst>
                <a:ext uri="{FF2B5EF4-FFF2-40B4-BE49-F238E27FC236}">
                  <a16:creationId xmlns:a16="http://schemas.microsoft.com/office/drawing/2014/main" id="{A60A6A7F-CA37-4241-884E-18867D148FE4}"/>
                </a:ext>
              </a:extLst>
            </p:cNvPr>
            <p:cNvSpPr/>
            <p:nvPr/>
          </p:nvSpPr>
          <p:spPr>
            <a:xfrm>
              <a:off x="-1" y="-1"/>
              <a:ext cx="2040573" cy="914409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40AFD3"/>
                </a:gs>
                <a:gs pos="100000">
                  <a:srgbClr val="A5E2FF"/>
                </a:gs>
              </a:gsLst>
              <a:lin ang="16200000" scaled="0"/>
            </a:gradFill>
            <a:ln w="9525" cap="flat">
              <a:solidFill>
                <a:srgbClr val="4CA4C0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20" name="Shape 108">
              <a:extLst>
                <a:ext uri="{FF2B5EF4-FFF2-40B4-BE49-F238E27FC236}">
                  <a16:creationId xmlns:a16="http://schemas.microsoft.com/office/drawing/2014/main" id="{46707B1D-81B4-0B4D-B86C-6263826D770B}"/>
                </a:ext>
              </a:extLst>
            </p:cNvPr>
            <p:cNvSpPr/>
            <p:nvPr/>
          </p:nvSpPr>
          <p:spPr>
            <a:xfrm>
              <a:off x="44633" y="177800"/>
              <a:ext cx="1951301" cy="558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RECEBIMENTO DE MATERIAIS</a:t>
              </a:r>
            </a:p>
          </p:txBody>
        </p:sp>
      </p:grpSp>
      <p:sp>
        <p:nvSpPr>
          <p:cNvPr id="21" name="Shape 110">
            <a:extLst>
              <a:ext uri="{FF2B5EF4-FFF2-40B4-BE49-F238E27FC236}">
                <a16:creationId xmlns:a16="http://schemas.microsoft.com/office/drawing/2014/main" id="{1C8B422B-412E-2D4A-BE36-4BE138EB46DC}"/>
              </a:ext>
            </a:extLst>
          </p:cNvPr>
          <p:cNvSpPr/>
          <p:nvPr/>
        </p:nvSpPr>
        <p:spPr>
          <a:xfrm>
            <a:off x="5625591" y="4318000"/>
            <a:ext cx="978413" cy="484632"/>
          </a:xfrm>
          <a:prstGeom prst="lef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0AFD3"/>
              </a:gs>
              <a:gs pos="100000">
                <a:srgbClr val="A5E2FF"/>
              </a:gs>
            </a:gsLst>
            <a:lin ang="16200000"/>
          </a:gradFill>
          <a:ln>
            <a:solidFill>
              <a:srgbClr val="4CA4C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grpSp>
        <p:nvGrpSpPr>
          <p:cNvPr id="22" name="Group 113">
            <a:extLst>
              <a:ext uri="{FF2B5EF4-FFF2-40B4-BE49-F238E27FC236}">
                <a16:creationId xmlns:a16="http://schemas.microsoft.com/office/drawing/2014/main" id="{D912F623-3F2E-1C46-85D9-2A816E444C9B}"/>
              </a:ext>
            </a:extLst>
          </p:cNvPr>
          <p:cNvGrpSpPr/>
          <p:nvPr/>
        </p:nvGrpSpPr>
        <p:grpSpPr>
          <a:xfrm>
            <a:off x="3773713" y="4020601"/>
            <a:ext cx="1712694" cy="914408"/>
            <a:chOff x="0" y="0"/>
            <a:chExt cx="1712692" cy="914407"/>
          </a:xfrm>
        </p:grpSpPr>
        <p:sp>
          <p:nvSpPr>
            <p:cNvPr id="23" name="Shape 111">
              <a:extLst>
                <a:ext uri="{FF2B5EF4-FFF2-40B4-BE49-F238E27FC236}">
                  <a16:creationId xmlns:a16="http://schemas.microsoft.com/office/drawing/2014/main" id="{0692AAAD-B50C-5747-98C1-7E99537CE82B}"/>
                </a:ext>
              </a:extLst>
            </p:cNvPr>
            <p:cNvSpPr/>
            <p:nvPr/>
          </p:nvSpPr>
          <p:spPr>
            <a:xfrm>
              <a:off x="0" y="-1"/>
              <a:ext cx="1712693" cy="914409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40AFD3"/>
                </a:gs>
                <a:gs pos="100000">
                  <a:srgbClr val="A5E2FF"/>
                </a:gs>
              </a:gsLst>
              <a:lin ang="16200000" scaled="0"/>
            </a:gradFill>
            <a:ln w="9525" cap="flat">
              <a:solidFill>
                <a:srgbClr val="4CA4C0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24" name="Shape 112">
              <a:extLst>
                <a:ext uri="{FF2B5EF4-FFF2-40B4-BE49-F238E27FC236}">
                  <a16:creationId xmlns:a16="http://schemas.microsoft.com/office/drawing/2014/main" id="{8BA4E140-0D0C-5A4C-A7D6-3EBBE58032A4}"/>
                </a:ext>
              </a:extLst>
            </p:cNvPr>
            <p:cNvSpPr/>
            <p:nvPr/>
          </p:nvSpPr>
          <p:spPr>
            <a:xfrm>
              <a:off x="44636" y="177800"/>
              <a:ext cx="1623420" cy="558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DEPOSITO MAT.PRIMAS</a:t>
              </a:r>
            </a:p>
          </p:txBody>
        </p:sp>
      </p:grpSp>
      <p:sp>
        <p:nvSpPr>
          <p:cNvPr id="25" name="Shape 114">
            <a:extLst>
              <a:ext uri="{FF2B5EF4-FFF2-40B4-BE49-F238E27FC236}">
                <a16:creationId xmlns:a16="http://schemas.microsoft.com/office/drawing/2014/main" id="{8D732510-7927-E349-A975-029B1C4AA610}"/>
              </a:ext>
            </a:extLst>
          </p:cNvPr>
          <p:cNvSpPr/>
          <p:nvPr/>
        </p:nvSpPr>
        <p:spPr>
          <a:xfrm>
            <a:off x="2758363" y="4318000"/>
            <a:ext cx="978413" cy="484632"/>
          </a:xfrm>
          <a:prstGeom prst="lef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0AFD3"/>
              </a:gs>
              <a:gs pos="100000">
                <a:srgbClr val="A5E2FF"/>
              </a:gs>
            </a:gsLst>
            <a:lin ang="16200000"/>
          </a:gradFill>
          <a:ln>
            <a:solidFill>
              <a:srgbClr val="4CA4C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grpSp>
        <p:nvGrpSpPr>
          <p:cNvPr id="26" name="Group 117">
            <a:extLst>
              <a:ext uri="{FF2B5EF4-FFF2-40B4-BE49-F238E27FC236}">
                <a16:creationId xmlns:a16="http://schemas.microsoft.com/office/drawing/2014/main" id="{76AA6D75-FE1C-7344-8E3E-1162C5C37153}"/>
              </a:ext>
            </a:extLst>
          </p:cNvPr>
          <p:cNvGrpSpPr/>
          <p:nvPr/>
        </p:nvGrpSpPr>
        <p:grpSpPr>
          <a:xfrm>
            <a:off x="955675" y="4020598"/>
            <a:ext cx="1675046" cy="1211810"/>
            <a:chOff x="0" y="0"/>
            <a:chExt cx="1675045" cy="1211808"/>
          </a:xfrm>
        </p:grpSpPr>
        <p:sp>
          <p:nvSpPr>
            <p:cNvPr id="27" name="Shape 115">
              <a:extLst>
                <a:ext uri="{FF2B5EF4-FFF2-40B4-BE49-F238E27FC236}">
                  <a16:creationId xmlns:a16="http://schemas.microsoft.com/office/drawing/2014/main" id="{DBCEC92F-1168-CD4C-9B29-377940BB2715}"/>
                </a:ext>
              </a:extLst>
            </p:cNvPr>
            <p:cNvSpPr/>
            <p:nvPr/>
          </p:nvSpPr>
          <p:spPr>
            <a:xfrm>
              <a:off x="0" y="-1"/>
              <a:ext cx="1675046" cy="121181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40AFD3"/>
                </a:gs>
                <a:gs pos="100000">
                  <a:srgbClr val="A5E2FF"/>
                </a:gs>
              </a:gsLst>
              <a:lin ang="16200000" scaled="0"/>
            </a:gradFill>
            <a:ln w="9525" cap="flat">
              <a:solidFill>
                <a:srgbClr val="4CA4C0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28" name="Shape 116">
              <a:extLst>
                <a:ext uri="{FF2B5EF4-FFF2-40B4-BE49-F238E27FC236}">
                  <a16:creationId xmlns:a16="http://schemas.microsoft.com/office/drawing/2014/main" id="{D2729837-22F7-8646-8704-EE8830F26726}"/>
                </a:ext>
              </a:extLst>
            </p:cNvPr>
            <p:cNvSpPr/>
            <p:nvPr/>
          </p:nvSpPr>
          <p:spPr>
            <a:xfrm>
              <a:off x="59154" y="466201"/>
              <a:ext cx="1556736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PRODUÇÃO</a:t>
              </a:r>
            </a:p>
          </p:txBody>
        </p:sp>
      </p:grpSp>
      <p:grpSp>
        <p:nvGrpSpPr>
          <p:cNvPr id="29" name="Group 121">
            <a:extLst>
              <a:ext uri="{FF2B5EF4-FFF2-40B4-BE49-F238E27FC236}">
                <a16:creationId xmlns:a16="http://schemas.microsoft.com/office/drawing/2014/main" id="{1EC9221E-4FAE-5048-9162-A57DC6E7C211}"/>
              </a:ext>
            </a:extLst>
          </p:cNvPr>
          <p:cNvGrpSpPr/>
          <p:nvPr/>
        </p:nvGrpSpPr>
        <p:grpSpPr>
          <a:xfrm>
            <a:off x="224059" y="4934997"/>
            <a:ext cx="731625" cy="1201209"/>
            <a:chOff x="11" y="0"/>
            <a:chExt cx="731623" cy="1201207"/>
          </a:xfrm>
        </p:grpSpPr>
        <p:sp>
          <p:nvSpPr>
            <p:cNvPr id="30" name="Shape 118">
              <a:extLst>
                <a:ext uri="{FF2B5EF4-FFF2-40B4-BE49-F238E27FC236}">
                  <a16:creationId xmlns:a16="http://schemas.microsoft.com/office/drawing/2014/main" id="{6721DEB0-7EA9-B54A-BC1B-F172F451E218}"/>
                </a:ext>
              </a:extLst>
            </p:cNvPr>
            <p:cNvSpPr/>
            <p:nvPr/>
          </p:nvSpPr>
          <p:spPr>
            <a:xfrm>
              <a:off x="11" y="-1"/>
              <a:ext cx="731625" cy="1201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53" h="21600" extrusionOk="0">
                  <a:moveTo>
                    <a:pt x="4" y="8468"/>
                  </a:moveTo>
                  <a:cubicBezTo>
                    <a:pt x="4" y="12329"/>
                    <a:pt x="6127" y="15702"/>
                    <a:pt x="14891" y="16667"/>
                  </a:cubicBezTo>
                  <a:lnTo>
                    <a:pt x="14891" y="15023"/>
                  </a:lnTo>
                  <a:lnTo>
                    <a:pt x="19853" y="18580"/>
                  </a:lnTo>
                  <a:lnTo>
                    <a:pt x="14891" y="21600"/>
                  </a:lnTo>
                  <a:lnTo>
                    <a:pt x="14891" y="19956"/>
                  </a:lnTo>
                  <a:cubicBezTo>
                    <a:pt x="6127" y="18990"/>
                    <a:pt x="4" y="15618"/>
                    <a:pt x="4" y="11757"/>
                  </a:cubicBezTo>
                  <a:close/>
                  <a:moveTo>
                    <a:pt x="19853" y="3289"/>
                  </a:moveTo>
                  <a:cubicBezTo>
                    <a:pt x="10377" y="3289"/>
                    <a:pt x="2222" y="6146"/>
                    <a:pt x="382" y="10112"/>
                  </a:cubicBezTo>
                  <a:cubicBezTo>
                    <a:pt x="-1747" y="5525"/>
                    <a:pt x="5245" y="1069"/>
                    <a:pt x="15999" y="161"/>
                  </a:cubicBezTo>
                  <a:cubicBezTo>
                    <a:pt x="17268" y="54"/>
                    <a:pt x="18559" y="0"/>
                    <a:pt x="1985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40AFD3"/>
                </a:gs>
                <a:gs pos="100000">
                  <a:srgbClr val="A5E2FF"/>
                </a:gs>
              </a:gsLst>
              <a:lin ang="16200000" scaled="0"/>
            </a:gra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31" name="Shape 119">
              <a:extLst>
                <a:ext uri="{FF2B5EF4-FFF2-40B4-BE49-F238E27FC236}">
                  <a16:creationId xmlns:a16="http://schemas.microsoft.com/office/drawing/2014/main" id="{707A7215-072C-534B-A878-AF789BA9685E}"/>
                </a:ext>
              </a:extLst>
            </p:cNvPr>
            <p:cNvSpPr/>
            <p:nvPr/>
          </p:nvSpPr>
          <p:spPr>
            <a:xfrm>
              <a:off x="11" y="0"/>
              <a:ext cx="731625" cy="562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853" h="21600" extrusionOk="0">
                  <a:moveTo>
                    <a:pt x="19853" y="7024"/>
                  </a:moveTo>
                  <a:cubicBezTo>
                    <a:pt x="10377" y="7024"/>
                    <a:pt x="2222" y="13129"/>
                    <a:pt x="382" y="21600"/>
                  </a:cubicBezTo>
                  <a:cubicBezTo>
                    <a:pt x="-1747" y="11801"/>
                    <a:pt x="5245" y="2284"/>
                    <a:pt x="15999" y="344"/>
                  </a:cubicBezTo>
                  <a:cubicBezTo>
                    <a:pt x="17268" y="115"/>
                    <a:pt x="18559" y="0"/>
                    <a:pt x="1985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32" name="Shape 120">
              <a:extLst>
                <a:ext uri="{FF2B5EF4-FFF2-40B4-BE49-F238E27FC236}">
                  <a16:creationId xmlns:a16="http://schemas.microsoft.com/office/drawing/2014/main" id="{389FBD62-FDAE-C841-B562-7F3CDB961350}"/>
                </a:ext>
              </a:extLst>
            </p:cNvPr>
            <p:cNvSpPr/>
            <p:nvPr/>
          </p:nvSpPr>
          <p:spPr>
            <a:xfrm>
              <a:off x="105" y="-1"/>
              <a:ext cx="731530" cy="12012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468"/>
                  </a:moveTo>
                  <a:cubicBezTo>
                    <a:pt x="0" y="12329"/>
                    <a:pt x="6663" y="15702"/>
                    <a:pt x="16200" y="16667"/>
                  </a:cubicBezTo>
                  <a:lnTo>
                    <a:pt x="16200" y="15023"/>
                  </a:lnTo>
                  <a:lnTo>
                    <a:pt x="21600" y="18580"/>
                  </a:lnTo>
                  <a:lnTo>
                    <a:pt x="16200" y="21600"/>
                  </a:lnTo>
                  <a:lnTo>
                    <a:pt x="16200" y="19956"/>
                  </a:lnTo>
                  <a:cubicBezTo>
                    <a:pt x="6663" y="18990"/>
                    <a:pt x="0" y="15618"/>
                    <a:pt x="0" y="11757"/>
                  </a:cubicBezTo>
                  <a:lnTo>
                    <a:pt x="0" y="8468"/>
                  </a:lnTo>
                  <a:cubicBezTo>
                    <a:pt x="0" y="3791"/>
                    <a:pt x="9671" y="0"/>
                    <a:pt x="21600" y="0"/>
                  </a:cubicBezTo>
                  <a:lnTo>
                    <a:pt x="21600" y="3289"/>
                  </a:lnTo>
                  <a:cubicBezTo>
                    <a:pt x="11288" y="3289"/>
                    <a:pt x="2414" y="6146"/>
                    <a:pt x="411" y="10112"/>
                  </a:cubicBezTo>
                </a:path>
              </a:pathLst>
            </a:custGeom>
            <a:noFill/>
            <a:ln w="9525" cap="flat">
              <a:solidFill>
                <a:srgbClr val="4CA4C0"/>
              </a:solidFill>
              <a:prstDash val="solid"/>
              <a:bevel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</p:grpSp>
      <p:grpSp>
        <p:nvGrpSpPr>
          <p:cNvPr id="33" name="Group 124">
            <a:extLst>
              <a:ext uri="{FF2B5EF4-FFF2-40B4-BE49-F238E27FC236}">
                <a16:creationId xmlns:a16="http://schemas.microsoft.com/office/drawing/2014/main" id="{CEC2376D-636F-4D4E-8FE4-73DD740D809D}"/>
              </a:ext>
            </a:extLst>
          </p:cNvPr>
          <p:cNvGrpSpPr/>
          <p:nvPr/>
        </p:nvGrpSpPr>
        <p:grpSpPr>
          <a:xfrm>
            <a:off x="1088568" y="5588000"/>
            <a:ext cx="2322295" cy="949325"/>
            <a:chOff x="0" y="0"/>
            <a:chExt cx="2322294" cy="949325"/>
          </a:xfrm>
        </p:grpSpPr>
        <p:sp>
          <p:nvSpPr>
            <p:cNvPr id="34" name="Shape 122">
              <a:extLst>
                <a:ext uri="{FF2B5EF4-FFF2-40B4-BE49-F238E27FC236}">
                  <a16:creationId xmlns:a16="http://schemas.microsoft.com/office/drawing/2014/main" id="{0B9B3165-47D0-D741-BA22-4219D4E9AA17}"/>
                </a:ext>
              </a:extLst>
            </p:cNvPr>
            <p:cNvSpPr/>
            <p:nvPr/>
          </p:nvSpPr>
          <p:spPr>
            <a:xfrm>
              <a:off x="-1" y="0"/>
              <a:ext cx="2322295" cy="949325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40AFD3"/>
                </a:gs>
                <a:gs pos="100000">
                  <a:srgbClr val="A5E2FF"/>
                </a:gs>
              </a:gsLst>
              <a:lin ang="16200000" scaled="0"/>
            </a:gradFill>
            <a:ln w="9525" cap="flat">
              <a:solidFill>
                <a:srgbClr val="4CA4C0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35" name="Shape 123">
              <a:extLst>
                <a:ext uri="{FF2B5EF4-FFF2-40B4-BE49-F238E27FC236}">
                  <a16:creationId xmlns:a16="http://schemas.microsoft.com/office/drawing/2014/main" id="{12230EFE-F734-9D49-BDF4-D688B1B8328E}"/>
                </a:ext>
              </a:extLst>
            </p:cNvPr>
            <p:cNvSpPr/>
            <p:nvPr/>
          </p:nvSpPr>
          <p:spPr>
            <a:xfrm>
              <a:off x="46339" y="195259"/>
              <a:ext cx="2229614" cy="558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FFFFFF"/>
                  </a:solidFill>
                </a:rPr>
                <a:t>DEPOSITO PROD. ACABADO</a:t>
              </a:r>
            </a:p>
          </p:txBody>
        </p:sp>
      </p:grpSp>
      <p:sp>
        <p:nvSpPr>
          <p:cNvPr id="36" name="Shape 125">
            <a:extLst>
              <a:ext uri="{FF2B5EF4-FFF2-40B4-BE49-F238E27FC236}">
                <a16:creationId xmlns:a16="http://schemas.microsoft.com/office/drawing/2014/main" id="{7912540C-AF2D-EC42-B294-9A8202B693B5}"/>
              </a:ext>
            </a:extLst>
          </p:cNvPr>
          <p:cNvSpPr/>
          <p:nvPr/>
        </p:nvSpPr>
        <p:spPr>
          <a:xfrm>
            <a:off x="3684758" y="5687567"/>
            <a:ext cx="978413" cy="484637"/>
          </a:xfrm>
          <a:prstGeom prst="rightArrow">
            <a:avLst>
              <a:gd name="adj1" fmla="val 57487"/>
              <a:gd name="adj2" fmla="val 50000"/>
            </a:avLst>
          </a:prstGeom>
          <a:gradFill>
            <a:gsLst>
              <a:gs pos="0">
                <a:srgbClr val="40AFD3"/>
              </a:gs>
              <a:gs pos="100000">
                <a:srgbClr val="A5E2FF"/>
              </a:gs>
            </a:gsLst>
            <a:lin ang="16200000"/>
          </a:gradFill>
          <a:ln>
            <a:solidFill>
              <a:srgbClr val="4CA4C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0" tIns="0" rIns="0" bIns="0" anchor="ctr"/>
          <a:lstStyle/>
          <a:p>
            <a:pPr lvl="0" algn="ctr"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/>
          </a:p>
        </p:txBody>
      </p:sp>
      <p:grpSp>
        <p:nvGrpSpPr>
          <p:cNvPr id="37" name="Group 128">
            <a:extLst>
              <a:ext uri="{FF2B5EF4-FFF2-40B4-BE49-F238E27FC236}">
                <a16:creationId xmlns:a16="http://schemas.microsoft.com/office/drawing/2014/main" id="{18F42711-844C-3440-ACA3-01228C76BAA8}"/>
              </a:ext>
            </a:extLst>
          </p:cNvPr>
          <p:cNvGrpSpPr/>
          <p:nvPr/>
        </p:nvGrpSpPr>
        <p:grpSpPr>
          <a:xfrm>
            <a:off x="4663166" y="5406570"/>
            <a:ext cx="2647958" cy="997868"/>
            <a:chOff x="0" y="0"/>
            <a:chExt cx="2647956" cy="997866"/>
          </a:xfrm>
        </p:grpSpPr>
        <p:sp>
          <p:nvSpPr>
            <p:cNvPr id="38" name="Shape 126">
              <a:extLst>
                <a:ext uri="{FF2B5EF4-FFF2-40B4-BE49-F238E27FC236}">
                  <a16:creationId xmlns:a16="http://schemas.microsoft.com/office/drawing/2014/main" id="{C406F91D-51AC-C14D-9DD4-FFFB6CE9DAD6}"/>
                </a:ext>
              </a:extLst>
            </p:cNvPr>
            <p:cNvSpPr/>
            <p:nvPr/>
          </p:nvSpPr>
          <p:spPr>
            <a:xfrm>
              <a:off x="0" y="-1"/>
              <a:ext cx="2647957" cy="997867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40AFD3"/>
                </a:gs>
                <a:gs pos="100000">
                  <a:srgbClr val="A5E2FF"/>
                </a:gs>
              </a:gsLst>
              <a:lin ang="16200000" scaled="0"/>
            </a:gradFill>
            <a:ln w="9525" cap="flat">
              <a:solidFill>
                <a:srgbClr val="4CA4C0"/>
              </a:solidFill>
              <a:prstDash val="solid"/>
              <a:bevel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2800" b="1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pPr>
              <a:endParaRPr/>
            </a:p>
          </p:txBody>
        </p:sp>
        <p:sp>
          <p:nvSpPr>
            <p:cNvPr id="39" name="Shape 127">
              <a:extLst>
                <a:ext uri="{FF2B5EF4-FFF2-40B4-BE49-F238E27FC236}">
                  <a16:creationId xmlns:a16="http://schemas.microsoft.com/office/drawing/2014/main" id="{2AC9C605-F8D4-D345-9AD6-00DB7BED9366}"/>
                </a:ext>
              </a:extLst>
            </p:cNvPr>
            <p:cNvSpPr/>
            <p:nvPr/>
          </p:nvSpPr>
          <p:spPr>
            <a:xfrm>
              <a:off x="48710" y="283030"/>
              <a:ext cx="2550538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2800" b="1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defRPr>
              </a:lvl1pPr>
            </a:lstStyle>
            <a:p>
              <a:pPr lvl="0">
                <a:defRPr sz="1800" b="0">
                  <a:solidFill>
                    <a:srgbClr val="000000"/>
                  </a:solidFill>
                </a:defRPr>
              </a:pPr>
              <a:r>
                <a:rPr sz="2800" b="1">
                  <a:solidFill>
                    <a:srgbClr val="FFFFFF"/>
                  </a:solidFill>
                </a:rPr>
                <a:t>CLIENTES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462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/>
          </a:bodyPr>
          <a:lstStyle/>
          <a:p>
            <a:r>
              <a:rPr lang="pt-BR" sz="2800" dirty="0"/>
              <a:t>DEPTO DE COMPRAS - FUNCIONAMENTO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>
                <a:effectLst>
                  <a:outerShdw blurRad="101600" dist="12700" dir="3600000" rotWithShape="0">
                    <a:srgbClr val="000000">
                      <a:alpha val="30000"/>
                    </a:srgbClr>
                  </a:outerShdw>
                </a:effectLst>
              </a:rPr>
              <a:t>COMPRAS – RECEBE AS REQUISIÇÕES DO PLANEJAMENTO, FAZ AS COTAÇÕES DE PRECO, NEGOCIA OS PRAZOS DE ENTREGA CONFORME AS REQUISIÇÕES E ELABORA O PEDIDO DE COMPRA QUE VAI </a:t>
            </a:r>
            <a:r>
              <a:rPr lang="pt-BR" dirty="0" err="1">
                <a:effectLst>
                  <a:outerShdw blurRad="101600" dist="12700" dir="3600000" rotWithShape="0">
                    <a:srgbClr val="000000">
                      <a:alpha val="30000"/>
                    </a:srgbClr>
                  </a:outerShdw>
                </a:effectLst>
              </a:rPr>
              <a:t>P</a:t>
            </a:r>
            <a:r>
              <a:rPr lang="pt-BR" dirty="0">
                <a:effectLst>
                  <a:outerShdw blurRad="101600" dist="12700" dir="3600000" rotWithShape="0">
                    <a:srgbClr val="000000">
                      <a:alpha val="30000"/>
                    </a:srgbClr>
                  </a:outerShdw>
                </a:effectLst>
              </a:rPr>
              <a:t>/ O FORNECEDOR.</a:t>
            </a:r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  <a:effectLst/>
              </a:defRPr>
            </a:pPr>
            <a:r>
              <a:rPr lang="pt-BR" dirty="0">
                <a:effectLst>
                  <a:outerShdw blurRad="101600" dist="12700" dir="3600000" rotWithShape="0">
                    <a:srgbClr val="000000">
                      <a:alpha val="30000"/>
                    </a:srgbClr>
                  </a:outerShdw>
                </a:effectLst>
              </a:rPr>
              <a:t>MANTEM O CADASTRO DE FORNECEDORES ATUALIZADO, COM OS PRECOS DE CADA ITEM E COM O PRECO PRATICADO PELOS CONCORRENTES DESSE FORNECEDOR.</a:t>
            </a:r>
            <a:endParaRPr lang="pt-BR" dirty="0"/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  <a:effectLst/>
              </a:defRPr>
            </a:pPr>
            <a:r>
              <a:rPr lang="pt-BR" dirty="0">
                <a:effectLst>
                  <a:outerShdw blurRad="101600" dist="12700" dir="3600000" rotWithShape="0">
                    <a:srgbClr val="000000">
                      <a:alpha val="30000"/>
                    </a:srgbClr>
                  </a:outerShdw>
                </a:effectLst>
              </a:rPr>
              <a:t>FAZ O CONTATO COM O FORNECEDOR PARA QUALQUER DIVERGENCIA ENTRE O PEDIDO FEITO E A ENTREGA DA MERCADORIA, SEJA PRECO, PRAZO, QUALIDADE, ETC.</a:t>
            </a:r>
            <a:endParaRPr lang="pt-BR" dirty="0"/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  <a:effectLst/>
              </a:defRPr>
            </a:pPr>
            <a:r>
              <a:rPr lang="pt-BR" dirty="0">
                <a:effectLst>
                  <a:outerShdw blurRad="101600" dist="12700" dir="3600000" rotWithShape="0">
                    <a:srgbClr val="000000">
                      <a:alpha val="30000"/>
                    </a:srgbClr>
                  </a:outerShdw>
                </a:effectLst>
              </a:rPr>
              <a:t>MANTEM O ARQUIVO DE PEDIDOS E CORRE ATRAS DOS PENDENTES PARA QUE NAO FALTE ITENS PARA PRODUÇÃO.</a:t>
            </a:r>
            <a:endParaRPr lang="pt-BR" dirty="0"/>
          </a:p>
          <a:p>
            <a:pPr marL="0" lvl="0" indent="0">
              <a:buSzTx/>
              <a:buNone/>
              <a:defRPr sz="1800">
                <a:solidFill>
                  <a:srgbClr val="000000"/>
                </a:solidFill>
                <a:effectLst/>
              </a:defRPr>
            </a:pPr>
            <a:r>
              <a:rPr lang="pt-BR" dirty="0">
                <a:effectLst>
                  <a:outerShdw blurRad="101600" dist="12700" dir="3600000" rotWithShape="0">
                    <a:srgbClr val="000000">
                      <a:alpha val="30000"/>
                    </a:srgbClr>
                  </a:outerShdw>
                </a:effectLst>
              </a:rPr>
              <a:t>FAZ O CONTATO COM O RECEBIMENTO PARA AS DIVERGENCIAS ENTRE OS PEDIDOS E AS NOTAS FISCAIS DE ENTREGA.</a:t>
            </a:r>
          </a:p>
          <a:p>
            <a:pPr marL="0" lvl="0" indent="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  <a:effectLst/>
              </a:defRPr>
            </a:pPr>
            <a:r>
              <a:rPr lang="pt-BR" dirty="0">
                <a:effectLst>
                  <a:outerShdw blurRad="101600" dist="12700" dir="3600000" rotWithShape="0">
                    <a:srgbClr val="000000">
                      <a:alpha val="30000"/>
                    </a:srgbClr>
                  </a:outerShdw>
                </a:effectLst>
              </a:rPr>
              <a:t>RECEBIMENTO DE MATERIAIS E MATERIAS PRIMAS:</a:t>
            </a:r>
            <a:endParaRPr lang="pt-BR" dirty="0"/>
          </a:p>
          <a:p>
            <a:pPr marL="0" lvl="0" indent="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  <a:effectLst/>
              </a:defRPr>
            </a:pPr>
            <a:r>
              <a:rPr lang="pt-BR" dirty="0">
                <a:effectLst>
                  <a:outerShdw blurRad="101600" dist="12700" dir="3600000" rotWithShape="0">
                    <a:srgbClr val="000000">
                      <a:alpha val="30000"/>
                    </a:srgbClr>
                  </a:outerShdw>
                </a:effectLst>
              </a:rPr>
              <a:t>RECEBE O MATERIAL ACOMPANHADO DA NOTA FISCAL DO FORNECEDOR, FAZ AS VERIFICAÇÕES DE CADA ITEM DA NOTA, COMPARA TUDO COM O PEDIDO DE COMPRAS, FAZ O RECEBIMENTO DIGITAL, ENCAMINHANDO A ENTREGA PARA O DEPOSITO QUE FAZ O RECEBIMENTO FISICO, LIBERA O CAMINHÃO E DEVOLVE A N. FISCAL PARA O SETOR DE RECEBIMENTOS.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136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/>
          </a:bodyPr>
          <a:lstStyle/>
          <a:p>
            <a:r>
              <a:rPr lang="pt-BR" sz="2800" dirty="0"/>
              <a:t>DEPTO DE COMPRAS - RECEBIMENTOS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>
            <a:normAutofit fontScale="92500" lnSpcReduction="20000"/>
          </a:bodyPr>
          <a:lstStyle/>
          <a:p>
            <a:pPr marL="0" lvl="0" indent="0" defTabSz="869044">
              <a:spcBef>
                <a:spcPts val="500"/>
              </a:spcBef>
              <a:buNone/>
              <a:defRPr sz="1800"/>
            </a:pPr>
            <a:r>
              <a:rPr lang="pt-BR" sz="2400" dirty="0"/>
              <a:t>O </a:t>
            </a:r>
            <a:r>
              <a:rPr lang="pt-BR" sz="2400" dirty="0" err="1"/>
              <a:t>sub-sistema</a:t>
            </a:r>
            <a:r>
              <a:rPr lang="pt-BR" sz="2400" dirty="0"/>
              <a:t> de recebimentos complementa o </a:t>
            </a:r>
            <a:r>
              <a:rPr lang="pt-BR" sz="2400" dirty="0" err="1"/>
              <a:t>sub-sistema</a:t>
            </a:r>
            <a:r>
              <a:rPr lang="pt-BR" sz="2400" dirty="0"/>
              <a:t> de suprimentos, ou seja tudo que foi comprado, deve ser recebido, para que não falte matérias primas para produção e para que os fornecedores recebam pelo que entregaram.</a:t>
            </a:r>
          </a:p>
          <a:p>
            <a:pPr marL="0" lvl="0" indent="0" defTabSz="869044">
              <a:spcBef>
                <a:spcPts val="500"/>
              </a:spcBef>
              <a:buNone/>
              <a:defRPr sz="1800"/>
            </a:pPr>
            <a:r>
              <a:rPr lang="pt-BR" sz="2400" dirty="0"/>
              <a:t>Não existe sistema de suprimentos sem que haja o recebimento.</a:t>
            </a:r>
          </a:p>
          <a:p>
            <a:pPr marL="0" lvl="0" indent="0" defTabSz="869044">
              <a:spcBef>
                <a:spcPts val="500"/>
              </a:spcBef>
              <a:buNone/>
              <a:defRPr sz="1800"/>
            </a:pPr>
            <a:r>
              <a:rPr lang="pt-BR" sz="2400" dirty="0"/>
              <a:t>Normalmente, tanto compras como recebimentos estão em baixo da área comercial e tem como chefe o diretor comercial</a:t>
            </a:r>
          </a:p>
          <a:p>
            <a:pPr marL="0" lvl="0" indent="0">
              <a:buNone/>
              <a:defRPr sz="1800"/>
            </a:pPr>
            <a:r>
              <a:rPr lang="pt-BR" sz="2400" dirty="0"/>
              <a:t>O inicio de tudo em termos de recebimento se da com a colocação do pedido de compras, pois seria difícil receber algo que não foi comprado.</a:t>
            </a:r>
          </a:p>
          <a:p>
            <a:pPr marL="0" lvl="0" indent="0">
              <a:buNone/>
              <a:defRPr sz="1800"/>
            </a:pPr>
            <a:endParaRPr lang="pt-BR" sz="2400" dirty="0"/>
          </a:p>
          <a:p>
            <a:pPr marL="0" lvl="0" indent="0">
              <a:buNone/>
              <a:defRPr sz="1800"/>
            </a:pPr>
            <a:r>
              <a:rPr lang="pt-BR" sz="2400" dirty="0"/>
              <a:t>O caminhão do fornecedor não entra na fabrica sem identificação do motorista, ele responde pela mercadoria a ser recebida.</a:t>
            </a:r>
          </a:p>
          <a:p>
            <a:pPr marL="0" lvl="0" indent="0">
              <a:buNone/>
              <a:defRPr sz="1800"/>
            </a:pPr>
            <a:endParaRPr lang="pt-BR" sz="2400" dirty="0"/>
          </a:p>
          <a:p>
            <a:pPr marL="0" lvl="0" indent="0">
              <a:buNone/>
              <a:defRPr sz="1800"/>
            </a:pPr>
            <a:r>
              <a:rPr lang="pt-BR" sz="2400" dirty="0" err="1"/>
              <a:t>Alem</a:t>
            </a:r>
            <a:r>
              <a:rPr lang="pt-BR" sz="2400" dirty="0"/>
              <a:t> disso existem horários a serem respeitados, fora dos quais a carga </a:t>
            </a:r>
            <a:r>
              <a:rPr lang="pt-BR" sz="2400" dirty="0" err="1"/>
              <a:t>sera</a:t>
            </a:r>
            <a:r>
              <a:rPr lang="pt-BR" sz="2400" dirty="0"/>
              <a:t>  devolvida. Esse horário deve ser especificado no pedido.</a:t>
            </a:r>
          </a:p>
          <a:p>
            <a:pPr marL="0" lvl="0" indent="0" defTabSz="869044">
              <a:spcBef>
                <a:spcPts val="500"/>
              </a:spcBef>
              <a:buNone/>
              <a:defRPr sz="1800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47147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/>
          </a:bodyPr>
          <a:lstStyle/>
          <a:p>
            <a:r>
              <a:rPr lang="pt-BR" sz="2800" dirty="0"/>
              <a:t>DEPTO DE COMPRAS - RECEBIMENTOS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>
            <a:normAutofit/>
          </a:bodyPr>
          <a:lstStyle/>
          <a:p>
            <a:pPr marL="0" lvl="0" indent="0" defTabSz="905255">
              <a:spcBef>
                <a:spcPts val="600"/>
              </a:spcBef>
              <a:buNone/>
              <a:defRPr sz="1800"/>
            </a:pPr>
            <a:r>
              <a:rPr lang="pt-BR" sz="2400" dirty="0"/>
              <a:t>O recebedor de posse da NF, procura o fornecedor no cadastro e verifica quais os pedidos colocados para o mesmo.</a:t>
            </a:r>
          </a:p>
          <a:p>
            <a:pPr marL="0" lvl="0" indent="0" defTabSz="905255">
              <a:spcBef>
                <a:spcPts val="600"/>
              </a:spcBef>
              <a:buNone/>
              <a:defRPr sz="1800"/>
            </a:pPr>
            <a:r>
              <a:rPr lang="pt-BR" sz="2400" dirty="0"/>
              <a:t> Identifica o pedido e em seguida o comprador que colocou o pedido.(pelo comprador o requisitante da fabrica também poderá ser achado, mas somente em ultimo caso).</a:t>
            </a:r>
          </a:p>
          <a:p>
            <a:pPr marL="0" lvl="0" indent="0" defTabSz="905255">
              <a:spcBef>
                <a:spcPts val="600"/>
              </a:spcBef>
              <a:buNone/>
              <a:defRPr sz="1800"/>
            </a:pPr>
            <a:endParaRPr lang="pt-BR" sz="2400" dirty="0"/>
          </a:p>
          <a:p>
            <a:pPr marL="0" lvl="0" indent="0" defTabSz="905255">
              <a:spcBef>
                <a:spcPts val="600"/>
              </a:spcBef>
              <a:buNone/>
              <a:defRPr sz="1800"/>
            </a:pPr>
            <a:r>
              <a:rPr lang="pt-BR" sz="2400" dirty="0"/>
              <a:t>Caso não haja identificação, devolve a nota ao motorista e dispensa o caminhão.</a:t>
            </a:r>
          </a:p>
          <a:p>
            <a:pPr marL="0" lvl="0" indent="0" defTabSz="905255">
              <a:spcBef>
                <a:spcPts val="600"/>
              </a:spcBef>
              <a:buNone/>
              <a:defRPr sz="1800"/>
            </a:pPr>
            <a:endParaRPr lang="pt-BR" sz="2400" dirty="0"/>
          </a:p>
          <a:p>
            <a:pPr marL="0" lvl="0" indent="0" defTabSz="905255">
              <a:spcBef>
                <a:spcPts val="600"/>
              </a:spcBef>
              <a:buNone/>
              <a:defRPr sz="1800"/>
            </a:pPr>
            <a:r>
              <a:rPr lang="pt-BR" sz="2400" dirty="0"/>
              <a:t>obs. Notem que tudo isso fica a cargo de pessoas.</a:t>
            </a:r>
          </a:p>
          <a:p>
            <a:pPr marL="0" lvl="0" indent="0" defTabSz="869044">
              <a:spcBef>
                <a:spcPts val="500"/>
              </a:spcBef>
              <a:buNone/>
              <a:defRPr sz="1800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46248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/>
          </a:bodyPr>
          <a:lstStyle/>
          <a:p>
            <a:r>
              <a:rPr lang="pt-BR" sz="2800" dirty="0"/>
              <a:t>DEPTO DE COMPRAS - RECEBIMENTOS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pt-BR" sz="2400" dirty="0">
                <a:latin typeface="Times New Roman"/>
                <a:ea typeface="Times New Roman"/>
                <a:cs typeface="Times New Roman"/>
                <a:sym typeface="Times New Roman"/>
              </a:rPr>
              <a:t>SETOR DE RECEBIMENTOS - Recebe NF para digitação. Verifica se existe um pedido colocado para insumos ou uma ordem de pagamento para materiais diversos.</a:t>
            </a:r>
          </a:p>
          <a:p>
            <a:pPr lvl="0">
              <a:defRPr sz="1800"/>
            </a:pPr>
            <a:endParaRPr lang="pt-BR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defRPr sz="1800"/>
            </a:pPr>
            <a:r>
              <a:rPr lang="pt-BR" sz="2400" dirty="0">
                <a:latin typeface="Times New Roman"/>
                <a:ea typeface="Times New Roman"/>
                <a:cs typeface="Times New Roman"/>
                <a:sym typeface="Times New Roman"/>
              </a:rPr>
              <a:t>DADOS - Todos os constantes na NF, inclusive número do pedido, caso o fornecedor tenha colocado na nota.</a:t>
            </a:r>
          </a:p>
          <a:p>
            <a:pPr lvl="0">
              <a:defRPr sz="1800"/>
            </a:pPr>
            <a:endParaRPr lang="pt-BR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defRPr sz="1800"/>
            </a:pPr>
            <a:r>
              <a:rPr lang="pt-BR" sz="2400" dirty="0">
                <a:latin typeface="Times New Roman"/>
                <a:ea typeface="Times New Roman"/>
                <a:cs typeface="Times New Roman"/>
                <a:sym typeface="Times New Roman"/>
              </a:rPr>
              <a:t>SISTEMA DE RECEBIMENTOS - Registra os dados informados e libera o caminhão para descarregar. </a:t>
            </a:r>
          </a:p>
          <a:p>
            <a:pPr lvl="0">
              <a:defRPr sz="1800"/>
            </a:pPr>
            <a:r>
              <a:rPr lang="pt-BR" sz="2400" dirty="0">
                <a:latin typeface="Times New Roman"/>
                <a:ea typeface="Times New Roman"/>
                <a:cs typeface="Times New Roman"/>
                <a:sym typeface="Times New Roman"/>
              </a:rPr>
              <a:t>Notem que o recebimento eh virtual, o físico fica para o deposito.</a:t>
            </a:r>
          </a:p>
          <a:p>
            <a:pPr marL="0" lvl="0" indent="0" defTabSz="869044">
              <a:spcBef>
                <a:spcPts val="500"/>
              </a:spcBef>
              <a:buNone/>
              <a:defRPr sz="1800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164637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/>
          </a:bodyPr>
          <a:lstStyle/>
          <a:p>
            <a:r>
              <a:rPr lang="pt-BR" sz="2800" dirty="0"/>
              <a:t>DEPTO DE COMPRAS - RECEBIMENTOS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>
            <a:normAutofit fontScale="92500" lnSpcReduction="20000"/>
          </a:bodyPr>
          <a:lstStyle/>
          <a:p>
            <a:pPr marL="342899" lvl="0" indent="-342899">
              <a:defRPr sz="1800"/>
            </a:pPr>
            <a:r>
              <a:rPr lang="pt-BR" sz="2400" dirty="0"/>
              <a:t>NOTA FISCAL FORNECEDOR</a:t>
            </a:r>
          </a:p>
          <a:p>
            <a:pPr marL="342899" lvl="0" indent="-342899">
              <a:defRPr sz="1800"/>
            </a:pPr>
            <a:r>
              <a:rPr lang="pt-BR" sz="2400" dirty="0"/>
              <a:t>Toda nota fiscal vem com o nome de quem a emitiu. O fornecedor não fica obrigado a colocar o numero do pedido, nem o seu código, portanto o recebedor procura o pedido referente aquela nota pelo nome do fornecedor, data de recebimento, itens e quantidades compradas, para poder diferenciar um pedido de outro. Podem haver vários pedidos para esse fornecedor com diferença de datas muito pequenas.</a:t>
            </a:r>
          </a:p>
          <a:p>
            <a:pPr marL="342899" lvl="0" indent="-342899">
              <a:defRPr sz="1800"/>
            </a:pPr>
            <a:r>
              <a:rPr lang="pt-BR" sz="2400" dirty="0"/>
              <a:t>Se o pedido não for encontrado, a mercadoria não pode ser recebida e o recebedor procura o comprador responsável por telefone. Se ele não for localizado o caminhão não poderá descarregar.</a:t>
            </a:r>
          </a:p>
          <a:p>
            <a:pPr marL="342899" lvl="0" indent="-342899">
              <a:defRPr sz="1800"/>
            </a:pPr>
            <a:r>
              <a:rPr lang="pt-BR" sz="2400" dirty="0"/>
              <a:t>Se tudo ocorrer dentro do esperado, ele emite um relatório que vai com o caminhão para o deposito, com todos os itens da N. Fiscal. Qualquer diferença entre as quantidades da NF e do realmente recebido vai ser anotada nesse relatório, que vai voltar ao recebimento para registro das diferenças.</a:t>
            </a:r>
          </a:p>
          <a:p>
            <a:pPr marL="0" lvl="0" indent="0" defTabSz="869044">
              <a:spcBef>
                <a:spcPts val="500"/>
              </a:spcBef>
              <a:buNone/>
              <a:defRPr sz="1800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06214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/>
          </a:bodyPr>
          <a:lstStyle/>
          <a:p>
            <a:r>
              <a:rPr lang="pt-BR" sz="2800" dirty="0"/>
              <a:t> RECEBIMENTOS DE LIQUIDOS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>
            <a:normAutofit/>
          </a:bodyPr>
          <a:lstStyle/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dirty="0">
                <a:latin typeface="Times New Roman"/>
                <a:ea typeface="Times New Roman"/>
                <a:cs typeface="Times New Roman"/>
                <a:sym typeface="Times New Roman"/>
              </a:rPr>
              <a:t>PORTARIA</a:t>
            </a:r>
          </a:p>
          <a:p>
            <a:pPr marL="1439793" lvl="1" indent="-696843">
              <a:spcBef>
                <a:spcPts val="600"/>
              </a:spcBef>
              <a:buSzPct val="100000"/>
              <a:buFont typeface="Arial"/>
              <a:buChar char="•"/>
              <a:defRPr sz="1800"/>
            </a:pPr>
            <a:r>
              <a:rPr lang="pt-BR" sz="2000" dirty="0">
                <a:latin typeface="Times New Roman"/>
                <a:ea typeface="Times New Roman"/>
                <a:cs typeface="Times New Roman"/>
                <a:sym typeface="Times New Roman"/>
              </a:rPr>
              <a:t>PROCEDIMENTOS NORMAIS DE IDENTIFICAÇÃO DO RESPONSÁVEL</a:t>
            </a:r>
          </a:p>
          <a:p>
            <a:pPr marL="1439793" lvl="1" indent="-696843">
              <a:spcBef>
                <a:spcPts val="600"/>
              </a:spcBef>
              <a:buSzPct val="100000"/>
              <a:buFont typeface="Arial"/>
              <a:buChar char="•"/>
              <a:defRPr sz="1800"/>
            </a:pPr>
            <a:r>
              <a:rPr lang="pt-BR" sz="2000" dirty="0">
                <a:latin typeface="Times New Roman"/>
                <a:ea typeface="Times New Roman"/>
                <a:cs typeface="Times New Roman"/>
                <a:sym typeface="Times New Roman"/>
              </a:rPr>
              <a:t>ACOMPANHA O CAMINHÃO PARA PESAGEM</a:t>
            </a:r>
          </a:p>
          <a:p>
            <a:pPr marL="1439793" lvl="1" indent="-696843">
              <a:spcBef>
                <a:spcPts val="600"/>
              </a:spcBef>
              <a:buSzPct val="100000"/>
              <a:buFont typeface="Arial"/>
              <a:buChar char="•"/>
              <a:defRPr sz="1800"/>
            </a:pPr>
            <a:r>
              <a:rPr lang="pt-BR" sz="2000" dirty="0">
                <a:latin typeface="Times New Roman"/>
                <a:ea typeface="Times New Roman"/>
                <a:cs typeface="Times New Roman"/>
                <a:sym typeface="Times New Roman"/>
              </a:rPr>
              <a:t>ACOMPANHA O CAMINHÃO PARA DESCARGA</a:t>
            </a:r>
          </a:p>
          <a:p>
            <a:pPr marL="1439793" lvl="1" indent="-696843">
              <a:spcBef>
                <a:spcPts val="600"/>
              </a:spcBef>
              <a:buSzPct val="100000"/>
              <a:buFont typeface="Arial"/>
              <a:buChar char="•"/>
              <a:defRPr sz="1800"/>
            </a:pPr>
            <a:r>
              <a:rPr lang="pt-BR" sz="2000" dirty="0">
                <a:latin typeface="Times New Roman"/>
                <a:ea typeface="Times New Roman"/>
                <a:cs typeface="Times New Roman"/>
                <a:sym typeface="Times New Roman"/>
              </a:rPr>
              <a:t>PESA NOVAMENTE O CAMINHÃO PARA APURAR QUANTOS LITROS FORAM DESCARREGADOS</a:t>
            </a:r>
          </a:p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dirty="0">
                <a:latin typeface="Times New Roman"/>
                <a:ea typeface="Times New Roman"/>
                <a:cs typeface="Times New Roman"/>
                <a:sym typeface="Times New Roman"/>
              </a:rPr>
              <a:t>RECEBIMENTOS </a:t>
            </a:r>
          </a:p>
          <a:p>
            <a:pPr marL="1439793" lvl="1" indent="-696843">
              <a:spcBef>
                <a:spcPts val="600"/>
              </a:spcBef>
              <a:buSzPct val="100000"/>
              <a:buFont typeface="Arial"/>
              <a:buChar char="•"/>
              <a:defRPr sz="1800"/>
            </a:pPr>
            <a:r>
              <a:rPr lang="pt-BR" sz="2000" dirty="0">
                <a:latin typeface="Times New Roman"/>
                <a:ea typeface="Times New Roman"/>
                <a:cs typeface="Times New Roman"/>
                <a:sym typeface="Times New Roman"/>
              </a:rPr>
              <a:t>VERIFICA SE BATE COM A NF (NUNCA BATE).</a:t>
            </a:r>
          </a:p>
          <a:p>
            <a:pPr marL="1439793" lvl="1" indent="-696843">
              <a:spcBef>
                <a:spcPts val="600"/>
              </a:spcBef>
              <a:buSzPct val="100000"/>
              <a:buFont typeface="Arial"/>
              <a:buChar char="•"/>
              <a:defRPr sz="1800"/>
            </a:pPr>
            <a:r>
              <a:rPr lang="pt-BR" sz="2000" dirty="0">
                <a:latin typeface="Times New Roman"/>
                <a:ea typeface="Times New Roman"/>
                <a:cs typeface="Times New Roman"/>
                <a:sym typeface="Times New Roman"/>
              </a:rPr>
              <a:t>APURA AS DIFERENÇAS, PARA CÁLCULO DO QUE DEVE SER PAGO.</a:t>
            </a:r>
          </a:p>
          <a:p>
            <a:pPr marL="1439793" lvl="1" indent="-696843">
              <a:spcBef>
                <a:spcPts val="600"/>
              </a:spcBef>
              <a:buSzPct val="100000"/>
              <a:buFont typeface="Arial"/>
              <a:buChar char="•"/>
              <a:defRPr sz="1800"/>
            </a:pPr>
            <a:r>
              <a:rPr lang="pt-BR" sz="2000" dirty="0">
                <a:latin typeface="Times New Roman"/>
                <a:ea typeface="Times New Roman"/>
                <a:cs typeface="Times New Roman"/>
                <a:sym typeface="Times New Roman"/>
              </a:rPr>
              <a:t>FAZ A BAIXA DO PEDIDO, SENDO QUE SE A DIFERENÇA FOR A MAIS, ENCERRA O PEDIDO, E SE FOR A MENOS, DEIXA O PEDIDO PENDENTE PARA COMPRAS.</a:t>
            </a:r>
          </a:p>
          <a:p>
            <a:pPr marL="0" lvl="0" indent="0" defTabSz="869044">
              <a:spcBef>
                <a:spcPts val="500"/>
              </a:spcBef>
              <a:buNone/>
              <a:defRPr sz="1800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31745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/>
          </a:bodyPr>
          <a:lstStyle/>
          <a:p>
            <a:r>
              <a:rPr lang="pt-BR" sz="2800" dirty="0"/>
              <a:t> RECEBIMENTOS DE LIQUIDOS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>
            <a:normAutofit/>
          </a:bodyPr>
          <a:lstStyle/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dirty="0">
                <a:latin typeface="Times New Roman"/>
                <a:ea typeface="Times New Roman"/>
                <a:cs typeface="Times New Roman"/>
                <a:sym typeface="Times New Roman"/>
              </a:rPr>
              <a:t>COMPRAS</a:t>
            </a:r>
          </a:p>
          <a:p>
            <a:pPr marL="1439793" lvl="1" indent="-696843">
              <a:spcBef>
                <a:spcPts val="600"/>
              </a:spcBef>
              <a:buSzPct val="100000"/>
              <a:buFont typeface="Arial"/>
              <a:buChar char="•"/>
              <a:defRPr sz="1800"/>
            </a:pPr>
            <a:r>
              <a:rPr lang="pt-BR" sz="2000" dirty="0">
                <a:latin typeface="Times New Roman"/>
                <a:ea typeface="Times New Roman"/>
                <a:cs typeface="Times New Roman"/>
                <a:sym typeface="Times New Roman"/>
              </a:rPr>
              <a:t>VERIFICA SE QUANTIDADE ENTREGUE É SUFICIENTE. SE FOR, FECHA O PEDIDO, CASO CONTRÁRIO ENTRA EM CONTATO COM O FORNECEDOR E DEIXA O PEDIDO PENDENTE. ÀS VEZES COLOCA OUTRO PEDIDO DE REFORÇO PARA COMPLETAR A CARGA DE UM CAMINHÃO TANQUE. NESSE CASO A ENTREGA SERÁ REFERENTE A DOIS PEDIDOS.</a:t>
            </a:r>
          </a:p>
          <a:p>
            <a:pPr marL="1439793" lvl="1" indent="-696843">
              <a:spcBef>
                <a:spcPts val="600"/>
              </a:spcBef>
              <a:buSzPct val="100000"/>
              <a:buFont typeface="Arial"/>
              <a:buChar char="•"/>
              <a:defRPr sz="1800"/>
            </a:pPr>
            <a:r>
              <a:rPr lang="pt-BR" sz="2000" dirty="0">
                <a:latin typeface="Times New Roman"/>
                <a:ea typeface="Times New Roman"/>
                <a:cs typeface="Times New Roman"/>
                <a:sym typeface="Times New Roman"/>
              </a:rPr>
              <a:t>ALTERA A QUANTIDADE DO PEDIDO E OS VALORES OU CANCELA O PEDIDO COLOCADO E COLOCA OUTRO NO LUGAR COM AS QUANTIDADES QUE ESTAO SENDO ENTREGUES.</a:t>
            </a:r>
          </a:p>
          <a:p>
            <a:pPr marL="1439793" lvl="1" indent="-696843">
              <a:spcBef>
                <a:spcPts val="600"/>
              </a:spcBef>
              <a:buSzPct val="100000"/>
              <a:buFont typeface="Arial"/>
              <a:buChar char="•"/>
              <a:defRPr sz="1800"/>
            </a:pPr>
            <a:r>
              <a:rPr lang="pt-BR" sz="2000" dirty="0">
                <a:latin typeface="Times New Roman"/>
                <a:ea typeface="Times New Roman"/>
                <a:cs typeface="Times New Roman"/>
                <a:sym typeface="Times New Roman"/>
              </a:rPr>
              <a:t>O RECEBIMENTO FECHA ESSE PEDIDO COM A NF DO FORNECEDOR E DA PROSSEGUIMENTO NORMAL A NF PARA PAGAMENTO DO FORNECEDOR.</a:t>
            </a:r>
          </a:p>
          <a:p>
            <a:pPr marL="1439793" lvl="1" indent="-696843">
              <a:spcBef>
                <a:spcPts val="600"/>
              </a:spcBef>
              <a:buSzPct val="100000"/>
              <a:buFont typeface="Arial"/>
              <a:buChar char="•"/>
              <a:defRPr sz="1800"/>
            </a:pPr>
            <a:r>
              <a:rPr lang="pt-BR" sz="2000" dirty="0">
                <a:latin typeface="Times New Roman"/>
                <a:ea typeface="Times New Roman"/>
                <a:cs typeface="Times New Roman"/>
                <a:sym typeface="Times New Roman"/>
              </a:rPr>
              <a:t>DEPOIS DO OLEO SER DESCARREGADO NAO TEM COMO FAZE-LO VOLTAR AO TANQUE DO CAMINHÃO.</a:t>
            </a:r>
          </a:p>
          <a:p>
            <a:pPr marL="0" lvl="0" indent="0" defTabSz="869044">
              <a:spcBef>
                <a:spcPts val="500"/>
              </a:spcBef>
              <a:buNone/>
              <a:defRPr sz="1800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595955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/>
          </a:bodyPr>
          <a:lstStyle/>
          <a:p>
            <a:r>
              <a:rPr lang="pt-BR" sz="2800" dirty="0"/>
              <a:t> OBSERVACOES GERAIS SOBRE 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>
            <a:normAutofit/>
          </a:bodyPr>
          <a:lstStyle/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sz="2000" dirty="0"/>
              <a:t>SISTEMA COMPLICADO PARA SER ELABORADO, PRINCIPALMENTE PELO NUMERO DE INTERVENCOES HUMANAS QUE SOFRE. EXEMPLO:</a:t>
            </a:r>
          </a:p>
          <a:p>
            <a:pPr marL="457200" lvl="0" indent="-457200">
              <a:spcBef>
                <a:spcPts val="600"/>
              </a:spcBef>
              <a:buSzPct val="100000"/>
              <a:buFont typeface="+mj-lt"/>
              <a:buAutoNum type="arabicPeriod"/>
              <a:defRPr sz="1800"/>
            </a:pPr>
            <a:r>
              <a:rPr lang="pt-BR" sz="2000" dirty="0"/>
              <a:t>SE UM PEDIDO NÃO FOR ENCONTRADO. A MERCADORIA NÃO PODE SER RECEBIDA, POIS O RECEBEDOR NÃO SABE SE AQUILO FOI COMPRADO.</a:t>
            </a:r>
          </a:p>
          <a:p>
            <a:pPr marL="857250" lvl="1" indent="-457200">
              <a:spcBef>
                <a:spcPts val="600"/>
              </a:spcBef>
              <a:buSzPct val="100000"/>
              <a:defRPr sz="1800"/>
            </a:pPr>
            <a:r>
              <a:rPr lang="pt-BR" sz="1800" dirty="0"/>
              <a:t>MANDA O CAMINHAO EMBORA? </a:t>
            </a:r>
          </a:p>
          <a:p>
            <a:pPr marL="857250" lvl="1" indent="-457200">
              <a:spcBef>
                <a:spcPts val="600"/>
              </a:spcBef>
              <a:buSzPct val="100000"/>
              <a:defRPr sz="1800"/>
            </a:pPr>
            <a:r>
              <a:rPr lang="pt-BR" sz="1800" dirty="0"/>
              <a:t>PROCURA O COMPRADOR? </a:t>
            </a:r>
          </a:p>
          <a:p>
            <a:pPr marL="857250" lvl="1" indent="-457200">
              <a:spcBef>
                <a:spcPts val="600"/>
              </a:spcBef>
              <a:buSzPct val="100000"/>
              <a:defRPr sz="1800"/>
            </a:pPr>
            <a:r>
              <a:rPr lang="pt-BR" sz="1800" dirty="0"/>
              <a:t>COMO FICA A FILA DE CAMINHOES ESPERANDO PARA ENTRAR?</a:t>
            </a:r>
          </a:p>
          <a:p>
            <a:pPr marL="457200" indent="-457200">
              <a:spcBef>
                <a:spcPts val="600"/>
              </a:spcBef>
              <a:buSzPct val="100000"/>
              <a:buFont typeface="+mj-lt"/>
              <a:buAutoNum type="arabicPeriod"/>
              <a:defRPr sz="1800"/>
            </a:pPr>
            <a:r>
              <a:rPr lang="pt-BR" sz="2000" dirty="0"/>
              <a:t>DIVERGENCIA ENTRE OS VALORES DO PEDIDO E DA NOTA FISCAL.</a:t>
            </a:r>
          </a:p>
          <a:p>
            <a:pPr marL="857250" lvl="1" indent="-457200">
              <a:spcBef>
                <a:spcPts val="600"/>
              </a:spcBef>
              <a:buSzPct val="100000"/>
              <a:defRPr sz="1800"/>
            </a:pPr>
            <a:r>
              <a:rPr lang="pt-BR" sz="1800" dirty="0"/>
              <a:t>RECEBE ASSIM MESMO? (SIM)</a:t>
            </a:r>
          </a:p>
          <a:p>
            <a:pPr marL="857250" lvl="1" indent="-457200">
              <a:spcBef>
                <a:spcPts val="600"/>
              </a:spcBef>
              <a:buSzPct val="100000"/>
              <a:defRPr sz="1800"/>
            </a:pPr>
            <a:r>
              <a:rPr lang="pt-BR" sz="1800" dirty="0"/>
              <a:t>PROBLEMA DO COMPRADOR COM O FORNECEDOR? (SIM)</a:t>
            </a:r>
          </a:p>
          <a:p>
            <a:pPr marL="857250" lvl="1" indent="-457200">
              <a:spcBef>
                <a:spcPts val="600"/>
              </a:spcBef>
              <a:buSzPct val="100000"/>
              <a:defRPr sz="1800"/>
            </a:pPr>
            <a:r>
              <a:rPr lang="pt-BR" sz="1800" dirty="0"/>
              <a:t>COMO FICA O PEDIDO DE COMPRAS? VAI SER ALTERADO?</a:t>
            </a:r>
          </a:p>
          <a:p>
            <a:pPr marL="457200" indent="-457200">
              <a:spcBef>
                <a:spcPts val="600"/>
              </a:spcBef>
              <a:buSzPct val="100000"/>
              <a:buFont typeface="+mj-lt"/>
              <a:buAutoNum type="arabicPeriod"/>
              <a:defRPr sz="1800"/>
            </a:pPr>
            <a:r>
              <a:rPr lang="pt-BR" sz="2000" dirty="0"/>
              <a:t>O COMPRADOR TEM AUTORIDADE PARA COMPRAR QUALQUER VALOR?</a:t>
            </a:r>
          </a:p>
          <a:p>
            <a:pPr marL="857250" lvl="1" indent="-457200">
              <a:spcBef>
                <a:spcPts val="600"/>
              </a:spcBef>
              <a:buSzPct val="100000"/>
              <a:defRPr sz="1800"/>
            </a:pPr>
            <a:r>
              <a:rPr lang="pt-BR" sz="1800" dirty="0"/>
              <a:t>SE NÃO TEM , QUEM PODE AUTORIZAR?</a:t>
            </a:r>
          </a:p>
          <a:p>
            <a:pPr marL="857250" lvl="1" indent="-457200">
              <a:spcBef>
                <a:spcPts val="600"/>
              </a:spcBef>
              <a:buSzPct val="100000"/>
              <a:defRPr sz="1800"/>
            </a:pPr>
            <a:r>
              <a:rPr lang="pt-BR" sz="1800" dirty="0"/>
              <a:t> O SISTEMA CONTROLA ISSO? EXISTEM MULTAS EM CASO DE CANCELAMENTO?</a:t>
            </a:r>
          </a:p>
          <a:p>
            <a:pPr marL="857250" lvl="1" indent="-457200">
              <a:spcBef>
                <a:spcPts val="600"/>
              </a:spcBef>
              <a:buSzPct val="100000"/>
              <a:defRPr sz="1800"/>
            </a:pPr>
            <a:endParaRPr lang="pt-BR" sz="1800" dirty="0"/>
          </a:p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37072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1F8AF-C488-9E4D-B270-C3E4F3FC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76040"/>
          </a:xfrm>
        </p:spPr>
        <p:txBody>
          <a:bodyPr>
            <a:normAutofit fontScale="90000"/>
          </a:bodyPr>
          <a:lstStyle/>
          <a:p>
            <a:r>
              <a:rPr lang="pt-BR" sz="2800" dirty="0"/>
              <a:t> </a:t>
            </a:r>
            <a:r>
              <a:rPr lang="pt-BR" sz="4000" dirty="0"/>
              <a:t>CONCLUSAO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>
            <a:normAutofit/>
          </a:bodyPr>
          <a:lstStyle/>
          <a:p>
            <a:pPr marL="857250" lvl="1" indent="-457200">
              <a:spcBef>
                <a:spcPts val="600"/>
              </a:spcBef>
              <a:buSzPct val="100000"/>
              <a:defRPr sz="1800"/>
            </a:pPr>
            <a:endParaRPr lang="pt-BR" sz="1800" dirty="0"/>
          </a:p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sz="2400" dirty="0"/>
              <a:t>ESSA MATERIA VAI CAIR NA PROVA, PORTANTO SE HOUVER ALGUMA DUVIDA SERIA MELHOR PERGUNTAR.</a:t>
            </a:r>
          </a:p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sz="2400" dirty="0"/>
              <a:t>FICOU CLARO QUE O RECEBIMENTO DESCRITO FOI SIMPLESMENTE DIGITADO, FOI VIRTUAL?</a:t>
            </a:r>
          </a:p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sz="2400" dirty="0"/>
              <a:t>QUE O RECEBIMENTO FISICO ACONTECE COM O DESCARREGAMENTO DO CAMINHAO?</a:t>
            </a:r>
          </a:p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sz="2400" dirty="0"/>
              <a:t>QUE PODE ACONTECER DIVERGENCIAS ENTRE AMBOS?</a:t>
            </a:r>
          </a:p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sz="2400" dirty="0"/>
              <a:t>SE HOUVER, QUEM RESOLVE A ENCRENCA?</a:t>
            </a:r>
          </a:p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sz="2400" dirty="0"/>
              <a:t>EXISTE ALGO NO SISTEMA PARA RESOLVER O PROBLEMA?</a:t>
            </a:r>
          </a:p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sz="2400" dirty="0"/>
              <a:t>QUE COMPRAS CUIDA DOS FORNECEDORES?</a:t>
            </a:r>
          </a:p>
          <a:p>
            <a:pPr marL="457200" lvl="0" indent="-457200">
              <a:spcBef>
                <a:spcPts val="600"/>
              </a:spcBef>
              <a:buSzPct val="100000"/>
              <a:buFont typeface="Times New Roman"/>
              <a:buChar char="•"/>
              <a:defRPr sz="1800"/>
            </a:pPr>
            <a:r>
              <a:rPr lang="pt-BR" sz="2400" dirty="0"/>
              <a:t>QUE DOS RECEBIMENTOS SAEM OS </a:t>
            </a:r>
            <a:r>
              <a:rPr lang="pt-BR" sz="2400"/>
              <a:t>LIVROS FISCAIS?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16721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82422-82FA-8B48-BC76-CCCAF61A6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0190" y="1200150"/>
            <a:ext cx="10264140" cy="5234940"/>
          </a:xfrm>
        </p:spPr>
        <p:txBody>
          <a:bodyPr>
            <a:normAutofit/>
          </a:bodyPr>
          <a:lstStyle/>
          <a:p>
            <a:pPr marL="0" lvl="0" indent="0" defTabSz="896111">
              <a:lnSpc>
                <a:spcPct val="90000"/>
              </a:lnSpc>
              <a:spcBef>
                <a:spcPts val="1900"/>
              </a:spcBef>
              <a:buSzTx/>
              <a:buNone/>
              <a:defRPr sz="1800">
                <a:solidFill>
                  <a:srgbClr val="000000"/>
                </a:solidFill>
                <a:effectLst/>
              </a:defRPr>
            </a:pPr>
            <a:r>
              <a:rPr lang="pt-BR" sz="4300" dirty="0">
                <a:effectLst>
                  <a:outerShdw blurRad="101600" dist="12446" dir="3600000" rotWithShape="0">
                    <a:srgbClr val="000000">
                      <a:alpha val="30000"/>
                    </a:srgbClr>
                  </a:outerShdw>
                </a:effectLst>
              </a:rPr>
              <a:t>PARA UMA EMPRESA TER UM OTIMO RESULTADO, ELA NECESSITA COMPRAR BEM E VENDER BEM. ASSIM O LUCRO APARECE SEMPRE.</a:t>
            </a:r>
          </a:p>
          <a:p>
            <a:pPr marL="0" lvl="0" indent="0" defTabSz="896111">
              <a:lnSpc>
                <a:spcPct val="90000"/>
              </a:lnSpc>
              <a:spcBef>
                <a:spcPts val="1900"/>
              </a:spcBef>
              <a:buSzTx/>
              <a:buNone/>
              <a:defRPr sz="1800">
                <a:solidFill>
                  <a:srgbClr val="000000"/>
                </a:solidFill>
                <a:effectLst/>
              </a:defRPr>
            </a:pPr>
            <a:r>
              <a:rPr lang="pt-BR" sz="1700" b="1" dirty="0">
                <a:effectLst>
                  <a:outerShdw blurRad="101600" dist="12446" dir="3600000" rotWithShape="0">
                    <a:srgbClr val="000000">
                      <a:alpha val="30000"/>
                    </a:srgbClr>
                  </a:outerShdw>
                </a:effectLst>
              </a:rPr>
              <a:t>SAMUEL KLEIN – FUNDADOR DAS CASAS BAHIA</a:t>
            </a:r>
          </a:p>
          <a:p>
            <a:pPr marL="400050" lvl="1" indent="0">
              <a:spcBef>
                <a:spcPts val="600"/>
              </a:spcBef>
              <a:buSzPct val="100000"/>
              <a:buNone/>
              <a:defRPr sz="1800"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2083256245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Cacho</Template>
  <TotalTime>123</TotalTime>
  <Words>1442</Words>
  <Application>Microsoft Macintosh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Times New Roman</vt:lpstr>
      <vt:lpstr>Wingdings 3</vt:lpstr>
      <vt:lpstr>Cacho</vt:lpstr>
      <vt:lpstr>COMPRAS E RECEBIMENTO DE MATERIAIS</vt:lpstr>
      <vt:lpstr>DEPTO DE COMPRAS - FUNCIONAMENTO</vt:lpstr>
      <vt:lpstr>DEPTO DE COMPRAS - FUNCIONAMENTO</vt:lpstr>
      <vt:lpstr>DEPTO DE COMPRAS - FUNCIONAMENTO</vt:lpstr>
      <vt:lpstr>DEPTO DE COMPRAS - FUNCIONAMENTO</vt:lpstr>
      <vt:lpstr>DEPTO DE COMPRAS - RECEBIMENTOS</vt:lpstr>
      <vt:lpstr>DEPTO DE COMPRAS - RECEBIMENTOS</vt:lpstr>
      <vt:lpstr>DEPTO DE COMPRAS - RECEBIMENTOS</vt:lpstr>
      <vt:lpstr>DEPTO DE COMPRAS - RECEBIMENTOS</vt:lpstr>
      <vt:lpstr> RECEBIMENTOS DE LIQUIDOS</vt:lpstr>
      <vt:lpstr> RECEBIMENTOS DE LIQUIDOS</vt:lpstr>
      <vt:lpstr> OBSERVACOES GERAIS SOBRE O SISTEMA</vt:lpstr>
      <vt:lpstr> CONCLUSAO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COMPRAS E RECEBIMENTO DE MATERIAIS</dc:title>
  <dc:creator>EDGARD ALEXANDRE ROMANATO</dc:creator>
  <cp:lastModifiedBy>EDGARD ALEXANDRE ROMANATO</cp:lastModifiedBy>
  <cp:revision>3</cp:revision>
  <dcterms:created xsi:type="dcterms:W3CDTF">2022-04-04T12:01:35Z</dcterms:created>
  <dcterms:modified xsi:type="dcterms:W3CDTF">2022-04-04T18:33:03Z</dcterms:modified>
</cp:coreProperties>
</file>