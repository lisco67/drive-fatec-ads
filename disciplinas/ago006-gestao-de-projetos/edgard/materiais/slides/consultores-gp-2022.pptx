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lvl1pPr>
      <a:defRPr sz="2400">
        <a:latin typeface="+mn-lt"/>
        <a:ea typeface="+mn-ea"/>
        <a:cs typeface="+mn-cs"/>
        <a:sym typeface="Helvetica"/>
      </a:defRPr>
    </a:lvl1pPr>
    <a:lvl2pPr>
      <a:defRPr sz="2400">
        <a:latin typeface="+mn-lt"/>
        <a:ea typeface="+mn-ea"/>
        <a:cs typeface="+mn-cs"/>
        <a:sym typeface="Helvetica"/>
      </a:defRPr>
    </a:lvl2pPr>
    <a:lvl3pPr>
      <a:defRPr sz="2400">
        <a:latin typeface="+mn-lt"/>
        <a:ea typeface="+mn-ea"/>
        <a:cs typeface="+mn-cs"/>
        <a:sym typeface="Helvetica"/>
      </a:defRPr>
    </a:lvl3pPr>
    <a:lvl4pPr>
      <a:defRPr sz="2400">
        <a:latin typeface="+mn-lt"/>
        <a:ea typeface="+mn-ea"/>
        <a:cs typeface="+mn-cs"/>
        <a:sym typeface="Helvetica"/>
      </a:defRPr>
    </a:lvl4pPr>
    <a:lvl5pPr>
      <a:defRPr sz="2400">
        <a:latin typeface="+mn-lt"/>
        <a:ea typeface="+mn-ea"/>
        <a:cs typeface="+mn-cs"/>
        <a:sym typeface="Helvetica"/>
      </a:defRPr>
    </a:lvl5pPr>
    <a:lvl6pPr>
      <a:defRPr sz="2400">
        <a:latin typeface="+mn-lt"/>
        <a:ea typeface="+mn-ea"/>
        <a:cs typeface="+mn-cs"/>
        <a:sym typeface="Helvetica"/>
      </a:defRPr>
    </a:lvl6pPr>
    <a:lvl7pPr>
      <a:defRPr sz="2400">
        <a:latin typeface="+mn-lt"/>
        <a:ea typeface="+mn-ea"/>
        <a:cs typeface="+mn-cs"/>
        <a:sym typeface="Helvetica"/>
      </a:defRPr>
    </a:lvl7pPr>
    <a:lvl8pPr>
      <a:defRPr sz="2400">
        <a:latin typeface="+mn-lt"/>
        <a:ea typeface="+mn-ea"/>
        <a:cs typeface="+mn-cs"/>
        <a:sym typeface="Helvetica"/>
      </a:defRPr>
    </a:lvl8pPr>
    <a:lvl9pPr>
      <a:defRPr sz="2400">
        <a:latin typeface="+mn-lt"/>
        <a:ea typeface="+mn-ea"/>
        <a:cs typeface="+mn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Row>
  </a:tblStyle>
  <a:tblStyle styleId="{C7B018BB-80A7-4F77-B60F-C8B233D01FF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BDBDB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Row>
  </a:tblStyle>
  <a:tblStyle styleId="{EEE7283C-3CF3-47DC-8721-378D4A62B22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3CECE"/>
          </a:solidFill>
        </a:fill>
      </a:tcStyle>
    </a:wholeTbl>
    <a:band2H>
      <a:tcTxStyle/>
      <a:tcStyle>
        <a:tcBdr/>
        <a:fill>
          <a:solidFill>
            <a:srgbClr val="F1E8E8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AE4846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AE4846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AE4846"/>
          </a:solidFill>
        </a:fill>
      </a:tcStyle>
    </a:firstRow>
  </a:tblStyle>
  <a:tblStyle styleId="{CF821DB8-F4EB-4A41-A1BA-3FCAFE7338EE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Row>
  </a:tblStyle>
  <a:tblStyle styleId="{33BA23B1-9221-436E-865A-0063620EA4FD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5"/>
  </p:normalViewPr>
  <p:slideViewPr>
    <p:cSldViewPr snapToGrid="0" snapToObjects="1">
      <p:cViewPr varScale="1">
        <p:scale>
          <a:sx n="106" d="100"/>
          <a:sy n="106" d="100"/>
        </p:scale>
        <p:origin x="1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" name="Shape 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sldNum" sz="quarter" idx="2"/>
          </p:nvPr>
        </p:nvSpPr>
        <p:spPr>
          <a:xfrm>
            <a:off x="6553200" y="6404290"/>
            <a:ext cx="2133600" cy="2692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spAutoFit/>
          </a:bodyPr>
          <a:lstStyle>
            <a:lvl1pPr algn="r" defTabSz="457200"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algn="ctr" defTabSz="457200">
        <a:defRPr sz="4400">
          <a:latin typeface="Calibri"/>
          <a:ea typeface="Calibri"/>
          <a:cs typeface="Calibri"/>
          <a:sym typeface="Calibri"/>
        </a:defRPr>
      </a:lvl1pPr>
      <a:lvl2pPr algn="ctr" defTabSz="457200">
        <a:defRPr sz="4400">
          <a:latin typeface="Calibri"/>
          <a:ea typeface="Calibri"/>
          <a:cs typeface="Calibri"/>
          <a:sym typeface="Calibri"/>
        </a:defRPr>
      </a:lvl2pPr>
      <a:lvl3pPr algn="ctr" defTabSz="457200">
        <a:defRPr sz="4400">
          <a:latin typeface="Calibri"/>
          <a:ea typeface="Calibri"/>
          <a:cs typeface="Calibri"/>
          <a:sym typeface="Calibri"/>
        </a:defRPr>
      </a:lvl3pPr>
      <a:lvl4pPr algn="ctr" defTabSz="457200">
        <a:defRPr sz="4400">
          <a:latin typeface="Calibri"/>
          <a:ea typeface="Calibri"/>
          <a:cs typeface="Calibri"/>
          <a:sym typeface="Calibri"/>
        </a:defRPr>
      </a:lvl4pPr>
      <a:lvl5pPr algn="ctr" defTabSz="457200">
        <a:defRPr sz="4400">
          <a:latin typeface="Calibri"/>
          <a:ea typeface="Calibri"/>
          <a:cs typeface="Calibri"/>
          <a:sym typeface="Calibri"/>
        </a:defRPr>
      </a:lvl5pPr>
      <a:lvl6pPr algn="ctr" defTabSz="457200">
        <a:defRPr sz="4400">
          <a:latin typeface="Calibri"/>
          <a:ea typeface="Calibri"/>
          <a:cs typeface="Calibri"/>
          <a:sym typeface="Calibri"/>
        </a:defRPr>
      </a:lvl6pPr>
      <a:lvl7pPr algn="ctr" defTabSz="457200">
        <a:defRPr sz="4400">
          <a:latin typeface="Calibri"/>
          <a:ea typeface="Calibri"/>
          <a:cs typeface="Calibri"/>
          <a:sym typeface="Calibri"/>
        </a:defRPr>
      </a:lvl7pPr>
      <a:lvl8pPr algn="ctr" defTabSz="457200">
        <a:defRPr sz="4400">
          <a:latin typeface="Calibri"/>
          <a:ea typeface="Calibri"/>
          <a:cs typeface="Calibri"/>
          <a:sym typeface="Calibri"/>
        </a:defRPr>
      </a:lvl8pPr>
      <a:lvl9pPr algn="ctr" defTabSz="457200">
        <a:defRPr sz="4400">
          <a:latin typeface="Calibri"/>
          <a:ea typeface="Calibri"/>
          <a:cs typeface="Calibri"/>
          <a:sym typeface="Calibri"/>
        </a:defRPr>
      </a:lvl9pPr>
    </p:titleStyle>
    <p:bodyStyle>
      <a:lvl1pPr marL="342900" indent="-342900" defTabSz="457200">
        <a:spcBef>
          <a:spcPts val="700"/>
        </a:spcBef>
        <a:buSzPct val="100000"/>
        <a:buFont typeface="Arial"/>
        <a:buChar char="»"/>
        <a:defRPr sz="3200">
          <a:latin typeface="Calibri"/>
          <a:ea typeface="Calibri"/>
          <a:cs typeface="Calibri"/>
          <a:sym typeface="Calibri"/>
        </a:defRPr>
      </a:lvl1pPr>
      <a:lvl2pPr marL="783771" indent="-326571" defTabSz="457200">
        <a:spcBef>
          <a:spcPts val="700"/>
        </a:spcBef>
        <a:buSzPct val="100000"/>
        <a:buFont typeface="Arial"/>
        <a:buChar char="–"/>
        <a:defRPr sz="3200">
          <a:latin typeface="Calibri"/>
          <a:ea typeface="Calibri"/>
          <a:cs typeface="Calibri"/>
          <a:sym typeface="Calibri"/>
        </a:defRPr>
      </a:lvl2pPr>
      <a:lvl3pPr marL="1219200" indent="-304800" defTabSz="45720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3pPr>
      <a:lvl4pPr marL="1737360" indent="-365760" defTabSz="457200">
        <a:spcBef>
          <a:spcPts val="700"/>
        </a:spcBef>
        <a:buSzPct val="100000"/>
        <a:buFont typeface="Arial"/>
        <a:buChar char="–"/>
        <a:defRPr sz="3200">
          <a:latin typeface="Calibri"/>
          <a:ea typeface="Calibri"/>
          <a:cs typeface="Calibri"/>
          <a:sym typeface="Calibri"/>
        </a:defRPr>
      </a:lvl4pPr>
      <a:lvl5pPr marL="2235200" indent="-406400" defTabSz="457200">
        <a:spcBef>
          <a:spcPts val="700"/>
        </a:spcBef>
        <a:buSzPct val="100000"/>
        <a:buFont typeface="Arial"/>
        <a:buChar char="»"/>
        <a:defRPr sz="3200">
          <a:latin typeface="Calibri"/>
          <a:ea typeface="Calibri"/>
          <a:cs typeface="Calibri"/>
          <a:sym typeface="Calibri"/>
        </a:defRPr>
      </a:lvl5pPr>
      <a:lvl6pPr marL="2692400" indent="-406400" defTabSz="45720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6pPr>
      <a:lvl7pPr marL="3149600" indent="-406400" defTabSz="45720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7pPr>
      <a:lvl8pPr marL="3606800" indent="-406400" defTabSz="45720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8pPr>
      <a:lvl9pPr marL="4064000" indent="-406400" defTabSz="45720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9pPr>
    </p:bodyStyle>
    <p:otherStyle>
      <a:lvl1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1pPr>
      <a:lvl2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2pPr>
      <a:lvl3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3pPr>
      <a:lvl4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4pPr>
      <a:lvl5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5pPr>
      <a:lvl6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6pPr>
      <a:lvl7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7pPr>
      <a:lvl8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8pPr>
      <a:lvl9pPr algn="r" defTabSz="457200">
        <a:defRPr sz="1200">
          <a:solidFill>
            <a:schemeClr val="tx1"/>
          </a:solidFill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2C3FF"/>
            </a:gs>
            <a:gs pos="35000">
              <a:srgbClr val="BDD4FF"/>
            </a:gs>
            <a:gs pos="100000">
              <a:srgbClr val="E6EEFF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/>
          </p:cNvSpPr>
          <p:nvPr>
            <p:ph type="body" idx="4294967295"/>
          </p:nvPr>
        </p:nvSpPr>
        <p:spPr>
          <a:xfrm>
            <a:off x="639762" y="912808"/>
            <a:ext cx="7772401" cy="4114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lnSpc>
                <a:spcPct val="90000"/>
              </a:lnSpc>
              <a:spcBef>
                <a:spcPts val="1400"/>
              </a:spcBef>
              <a:buSzTx/>
              <a:buNone/>
              <a:defRPr sz="1800"/>
            </a:pPr>
            <a:r>
              <a:rPr sz="6100" i="1"/>
              <a:t>   CONSULTORIA          		EXTERNA      </a:t>
            </a:r>
          </a:p>
          <a:p>
            <a:pPr lvl="0">
              <a:lnSpc>
                <a:spcPct val="90000"/>
              </a:lnSpc>
              <a:spcBef>
                <a:spcPts val="1400"/>
              </a:spcBef>
              <a:buSzTx/>
              <a:buNone/>
              <a:defRPr sz="1800"/>
            </a:pPr>
            <a:r>
              <a:rPr sz="6100" i="1"/>
              <a:t>					X</a:t>
            </a:r>
          </a:p>
          <a:p>
            <a:pPr lvl="0">
              <a:lnSpc>
                <a:spcPct val="90000"/>
              </a:lnSpc>
              <a:spcBef>
                <a:spcPts val="1400"/>
              </a:spcBef>
              <a:buSzTx/>
              <a:buNone/>
              <a:defRPr sz="1800"/>
            </a:pPr>
            <a:r>
              <a:rPr sz="6100" i="1"/>
              <a:t>EQUIPE  INTERNA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4400"/>
              <a:t>INTRODUÇÃO 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idx="4294967295"/>
          </p:nvPr>
        </p:nvSpPr>
        <p:spPr>
          <a:xfrm>
            <a:off x="611186" y="2060575"/>
            <a:ext cx="8351840" cy="439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0" lvl="1" indent="228600">
              <a:lnSpc>
                <a:spcPct val="90000"/>
              </a:lnSpc>
              <a:spcBef>
                <a:spcPts val="900"/>
              </a:spcBef>
              <a:buSzTx/>
              <a:buNone/>
              <a:defRPr sz="1800"/>
            </a:pPr>
            <a:r>
              <a:rPr sz="4000"/>
              <a:t>A maioria das Empresas de prestação de serviços, chama seus funcionários de consultores pois eh simplesmente uma maneira de cobrar mais caro pela mao de obra oferecida.</a:t>
            </a: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4400"/>
              <a:t>INTRODUÇÃO 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4294967295"/>
          </p:nvPr>
        </p:nvSpPr>
        <p:spPr>
          <a:xfrm>
            <a:off x="396080" y="1338957"/>
            <a:ext cx="8351840" cy="447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0" lvl="1" indent="457200">
              <a:lnSpc>
                <a:spcPct val="90000"/>
              </a:lnSpc>
              <a:spcBef>
                <a:spcPts val="900"/>
              </a:spcBef>
              <a:buSzTx/>
              <a:buNone/>
              <a:defRPr sz="1800"/>
            </a:pPr>
            <a:r>
              <a:rPr sz="4000"/>
              <a:t>Consultor vem para resolver um problema da Empresa ou ajudar a resolve-lo.</a:t>
            </a:r>
          </a:p>
          <a:p>
            <a:pPr marL="0" lvl="1" indent="457200">
              <a:lnSpc>
                <a:spcPct val="90000"/>
              </a:lnSpc>
              <a:spcBef>
                <a:spcPts val="900"/>
              </a:spcBef>
              <a:buSzTx/>
              <a:buNone/>
              <a:defRPr sz="1800"/>
            </a:pPr>
            <a:r>
              <a:rPr sz="4000"/>
              <a:t>P Serviço vem como mao de obra barata e atua na área operacional Ex. Problemas de programas</a:t>
            </a:r>
          </a:p>
          <a:p>
            <a:pPr marL="0" lvl="1" indent="685800">
              <a:lnSpc>
                <a:spcPct val="90000"/>
              </a:lnSpc>
              <a:spcBef>
                <a:spcPts val="900"/>
              </a:spcBef>
              <a:buSzTx/>
              <a:buNone/>
              <a:defRPr sz="1800"/>
            </a:pPr>
            <a:r>
              <a:rPr sz="4000"/>
              <a:t>       Manutenções, etc.</a:t>
            </a: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4400"/>
              <a:t>INTRODUÇÃO 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idx="4294967295"/>
          </p:nvPr>
        </p:nvSpPr>
        <p:spPr>
          <a:xfrm>
            <a:off x="323850" y="2060575"/>
            <a:ext cx="8639175" cy="439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0" lvl="1" indent="457200">
              <a:lnSpc>
                <a:spcPct val="90000"/>
              </a:lnSpc>
              <a:spcBef>
                <a:spcPts val="900"/>
              </a:spcBef>
              <a:buSzTx/>
              <a:buNone/>
              <a:defRPr sz="1800"/>
            </a:pPr>
            <a:r>
              <a:rPr sz="4000"/>
              <a:t>DIFERENÇA = o consultor tem muito mais experiência e atua junto a Diretoria ou área com o problema. Tem autonomia e pode sugerir mudanças.</a:t>
            </a:r>
          </a:p>
          <a:p>
            <a:pPr marL="0" lvl="1" indent="457200">
              <a:lnSpc>
                <a:spcPct val="90000"/>
              </a:lnSpc>
              <a:spcBef>
                <a:spcPts val="900"/>
              </a:spcBef>
              <a:buSzTx/>
              <a:buNone/>
              <a:defRPr sz="1800"/>
            </a:pPr>
            <a:r>
              <a:rPr sz="4000"/>
              <a:t>O P S = faz o que lhe mandam fazer e pouco conhece da Empresa</a:t>
            </a: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4400"/>
              <a:t>ESTRATEGIA DO CONSULTOR</a:t>
            </a:r>
          </a:p>
        </p:txBody>
      </p:sp>
      <p:sp>
        <p:nvSpPr>
          <p:cNvPr id="21" name="Shape 21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92633" lvl="0" indent="-292633" defTabSz="443573">
              <a:spcBef>
                <a:spcPts val="300"/>
              </a:spcBef>
              <a:buFontTx/>
              <a:buAutoNum type="arabicParenR"/>
              <a:defRPr sz="1800"/>
            </a:pPr>
            <a:r>
              <a:t>– </a:t>
            </a:r>
            <a:r>
              <a:rPr b="1"/>
              <a:t>B</a:t>
            </a:r>
            <a:r>
              <a:rPr sz="2000" b="1"/>
              <a:t>USCA INFORMAÇÃO </a:t>
            </a:r>
            <a:r>
              <a:rPr sz="2000"/>
              <a:t>– DESENVOLVE E AVALIA SEMPRE ALTERNATIVAS DE ACAO COM BASE EM HIPÓTESES LÓGICAS, FATOS, RESTRIÇÕES DE RECURSOS E VALOR ORGANIZACIONAL, EM SEGUIDA PLANEJA UMA ACAO QUE IRA RESULTAR EM ATIVIDADES OPERACIONAIS.</a:t>
            </a:r>
          </a:p>
          <a:p>
            <a:pPr marL="342262" lvl="0" indent="-342262" defTabSz="443573">
              <a:spcBef>
                <a:spcPts val="300"/>
              </a:spcBef>
              <a:buFontTx/>
              <a:buAutoNum type="arabicParenR" startAt="2"/>
              <a:defRPr sz="1800"/>
            </a:pPr>
            <a:r>
              <a:rPr sz="2000" b="1"/>
              <a:t>INVESTIGA QUESTÕES ESSENCIAIS </a:t>
            </a:r>
            <a:r>
              <a:rPr sz="2000"/>
              <a:t>– ORGANIZA INFORMAÇÃO E DADOS RELEVANTES PARA EXPLICAR/IDENTIFICAR TENDÊNCIAS, PROBLEMAS E SUAS CAUSAS, COMPARA, CONTRASTA E COMBINA INFORMAÇÕES. AVALIA A LIGAÇÃO ENTRE PROBLEMAS E ACONTECIMENTOS DIVERSOS PARA TENTAR IDENTIFICAR UMA RELAÇÃO CAUSA E EFEITO.</a:t>
            </a:r>
          </a:p>
          <a:p>
            <a:pPr marL="342262" lvl="0" indent="-342262" defTabSz="443573">
              <a:spcBef>
                <a:spcPts val="300"/>
              </a:spcBef>
              <a:buFontTx/>
              <a:buAutoNum type="arabicParenR" startAt="2"/>
              <a:defRPr sz="1800"/>
            </a:pPr>
            <a:r>
              <a:rPr sz="2000" b="1"/>
              <a:t>USA DADOS COM EFICÁCIA </a:t>
            </a:r>
            <a:r>
              <a:rPr sz="2000"/>
              <a:t>– ANALISA DADOS QUANTITATIVOS (INCLUINDO INFORMAÇÃO FINANCEIRA, GRÁFICA, DE PRODUÇÃO, ETC) ISSO PARA EXPLICAR TENDÊNCIAS, PROBLEMAS E SUAS CAUSAS.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4400"/>
              <a:t>ESTRATEGIA DO CONSULTOR</a:t>
            </a:r>
          </a:p>
        </p:txBody>
      </p:sp>
      <p:sp>
        <p:nvSpPr>
          <p:cNvPr id="24" name="Shape 24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spcBef>
                <a:spcPts val="400"/>
              </a:spcBef>
              <a:buSzTx/>
              <a:buNone/>
              <a:defRPr sz="1800"/>
            </a:pPr>
            <a:r>
              <a:rPr sz="2000" b="1"/>
              <a:t>4) – SELECIONA ACOES SEGURAS – </a:t>
            </a:r>
            <a:r>
              <a:rPr sz="2000"/>
              <a:t>ENCORAJA O CLIENTE E OUTROS A CRIAREM OPCOES PARA A ACAO A SER TOMADA. ANALISA O IMPACTO SOBRE OS CLIENTES, FUNCIONÁRIOS, EMPRESA. CONSIDERA OPORTUNIDADES E RISCOS, ANTES DE SUGERIR A DECISÃO FINAL.</a:t>
            </a:r>
          </a:p>
          <a:p>
            <a:pPr marL="0" lvl="0" indent="0">
              <a:spcBef>
                <a:spcPts val="400"/>
              </a:spcBef>
              <a:buSzTx/>
              <a:buNone/>
              <a:defRPr sz="1800"/>
            </a:pPr>
            <a:r>
              <a:rPr sz="2000" b="1"/>
              <a:t>5) – GANHA COMPROMETIMENTO – </a:t>
            </a:r>
            <a:r>
              <a:rPr sz="2000"/>
              <a:t>ENVOLVE TODOS OS AFETADOS PELA DECISÃO DE UMA MANEIRA QUE DEMONSTRE COMPREENSÃO DE SUAS DE SUAS NECESSIDADES, GANHANDO O COMPROMETIMENTO DESTES PARA APOIAR A ESCOLHA FEITA.</a:t>
            </a:r>
          </a:p>
          <a:p>
            <a:pPr marL="0" lvl="0" indent="0">
              <a:spcBef>
                <a:spcPts val="400"/>
              </a:spcBef>
              <a:buSzTx/>
              <a:buNone/>
              <a:defRPr sz="1800"/>
            </a:pPr>
            <a:r>
              <a:rPr sz="2000" b="1"/>
              <a:t>6) – ESTABELECE METAS – </a:t>
            </a:r>
            <a:r>
              <a:rPr sz="2000"/>
              <a:t>DESAFIA A SI MESMO E OS OUTROS A CONSEGUIR RESULTADOS. AUMENTA OS OBSTÁCULOS DE FORMA A FAZER COM QUE O DESEMPENHO SEJA O MAIS ELABORADO POSSÍVEL.</a:t>
            </a:r>
          </a:p>
          <a:p>
            <a:pPr marL="0" lvl="0" indent="0">
              <a:spcBef>
                <a:spcPts val="400"/>
              </a:spcBef>
              <a:buSzTx/>
              <a:buNone/>
              <a:defRPr sz="1800"/>
            </a:pPr>
            <a:r>
              <a:rPr sz="2000" b="1"/>
              <a:t>7) – DEMONSTRA ENERGIA PESSOAL – </a:t>
            </a:r>
            <a:r>
              <a:rPr sz="2000"/>
              <a:t>DEMONSTRA PUBLICAMENTE PRAZER EM ATINGIR METAS RELACIONADAS A RESULTADOS DE ALTO DESEMPENHO.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38911">
              <a:defRPr sz="4200"/>
            </a:lvl1pPr>
          </a:lstStyle>
          <a:p>
            <a:pPr lvl="0">
              <a:defRPr sz="1800"/>
            </a:pPr>
            <a:r>
              <a:rPr sz="4200"/>
              <a:t>CARACTERÍSTICAS DO CONSULTOR</a:t>
            </a:r>
          </a:p>
        </p:txBody>
      </p:sp>
      <p:sp>
        <p:nvSpPr>
          <p:cNvPr id="27" name="Shape 27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PREPARA-SE PARA MUDANÇA E APRENDE COM A MUDANÇA.</a:t>
            </a:r>
          </a:p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BUSCA OPORTUNIDADES DE MUDANÇAS.</a:t>
            </a:r>
          </a:p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BUSCA IDEIAS NOVAS</a:t>
            </a:r>
          </a:p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PREMIA A MUDANÇA</a:t>
            </a:r>
          </a:p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SUPERA A RESISTÊNCIA A MUDANÇAS</a:t>
            </a:r>
          </a:p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DESENVOLVE TALENTO DE LIDERANÇA</a:t>
            </a:r>
          </a:p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ESTIMULA A COMUNICAÇÃO ABERTA</a:t>
            </a:r>
          </a:p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ESCLARECE COMO DEVE SER O DESEMPENHO DAS PESSOAS</a:t>
            </a:r>
          </a:p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DEFINE PARÂMETROS DE TRABALHO E DESEMPENHO</a:t>
            </a:r>
          </a:p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DA APOIO SEM EXIMIR-SE DA RESPONSABILIDADE</a:t>
            </a:r>
          </a:p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MANTEN-SE INFORMADO SEMPRE</a:t>
            </a:r>
          </a:p>
          <a:p>
            <a:pPr marL="435526" lvl="0" indent="-435526">
              <a:spcBef>
                <a:spcPts val="400"/>
              </a:spcBef>
              <a:buFontTx/>
              <a:buAutoNum type="arabicPeriod"/>
              <a:defRPr sz="1800"/>
            </a:pPr>
            <a:r>
              <a:rPr sz="2000" b="1"/>
              <a:t>DEMONSTRA DISCERNIMENTO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4400"/>
              <a:t>PRESTADORES SERVIÇO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marL="0" indent="0">
              <a:buSzTx/>
              <a:buNone/>
            </a:lvl1pPr>
          </a:lstStyle>
          <a:p>
            <a:pPr lvl="0">
              <a:defRPr sz="1800"/>
            </a:pPr>
            <a:r>
              <a:rPr sz="3200"/>
              <a:t>Qualquer empresa que forneça mão de obra para a execução de trabalhos dentro ou fora de uma empresa, arcando com todas as obrigações trabalhistas de seus funcionários. O vinculo com a contratante é mantido por contrato, que pode ou não ser renovado pela contratante.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06908">
              <a:defRPr sz="3500"/>
            </a:lvl1pPr>
          </a:lstStyle>
          <a:p>
            <a:pPr lvl="0">
              <a:defRPr sz="1800"/>
            </a:pPr>
            <a:r>
              <a:rPr sz="3500"/>
              <a:t>ANTES DE  CONTRATAR  UMA  CONSULTORIA</a:t>
            </a:r>
          </a:p>
        </p:txBody>
      </p:sp>
      <p:sp>
        <p:nvSpPr>
          <p:cNvPr id="33" name="Shape 33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buSzTx/>
              <a:buNone/>
              <a:defRPr sz="1800"/>
            </a:pPr>
            <a:r>
              <a:rPr sz="2900"/>
              <a:t>PREPARAÇÃO  DAS  PESSOAS  ENVOLVIDAS</a:t>
            </a:r>
          </a:p>
          <a:p>
            <a:pPr marL="0" lvl="0" indent="0">
              <a:buSzTx/>
              <a:buNone/>
              <a:defRPr sz="1800"/>
            </a:pPr>
            <a:endParaRPr sz="2900"/>
          </a:p>
          <a:p>
            <a:pPr marL="0" lvl="0" indent="0">
              <a:buSzTx/>
              <a:buNone/>
              <a:defRPr sz="1800"/>
            </a:pPr>
            <a:r>
              <a:rPr sz="2900"/>
              <a:t>DEFINIR  OS  RESULTADOS  ESPERADOS</a:t>
            </a:r>
          </a:p>
          <a:p>
            <a:pPr marL="0" lvl="0" indent="0">
              <a:buSzTx/>
              <a:buNone/>
              <a:defRPr sz="1800"/>
            </a:pPr>
            <a:endParaRPr sz="2900"/>
          </a:p>
          <a:p>
            <a:pPr marL="0" lvl="0" indent="0">
              <a:buSzTx/>
              <a:buNone/>
              <a:defRPr sz="1800"/>
            </a:pPr>
            <a:r>
              <a:rPr sz="2900"/>
              <a:t>CONFIANÇA  NA  EQUIPE  DE TRABALHO</a:t>
            </a:r>
          </a:p>
          <a:p>
            <a:pPr marL="0" lvl="0" indent="0">
              <a:buSzTx/>
              <a:buNone/>
              <a:defRPr sz="1800"/>
            </a:pPr>
            <a:endParaRPr sz="2900"/>
          </a:p>
          <a:p>
            <a:pPr marL="0" lvl="0" indent="0">
              <a:buSzTx/>
              <a:buNone/>
              <a:defRPr sz="1800"/>
            </a:pPr>
            <a:r>
              <a:rPr sz="2900"/>
              <a:t>EXPÔR  CLARAMENTE OS  OBJETIVOS  A  EQUIPE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1" build="p" bldLvl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06908">
              <a:defRPr sz="3500"/>
            </a:lvl1pPr>
          </a:lstStyle>
          <a:p>
            <a:pPr lvl="0">
              <a:defRPr sz="1800"/>
            </a:pPr>
            <a:r>
              <a:rPr sz="3500"/>
              <a:t>ANTES DE  CONTRATAR  UMA  CONSULTORIA</a:t>
            </a:r>
          </a:p>
        </p:txBody>
      </p:sp>
      <p:sp>
        <p:nvSpPr>
          <p:cNvPr id="36" name="Shape 36"/>
          <p:cNvSpPr>
            <a:spLocks noGrp="1"/>
          </p:cNvSpPr>
          <p:nvPr>
            <p:ph type="body" idx="4294967295"/>
          </p:nvPr>
        </p:nvSpPr>
        <p:spPr>
          <a:xfrm>
            <a:off x="114300" y="13589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 defTabSz="448055">
              <a:buSzTx/>
              <a:buNone/>
              <a:defRPr sz="1800"/>
            </a:pPr>
            <a:r>
              <a:rPr sz="2700" dirty="0"/>
              <a:t>AS PESSOAS DEVEM SER PREVIAMENTE AVISADAS SEMPRE. </a:t>
            </a:r>
          </a:p>
          <a:p>
            <a:pPr marL="0" lvl="0" indent="0" defTabSz="448055">
              <a:buSzTx/>
              <a:buNone/>
              <a:defRPr sz="1800"/>
            </a:pPr>
            <a:r>
              <a:rPr sz="2700" dirty="0"/>
              <a:t>COM ESTA ATITUDE ESTAREMOS EVITANDO SURPRESAS DESAGRADÁVEIS OU POSSÍVEIS DESAVENÇAS ENTRE AS EQUIPES ENVOLVIDAS NO PROJETO.</a:t>
            </a:r>
          </a:p>
          <a:p>
            <a:pPr marL="0" lvl="0" indent="0" defTabSz="448055">
              <a:buSzTx/>
              <a:buNone/>
              <a:defRPr sz="1800"/>
            </a:pPr>
            <a:endParaRPr sz="27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1" build="p" bldLvl="5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06908">
              <a:defRPr sz="3500"/>
            </a:lvl1pPr>
          </a:lstStyle>
          <a:p>
            <a:pPr lvl="0">
              <a:defRPr sz="1800"/>
            </a:pPr>
            <a:r>
              <a:rPr sz="3500"/>
              <a:t>POR QUE CONTRATAR UMA CONSULTORIA ?</a:t>
            </a:r>
          </a:p>
        </p:txBody>
      </p:sp>
      <p:sp>
        <p:nvSpPr>
          <p:cNvPr id="39" name="Shape 39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0" lvl="0" indent="0">
              <a:buSzTx/>
              <a:buNone/>
              <a:defRPr sz="1800"/>
            </a:pPr>
            <a:r>
              <a:rPr sz="2400"/>
              <a:t>PARA  A  EMPRESA  MANTER  UMA  POSIÇÃO  DE   DESTAQUE</a:t>
            </a:r>
          </a:p>
          <a:p>
            <a:pPr marL="0" lvl="0" indent="0">
              <a:buSzTx/>
              <a:buNone/>
              <a:defRPr sz="1800"/>
            </a:pPr>
            <a:endParaRPr sz="2400"/>
          </a:p>
          <a:p>
            <a:pPr marL="0" lvl="0" indent="0">
              <a:buSzTx/>
              <a:buNone/>
              <a:defRPr sz="1800"/>
            </a:pPr>
            <a:r>
              <a:rPr sz="2400"/>
              <a:t>PARA   A  EMPRESA   MELHORAR  SUA    PERFORMANCE</a:t>
            </a:r>
          </a:p>
          <a:p>
            <a:pPr marL="0" lvl="0" indent="0">
              <a:buSzTx/>
              <a:buNone/>
              <a:defRPr sz="1800"/>
            </a:pPr>
            <a:endParaRPr sz="2400"/>
          </a:p>
          <a:p>
            <a:pPr marL="0" lvl="0" indent="0">
              <a:buSzTx/>
              <a:buNone/>
              <a:defRPr sz="1800"/>
            </a:pPr>
            <a:r>
              <a:rPr sz="2400"/>
              <a:t>PARA  A  EMPRESA   REVERTER UMA   SITUAÇÃO  ADVERSA</a:t>
            </a:r>
          </a:p>
          <a:p>
            <a:pPr marL="0" lvl="0" indent="0">
              <a:buSzTx/>
              <a:buNone/>
              <a:defRPr sz="1800"/>
            </a:pPr>
            <a:r>
              <a:rPr sz="2400"/>
              <a:t>OU  PARA ? ? 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1" build="p" bldLvl="5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06908">
              <a:defRPr sz="3500"/>
            </a:lvl1pPr>
          </a:lstStyle>
          <a:p>
            <a:pPr lvl="0">
              <a:defRPr sz="1800"/>
            </a:pPr>
            <a:r>
              <a:rPr sz="3500"/>
              <a:t>POR QUE CONTRATAR UMA CONSULTORIA ?</a:t>
            </a:r>
          </a:p>
        </p:txBody>
      </p:sp>
      <p:sp>
        <p:nvSpPr>
          <p:cNvPr id="42" name="Shape 42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F</a:t>
            </a:r>
            <a:r>
              <a:rPr lang="pt-BR" sz="3200" dirty="0" err="1"/>
              <a:t>i</a:t>
            </a:r>
            <a:r>
              <a:rPr sz="2500" dirty="0"/>
              <a:t>RMAR UMA POSIÇÃO JUNTO A DIRETORIA (PROMOÇÃO PESSOAL)</a:t>
            </a:r>
          </a:p>
          <a:p>
            <a:pPr marL="457200" lvl="0" indent="-457200">
              <a:buSzTx/>
              <a:buFont typeface="+mj-lt"/>
              <a:buAutoNum type="arabicPeriod"/>
              <a:defRPr sz="1800"/>
            </a:pPr>
            <a:r>
              <a:rPr sz="2500" dirty="0"/>
              <a:t>ARRUMAR  UM  CULPADO</a:t>
            </a:r>
          </a:p>
          <a:p>
            <a:pPr marL="457200" lvl="0" indent="-457200">
              <a:buSzTx/>
              <a:buFont typeface="+mj-lt"/>
              <a:buAutoNum type="arabicPeriod"/>
              <a:defRPr sz="1800"/>
            </a:pPr>
            <a:r>
              <a:rPr sz="2500" dirty="0"/>
              <a:t>ATINGIR OUTRO DEPARTAMENTO</a:t>
            </a:r>
          </a:p>
          <a:p>
            <a:pPr marL="457200" lvl="0" indent="-457200">
              <a:buSzTx/>
              <a:buFont typeface="+mj-lt"/>
              <a:buAutoNum type="arabicPeriod"/>
              <a:defRPr sz="1800"/>
            </a:pPr>
            <a:r>
              <a:rPr sz="2500" dirty="0"/>
              <a:t>ELIMINAR  FUNCIONÁRIOS</a:t>
            </a:r>
          </a:p>
          <a:p>
            <a:pPr marL="457200" lvl="0" indent="-457200">
              <a:buSzTx/>
              <a:buFont typeface="+mj-lt"/>
              <a:buAutoNum type="arabicPeriod"/>
              <a:defRPr sz="1800"/>
            </a:pPr>
            <a:r>
              <a:rPr sz="2500" dirty="0"/>
              <a:t>ARRUMAR  A  CASA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1" build="p" bldLvl="5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4000"/>
            </a:lvl1pPr>
          </a:lstStyle>
          <a:p>
            <a:pPr lvl="0">
              <a:defRPr sz="1800"/>
            </a:pPr>
            <a:r>
              <a:rPr sz="4000"/>
              <a:t>   O    AMBIENTE   DE   TRABALHO</a:t>
            </a:r>
          </a:p>
        </p:txBody>
      </p:sp>
      <p:sp>
        <p:nvSpPr>
          <p:cNvPr id="45" name="Shape 45"/>
          <p:cNvSpPr>
            <a:spLocks noGrp="1"/>
          </p:cNvSpPr>
          <p:nvPr>
            <p:ph type="body" idx="4294967295"/>
          </p:nvPr>
        </p:nvSpPr>
        <p:spPr>
          <a:xfrm>
            <a:off x="215900" y="13589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DESCONFIANÇA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DESCONFORTO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MEDO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QUEBRA   DE  ROTINAS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BAIXA   NA  PRODUTIVIDADE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TENDÊNCIA  A  FOFOCAS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DIVERGÊNCIAS  PESSOAIS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 build="p" bldLvl="5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06908">
              <a:defRPr sz="3500"/>
            </a:lvl1pPr>
          </a:lstStyle>
          <a:p>
            <a:pPr lvl="0">
              <a:defRPr sz="1800"/>
            </a:pPr>
            <a:r>
              <a:rPr sz="3500"/>
              <a:t> A   POSTURA   DOS	 CONSULTORES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ARROGANTE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AMIGA, BEM INTENCIONADA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FALSA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MERCENÁRIA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RADICAL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1" build="p" bldLvl="5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4000"/>
            </a:lvl1pPr>
          </a:lstStyle>
          <a:p>
            <a:pPr lvl="0">
              <a:defRPr sz="1800"/>
            </a:pPr>
            <a:r>
              <a:rPr sz="4000"/>
              <a:t>METODOLOGIAS DIFERENCIADAS</a:t>
            </a:r>
          </a:p>
        </p:txBody>
      </p:sp>
      <p:sp>
        <p:nvSpPr>
          <p:cNvPr id="51" name="Shape 51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DIFÍCIL ADAPTAÇÃO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PROBLEMAS DE RELACIONAMENTO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DISPUTA  PELA   RAZÃO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BOICOTES  INTENCIONAIS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ATRASOS  DIVERSOS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ENFOQUES  ADVERSOS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1" build="p" bldLvl="5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4000"/>
            </a:lvl1pPr>
          </a:lstStyle>
          <a:p>
            <a:pPr lvl="0">
              <a:defRPr sz="1800"/>
            </a:pPr>
            <a:r>
              <a:rPr sz="4000"/>
              <a:t>A ABRANGÊNCIA  DO TRABALHO</a:t>
            </a:r>
          </a:p>
        </p:txBody>
      </p:sp>
      <p:sp>
        <p:nvSpPr>
          <p:cNvPr id="54" name="Shape 54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O PRAZO  COMBINADO COM A  DIREÇÃO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O TEMPO  NECESSÁRIO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A  PERFUMARIA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A  GERAÇÃO SUPÉRFLUA DE PAPEL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A OBTENÇÃO </a:t>
            </a:r>
            <a:r>
              <a:rPr sz="3200" dirty="0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sz="3200" dirty="0"/>
              <a:t>FÁCIL</a:t>
            </a:r>
            <a:r>
              <a:rPr sz="3200" dirty="0"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sz="3200" dirty="0"/>
              <a:t> DE  RESULTADOS  DIFÍCEIS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1" build="p" bldLvl="5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11479">
              <a:defRPr sz="3600"/>
            </a:lvl1pPr>
          </a:lstStyle>
          <a:p>
            <a:pPr lvl="0">
              <a:defRPr sz="1800"/>
            </a:pPr>
            <a:r>
              <a:rPr sz="3600"/>
              <a:t>A  APRESENTAÇÃO   DOS 		RESULTADOS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INFRA-ESTRUTURA  DA CONSULTORIA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POSICIONAMENTO  DOS CONSULTORES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A FALTA  DE CORAGEM DOS QUE PRECISAM  MANTER O EMPREGO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A DISPOSIÇÃO  DA  PLATÉIA EM ACEITAR  AS  MUDANÇAS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1" build="p" bldLvl="5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4400"/>
              <a:t>A VOLTA  AO  DIA  A DIA</a:t>
            </a:r>
          </a:p>
        </p:txBody>
      </p:sp>
      <p:sp>
        <p:nvSpPr>
          <p:cNvPr id="60" name="Shape 60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OS  COMPROMISSOS  ASSUMIDOS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O  NOVO RELACIONAMENTO  COM OS USUÁRIOS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REALIDADE   X   EXPECTATIVAS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HERANÇAS  HERDADAS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RECONQUISTA  DOS  ANTIGOS  PARCEIROS</a:t>
            </a:r>
          </a:p>
          <a:p>
            <a:pPr marL="514350" lvl="0" indent="-514350">
              <a:buSzTx/>
              <a:buFont typeface="+mj-lt"/>
              <a:buAutoNum type="arabicPeriod"/>
              <a:defRPr sz="1800"/>
            </a:pPr>
            <a:r>
              <a:rPr sz="3200" dirty="0"/>
              <a:t>O NOVO AMBIENTE DE TRABALHO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1" build="p" bldLvl="5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4400"/>
              <a:t>VANTAGENS:</a:t>
            </a:r>
          </a:p>
        </p:txBody>
      </p:sp>
      <p:sp>
        <p:nvSpPr>
          <p:cNvPr id="63" name="Shape 63"/>
          <p:cNvSpPr>
            <a:spLocks noGrp="1"/>
          </p:cNvSpPr>
          <p:nvPr>
            <p:ph type="body" idx="4294967295"/>
          </p:nvPr>
        </p:nvSpPr>
        <p:spPr>
          <a:xfrm>
            <a:off x="685800" y="1676400"/>
            <a:ext cx="8077200" cy="455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514350" lvl="2" indent="-514350">
              <a:buSzTx/>
              <a:buFont typeface="+mj-lt"/>
              <a:buAutoNum type="arabicPeriod"/>
              <a:defRPr sz="1800"/>
            </a:pPr>
            <a:r>
              <a:rPr sz="3200" dirty="0" err="1"/>
              <a:t>Visão</a:t>
            </a:r>
            <a:r>
              <a:rPr sz="3200" dirty="0"/>
              <a:t> </a:t>
            </a:r>
            <a:r>
              <a:rPr sz="3200" dirty="0" err="1"/>
              <a:t>Diferenciada</a:t>
            </a:r>
            <a:r>
              <a:rPr sz="3200" dirty="0"/>
              <a:t> Dos </a:t>
            </a:r>
            <a:r>
              <a:rPr sz="3200" dirty="0" err="1"/>
              <a:t>Problemas</a:t>
            </a:r>
            <a:endParaRPr sz="3200" dirty="0"/>
          </a:p>
          <a:p>
            <a:pPr marL="514350" lvl="2" indent="-514350">
              <a:buSzTx/>
              <a:buFont typeface="+mj-lt"/>
              <a:buAutoNum type="arabicPeriod"/>
              <a:defRPr sz="1800"/>
            </a:pPr>
            <a:r>
              <a:rPr sz="3200" dirty="0"/>
              <a:t> </a:t>
            </a:r>
            <a:r>
              <a:rPr sz="3200" dirty="0" err="1"/>
              <a:t>Inserção</a:t>
            </a:r>
            <a:r>
              <a:rPr sz="3200" dirty="0"/>
              <a:t> De </a:t>
            </a:r>
            <a:r>
              <a:rPr sz="3200" dirty="0" err="1"/>
              <a:t>Novas</a:t>
            </a:r>
            <a:r>
              <a:rPr sz="3200" dirty="0"/>
              <a:t> </a:t>
            </a:r>
            <a:r>
              <a:rPr sz="3200" dirty="0" err="1"/>
              <a:t>Idéias</a:t>
            </a:r>
            <a:endParaRPr sz="3200" dirty="0"/>
          </a:p>
          <a:p>
            <a:pPr marL="514350" lvl="2" indent="-514350">
              <a:buSzTx/>
              <a:buFont typeface="+mj-lt"/>
              <a:buAutoNum type="arabicPeriod"/>
              <a:defRPr sz="1800"/>
            </a:pPr>
            <a:r>
              <a:rPr sz="3200" dirty="0"/>
              <a:t> </a:t>
            </a:r>
            <a:r>
              <a:rPr sz="3200" dirty="0" err="1"/>
              <a:t>Maior</a:t>
            </a:r>
            <a:r>
              <a:rPr sz="3200" dirty="0"/>
              <a:t> </a:t>
            </a:r>
            <a:r>
              <a:rPr sz="3200" dirty="0" err="1"/>
              <a:t>Força</a:t>
            </a:r>
            <a:r>
              <a:rPr sz="3200" dirty="0"/>
              <a:t> De </a:t>
            </a:r>
            <a:r>
              <a:rPr sz="3200" dirty="0" err="1"/>
              <a:t>Trabalho</a:t>
            </a:r>
            <a:endParaRPr sz="3200" dirty="0"/>
          </a:p>
          <a:p>
            <a:pPr marL="514350" lvl="2" indent="-514350">
              <a:buSzTx/>
              <a:buFont typeface="+mj-lt"/>
              <a:buAutoNum type="arabicPeriod"/>
              <a:defRPr sz="1800"/>
            </a:pPr>
            <a:r>
              <a:rPr sz="3200" dirty="0"/>
              <a:t> </a:t>
            </a:r>
            <a:r>
              <a:rPr sz="3200" dirty="0" err="1"/>
              <a:t>Revisão</a:t>
            </a:r>
            <a:r>
              <a:rPr sz="3200" dirty="0"/>
              <a:t> De </a:t>
            </a:r>
            <a:r>
              <a:rPr sz="3200" dirty="0" err="1"/>
              <a:t>Conceitos</a:t>
            </a:r>
            <a:r>
              <a:rPr sz="3200" dirty="0"/>
              <a:t>, </a:t>
            </a:r>
            <a:r>
              <a:rPr sz="3200" dirty="0" err="1"/>
              <a:t>Devido</a:t>
            </a:r>
            <a:r>
              <a:rPr sz="3200" dirty="0"/>
              <a:t> </a:t>
            </a:r>
            <a:r>
              <a:rPr sz="3200" dirty="0" err="1"/>
              <a:t>Aos</a:t>
            </a:r>
            <a:r>
              <a:rPr sz="3200" dirty="0"/>
              <a:t>   </a:t>
            </a:r>
            <a:r>
              <a:rPr sz="3200" dirty="0" err="1"/>
              <a:t>Questionamentos</a:t>
            </a:r>
            <a:endParaRPr sz="3200" dirty="0"/>
          </a:p>
          <a:p>
            <a:pPr marL="514350" lvl="2" indent="-514350">
              <a:buSzTx/>
              <a:buFont typeface="+mj-lt"/>
              <a:buAutoNum type="arabicPeriod"/>
              <a:defRPr sz="1800"/>
            </a:pPr>
            <a:r>
              <a:rPr sz="3200" dirty="0"/>
              <a:t> Benchmarking Natural</a:t>
            </a:r>
          </a:p>
          <a:p>
            <a:pPr marL="514350" lvl="2" indent="-514350">
              <a:buSzTx/>
              <a:buFont typeface="+mj-lt"/>
              <a:buAutoNum type="arabicPeriod"/>
              <a:defRPr sz="1800"/>
            </a:pPr>
            <a:r>
              <a:rPr sz="3200" dirty="0"/>
              <a:t> </a:t>
            </a:r>
            <a:r>
              <a:rPr sz="3200" dirty="0" err="1"/>
              <a:t>Propensão</a:t>
            </a:r>
            <a:r>
              <a:rPr sz="3200" dirty="0"/>
              <a:t> a </a:t>
            </a:r>
            <a:r>
              <a:rPr sz="3200" dirty="0" err="1"/>
              <a:t>Mudanças</a:t>
            </a:r>
            <a:endParaRPr sz="3200" dirty="0"/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4400"/>
              <a:t>DESVANTAGENS:</a:t>
            </a:r>
          </a:p>
        </p:txBody>
      </p:sp>
      <p:sp>
        <p:nvSpPr>
          <p:cNvPr id="66" name="Shape 66"/>
          <p:cNvSpPr>
            <a:spLocks noGrp="1"/>
          </p:cNvSpPr>
          <p:nvPr>
            <p:ph type="body" idx="4294967295"/>
          </p:nvPr>
        </p:nvSpPr>
        <p:spPr>
          <a:xfrm>
            <a:off x="228600" y="1320800"/>
            <a:ext cx="8153400" cy="487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514350" lvl="2" indent="-514350">
              <a:spcBef>
                <a:spcPts val="600"/>
              </a:spcBef>
              <a:buSzTx/>
              <a:buFont typeface="+mj-lt"/>
              <a:buAutoNum type="arabicPeriod"/>
              <a:defRPr sz="1800"/>
            </a:pPr>
            <a:r>
              <a:rPr sz="2800" dirty="0"/>
              <a:t>INSEGURANÇA DA EQUIPE INTERNA</a:t>
            </a:r>
          </a:p>
          <a:p>
            <a:pPr marL="514350" lvl="2" indent="-514350">
              <a:spcBef>
                <a:spcPts val="600"/>
              </a:spcBef>
              <a:buSzTx/>
              <a:buFont typeface="+mj-lt"/>
              <a:buAutoNum type="arabicPeriod"/>
              <a:defRPr sz="1800"/>
            </a:pPr>
            <a:r>
              <a:rPr sz="2800" dirty="0"/>
              <a:t>QUEBRA DA ROTINA DE TRABALHO</a:t>
            </a:r>
          </a:p>
          <a:p>
            <a:pPr marL="514350" lvl="2" indent="-514350">
              <a:spcBef>
                <a:spcPts val="600"/>
              </a:spcBef>
              <a:buSzTx/>
              <a:buFont typeface="+mj-lt"/>
              <a:buAutoNum type="arabicPeriod"/>
              <a:defRPr sz="1800"/>
            </a:pPr>
            <a:r>
              <a:rPr sz="2800" dirty="0"/>
              <a:t>INVESTIMENTO NORMALMENTE ALTO</a:t>
            </a:r>
          </a:p>
          <a:p>
            <a:pPr marL="514350" lvl="2" indent="-514350">
              <a:spcBef>
                <a:spcPts val="600"/>
              </a:spcBef>
              <a:buSzTx/>
              <a:buFont typeface="+mj-lt"/>
              <a:buAutoNum type="arabicPeriod"/>
              <a:defRPr sz="1800"/>
            </a:pPr>
            <a:r>
              <a:rPr sz="2800" dirty="0"/>
              <a:t> EXPECTATIVA DE UM RETORNO  RÁPIDO</a:t>
            </a:r>
          </a:p>
          <a:p>
            <a:pPr marL="514350" lvl="2" indent="-514350">
              <a:spcBef>
                <a:spcPts val="600"/>
              </a:spcBef>
              <a:buSzTx/>
              <a:buFont typeface="+mj-lt"/>
              <a:buAutoNum type="arabicPeriod"/>
              <a:defRPr sz="1800"/>
            </a:pPr>
            <a:r>
              <a:rPr sz="2800" dirty="0"/>
              <a:t> TEMPO GASTO PARA ASSIMILAÇÃO DOS  PROBLEMAS PELOS CONSULTORES</a:t>
            </a:r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D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4400"/>
              <a:t>CONCLUSÃO</a:t>
            </a:r>
          </a:p>
        </p:txBody>
      </p:sp>
      <p:sp>
        <p:nvSpPr>
          <p:cNvPr id="69" name="Shape 69"/>
          <p:cNvSpPr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457200" lvl="0" indent="-457200" defTabSz="374904">
              <a:spcBef>
                <a:spcPts val="500"/>
              </a:spcBef>
              <a:buSzTx/>
              <a:buFont typeface="+mj-lt"/>
              <a:buAutoNum type="arabicPeriod"/>
              <a:defRPr sz="1800"/>
            </a:pPr>
            <a:r>
              <a:rPr sz="2050" dirty="0"/>
              <a:t>VALE A PENA  APESAR  DE  TUDO</a:t>
            </a:r>
          </a:p>
          <a:p>
            <a:pPr marL="457200" lvl="0" indent="-457200" defTabSz="374904">
              <a:spcBef>
                <a:spcPts val="500"/>
              </a:spcBef>
              <a:buSzTx/>
              <a:buFont typeface="+mj-lt"/>
              <a:buAutoNum type="arabicPeriod"/>
              <a:defRPr sz="1800"/>
            </a:pPr>
            <a:r>
              <a:rPr sz="2050" dirty="0"/>
              <a:t>RECICLAGEM  OBRIGATÓRIA</a:t>
            </a:r>
          </a:p>
          <a:p>
            <a:pPr marL="457200" lvl="0" indent="-457200" defTabSz="374904">
              <a:spcBef>
                <a:spcPts val="500"/>
              </a:spcBef>
              <a:buSzTx/>
              <a:buFont typeface="+mj-lt"/>
              <a:buAutoNum type="arabicPeriod"/>
              <a:defRPr sz="1800"/>
            </a:pPr>
            <a:r>
              <a:rPr sz="2050" dirty="0"/>
              <a:t> CRIA   OPORTUNIDADES</a:t>
            </a:r>
          </a:p>
          <a:p>
            <a:pPr marL="457200" lvl="0" indent="-457200" defTabSz="374904">
              <a:spcBef>
                <a:spcPts val="500"/>
              </a:spcBef>
              <a:buSzTx/>
              <a:buFont typeface="+mj-lt"/>
              <a:buAutoNum type="arabicPeriod"/>
              <a:defRPr sz="1800"/>
            </a:pPr>
            <a:r>
              <a:rPr sz="2050" dirty="0"/>
              <a:t>PASSA  EXPERIÊNCIA  A  EQUIPE</a:t>
            </a:r>
          </a:p>
          <a:p>
            <a:pPr marL="457200" lvl="0" indent="-457200" defTabSz="374904">
              <a:spcBef>
                <a:spcPts val="500"/>
              </a:spcBef>
              <a:buSzTx/>
              <a:buFont typeface="+mj-lt"/>
              <a:buAutoNum type="arabicPeriod"/>
              <a:defRPr sz="1800"/>
            </a:pPr>
            <a:r>
              <a:rPr sz="2050" dirty="0"/>
              <a:t>SEMPRE  CRIA  UMA NOVA  MOTIVAÇÃO AOS QUE  FICAM</a:t>
            </a:r>
          </a:p>
          <a:p>
            <a:pPr marL="457200" lvl="0" indent="-457200" defTabSz="374904">
              <a:spcBef>
                <a:spcPts val="500"/>
              </a:spcBef>
              <a:buSzTx/>
              <a:buFont typeface="+mj-lt"/>
              <a:buAutoNum type="arabicPeriod"/>
              <a:defRPr sz="1800"/>
            </a:pPr>
            <a:r>
              <a:rPr sz="2050" dirty="0"/>
              <a:t>SEMPRE  </a:t>
            </a:r>
            <a:r>
              <a:rPr sz="2050" dirty="0" err="1"/>
              <a:t>É</a:t>
            </a:r>
            <a:r>
              <a:rPr sz="2050" dirty="0"/>
              <a:t>  UM  AGENTE   DE MUDANÇAS</a:t>
            </a:r>
          </a:p>
          <a:p>
            <a:pPr marL="457200" lvl="0" indent="-457200" defTabSz="374904">
              <a:spcBef>
                <a:spcPts val="500"/>
              </a:spcBef>
              <a:buSzTx/>
              <a:buFont typeface="+mj-lt"/>
              <a:buAutoNum type="arabicPeriod"/>
              <a:defRPr sz="1800"/>
            </a:pPr>
            <a:r>
              <a:rPr sz="2050" dirty="0" err="1"/>
              <a:t>obs</a:t>
            </a:r>
            <a:r>
              <a:rPr sz="2050" dirty="0"/>
              <a:t>: </a:t>
            </a:r>
            <a:r>
              <a:rPr sz="2050" dirty="0" err="1"/>
              <a:t>Trabalhar</a:t>
            </a:r>
            <a:r>
              <a:rPr sz="2050" dirty="0"/>
              <a:t> </a:t>
            </a:r>
            <a:r>
              <a:rPr sz="2050" dirty="0" err="1"/>
              <a:t>como</a:t>
            </a:r>
            <a:r>
              <a:rPr sz="2050" dirty="0"/>
              <a:t> consultor, </a:t>
            </a:r>
            <a:r>
              <a:rPr sz="2050" dirty="0" err="1"/>
              <a:t>significa</a:t>
            </a:r>
            <a:r>
              <a:rPr sz="2050" dirty="0"/>
              <a:t> </a:t>
            </a:r>
            <a:r>
              <a:rPr sz="2050" dirty="0" err="1"/>
              <a:t>ter</a:t>
            </a:r>
            <a:r>
              <a:rPr sz="2050" dirty="0"/>
              <a:t> </a:t>
            </a:r>
            <a:r>
              <a:rPr sz="2050" dirty="0" err="1"/>
              <a:t>muito</a:t>
            </a:r>
            <a:r>
              <a:rPr sz="2050" dirty="0"/>
              <a:t> </a:t>
            </a:r>
            <a:r>
              <a:rPr sz="2050" dirty="0" err="1"/>
              <a:t>conhecimento</a:t>
            </a:r>
            <a:r>
              <a:rPr sz="2050" dirty="0"/>
              <a:t>, </a:t>
            </a:r>
            <a:r>
              <a:rPr sz="2050" dirty="0" err="1"/>
              <a:t>muito</a:t>
            </a:r>
            <a:r>
              <a:rPr sz="2050" dirty="0"/>
              <a:t> </a:t>
            </a:r>
            <a:r>
              <a:rPr sz="2050" dirty="0" err="1"/>
              <a:t>jogo</a:t>
            </a:r>
            <a:r>
              <a:rPr sz="2050" dirty="0"/>
              <a:t> de </a:t>
            </a:r>
            <a:r>
              <a:rPr sz="2050" dirty="0" err="1"/>
              <a:t>cintura</a:t>
            </a:r>
            <a:r>
              <a:rPr sz="2050" dirty="0"/>
              <a:t> e </a:t>
            </a:r>
            <a:r>
              <a:rPr sz="2050" dirty="0" err="1"/>
              <a:t>muita</a:t>
            </a:r>
            <a:r>
              <a:rPr sz="2050" dirty="0"/>
              <a:t> </a:t>
            </a:r>
            <a:r>
              <a:rPr sz="2050" dirty="0" err="1"/>
              <a:t>paciência</a:t>
            </a:r>
            <a:r>
              <a:rPr sz="2050" dirty="0"/>
              <a:t> para </a:t>
            </a:r>
            <a:r>
              <a:rPr sz="2050" dirty="0" err="1"/>
              <a:t>aturar</a:t>
            </a:r>
            <a:r>
              <a:rPr sz="2050" dirty="0"/>
              <a:t> </a:t>
            </a:r>
            <a:r>
              <a:rPr sz="2050" dirty="0" err="1"/>
              <a:t>executivos</a:t>
            </a:r>
            <a:r>
              <a:rPr sz="2050" dirty="0"/>
              <a:t> </a:t>
            </a:r>
            <a:r>
              <a:rPr sz="2050" dirty="0" err="1"/>
              <a:t>arrogantes</a:t>
            </a:r>
            <a:r>
              <a:rPr sz="2050" dirty="0"/>
              <a:t> que </a:t>
            </a:r>
            <a:r>
              <a:rPr sz="2050" dirty="0" err="1"/>
              <a:t>tratam</a:t>
            </a:r>
            <a:r>
              <a:rPr sz="2050" dirty="0"/>
              <a:t> </a:t>
            </a:r>
            <a:r>
              <a:rPr sz="2050" dirty="0" err="1"/>
              <a:t>os</a:t>
            </a:r>
            <a:r>
              <a:rPr sz="2050" dirty="0"/>
              <a:t> </a:t>
            </a:r>
            <a:r>
              <a:rPr sz="2050" dirty="0" err="1"/>
              <a:t>consultores</a:t>
            </a:r>
            <a:r>
              <a:rPr sz="2050" dirty="0"/>
              <a:t> </a:t>
            </a:r>
            <a:r>
              <a:rPr sz="2050" dirty="0" err="1"/>
              <a:t>como</a:t>
            </a:r>
            <a:r>
              <a:rPr sz="2050" dirty="0"/>
              <a:t> mero </a:t>
            </a:r>
            <a:r>
              <a:rPr sz="2050" dirty="0" err="1"/>
              <a:t>funcionários</a:t>
            </a:r>
            <a:r>
              <a:rPr sz="2050" dirty="0"/>
              <a:t> da </a:t>
            </a:r>
            <a:r>
              <a:rPr sz="2050" dirty="0" err="1"/>
              <a:t>Empresa</a:t>
            </a:r>
            <a:r>
              <a:rPr sz="2050" dirty="0"/>
              <a:t> </a:t>
            </a:r>
            <a:r>
              <a:rPr sz="2050" dirty="0" err="1"/>
              <a:t>pelo</a:t>
            </a:r>
            <a:r>
              <a:rPr sz="2050" dirty="0"/>
              <a:t> simples </a:t>
            </a:r>
            <a:r>
              <a:rPr sz="2050" dirty="0" err="1"/>
              <a:t>fato</a:t>
            </a:r>
            <a:r>
              <a:rPr sz="2050" dirty="0"/>
              <a:t> de </a:t>
            </a:r>
            <a:r>
              <a:rPr sz="2050" dirty="0" err="1"/>
              <a:t>estar</a:t>
            </a:r>
            <a:r>
              <a:rPr sz="2050" dirty="0"/>
              <a:t> </a:t>
            </a:r>
            <a:r>
              <a:rPr sz="2050" dirty="0" err="1"/>
              <a:t>pagando</a:t>
            </a:r>
            <a:r>
              <a:rPr sz="2050" dirty="0"/>
              <a:t> </a:t>
            </a:r>
            <a:r>
              <a:rPr sz="2050" dirty="0" err="1"/>
              <a:t>pelos</a:t>
            </a:r>
            <a:r>
              <a:rPr sz="2050" dirty="0"/>
              <a:t> </a:t>
            </a:r>
            <a:r>
              <a:rPr sz="2050" dirty="0" err="1"/>
              <a:t>serviços</a:t>
            </a:r>
            <a:r>
              <a:rPr sz="2050" dirty="0"/>
              <a:t> </a:t>
            </a:r>
            <a:r>
              <a:rPr sz="2050" dirty="0" err="1"/>
              <a:t>prestados</a:t>
            </a:r>
            <a:r>
              <a:rPr sz="2050" dirty="0"/>
              <a:t>.</a:t>
            </a:r>
          </a:p>
          <a:p>
            <a:pPr marL="457200" lvl="0" indent="-457200" defTabSz="374904">
              <a:spcBef>
                <a:spcPts val="500"/>
              </a:spcBef>
              <a:buSzTx/>
              <a:buFont typeface="+mj-lt"/>
              <a:buAutoNum type="arabicPeriod"/>
              <a:defRPr sz="1800"/>
            </a:pPr>
            <a:endParaRPr sz="205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1" build="p" bldLvl="5" animBg="1" advAuto="0"/>
    </p:bldLst>
  </p:timing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0D9"/>
      </a:accent5>
      <a:accent6>
        <a:srgbClr val="AE4846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0D9"/>
      </a:accent5>
      <a:accent6>
        <a:srgbClr val="AE4846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867</Words>
  <Application>Microsoft Macintosh PowerPoint</Application>
  <PresentationFormat>Apresentação na tela (4:3)</PresentationFormat>
  <Paragraphs>120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Avenir Roman</vt:lpstr>
      <vt:lpstr>Calibri</vt:lpstr>
      <vt:lpstr>Default</vt:lpstr>
      <vt:lpstr>Apresentação do PowerPoint</vt:lpstr>
      <vt:lpstr>INTRODUÇÃO </vt:lpstr>
      <vt:lpstr>INTRODUÇÃO </vt:lpstr>
      <vt:lpstr>INTRODUÇÃO </vt:lpstr>
      <vt:lpstr>ESTRATEGIA DO CONSULTOR</vt:lpstr>
      <vt:lpstr>ESTRATEGIA DO CONSULTOR</vt:lpstr>
      <vt:lpstr>CARACTERÍSTICAS DO CONSULTOR</vt:lpstr>
      <vt:lpstr>PRESTADORES SERVIÇO</vt:lpstr>
      <vt:lpstr>ANTES DE  CONTRATAR  UMA  CONSULTORIA</vt:lpstr>
      <vt:lpstr>ANTES DE  CONTRATAR  UMA  CONSULTORIA</vt:lpstr>
      <vt:lpstr>POR QUE CONTRATAR UMA CONSULTORIA ?</vt:lpstr>
      <vt:lpstr>POR QUE CONTRATAR UMA CONSULTORIA ?</vt:lpstr>
      <vt:lpstr>   O    AMBIENTE   DE   TRABALHO</vt:lpstr>
      <vt:lpstr> A   POSTURA   DOS  CONSULTORES</vt:lpstr>
      <vt:lpstr>METODOLOGIAS DIFERENCIADAS</vt:lpstr>
      <vt:lpstr>A ABRANGÊNCIA  DO TRABALHO</vt:lpstr>
      <vt:lpstr>A  APRESENTAÇÃO   DOS   RESULTADOS</vt:lpstr>
      <vt:lpstr>A VOLTA  AO  DIA  A DIA</vt:lpstr>
      <vt:lpstr>VANTAGENS:</vt:lpstr>
      <vt:lpstr>DESVANTAGENS: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EDGARD ALEXANDRE ROMANATO</cp:lastModifiedBy>
  <cp:revision>3</cp:revision>
  <dcterms:modified xsi:type="dcterms:W3CDTF">2022-04-27T15:49:15Z</dcterms:modified>
</cp:coreProperties>
</file>