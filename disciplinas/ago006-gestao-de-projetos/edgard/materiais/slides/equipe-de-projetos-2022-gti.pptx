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9144000"/>
  <p:notesSz cx="6858000" cy="9144000"/>
  <p:embeddedFontLst>
    <p:embeddedFont>
      <p:font typeface="Tahoma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6" roundtripDataSignature="AMtx7mgbx1uyIUPc6sVy6FRT7HURxlUh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Tahom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showMasterSp="0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2"/>
          <p:cNvCxnSpPr/>
          <p:nvPr/>
        </p:nvCxnSpPr>
        <p:spPr>
          <a:xfrm>
            <a:off x="2895599" y="4303712"/>
            <a:ext cx="3276603" cy="3"/>
          </a:xfrm>
          <a:prstGeom prst="straightConnector1">
            <a:avLst/>
          </a:prstGeom>
          <a:noFill/>
          <a:ln cap="flat" cmpd="sng" w="3810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2"/>
          <p:cNvSpPr/>
          <p:nvPr/>
        </p:nvSpPr>
        <p:spPr>
          <a:xfrm>
            <a:off x="0" y="1066800"/>
            <a:ext cx="8686800" cy="533400"/>
          </a:xfrm>
          <a:prstGeom prst="rect">
            <a:avLst/>
          </a:prstGeom>
          <a:noFill/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9" name="Google Shape;29;p22"/>
          <p:cNvGrpSpPr/>
          <p:nvPr/>
        </p:nvGrpSpPr>
        <p:grpSpPr>
          <a:xfrm>
            <a:off x="533397" y="-4"/>
            <a:ext cx="3276605" cy="2133607"/>
            <a:chOff x="-1" y="-2"/>
            <a:chExt cx="3276604" cy="2133605"/>
          </a:xfrm>
        </p:grpSpPr>
        <p:sp>
          <p:nvSpPr>
            <p:cNvPr id="30" name="Google Shape;30;p22"/>
            <p:cNvSpPr/>
            <p:nvPr/>
          </p:nvSpPr>
          <p:spPr>
            <a:xfrm>
              <a:off x="1066799" y="1066800"/>
              <a:ext cx="533402" cy="533402"/>
            </a:xfrm>
            <a:prstGeom prst="rect">
              <a:avLst/>
            </a:prstGeom>
            <a:noFill/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" name="Google Shape;31;p22"/>
            <p:cNvSpPr/>
            <p:nvPr/>
          </p:nvSpPr>
          <p:spPr>
            <a:xfrm>
              <a:off x="1600200" y="1600201"/>
              <a:ext cx="533402" cy="533402"/>
            </a:xfrm>
            <a:prstGeom prst="rect">
              <a:avLst/>
            </a:prstGeom>
            <a:noFill/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" name="Google Shape;32;p22"/>
            <p:cNvSpPr/>
            <p:nvPr/>
          </p:nvSpPr>
          <p:spPr>
            <a:xfrm>
              <a:off x="2209801" y="533399"/>
              <a:ext cx="533402" cy="533402"/>
            </a:xfrm>
            <a:prstGeom prst="rect">
              <a:avLst/>
            </a:prstGeom>
            <a:noFill/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" name="Google Shape;33;p22"/>
            <p:cNvSpPr/>
            <p:nvPr/>
          </p:nvSpPr>
          <p:spPr>
            <a:xfrm>
              <a:off x="2743201" y="1066800"/>
              <a:ext cx="533402" cy="533402"/>
            </a:xfrm>
            <a:prstGeom prst="rect">
              <a:avLst/>
            </a:prstGeom>
            <a:noFill/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" name="Google Shape;34;p22"/>
            <p:cNvSpPr/>
            <p:nvPr/>
          </p:nvSpPr>
          <p:spPr>
            <a:xfrm>
              <a:off x="533399" y="533399"/>
              <a:ext cx="533402" cy="533402"/>
            </a:xfrm>
            <a:prstGeom prst="rect">
              <a:avLst/>
            </a:prstGeom>
            <a:noFill/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" name="Google Shape;35;p22"/>
            <p:cNvSpPr/>
            <p:nvPr/>
          </p:nvSpPr>
          <p:spPr>
            <a:xfrm>
              <a:off x="-1" y="-2"/>
              <a:ext cx="533402" cy="533402"/>
            </a:xfrm>
            <a:prstGeom prst="rect">
              <a:avLst/>
            </a:prstGeom>
            <a:noFill/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36" name="Google Shape;36;p22"/>
          <p:cNvGrpSpPr/>
          <p:nvPr/>
        </p:nvGrpSpPr>
        <p:grpSpPr>
          <a:xfrm>
            <a:off x="533397" y="-4"/>
            <a:ext cx="3276605" cy="2133607"/>
            <a:chOff x="-1" y="-2"/>
            <a:chExt cx="3276604" cy="2133605"/>
          </a:xfrm>
        </p:grpSpPr>
        <p:sp>
          <p:nvSpPr>
            <p:cNvPr id="37" name="Google Shape;37;p22"/>
            <p:cNvSpPr/>
            <p:nvPr/>
          </p:nvSpPr>
          <p:spPr>
            <a:xfrm>
              <a:off x="1066799" y="1066800"/>
              <a:ext cx="533402" cy="533402"/>
            </a:xfrm>
            <a:prstGeom prst="rect">
              <a:avLst/>
            </a:prstGeom>
            <a:solidFill>
              <a:srgbClr val="0099CC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" name="Google Shape;38;p22"/>
            <p:cNvSpPr/>
            <p:nvPr/>
          </p:nvSpPr>
          <p:spPr>
            <a:xfrm>
              <a:off x="1600200" y="1600201"/>
              <a:ext cx="533402" cy="533402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" name="Google Shape;39;p22"/>
            <p:cNvSpPr/>
            <p:nvPr/>
          </p:nvSpPr>
          <p:spPr>
            <a:xfrm>
              <a:off x="2209801" y="533399"/>
              <a:ext cx="533402" cy="533402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" name="Google Shape;40;p22"/>
            <p:cNvSpPr/>
            <p:nvPr/>
          </p:nvSpPr>
          <p:spPr>
            <a:xfrm>
              <a:off x="2743201" y="1066800"/>
              <a:ext cx="533402" cy="533402"/>
            </a:xfrm>
            <a:prstGeom prst="rect">
              <a:avLst/>
            </a:prstGeom>
            <a:solidFill>
              <a:srgbClr val="0099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" name="Google Shape;41;p22"/>
            <p:cNvSpPr/>
            <p:nvPr/>
          </p:nvSpPr>
          <p:spPr>
            <a:xfrm>
              <a:off x="533399" y="533399"/>
              <a:ext cx="533402" cy="533402"/>
            </a:xfrm>
            <a:prstGeom prst="rect">
              <a:avLst/>
            </a:prstGeom>
            <a:solidFill>
              <a:srgbClr val="339966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" name="Google Shape;42;p22"/>
            <p:cNvSpPr/>
            <p:nvPr/>
          </p:nvSpPr>
          <p:spPr>
            <a:xfrm>
              <a:off x="-1" y="-2"/>
              <a:ext cx="533402" cy="533402"/>
            </a:xfrm>
            <a:prstGeom prst="rect">
              <a:avLst/>
            </a:prstGeom>
            <a:solidFill>
              <a:srgbClr val="0099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43" name="Google Shape;43;p22"/>
          <p:cNvSpPr/>
          <p:nvPr/>
        </p:nvSpPr>
        <p:spPr>
          <a:xfrm>
            <a:off x="4114800" y="4191000"/>
            <a:ext cx="211138" cy="211138"/>
          </a:xfrm>
          <a:prstGeom prst="rect">
            <a:avLst/>
          </a:prstGeom>
          <a:solidFill>
            <a:srgbClr val="0099CC"/>
          </a:solidFill>
          <a:ln cap="flat" cmpd="sng" w="2857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4" name="Google Shape;44;p22"/>
          <p:cNvSpPr/>
          <p:nvPr/>
        </p:nvSpPr>
        <p:spPr>
          <a:xfrm>
            <a:off x="4419600" y="4191000"/>
            <a:ext cx="211138" cy="211138"/>
          </a:xfrm>
          <a:prstGeom prst="rect">
            <a:avLst/>
          </a:prstGeom>
          <a:solidFill>
            <a:srgbClr val="009999"/>
          </a:solidFill>
          <a:ln cap="flat" cmpd="sng" w="2857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" name="Google Shape;45;p22"/>
          <p:cNvSpPr/>
          <p:nvPr/>
        </p:nvSpPr>
        <p:spPr>
          <a:xfrm>
            <a:off x="4724400" y="4191000"/>
            <a:ext cx="211138" cy="211138"/>
          </a:xfrm>
          <a:prstGeom prst="rect">
            <a:avLst/>
          </a:prstGeom>
          <a:solidFill>
            <a:srgbClr val="00CC99"/>
          </a:solidFill>
          <a:ln cap="flat" cmpd="sng" w="2857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6" name="Google Shape;46;p22"/>
          <p:cNvSpPr txBox="1"/>
          <p:nvPr>
            <p:ph idx="12" type="sldNum"/>
          </p:nvPr>
        </p:nvSpPr>
        <p:spPr>
          <a:xfrm>
            <a:off x="5994517" y="6466204"/>
            <a:ext cx="355359" cy="326387"/>
          </a:xfrm>
          <a:prstGeom prst="rect">
            <a:avLst/>
          </a:prstGeom>
          <a:solidFill>
            <a:srgbClr val="00CC99"/>
          </a:solidFill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5994517" y="6466204"/>
            <a:ext cx="355359" cy="326387"/>
          </a:xfrm>
          <a:prstGeom prst="rect">
            <a:avLst/>
          </a:prstGeom>
          <a:solidFill>
            <a:srgbClr val="00CC99"/>
          </a:solidFill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/>
          <p:nvPr/>
        </p:nvSpPr>
        <p:spPr>
          <a:xfrm>
            <a:off x="0" y="2286000"/>
            <a:ext cx="533400" cy="533400"/>
          </a:xfrm>
          <a:prstGeom prst="rect">
            <a:avLst/>
          </a:prstGeom>
          <a:noFill/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" name="Google Shape;7;p21"/>
          <p:cNvSpPr/>
          <p:nvPr/>
        </p:nvSpPr>
        <p:spPr>
          <a:xfrm>
            <a:off x="533400" y="2819400"/>
            <a:ext cx="533400" cy="533400"/>
          </a:xfrm>
          <a:prstGeom prst="rect">
            <a:avLst/>
          </a:prstGeom>
          <a:noFill/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" name="Google Shape;8;p21"/>
          <p:cNvSpPr/>
          <p:nvPr/>
        </p:nvSpPr>
        <p:spPr>
          <a:xfrm>
            <a:off x="1981200" y="533400"/>
            <a:ext cx="381000" cy="381000"/>
          </a:xfrm>
          <a:prstGeom prst="rect">
            <a:avLst/>
          </a:prstGeom>
          <a:noFill/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" name="Google Shape;9;p21"/>
          <p:cNvSpPr/>
          <p:nvPr/>
        </p:nvSpPr>
        <p:spPr>
          <a:xfrm>
            <a:off x="762000" y="1066800"/>
            <a:ext cx="381000" cy="381000"/>
          </a:xfrm>
          <a:prstGeom prst="rect">
            <a:avLst/>
          </a:prstGeom>
          <a:noFill/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" name="Google Shape;10;p21"/>
          <p:cNvSpPr/>
          <p:nvPr/>
        </p:nvSpPr>
        <p:spPr>
          <a:xfrm>
            <a:off x="1143000" y="685800"/>
            <a:ext cx="381000" cy="381000"/>
          </a:xfrm>
          <a:prstGeom prst="rect">
            <a:avLst/>
          </a:prstGeom>
          <a:noFill/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" name="Google Shape;11;p21"/>
          <p:cNvSpPr/>
          <p:nvPr/>
        </p:nvSpPr>
        <p:spPr>
          <a:xfrm>
            <a:off x="2362200" y="152400"/>
            <a:ext cx="381000" cy="381000"/>
          </a:xfrm>
          <a:prstGeom prst="rect">
            <a:avLst/>
          </a:prstGeom>
          <a:noFill/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" name="Google Shape;12;p21"/>
          <p:cNvSpPr/>
          <p:nvPr/>
        </p:nvSpPr>
        <p:spPr>
          <a:xfrm>
            <a:off x="0" y="755650"/>
            <a:ext cx="5867400" cy="76200"/>
          </a:xfrm>
          <a:prstGeom prst="rect">
            <a:avLst/>
          </a:prstGeom>
          <a:noFill/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" name="Google Shape;13;p21"/>
          <p:cNvSpPr/>
          <p:nvPr/>
        </p:nvSpPr>
        <p:spPr>
          <a:xfrm>
            <a:off x="5715000" y="609600"/>
            <a:ext cx="304800" cy="304800"/>
          </a:xfrm>
          <a:prstGeom prst="rect">
            <a:avLst/>
          </a:prstGeom>
          <a:solidFill>
            <a:srgbClr val="0099CC"/>
          </a:solidFill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" name="Google Shape;14;p21"/>
          <p:cNvSpPr/>
          <p:nvPr/>
        </p:nvSpPr>
        <p:spPr>
          <a:xfrm>
            <a:off x="5562600" y="457200"/>
            <a:ext cx="304800" cy="304800"/>
          </a:xfrm>
          <a:prstGeom prst="rect">
            <a:avLst/>
          </a:prstGeom>
          <a:solidFill>
            <a:srgbClr val="00CC99"/>
          </a:solidFill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" name="Google Shape;15;p21"/>
          <p:cNvSpPr/>
          <p:nvPr/>
        </p:nvSpPr>
        <p:spPr>
          <a:xfrm>
            <a:off x="8458200" y="3962400"/>
            <a:ext cx="381000" cy="381000"/>
          </a:xfrm>
          <a:prstGeom prst="rect">
            <a:avLst/>
          </a:prstGeom>
          <a:solidFill>
            <a:srgbClr val="0099CC"/>
          </a:solidFill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" name="Google Shape;16;p21"/>
          <p:cNvSpPr/>
          <p:nvPr/>
        </p:nvSpPr>
        <p:spPr>
          <a:xfrm>
            <a:off x="8686800" y="3657600"/>
            <a:ext cx="381000" cy="381000"/>
          </a:xfrm>
          <a:prstGeom prst="rect">
            <a:avLst/>
          </a:prstGeom>
          <a:solidFill>
            <a:srgbClr val="009999"/>
          </a:solidFill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7" name="Google Shape;17;p21"/>
          <p:cNvGrpSpPr/>
          <p:nvPr/>
        </p:nvGrpSpPr>
        <p:grpSpPr>
          <a:xfrm>
            <a:off x="-3" y="2285997"/>
            <a:ext cx="1066807" cy="1066807"/>
            <a:chOff x="-1" y="-1"/>
            <a:chExt cx="1066805" cy="1066805"/>
          </a:xfrm>
        </p:grpSpPr>
        <p:sp>
          <p:nvSpPr>
            <p:cNvPr id="18" name="Google Shape;18;p21"/>
            <p:cNvSpPr/>
            <p:nvPr/>
          </p:nvSpPr>
          <p:spPr>
            <a:xfrm>
              <a:off x="-1" y="-1"/>
              <a:ext cx="533403" cy="533403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>
              <a:off x="533401" y="533401"/>
              <a:ext cx="533403" cy="533403"/>
            </a:xfrm>
            <a:prstGeom prst="rect">
              <a:avLst/>
            </a:prstGeom>
            <a:solidFill>
              <a:srgbClr val="0099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0" name="Google Shape;20;p21"/>
          <p:cNvGrpSpPr/>
          <p:nvPr/>
        </p:nvGrpSpPr>
        <p:grpSpPr>
          <a:xfrm>
            <a:off x="761997" y="152396"/>
            <a:ext cx="1981205" cy="1295407"/>
            <a:chOff x="-1" y="-2"/>
            <a:chExt cx="1981204" cy="1295405"/>
          </a:xfrm>
        </p:grpSpPr>
        <p:sp>
          <p:nvSpPr>
            <p:cNvPr id="21" name="Google Shape;21;p21"/>
            <p:cNvSpPr/>
            <p:nvPr/>
          </p:nvSpPr>
          <p:spPr>
            <a:xfrm>
              <a:off x="1219201" y="380999"/>
              <a:ext cx="381002" cy="381002"/>
            </a:xfrm>
            <a:prstGeom prst="rect">
              <a:avLst/>
            </a:prstGeom>
            <a:solidFill>
              <a:srgbClr val="0099CC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" name="Google Shape;22;p21"/>
            <p:cNvSpPr/>
            <p:nvPr/>
          </p:nvSpPr>
          <p:spPr>
            <a:xfrm>
              <a:off x="-1" y="914401"/>
              <a:ext cx="381002" cy="381002"/>
            </a:xfrm>
            <a:prstGeom prst="rect">
              <a:avLst/>
            </a:prstGeom>
            <a:solidFill>
              <a:srgbClr val="0099CC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" name="Google Shape;23;p21"/>
            <p:cNvSpPr/>
            <p:nvPr/>
          </p:nvSpPr>
          <p:spPr>
            <a:xfrm>
              <a:off x="380999" y="533400"/>
              <a:ext cx="381002" cy="381002"/>
            </a:xfrm>
            <a:prstGeom prst="rect">
              <a:avLst/>
            </a:prstGeom>
            <a:solidFill>
              <a:srgbClr val="339966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21"/>
            <p:cNvSpPr/>
            <p:nvPr/>
          </p:nvSpPr>
          <p:spPr>
            <a:xfrm>
              <a:off x="1600201" y="-2"/>
              <a:ext cx="381002" cy="381003"/>
            </a:xfrm>
            <a:prstGeom prst="rect">
              <a:avLst/>
            </a:prstGeom>
            <a:solidFill>
              <a:srgbClr val="0099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5994517" y="6466204"/>
            <a:ext cx="355359" cy="326387"/>
          </a:xfrm>
          <a:prstGeom prst="rect">
            <a:avLst/>
          </a:prstGeom>
          <a:solidFill>
            <a:srgbClr val="00CC99"/>
          </a:solidFill>
          <a:ln cap="flat" cmpd="sng" w="571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000066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55" name="Google Shape;55;p1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56" name="Google Shape;56;p1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</p:txBody>
        </p:sp>
      </p:grpSp>
      <p:sp>
        <p:nvSpPr>
          <p:cNvPr id="58" name="Google Shape;58;p1"/>
          <p:cNvSpPr txBox="1"/>
          <p:nvPr>
            <p:ph type="title"/>
          </p:nvPr>
        </p:nvSpPr>
        <p:spPr>
          <a:xfrm>
            <a:off x="685800" y="2286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ADMINISTRAÇÃO DE PROJETOS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SEMESTRE 2022</a:t>
            </a:r>
            <a:b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REVISAO</a:t>
            </a:r>
            <a:endParaRPr b="0" i="0" sz="40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" name="Google Shape;59;p1"/>
          <p:cNvSpPr txBox="1"/>
          <p:nvPr>
            <p:ph idx="1" type="body"/>
          </p:nvPr>
        </p:nvSpPr>
        <p:spPr>
          <a:xfrm>
            <a:off x="1371600" y="4495800"/>
            <a:ext cx="6400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39966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67" name="Google Shape;67;p2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</p:grpSp>
      <p:sp>
        <p:nvSpPr>
          <p:cNvPr id="69" name="Google Shape;69;p2"/>
          <p:cNvSpPr txBox="1"/>
          <p:nvPr>
            <p:ph type="title"/>
          </p:nvPr>
        </p:nvSpPr>
        <p:spPr>
          <a:xfrm>
            <a:off x="1295400" y="1219200"/>
            <a:ext cx="7086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QUE É UM PROJETO?</a:t>
            </a:r>
            <a:endParaRPr/>
          </a:p>
        </p:txBody>
      </p:sp>
      <p:sp>
        <p:nvSpPr>
          <p:cNvPr id="70" name="Google Shape;70;p2"/>
          <p:cNvSpPr txBox="1"/>
          <p:nvPr>
            <p:ph idx="1" type="body"/>
          </p:nvPr>
        </p:nvSpPr>
        <p:spPr>
          <a:xfrm>
            <a:off x="1295400" y="2819400"/>
            <a:ext cx="70866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ALGO CLARO E COM CONTEÚDO BEM DETERMINADO.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APENAS UMA IDÉIA A SER TESTADA.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UMA OPORTUNIDADE DE TRABALHO.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UM SERVIÇO A SER ENTREGUE.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77" name="Google Shape;77;p3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78" name="Google Shape;78;p3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</p:grpSp>
      <p:sp>
        <p:nvSpPr>
          <p:cNvPr id="80" name="Google Shape;80;p3"/>
          <p:cNvSpPr txBox="1"/>
          <p:nvPr>
            <p:ph type="title"/>
          </p:nvPr>
        </p:nvSpPr>
        <p:spPr>
          <a:xfrm>
            <a:off x="1295400" y="1219200"/>
            <a:ext cx="7086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QUE É UM PROJETO?</a:t>
            </a:r>
            <a:endParaRPr/>
          </a:p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4495800" y="4038600"/>
            <a:ext cx="3886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44977" lvl="0" marL="1444977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ISTO É UM PROJETO?</a:t>
            </a:r>
            <a:endParaRPr b="0" i="0" sz="32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4977" lvl="0" marL="1444977" marR="0" rtl="0" algn="l">
              <a:spcBef>
                <a:spcPts val="7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PERIGOSO!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C:\Arquivos de programas\Arquivos comuns\Microsoft Shared\Clipart\cagcat50\SO01380_.wmf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819400"/>
            <a:ext cx="30099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iva e noivo no parque" id="83" name="Google Shape;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62583"/>
            <a:ext cx="4044618" cy="3745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91" name="Google Shape;91;p4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</p:grpSp>
      <p:sp>
        <p:nvSpPr>
          <p:cNvPr id="93" name="Google Shape;93;p4"/>
          <p:cNvSpPr txBox="1"/>
          <p:nvPr>
            <p:ph type="title"/>
          </p:nvPr>
        </p:nvSpPr>
        <p:spPr>
          <a:xfrm>
            <a:off x="1295400" y="1219200"/>
            <a:ext cx="7086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QUE É UM PROJETO?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3633537" y="3086099"/>
            <a:ext cx="4748463" cy="221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ISTO É UM PROJETO?</a:t>
            </a:r>
            <a:endParaRPr b="0" i="0" sz="32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r">
              <a:spcBef>
                <a:spcPts val="7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MUITO PERIGOSO!</a:t>
            </a:r>
            <a:endParaRPr/>
          </a:p>
          <a:p>
            <a:pPr indent="-1292577" lvl="0" marL="1444977" marR="0" rtl="0" algn="l">
              <a:spcBef>
                <a:spcPts val="7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Um bebê engatinhando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979" y="3086099"/>
            <a:ext cx="1949115" cy="190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02" name="Google Shape;102;p5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03" name="Google Shape;103;p5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5</a:t>
              </a:r>
              <a:endParaRPr/>
            </a:p>
          </p:txBody>
        </p:sp>
      </p:grpSp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9685" y="0"/>
            <a:ext cx="4516440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132347" y="3308684"/>
            <a:ext cx="2105527" cy="830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8F3"/>
              </a:buClr>
              <a:buSzPts val="2400"/>
              <a:buFont typeface="Avenir"/>
              <a:buNone/>
            </a:pPr>
            <a:r>
              <a:rPr b="0" i="0" lang="en-US" sz="2400" u="none" cap="none" strike="noStrike">
                <a:solidFill>
                  <a:srgbClr val="EDF8F3"/>
                </a:solidFill>
                <a:latin typeface="Avenir"/>
                <a:ea typeface="Avenir"/>
                <a:cs typeface="Avenir"/>
                <a:sym typeface="Avenir"/>
              </a:rPr>
              <a:t>PROJETO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8F3"/>
              </a:buClr>
              <a:buSzPts val="2400"/>
              <a:buFont typeface="Avenir"/>
              <a:buNone/>
            </a:pPr>
            <a:r>
              <a:rPr b="0" i="0" lang="en-US" sz="2400" u="none" cap="none" strike="noStrike">
                <a:solidFill>
                  <a:srgbClr val="EDF8F3"/>
                </a:solidFill>
                <a:latin typeface="Avenir"/>
                <a:ea typeface="Avenir"/>
                <a:cs typeface="Avenir"/>
                <a:sym typeface="Avenir"/>
              </a:rPr>
              <a:t>REALIZADO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13" name="Google Shape;113;p6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14" name="Google Shape;114;p6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6</a:t>
              </a:r>
              <a:endParaRPr/>
            </a:p>
          </p:txBody>
        </p:sp>
      </p:grpSp>
      <p:sp>
        <p:nvSpPr>
          <p:cNvPr id="116" name="Google Shape;116;p6"/>
          <p:cNvSpPr txBox="1"/>
          <p:nvPr>
            <p:ph type="title"/>
          </p:nvPr>
        </p:nvSpPr>
        <p:spPr>
          <a:xfrm>
            <a:off x="457200" y="1066800"/>
            <a:ext cx="7391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QUEM ESTÁ ENVOLVIDO NUM PROJETO?(SISTEMA)</a:t>
            </a:r>
            <a:endParaRPr b="0" i="0" sz="39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381000" y="2819400"/>
            <a:ext cx="82296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1- DIRETOR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2- GERENTES USUARIOS E DE T.I.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3- COORDENADORES / LIDERES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4- ANALISTAS DESENVOLVEDORES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5- PROGRAMADORES / SUPORTE TECNICO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6- OPERADORES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7- USUARIOS FINAIS /EMPRESA</a:t>
            </a:r>
            <a:endParaRPr/>
          </a:p>
        </p:txBody>
      </p:sp>
      <p:pic>
        <p:nvPicPr>
          <p:cNvPr descr="Empresário pensando"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6304" y="0"/>
            <a:ext cx="17124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25" name="Google Shape;125;p7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26" name="Google Shape;126;p7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7</a:t>
              </a:r>
              <a:endParaRPr/>
            </a:p>
          </p:txBody>
        </p:sp>
      </p:grpSp>
      <p:sp>
        <p:nvSpPr>
          <p:cNvPr id="128" name="Google Shape;128;p7"/>
          <p:cNvSpPr txBox="1"/>
          <p:nvPr>
            <p:ph type="title"/>
          </p:nvPr>
        </p:nvSpPr>
        <p:spPr>
          <a:xfrm>
            <a:off x="457200" y="1066800"/>
            <a:ext cx="7391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QUEM ESTÁ ENVOLVIDO NUM PROJETO?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1295400" y="2819400"/>
            <a:ext cx="70866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EQUIPE DO PROJETO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CLIENTES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CONCORRENTES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PARCEIROS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COBRADORES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OUTROS (OPORTUNISTAS/CURIOSOS)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36" name="Google Shape;136;p8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37" name="Google Shape;137;p8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8</a:t>
              </a:r>
              <a:endParaRPr/>
            </a:p>
          </p:txBody>
        </p:sp>
      </p:grpSp>
      <p:sp>
        <p:nvSpPr>
          <p:cNvPr id="139" name="Google Shape;139;p8"/>
          <p:cNvSpPr txBox="1"/>
          <p:nvPr>
            <p:ph type="title"/>
          </p:nvPr>
        </p:nvSpPr>
        <p:spPr>
          <a:xfrm>
            <a:off x="685800" y="914400"/>
            <a:ext cx="815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COMO GERENCIAR ESSA GENTE?</a:t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2209800"/>
            <a:ext cx="8305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ESCOLHENDO OS MELHORES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ELIMINANDO OS SAPOS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CRIANDO UM RELACIONAMENTO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ANALISANDO OS USUARIOS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DEFININDO DIRETRIZES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ESTABELECENDO PARAMETROS DE TRABALHO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CONFINANDO OS CARANGUEJOS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47" name="Google Shape;147;p9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48" name="Google Shape;148;p9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9</a:t>
              </a:r>
              <a:endParaRPr/>
            </a:p>
          </p:txBody>
        </p:sp>
      </p:grpSp>
      <p:sp>
        <p:nvSpPr>
          <p:cNvPr id="150" name="Google Shape;150;p9"/>
          <p:cNvSpPr txBox="1"/>
          <p:nvPr>
            <p:ph type="title"/>
          </p:nvPr>
        </p:nvSpPr>
        <p:spPr>
          <a:xfrm>
            <a:off x="1295400" y="1219200"/>
            <a:ext cx="7467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COMO TRATAR A EQUIPE?</a:t>
            </a:r>
            <a:endParaRPr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1295400" y="2819400"/>
            <a:ext cx="70866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ESTABELECER UM CLIMA DE CONFIANÇA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CONSEGUIR RESPEITO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DISCIPLINA SEM AUTORITARISMO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AMIZADE SIM / BAGUNÇA NÃO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JOGO ABERTO SEMPRE !!!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LEALDADE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58" name="Google Shape;158;p10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59" name="Google Shape;159;p10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10</a:t>
              </a:r>
              <a:endParaRPr/>
            </a:p>
          </p:txBody>
        </p:sp>
      </p:grpSp>
      <p:sp>
        <p:nvSpPr>
          <p:cNvPr id="161" name="Google Shape;161;p10"/>
          <p:cNvSpPr txBox="1"/>
          <p:nvPr>
            <p:ph type="title"/>
          </p:nvPr>
        </p:nvSpPr>
        <p:spPr>
          <a:xfrm>
            <a:off x="1295400" y="1219200"/>
            <a:ext cx="7086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AS 5 FASES DE UMA EQUIPE</a:t>
            </a:r>
            <a:endParaRPr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1295400" y="2819400"/>
            <a:ext cx="70866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90695" lvl="0" marL="1290695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AutoNum type="arabicPeriod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FORMAÇÃO</a:t>
            </a:r>
            <a:endParaRPr/>
          </a:p>
          <a:p>
            <a:pPr indent="-1290695" lvl="0" marL="1290695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AutoNum type="arabicPeriod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AGITAÇÃO (ADOLESCÊNCIA)</a:t>
            </a:r>
            <a:endParaRPr/>
          </a:p>
          <a:p>
            <a:pPr indent="-1290695" lvl="0" marL="1290695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AutoNum type="arabicPeriod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REGULAMENTAÇÃO</a:t>
            </a:r>
            <a:endParaRPr/>
          </a:p>
          <a:p>
            <a:pPr indent="-1290695" lvl="0" marL="1290695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AutoNum type="arabicPeriod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MATURIDADE (DESEMPENHO)</a:t>
            </a:r>
            <a:endParaRPr/>
          </a:p>
          <a:p>
            <a:pPr indent="-1290695" lvl="0" marL="1290695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AutoNum type="arabicPeriod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ACOMODAÇÃO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69" name="Google Shape;169;p11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70" name="Google Shape;170;p11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11</a:t>
              </a:r>
              <a:endParaRPr/>
            </a:p>
          </p:txBody>
        </p:sp>
      </p:grpSp>
      <p:sp>
        <p:nvSpPr>
          <p:cNvPr id="172" name="Google Shape;172;p11"/>
          <p:cNvSpPr txBox="1"/>
          <p:nvPr>
            <p:ph type="title"/>
          </p:nvPr>
        </p:nvSpPr>
        <p:spPr>
          <a:xfrm>
            <a:off x="1295400" y="685800"/>
            <a:ext cx="7086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FASES DE UMA EQUIPE</a:t>
            </a:r>
            <a:endParaRPr/>
          </a:p>
        </p:txBody>
      </p:sp>
      <p:sp>
        <p:nvSpPr>
          <p:cNvPr id="173" name="Google Shape;173;p11"/>
          <p:cNvSpPr txBox="1"/>
          <p:nvPr>
            <p:ph idx="1" type="body"/>
          </p:nvPr>
        </p:nvSpPr>
        <p:spPr>
          <a:xfrm>
            <a:off x="1295400" y="2133600"/>
            <a:ext cx="7086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1176144" lvl="0" marL="1176144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025"/>
              <a:buFont typeface="Noto Sans Symbols"/>
              <a:buAutoNum type="arabicPeriod"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FORMAÇÃO :  São pessoas que sabem que ficarão juntas por alguns meses, queiram ou não, tendo que manter um bom relacionamento com os outros, simpatizando ou não com os mesmos.</a:t>
            </a:r>
            <a:endParaRPr b="0" i="0" sz="27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76144" lvl="0" marL="1176144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025"/>
              <a:buFont typeface="Noto Sans Symbols"/>
              <a:buAutoNum type="arabicPeriod"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Agitação : Tipo BBB, todo mundo é legal, simpático, alegre, até acontecer os primeiros desentendimentos, quando cada um mostra quem realmente é.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79" name="Google Shape;179;p12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80" name="Google Shape;180;p12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81" name="Google Shape;181;p12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12</a:t>
              </a:r>
              <a:endParaRPr/>
            </a:p>
          </p:txBody>
        </p:sp>
      </p:grpSp>
      <p:sp>
        <p:nvSpPr>
          <p:cNvPr id="183" name="Google Shape;183;p12"/>
          <p:cNvSpPr txBox="1"/>
          <p:nvPr>
            <p:ph type="title"/>
          </p:nvPr>
        </p:nvSpPr>
        <p:spPr>
          <a:xfrm>
            <a:off x="1295400" y="685800"/>
            <a:ext cx="7086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FASES DE UMA EQUIPE</a:t>
            </a:r>
            <a:endParaRPr/>
          </a:p>
        </p:txBody>
      </p:sp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1295400" y="2133600"/>
            <a:ext cx="7086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528066" lvl="0" marL="528066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700"/>
              <a:buFont typeface="Noto Sans Symbols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	REGULAMENTAÇÃO : As pessoas já sabem quem é quem e começam a respeitar a posição do outro e saber como é o líder. (última oportunidade para cair a ficha e ficar na equipe)</a:t>
            </a:r>
            <a:endParaRPr b="0" i="0" sz="27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28066" lvl="0" marL="528066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700"/>
              <a:buFont typeface="Noto Sans Symbols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	MATURIDADE : Sabem como trabalhar e onde deverão chegar. O desempenho fica bem melhor, a produtividade aumenta.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191" name="Google Shape;191;p13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92" name="Google Shape;192;p13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13</a:t>
              </a:r>
              <a:endParaRPr/>
            </a:p>
          </p:txBody>
        </p:sp>
      </p:grpSp>
      <p:sp>
        <p:nvSpPr>
          <p:cNvPr id="194" name="Google Shape;194;p13"/>
          <p:cNvSpPr txBox="1"/>
          <p:nvPr>
            <p:ph type="title"/>
          </p:nvPr>
        </p:nvSpPr>
        <p:spPr>
          <a:xfrm>
            <a:off x="1295400" y="685800"/>
            <a:ext cx="7086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FASES DE UMA EQUIPE</a:t>
            </a:r>
            <a:endParaRPr/>
          </a:p>
        </p:txBody>
      </p:sp>
      <p:sp>
        <p:nvSpPr>
          <p:cNvPr id="195" name="Google Shape;195;p13"/>
          <p:cNvSpPr txBox="1"/>
          <p:nvPr>
            <p:ph idx="1" type="body"/>
          </p:nvPr>
        </p:nvSpPr>
        <p:spPr>
          <a:xfrm>
            <a:off x="1295400" y="2133600"/>
            <a:ext cx="7086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528066" lvl="0" marL="528066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700"/>
              <a:buFont typeface="Noto Sans Symbols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5-	ACOMODAÇÃO : As arestas já foram aparadas, o chefe é boa gente, a turma gosta de um chopinho na sexta, só falta implantar o projeto. (maravilha)</a:t>
            </a:r>
            <a:endParaRPr b="0" i="0" sz="27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88148" lvl="0" marL="1188148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025"/>
              <a:buFont typeface="Noto Sans Symbols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Obs: Aqui o papel do líder é fundamental, pois é ele que tem que jogar gasolina na fogueira. Só ficará tudo bem depois da aceitação do usuário.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202" name="Google Shape;202;p14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203" name="Google Shape;203;p14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14</a:t>
              </a:r>
              <a:endParaRPr/>
            </a:p>
          </p:txBody>
        </p:sp>
      </p:grpSp>
      <p:sp>
        <p:nvSpPr>
          <p:cNvPr id="205" name="Google Shape;205;p14"/>
          <p:cNvSpPr txBox="1"/>
          <p:nvPr>
            <p:ph type="title"/>
          </p:nvPr>
        </p:nvSpPr>
        <p:spPr>
          <a:xfrm>
            <a:off x="1295400" y="533400"/>
            <a:ext cx="7086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TIPOS DE PODER</a:t>
            </a:r>
            <a:endParaRPr/>
          </a:p>
        </p:txBody>
      </p:sp>
      <p:sp>
        <p:nvSpPr>
          <p:cNvPr id="206" name="Google Shape;206;p14"/>
          <p:cNvSpPr txBox="1"/>
          <p:nvPr>
            <p:ph idx="1" type="body"/>
          </p:nvPr>
        </p:nvSpPr>
        <p:spPr>
          <a:xfrm>
            <a:off x="1295400" y="1905000"/>
            <a:ext cx="7086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763807" lvl="0" marL="76380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025"/>
              <a:buFont typeface="Noto Sans Symbols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PODER DOS RECURSOS</a:t>
            </a:r>
            <a:endParaRPr b="0" i="0" sz="27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61881" lvl="1" marL="91451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Noto Sans Symbols"/>
              <a:buChar char="●"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DINHEIRO, PROPRIEDADES, ARMAS, ETC.</a:t>
            </a:r>
            <a:endParaRPr b="0" i="0" sz="23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763807" lvl="0" marL="76380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025"/>
              <a:buFont typeface="Noto Sans Symbols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PODER DA POSIÇÃO</a:t>
            </a:r>
            <a:endParaRPr b="0" i="0" sz="27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61881" lvl="1" marL="91451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Noto Sans Symbols"/>
              <a:buChar char="●"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Direito de tomar decisões, contratar ou demitir pessoas, alocar verbas, etc. (chamado de autoridade as vezes por ser oficial e legitimo)</a:t>
            </a:r>
            <a:endParaRPr b="0" i="0" sz="23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763807" lvl="0" marL="76380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025"/>
              <a:buFont typeface="Noto Sans Symbols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PODER TÉCNICO</a:t>
            </a:r>
            <a:endParaRPr b="0" i="0" sz="27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61881" lvl="1" marL="91451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Noto Sans Symbols"/>
              <a:buChar char="●"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Conhecimento, experiência, capacidade (também chamado de autoridade, mas sobre o assunto)</a:t>
            </a:r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213" name="Google Shape;213;p15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214" name="Google Shape;214;p15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15</a:t>
              </a:r>
              <a:endParaRPr/>
            </a:p>
          </p:txBody>
        </p:sp>
      </p:grpSp>
      <p:sp>
        <p:nvSpPr>
          <p:cNvPr id="216" name="Google Shape;216;p15"/>
          <p:cNvSpPr txBox="1"/>
          <p:nvPr>
            <p:ph type="title"/>
          </p:nvPr>
        </p:nvSpPr>
        <p:spPr>
          <a:xfrm>
            <a:off x="1295400" y="533400"/>
            <a:ext cx="7086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MÁ UTILIZAÇÃO DO PODER</a:t>
            </a:r>
            <a:endParaRPr/>
          </a:p>
        </p:txBody>
      </p:sp>
      <p:sp>
        <p:nvSpPr>
          <p:cNvPr id="217" name="Google Shape;217;p15"/>
          <p:cNvSpPr txBox="1"/>
          <p:nvPr>
            <p:ph idx="1" type="body"/>
          </p:nvPr>
        </p:nvSpPr>
        <p:spPr>
          <a:xfrm>
            <a:off x="1295400" y="1905000"/>
            <a:ext cx="7086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REJEIÇÃO DIRETA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TÁTICA DA ÚLTIMA GAVETA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MOBILIZAÇÃO DE APOIO POLITICO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NO FUTURO???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MAIORES ESPECIFICAÇÕES...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BODE EXPIATÓRIO...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DESVIO/DESCRÉDITO</a:t>
            </a:r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16</a:t>
              </a:r>
              <a:endParaRPr/>
            </a:p>
          </p:txBody>
        </p:sp>
      </p:grpSp>
      <p:sp>
        <p:nvSpPr>
          <p:cNvPr id="227" name="Google Shape;227;p16"/>
          <p:cNvSpPr txBox="1"/>
          <p:nvPr>
            <p:ph type="title"/>
          </p:nvPr>
        </p:nvSpPr>
        <p:spPr>
          <a:xfrm>
            <a:off x="1295400" y="381000"/>
            <a:ext cx="7086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Poder: Um novo desafio</a:t>
            </a:r>
            <a:endParaRPr/>
          </a:p>
        </p:txBody>
      </p:sp>
      <p:sp>
        <p:nvSpPr>
          <p:cNvPr id="228" name="Google Shape;228;p16"/>
          <p:cNvSpPr txBox="1"/>
          <p:nvPr>
            <p:ph idx="1" type="body"/>
          </p:nvPr>
        </p:nvSpPr>
        <p:spPr>
          <a:xfrm>
            <a:off x="609600" y="1600200"/>
            <a:ext cx="853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457200" lvl="1" marL="0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poder é bom e necessário porque permite todas as realizações, inclusive as ligadas a liderança, trabalho em equipe, gerenciamento de talentos. Possibilita, ainda, as ações transformadoras necessárias. Identificar o poder individual de cada um possibilita a autonomia e incentiva as iniciativas pessoais. 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235" name="Google Shape;235;p17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236" name="Google Shape;236;p17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17</a:t>
              </a:r>
              <a:endParaRPr/>
            </a:p>
          </p:txBody>
        </p:sp>
      </p:grpSp>
      <p:sp>
        <p:nvSpPr>
          <p:cNvPr id="238" name="Google Shape;238;p17"/>
          <p:cNvSpPr txBox="1"/>
          <p:nvPr>
            <p:ph type="title"/>
          </p:nvPr>
        </p:nvSpPr>
        <p:spPr>
          <a:xfrm>
            <a:off x="1295400" y="9906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DICAS</a:t>
            </a:r>
            <a:endParaRPr/>
          </a:p>
        </p:txBody>
      </p:sp>
      <p:sp>
        <p:nvSpPr>
          <p:cNvPr id="239" name="Google Shape;239;p17"/>
          <p:cNvSpPr txBox="1"/>
          <p:nvPr>
            <p:ph idx="1" type="body"/>
          </p:nvPr>
        </p:nvSpPr>
        <p:spPr>
          <a:xfrm>
            <a:off x="304800" y="2133600"/>
            <a:ext cx="8534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CONHECER CADA ELEMENTO DA EQUIPE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ANALISAR SEUS CONHECIMENTOS/FRAQUEZAS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TER UM BACK-UP NATURAL OU FORÇADO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SABER USAR OS FOFOQUEIROS (PORTA-VOZES)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MANTER BOM RELACIONAMENTO COM OS CHEFES, MAS PRINCIPALMENTE COM AS SECRETÁRIAS.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MANTER OS CONTROLES ATUALIZADOS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246" name="Google Shape;246;p18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247" name="Google Shape;247;p18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18</a:t>
              </a:r>
              <a:endParaRPr/>
            </a:p>
          </p:txBody>
        </p:sp>
      </p:grpSp>
      <p:sp>
        <p:nvSpPr>
          <p:cNvPr id="249" name="Google Shape;249;p18"/>
          <p:cNvSpPr txBox="1"/>
          <p:nvPr>
            <p:ph type="title"/>
          </p:nvPr>
        </p:nvSpPr>
        <p:spPr>
          <a:xfrm>
            <a:off x="304800" y="228600"/>
            <a:ext cx="8077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DIFERENÇAS EMPREGADO/PROFISSIONAL</a:t>
            </a:r>
            <a:endParaRPr/>
          </a:p>
        </p:txBody>
      </p:sp>
      <p:sp>
        <p:nvSpPr>
          <p:cNvPr id="250" name="Google Shape;250;p18"/>
          <p:cNvSpPr txBox="1"/>
          <p:nvPr>
            <p:ph idx="1" type="body"/>
          </p:nvPr>
        </p:nvSpPr>
        <p:spPr>
          <a:xfrm>
            <a:off x="304800" y="2133600"/>
            <a:ext cx="8534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9733" lvl="0" marL="82973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 = Troca energia por salário</a:t>
            </a:r>
            <a:endParaRPr/>
          </a:p>
          <a:p>
            <a:pPr indent="-829733" lvl="0" marL="82973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CC6600"/>
                </a:solidFill>
                <a:latin typeface="Tahoma"/>
                <a:ea typeface="Tahoma"/>
                <a:cs typeface="Tahoma"/>
                <a:sym typeface="Tahoma"/>
              </a:rPr>
              <a:t>P = O salário é conseqüência do trabalho</a:t>
            </a:r>
            <a:endParaRPr b="0" i="0" sz="2800" u="none" cap="none" strike="noStrike">
              <a:solidFill>
                <a:srgbClr val="CC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955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29733" lvl="0" marL="82973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 = Não tem interesse em se aperfeiçoar</a:t>
            </a:r>
            <a:endParaRPr/>
          </a:p>
          <a:p>
            <a:pPr indent="-829733" lvl="0" marL="82973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CC6600"/>
                </a:solidFill>
                <a:latin typeface="Tahoma"/>
                <a:ea typeface="Tahoma"/>
                <a:cs typeface="Tahoma"/>
                <a:sym typeface="Tahoma"/>
              </a:rPr>
              <a:t>P = Faz cursos na empresa e voluntariamente</a:t>
            </a:r>
            <a:endParaRPr b="0" i="0" sz="2800" u="none" cap="none" strike="noStrike">
              <a:solidFill>
                <a:srgbClr val="CC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955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29733" lvl="0" marL="82973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 = Faz o que lhe é ordenado</a:t>
            </a:r>
            <a:endParaRPr/>
          </a:p>
          <a:p>
            <a:pPr indent="-829733" lvl="0" marL="82973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CC6600"/>
                </a:solidFill>
                <a:latin typeface="Tahoma"/>
                <a:ea typeface="Tahoma"/>
                <a:cs typeface="Tahoma"/>
                <a:sym typeface="Tahoma"/>
              </a:rPr>
              <a:t>P = É inovador, dá idéias</a:t>
            </a: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257" name="Google Shape;257;p19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258" name="Google Shape;258;p19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19</a:t>
              </a:r>
              <a:endParaRPr/>
            </a:p>
          </p:txBody>
        </p:sp>
      </p:grpSp>
      <p:sp>
        <p:nvSpPr>
          <p:cNvPr id="260" name="Google Shape;260;p19"/>
          <p:cNvSpPr txBox="1"/>
          <p:nvPr>
            <p:ph type="title"/>
          </p:nvPr>
        </p:nvSpPr>
        <p:spPr>
          <a:xfrm>
            <a:off x="304800" y="228600"/>
            <a:ext cx="8077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DIFERENÇAS EMPREGADO/PROFISSIONAL</a:t>
            </a:r>
            <a:endParaRPr/>
          </a:p>
        </p:txBody>
      </p:sp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304800" y="2133599"/>
            <a:ext cx="8534400" cy="4572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 = Não passa seus conhecimentos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CC6600"/>
                </a:solidFill>
                <a:latin typeface="Tahoma"/>
                <a:ea typeface="Tahoma"/>
                <a:cs typeface="Tahoma"/>
                <a:sym typeface="Tahoma"/>
              </a:rPr>
              <a:t>P = Mais que dedicado é competente</a:t>
            </a:r>
            <a:endParaRPr b="0" i="0" sz="2800" u="none" cap="none" strike="noStrike">
              <a:solidFill>
                <a:srgbClr val="CC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 = Reivindica, cobra mais do que faz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CC6600"/>
                </a:solidFill>
                <a:latin typeface="Tahoma"/>
                <a:ea typeface="Tahoma"/>
                <a:cs typeface="Tahoma"/>
                <a:sym typeface="Tahoma"/>
              </a:rPr>
              <a:t>P = Delega poderes, ensina, coopera</a:t>
            </a:r>
            <a:endParaRPr b="0" i="0" sz="2800" u="none" cap="none" strike="noStrike">
              <a:solidFill>
                <a:srgbClr val="CC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 = Não vê perspectivas futuras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CC6600"/>
                </a:solidFill>
                <a:latin typeface="Tahoma"/>
                <a:ea typeface="Tahoma"/>
                <a:cs typeface="Tahoma"/>
                <a:sym typeface="Tahoma"/>
              </a:rPr>
              <a:t>P = Visualiza o seu futuro e o da empresa</a:t>
            </a:r>
            <a:endParaRPr b="0" i="0" sz="2800" u="none" cap="none" strike="noStrike">
              <a:solidFill>
                <a:srgbClr val="CC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 = Não se preocupa com qualidade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CC6600"/>
                </a:solidFill>
                <a:latin typeface="Tahoma"/>
                <a:ea typeface="Tahoma"/>
                <a:cs typeface="Tahoma"/>
                <a:sym typeface="Tahoma"/>
              </a:rPr>
              <a:t>P = Busca a excelência do produto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/>
        </p:nvSpPr>
        <p:spPr>
          <a:xfrm>
            <a:off x="6553200" y="6603999"/>
            <a:ext cx="18288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5/2/17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rPr>
              <a:t>Prof. Edgard</a:t>
            </a:r>
            <a:endParaRPr/>
          </a:p>
        </p:txBody>
      </p:sp>
      <p:grpSp>
        <p:nvGrpSpPr>
          <p:cNvPr id="268" name="Google Shape;268;p20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269" name="Google Shape;269;p20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cap="flat" cmpd="sng" w="5715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6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20</a:t>
              </a:r>
              <a:endParaRPr/>
            </a:p>
          </p:txBody>
        </p:sp>
      </p:grpSp>
      <p:sp>
        <p:nvSpPr>
          <p:cNvPr id="271" name="Google Shape;271;p20"/>
          <p:cNvSpPr txBox="1"/>
          <p:nvPr>
            <p:ph type="title"/>
          </p:nvPr>
        </p:nvSpPr>
        <p:spPr>
          <a:xfrm>
            <a:off x="457200" y="533400"/>
            <a:ext cx="8153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DESCREVA QUAL O PAPEL DE CADA UM NO DESENVOLVIMENTO DE UM PROJETO</a:t>
            </a:r>
            <a:endParaRPr/>
          </a:p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>
            <a:off x="381000" y="2819400"/>
            <a:ext cx="82296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9733" lvl="0" marL="829733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1- DIRETOR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2- GERENTES USUARIOS E DE T.I.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3- COORDENADORES / LIDERES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4- ANALISTAS DESENVOLVEDORES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5- PROGRAMADORES / SUPORTE TECNICO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6- OPERADORES</a:t>
            </a:r>
            <a:endParaRPr/>
          </a:p>
          <a:p>
            <a:pPr indent="-829733" lvl="0" marL="829733" marR="0" rtl="0" algn="l">
              <a:spcBef>
                <a:spcPts val="600"/>
              </a:spcBef>
              <a:spcAft>
                <a:spcPts val="0"/>
              </a:spcAft>
              <a:buClr>
                <a:srgbClr val="0099CC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7- USUARIOS FINAIS /EMPRESA</a:t>
            </a:r>
            <a:endParaRPr/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0099CC"/>
      </a:accent2>
      <a:accent3>
        <a:srgbClr val="AAAAB8"/>
      </a:accent3>
      <a:accent4>
        <a:srgbClr val="DADADA"/>
      </a:accent4>
      <a:accent5>
        <a:srgbClr val="AAE0C9"/>
      </a:accent5>
      <a:accent6>
        <a:srgbClr val="008BB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">
  <a:themeElements>
    <a:clrScheme name="Default">
      <a:dk1>
        <a:srgbClr val="000066"/>
      </a:dk1>
      <a:lt1>
        <a:srgbClr val="000066"/>
      </a:lt1>
      <a:dk2>
        <a:srgbClr val="A7A7A7"/>
      </a:dk2>
      <a:lt2>
        <a:srgbClr val="535353"/>
      </a:lt2>
      <a:accent1>
        <a:srgbClr val="00CC99"/>
      </a:accent1>
      <a:accent2>
        <a:srgbClr val="0099CC"/>
      </a:accent2>
      <a:accent3>
        <a:srgbClr val="AAAAB8"/>
      </a:accent3>
      <a:accent4>
        <a:srgbClr val="DADADA"/>
      </a:accent4>
      <a:accent5>
        <a:srgbClr val="AAE0C9"/>
      </a:accent5>
      <a:accent6>
        <a:srgbClr val="008BB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