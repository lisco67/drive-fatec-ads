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lvl1pPr>
      <a:defRPr sz="2400">
        <a:latin typeface="+mn-lt"/>
        <a:ea typeface="+mn-ea"/>
        <a:cs typeface="+mn-cs"/>
        <a:sym typeface="Avenir Roman"/>
      </a:defRPr>
    </a:lvl1pPr>
    <a:lvl2pPr>
      <a:defRPr sz="2400">
        <a:latin typeface="+mn-lt"/>
        <a:ea typeface="+mn-ea"/>
        <a:cs typeface="+mn-cs"/>
        <a:sym typeface="Avenir Roman"/>
      </a:defRPr>
    </a:lvl2pPr>
    <a:lvl3pPr>
      <a:defRPr sz="2400">
        <a:latin typeface="+mn-lt"/>
        <a:ea typeface="+mn-ea"/>
        <a:cs typeface="+mn-cs"/>
        <a:sym typeface="Avenir Roman"/>
      </a:defRPr>
    </a:lvl3pPr>
    <a:lvl4pPr>
      <a:defRPr sz="2400">
        <a:latin typeface="+mn-lt"/>
        <a:ea typeface="+mn-ea"/>
        <a:cs typeface="+mn-cs"/>
        <a:sym typeface="Avenir Roman"/>
      </a:defRPr>
    </a:lvl4pPr>
    <a:lvl5pPr>
      <a:defRPr sz="2400">
        <a:latin typeface="+mn-lt"/>
        <a:ea typeface="+mn-ea"/>
        <a:cs typeface="+mn-cs"/>
        <a:sym typeface="Avenir Roman"/>
      </a:defRPr>
    </a:lvl5pPr>
    <a:lvl6pPr>
      <a:defRPr sz="2400">
        <a:latin typeface="+mn-lt"/>
        <a:ea typeface="+mn-ea"/>
        <a:cs typeface="+mn-cs"/>
        <a:sym typeface="Avenir Roman"/>
      </a:defRPr>
    </a:lvl6pPr>
    <a:lvl7pPr>
      <a:defRPr sz="2400">
        <a:latin typeface="+mn-lt"/>
        <a:ea typeface="+mn-ea"/>
        <a:cs typeface="+mn-cs"/>
        <a:sym typeface="Avenir Roman"/>
      </a:defRPr>
    </a:lvl7pPr>
    <a:lvl8pPr>
      <a:defRPr sz="2400">
        <a:latin typeface="+mn-lt"/>
        <a:ea typeface="+mn-ea"/>
        <a:cs typeface="+mn-cs"/>
        <a:sym typeface="Avenir Roman"/>
      </a:defRPr>
    </a:lvl8pPr>
    <a:lvl9pPr>
      <a:defRPr sz="2400">
        <a:latin typeface="+mn-lt"/>
        <a:ea typeface="+mn-ea"/>
        <a:cs typeface="+mn-cs"/>
        <a:sym typeface="Avenir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9DFCC"/>
          </a:solidFill>
        </a:fill>
      </a:tcStyle>
    </a:wholeTbl>
    <a:band2H>
      <a:tcTxStyle/>
      <a:tcStyle>
        <a:tcBdr/>
        <a:fill>
          <a:solidFill>
            <a:srgbClr val="FCF0E7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0A22E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0A22E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0A22E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2E2E2"/>
          </a:solidFill>
        </a:fill>
      </a:tcStyle>
    </a:wholeTbl>
    <a:band2H>
      <a:tcTxStyle/>
      <a:tcStyle>
        <a:tcBdr/>
        <a:fill>
          <a:solidFill>
            <a:srgbClr val="F1F1F1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AAAAAA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AAAAAA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AAAAAA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CD0CE"/>
          </a:solidFill>
        </a:fill>
      </a:tcStyle>
    </a:wholeTbl>
    <a:band2H>
      <a:tcTxStyle/>
      <a:tcStyle>
        <a:tcBdr/>
        <a:fill>
          <a:solidFill>
            <a:srgbClr val="EEE9E8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55B47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55B47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55B47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A22E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A22E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5"/>
  </p:normalViewPr>
  <p:slideViewPr>
    <p:cSldViewPr snapToGrid="0" snapToObjects="1">
      <p:cViewPr varScale="1">
        <p:scale>
          <a:sx n="102" d="100"/>
          <a:sy n="102" d="100"/>
        </p:scale>
        <p:origin x="1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7" name="Shape 4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10" name="Shape 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12762" y="5340350"/>
            <a:ext cx="8631240" cy="17463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8229600" y="6473825"/>
            <a:ext cx="758825" cy="264969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8229600" y="6473825"/>
            <a:ext cx="758825" cy="264969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12762" y="3438525"/>
            <a:ext cx="8631240" cy="17463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12762" y="6010275"/>
            <a:ext cx="8631240" cy="19050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Shape 2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28" name="Shape 2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32" name="Shape 3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12762" y="5840412"/>
            <a:ext cx="8631240" cy="1746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hape 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40" name="Shape 4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512762" y="1042987"/>
            <a:ext cx="8631240" cy="17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1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512762" y="1042987"/>
            <a:ext cx="8631240" cy="17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2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512762" y="1047750"/>
            <a:ext cx="8631240" cy="190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5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5303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BEEC9"/>
                </a:solidFill>
              </a:rPr>
              <a:t>Nível de Corpo Cinco</a:t>
            </a:r>
          </a:p>
        </p:txBody>
      </p:sp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8229600" y="6477000"/>
            <a:ext cx="762000" cy="26496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D38E27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304800" y="198437"/>
            <a:ext cx="8686800" cy="1355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Texto do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1pPr>
      <a:lvl2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2pPr>
      <a:lvl3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3pPr>
      <a:lvl4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4pPr>
      <a:lvl5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5pPr>
      <a:lvl6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6pPr>
      <a:lvl7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7pPr>
      <a:lvl8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8pPr>
      <a:lvl9pPr>
        <a:defRPr sz="3600" b="1">
          <a:solidFill>
            <a:srgbClr val="FBEEC9"/>
          </a:solidFill>
          <a:latin typeface="Franklin Gothic Medium"/>
          <a:ea typeface="Franklin Gothic Medium"/>
          <a:cs typeface="Franklin Gothic Medium"/>
          <a:sym typeface="Franklin Gothic Medium"/>
        </a:defRPr>
      </a:lvl9pPr>
    </p:titleStyle>
    <p:bodyStyle>
      <a:lvl1pPr marL="342900" indent="-342900">
        <a:spcBef>
          <a:spcPts val="700"/>
        </a:spcBef>
        <a:buClr>
          <a:srgbClr val="F0A22E"/>
        </a:buClr>
        <a:buSzPct val="70000"/>
        <a:buFont typeface="Wingdings 2"/>
        <a:buChar char="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1pPr>
      <a:lvl2pPr marL="783771" indent="-326571">
        <a:spcBef>
          <a:spcPts val="700"/>
        </a:spcBef>
        <a:buClr>
          <a:srgbClr val="F0A22E"/>
        </a:buClr>
        <a:buSzPct val="70000"/>
        <a:buFont typeface="Wingdings 2"/>
        <a:buChar char="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2pPr>
      <a:lvl3pPr marL="1219200" indent="-304800">
        <a:spcBef>
          <a:spcPts val="700"/>
        </a:spcBef>
        <a:buClr>
          <a:srgbClr val="F0A22E"/>
        </a:buClr>
        <a:buSzPct val="70000"/>
        <a:buFont typeface="Wingdings 2"/>
        <a:buChar char="✕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3pPr>
      <a:lvl4pPr marL="1737360" indent="-365760">
        <a:spcBef>
          <a:spcPts val="700"/>
        </a:spcBef>
        <a:buClr>
          <a:srgbClr val="F0A22E"/>
        </a:buClr>
        <a:buSzPct val="70000"/>
        <a:buFont typeface="Wingdings 2"/>
        <a:buChar char="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4pPr>
      <a:lvl5pPr marL="2235200" indent="-406400">
        <a:spcBef>
          <a:spcPts val="700"/>
        </a:spcBef>
        <a:buClr>
          <a:srgbClr val="F0A22E"/>
        </a:buClr>
        <a:buSzPct val="60000"/>
        <a:buFont typeface="Wingdings 2"/>
        <a:buChar char="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5pPr>
      <a:lvl6pPr marL="2692400" indent="-406400">
        <a:spcBef>
          <a:spcPts val="700"/>
        </a:spcBef>
        <a:buClr>
          <a:srgbClr val="F0A22E"/>
        </a:buClr>
        <a:buSzPct val="60000"/>
        <a:buFont typeface="Wingdings 2"/>
        <a:buChar char="•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6pPr>
      <a:lvl7pPr marL="3149600" indent="-406400">
        <a:spcBef>
          <a:spcPts val="700"/>
        </a:spcBef>
        <a:buClr>
          <a:srgbClr val="F0A22E"/>
        </a:buClr>
        <a:buSzPct val="60000"/>
        <a:buFont typeface="Wingdings 2"/>
        <a:buChar char="•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7pPr>
      <a:lvl8pPr marL="3606800" indent="-406400">
        <a:spcBef>
          <a:spcPts val="700"/>
        </a:spcBef>
        <a:buClr>
          <a:srgbClr val="F0A22E"/>
        </a:buClr>
        <a:buSzPct val="60000"/>
        <a:buFont typeface="Wingdings 2"/>
        <a:buChar char="•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8pPr>
      <a:lvl9pPr marL="4064000" indent="-406400">
        <a:spcBef>
          <a:spcPts val="700"/>
        </a:spcBef>
        <a:buClr>
          <a:srgbClr val="F0A22E"/>
        </a:buClr>
        <a:buSzPct val="60000"/>
        <a:buFont typeface="Wingdings 2"/>
        <a:buChar char="•"/>
        <a:defRPr sz="3200">
          <a:solidFill>
            <a:srgbClr val="FBEEC9"/>
          </a:solidFill>
          <a:latin typeface="Franklin Gothic Book"/>
          <a:ea typeface="Franklin Gothic Book"/>
          <a:cs typeface="Franklin Gothic Book"/>
          <a:sym typeface="Franklin Gothic Book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1pPr>
      <a:lvl2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2pPr>
      <a:lvl3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3pPr>
      <a:lvl4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4pPr>
      <a:lvl5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5pPr>
      <a:lvl6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6pPr>
      <a:lvl7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7pPr>
      <a:lvl8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8pPr>
      <a:lvl9pPr algn="r">
        <a:defRPr sz="1200"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88912" y="1347787"/>
            <a:ext cx="9156701" cy="5473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428624" y="142873"/>
            <a:ext cx="8501065" cy="69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FF00"/>
                </a:solidFill>
              </a:rPr>
              <a:t>PLANO DE CONTINGÊNCIA</a:t>
            </a:r>
          </a:p>
        </p:txBody>
      </p:sp>
      <p:sp>
        <p:nvSpPr>
          <p:cNvPr id="53" name="Shape 53"/>
          <p:cNvSpPr/>
          <p:nvPr/>
        </p:nvSpPr>
        <p:spPr>
          <a:xfrm>
            <a:off x="285749" y="1500187"/>
            <a:ext cx="8643940" cy="4169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just">
              <a:defRPr sz="1800"/>
            </a:pPr>
            <a:r>
              <a:rPr sz="36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O </a:t>
            </a:r>
            <a:r>
              <a:rPr sz="3600" b="1" i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Planning Manual diz:</a:t>
            </a:r>
          </a:p>
          <a:p>
            <a:pPr lvl="0" algn="just">
              <a:defRPr sz="1800"/>
            </a:pPr>
            <a:endParaRPr sz="3600" b="1" i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just">
              <a:defRPr sz="1800"/>
            </a:pPr>
            <a:r>
              <a:rPr sz="3200" b="1" i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“planejamento em </a:t>
            </a: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situações críticas é a ação de visualizar uma situação final desejada e determinar meios efetivos para concretizar esta situação, auxiliando o tomador de decisão em ambientes incertos e limitados pelo tempo.”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428624" y="142873"/>
            <a:ext cx="8501065" cy="132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FF00"/>
                </a:solidFill>
              </a:rPr>
              <a:t>Contingência ou Plano de Continuidade de Negócios</a:t>
            </a:r>
          </a:p>
        </p:txBody>
      </p:sp>
      <p:sp>
        <p:nvSpPr>
          <p:cNvPr id="57" name="Shape 57"/>
          <p:cNvSpPr/>
          <p:nvPr/>
        </p:nvSpPr>
        <p:spPr>
          <a:xfrm>
            <a:off x="539750" y="1700210"/>
            <a:ext cx="8194675" cy="3546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Em um  mundo de negócios competitivos as empresas </a:t>
            </a:r>
          </a:p>
          <a:p>
            <a:pPr lvl="0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simplesmente não  podem  mais ficar  indisponíveis para seus clientes,mesmo  que tenham problemas  com seus processos de negócios,  recursos, dados e informações.</a:t>
            </a:r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28624" y="142873"/>
            <a:ext cx="8501065" cy="132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FF00"/>
                </a:solidFill>
              </a:rPr>
              <a:t>Plano de Continuidade de Negócios</a:t>
            </a:r>
          </a:p>
        </p:txBody>
      </p:sp>
      <p:sp>
        <p:nvSpPr>
          <p:cNvPr id="61" name="Shape 61"/>
          <p:cNvSpPr/>
          <p:nvPr/>
        </p:nvSpPr>
        <p:spPr>
          <a:xfrm>
            <a:off x="285749" y="1000124"/>
            <a:ext cx="8011462" cy="4232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endParaRPr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Definição para a TI: </a:t>
            </a: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Um plano de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resposta de emergência para recuperação 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  sistema após algum desastre.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Um programa de segurança para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assegurar a disponibilidade de recursos 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 sistema críticos e para facilitar a 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continuidade das operações durante </a:t>
            </a:r>
          </a:p>
          <a:p>
            <a:pPr lvl="0">
              <a:defRPr sz="1800"/>
            </a:pPr>
            <a:r>
              <a:rPr sz="3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uma crise.</a:t>
            </a:r>
          </a:p>
        </p:txBody>
      </p:sp>
    </p:spTree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285749" y="2071685"/>
            <a:ext cx="8501065" cy="132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FF00"/>
                </a:solidFill>
              </a:rPr>
              <a:t>Por que ter um Plano de continuidade de negocio ???</a:t>
            </a: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2.jpeg" descr="wtc2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714625" y="215900"/>
            <a:ext cx="4357688" cy="63611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530383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lvl="0" indent="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BEEC9"/>
                </a:solidFill>
              </a:rPr>
              <a:t>COM AS TORRES, AS COISAS NAO FUNCIONARAM MUITO BEM PORQUE:</a:t>
            </a:r>
            <a:endParaRPr sz="2300"/>
          </a:p>
          <a:p>
            <a:pPr marL="0" lvl="0" indent="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BEEC9"/>
                </a:solidFill>
              </a:rPr>
              <a:t>1) 78% DAS EMPRESAS TINHAM SEUS BACK-UPS NA OUTRA TORRE.</a:t>
            </a:r>
            <a:endParaRPr sz="2300"/>
          </a:p>
          <a:p>
            <a:pPr marL="0" lvl="0" indent="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BEEC9"/>
                </a:solidFill>
              </a:rPr>
              <a:t>2) 90% DAS EMPRESAS PERDERAM TUDO E NAO VOLTARAM A FUNCIONAR</a:t>
            </a:r>
            <a:endParaRPr sz="2300"/>
          </a:p>
          <a:p>
            <a:pPr marL="0" lvl="0" indent="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BEEC9"/>
                </a:solidFill>
              </a:rPr>
              <a:t>3) AS EMPRESAS QUE CONSEGUIRAM SALVAR ALGUMA COISA, FALIRAM EM 6 MESES.</a:t>
            </a:r>
            <a:endParaRPr sz="2300"/>
          </a:p>
          <a:p>
            <a:pPr marL="0" lvl="0" indent="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BEEC9"/>
                </a:solidFill>
              </a:rPr>
              <a:t>NINGUÉM ACREDITAVA QUE ISSO PUDESSE ACONTECER, PRINCIPALMENTE O PENTÁGONO</a:t>
            </a:r>
            <a:r>
              <a:rPr sz="2400">
                <a:solidFill>
                  <a:srgbClr val="FBEEC9"/>
                </a:solidFill>
              </a:rPr>
              <a:t>.</a:t>
            </a:r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304800" y="198435"/>
            <a:ext cx="8686800" cy="1355729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BEEC9"/>
                </a:solidFill>
              </a:rPr>
              <a:t>CASO CRITICO -</a:t>
            </a:r>
          </a:p>
        </p:txBody>
      </p:sp>
      <p:sp>
        <p:nvSpPr>
          <p:cNvPr id="72" name="Shape 72"/>
          <p:cNvSpPr>
            <a:spLocks noGrp="1"/>
          </p:cNvSpPr>
          <p:nvPr>
            <p:ph type="sldNum" sz="quarter" idx="2"/>
          </p:nvPr>
        </p:nvSpPr>
        <p:spPr>
          <a:xfrm>
            <a:off x="8229600" y="6473825"/>
            <a:ext cx="758825" cy="26497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200">
                <a:solidFill>
                  <a:srgbClr val="D38E27"/>
                </a:solidFill>
              </a:rPr>
              <a:t>7</a:t>
            </a:fld>
            <a:endParaRPr sz="1200">
              <a:solidFill>
                <a:srgbClr val="D38E27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3.jpeg" descr="282415-005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214560" y="307975"/>
            <a:ext cx="5064130" cy="5969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/>
        </p:nvSpPr>
        <p:spPr>
          <a:xfrm>
            <a:off x="428624" y="142873"/>
            <a:ext cx="8501065" cy="3810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ctr">
              <a:defRPr sz="1800"/>
            </a:pPr>
            <a:endParaRPr sz="4000" b="1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endParaRPr sz="4000" b="1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endParaRPr sz="4000" b="1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Plano de Continuidade de Negócios</a:t>
            </a:r>
          </a:p>
          <a:p>
            <a:pPr lvl="0" algn="ctr">
              <a:defRPr sz="1800"/>
            </a:pPr>
            <a:r>
              <a: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No GOVERNO</a:t>
            </a:r>
          </a:p>
        </p:txBody>
      </p:sp>
      <p:sp>
        <p:nvSpPr>
          <p:cNvPr id="78" name="Shape 78"/>
          <p:cNvSpPr/>
          <p:nvPr/>
        </p:nvSpPr>
        <p:spPr>
          <a:xfrm>
            <a:off x="-31539" y="1428749"/>
            <a:ext cx="6332115" cy="62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                                                 </a:t>
            </a:r>
          </a:p>
        </p:txBody>
      </p:sp>
      <p:sp>
        <p:nvSpPr>
          <p:cNvPr id="79" name="Shape 79"/>
          <p:cNvSpPr/>
          <p:nvPr/>
        </p:nvSpPr>
        <p:spPr>
          <a:xfrm>
            <a:off x="6477000" y="76199"/>
            <a:ext cx="2514600" cy="264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D38E27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D38E27"/>
                </a:solidFill>
              </a:rPr>
              <a:t>11/3/16</a:t>
            </a:r>
          </a:p>
        </p:txBody>
      </p:sp>
    </p:spTree>
  </p:cSld>
  <p:clrMapOvr>
    <a:masterClrMapping/>
  </p:clrMapOvr>
  <p:transition>
    <p:newsfla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/>
        </p:nvSpPr>
        <p:spPr>
          <a:xfrm>
            <a:off x="-1" y="714373"/>
            <a:ext cx="8990015" cy="4637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Levantamento feito pela </a:t>
            </a:r>
          </a:p>
          <a:p>
            <a:pPr lvl="0" algn="ctr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Secretaria de Fiscalização  de TI (Sefti), </a:t>
            </a:r>
          </a:p>
          <a:p>
            <a:pPr lvl="0" algn="ctr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do Tribunal de Contas da União, </a:t>
            </a:r>
          </a:p>
          <a:p>
            <a:pPr lvl="0" algn="ctr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concluiu  que</a:t>
            </a:r>
          </a:p>
          <a:p>
            <a:pPr lvl="0" algn="ctr">
              <a:defRPr sz="1800"/>
            </a:pPr>
            <a:r>
              <a:rPr sz="32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97% das áreas de TI do governo</a:t>
            </a:r>
          </a:p>
          <a:p>
            <a:pPr lvl="0" algn="ctr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não possuem </a:t>
            </a:r>
          </a:p>
          <a:p>
            <a:pPr lvl="0" algn="ctr">
              <a:defRPr sz="1800"/>
            </a:pPr>
            <a:r>
              <a:rPr sz="32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plano de continuidade de negócio em vigor.</a:t>
            </a:r>
            <a:endParaRPr sz="36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                                            </a:t>
            </a:r>
          </a:p>
          <a:p>
            <a:pPr lvl="0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                                              </a:t>
            </a:r>
          </a:p>
        </p:txBody>
      </p:sp>
      <p:sp>
        <p:nvSpPr>
          <p:cNvPr id="82" name="Shape 82"/>
          <p:cNvSpPr/>
          <p:nvPr/>
        </p:nvSpPr>
        <p:spPr>
          <a:xfrm>
            <a:off x="285748" y="6215062"/>
            <a:ext cx="5230950" cy="36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8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FONTE:  TCU - Plenário - Ministro Aroldo Cedraz; </a:t>
            </a:r>
          </a:p>
        </p:txBody>
      </p:sp>
    </p:spTree>
  </p:cSld>
  <p:clrMapOvr>
    <a:masterClrMapping/>
  </p:clrMapOvr>
  <p:transition>
    <p:newsfla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/>
        </p:nvSpPr>
        <p:spPr>
          <a:xfrm>
            <a:off x="359329" y="1232109"/>
            <a:ext cx="8535276" cy="1170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                                            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                                              </a:t>
            </a:r>
          </a:p>
        </p:txBody>
      </p:sp>
      <p:sp>
        <p:nvSpPr>
          <p:cNvPr id="86" name="Shape 86"/>
          <p:cNvSpPr/>
          <p:nvPr/>
        </p:nvSpPr>
        <p:spPr>
          <a:xfrm>
            <a:off x="285748" y="6215062"/>
            <a:ext cx="5230950" cy="36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8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FONTE:  TCU - Plenário - Ministro Aroldo Cedraz; </a:t>
            </a:r>
          </a:p>
        </p:txBody>
      </p:sp>
      <p:sp>
        <p:nvSpPr>
          <p:cNvPr id="87" name="Shape 87"/>
          <p:cNvSpPr/>
          <p:nvPr/>
        </p:nvSpPr>
        <p:spPr>
          <a:xfrm>
            <a:off x="222250" y="510396"/>
            <a:ext cx="8535273" cy="43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1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53 %</a:t>
            </a:r>
            <a:r>
              <a:rPr sz="21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NÃO têm processo de software ao menos  “gerenciado”</a:t>
            </a:r>
          </a:p>
          <a:p>
            <a:pPr lvl="0">
              <a:defRPr sz="1800"/>
            </a:pPr>
            <a:endParaRPr sz="21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1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63% </a:t>
            </a:r>
            <a:r>
              <a:rPr sz="21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NÃO aprovam e publicam PDTI interno ou externamente;</a:t>
            </a:r>
          </a:p>
          <a:p>
            <a:pPr lvl="0">
              <a:defRPr sz="1800"/>
            </a:pPr>
            <a:endParaRPr sz="21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1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65% </a:t>
            </a:r>
            <a:r>
              <a:rPr sz="21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NÃO possuem política corporativa de segurança da informação</a:t>
            </a:r>
          </a:p>
          <a:p>
            <a:pPr lvl="0">
              <a:defRPr sz="1800"/>
            </a:pPr>
            <a:endParaRPr sz="21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1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75% </a:t>
            </a:r>
            <a:r>
              <a:rPr sz="21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NÃO gerenciam os incidentes de segurança da informação.</a:t>
            </a:r>
          </a:p>
          <a:p>
            <a:pPr lvl="0">
              <a:defRPr sz="1800"/>
            </a:pPr>
            <a:endParaRPr sz="21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1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83% </a:t>
            </a:r>
            <a:r>
              <a:rPr sz="21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NÃO analisam os riscos aos quais a informação está submetida;</a:t>
            </a:r>
          </a:p>
          <a:p>
            <a:pPr lvl="0">
              <a:defRPr sz="1800"/>
            </a:pPr>
            <a:endParaRPr sz="21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1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89% </a:t>
            </a:r>
            <a:r>
              <a:rPr sz="21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NÃO classificam a informação para o negocio;</a:t>
            </a:r>
          </a:p>
        </p:txBody>
      </p:sp>
    </p:spTree>
  </p:cSld>
  <p:clrMapOvr>
    <a:masterClrMapping/>
  </p:clrMapOvr>
  <p:transition>
    <p:newsfla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632036" y="1428749"/>
            <a:ext cx="6332115" cy="1170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                                            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                                                </a:t>
            </a:r>
          </a:p>
        </p:txBody>
      </p:sp>
      <p:sp>
        <p:nvSpPr>
          <p:cNvPr id="91" name="Shape 91"/>
          <p:cNvSpPr/>
          <p:nvPr/>
        </p:nvSpPr>
        <p:spPr>
          <a:xfrm>
            <a:off x="285748" y="6215062"/>
            <a:ext cx="5230950" cy="36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8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FONTE:  TCU - Plenário - Ministro Aroldo Cedraz; </a:t>
            </a:r>
          </a:p>
        </p:txBody>
      </p:sp>
      <p:sp>
        <p:nvSpPr>
          <p:cNvPr id="92" name="Shape 92"/>
          <p:cNvSpPr/>
          <p:nvPr/>
        </p:nvSpPr>
        <p:spPr>
          <a:xfrm>
            <a:off x="107949" y="285749"/>
            <a:ext cx="8965893" cy="4133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r>
              <a:rPr sz="2400" b="1" u="sng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 alta administração NÃO:</a:t>
            </a:r>
          </a:p>
          <a:p>
            <a:pPr lvl="0">
              <a:defRPr sz="1800"/>
            </a:pPr>
            <a:endParaRPr sz="2400" b="1" u="sng">
              <a:solidFill>
                <a:srgbClr val="C87D0E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400" b="1">
                <a:solidFill>
                  <a:srgbClr val="F2F2F2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...  se responsabiliza pelas políticas de TI  </a:t>
            </a:r>
            <a:r>
              <a:rPr sz="24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(51%)</a:t>
            </a:r>
          </a:p>
          <a:p>
            <a:pPr lvl="0">
              <a:defRPr sz="1800"/>
            </a:pPr>
            <a:endParaRPr sz="2400" b="1">
              <a:solidFill>
                <a:srgbClr val="C87D0E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400" b="1">
                <a:solidFill>
                  <a:srgbClr val="F2F2F2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... designou formalmente um comitê de TI </a:t>
            </a:r>
            <a:r>
              <a:rPr sz="24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(48%)</a:t>
            </a:r>
          </a:p>
          <a:p>
            <a:pPr lvl="0">
              <a:defRPr sz="1800"/>
            </a:pPr>
            <a:endParaRPr sz="2400" b="1">
              <a:solidFill>
                <a:srgbClr val="C87D0E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400" b="1">
                <a:solidFill>
                  <a:srgbClr val="F2F2F2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... estabeleceu objetivos de desempenho de gestão e uso de TI </a:t>
            </a:r>
            <a:r>
              <a:rPr sz="24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(57%)</a:t>
            </a:r>
          </a:p>
          <a:p>
            <a:pPr lvl="0">
              <a:defRPr sz="1800"/>
            </a:pPr>
            <a:endParaRPr sz="2400" b="1">
              <a:solidFill>
                <a:srgbClr val="C87D0E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400" b="1">
                <a:solidFill>
                  <a:srgbClr val="F2F2F2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... Definiu indicadores de desempenho de gestão e uso de TI </a:t>
            </a:r>
            <a:r>
              <a:rPr sz="2400" b="1">
                <a:solidFill>
                  <a:srgbClr val="C87D0E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(76%)</a:t>
            </a:r>
          </a:p>
        </p:txBody>
      </p:sp>
    </p:spTree>
  </p:cSld>
  <p:clrMapOvr>
    <a:masterClrMapping/>
  </p:clrMapOvr>
  <p:transition>
    <p:newsfla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428624" y="142873"/>
            <a:ext cx="8501065" cy="4020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ctr">
              <a:defRPr sz="1800"/>
            </a:pPr>
            <a:endParaRPr sz="4000" b="1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endParaRPr sz="4000" b="1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endParaRPr sz="4000" b="1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Princípios para a elaboração</a:t>
            </a:r>
          </a:p>
          <a:p>
            <a:pPr lvl="0" algn="ctr">
              <a:defRPr sz="1800"/>
            </a:pPr>
            <a:r>
              <a: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do</a:t>
            </a:r>
          </a:p>
          <a:p>
            <a:pPr lvl="0" algn="ctr">
              <a:defRPr sz="1800"/>
            </a:pPr>
            <a:r>
              <a:rPr sz="4000">
                <a:solidFill>
                  <a:srgbClr val="C87D0E"/>
                </a:solidFill>
                <a:latin typeface="Matura MT Script Capitals"/>
                <a:ea typeface="Matura MT Script Capitals"/>
                <a:cs typeface="Matura MT Script Capitals"/>
                <a:sym typeface="Matura MT Script Capitals"/>
              </a:rPr>
              <a:t>Plano de Continuidade de Negócios</a:t>
            </a:r>
          </a:p>
        </p:txBody>
      </p:sp>
    </p:spTree>
  </p:cSld>
  <p:clrMapOvr>
    <a:masterClrMapping/>
  </p:clrMapOvr>
  <p:transition>
    <p:check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/>
        </p:nvSpPr>
        <p:spPr>
          <a:xfrm>
            <a:off x="400359" y="855661"/>
            <a:ext cx="6076339" cy="3985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buClr>
                <a:srgbClr val="FFFFFF"/>
              </a:buClr>
              <a:buSzPct val="100000"/>
              <a:buFont typeface="Helvetica Neue"/>
              <a:buChar char="-"/>
              <a:defRPr sz="1800"/>
            </a:pP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Identificar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a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responsabilidade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de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organizações</a:t>
            </a:r>
            <a:endParaRPr sz="2300" b="1" dirty="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indivíduos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que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desenvolvem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ações</a:t>
            </a:r>
            <a:endParaRPr sz="2300" b="1" dirty="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específicas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em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emergências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;</a:t>
            </a:r>
          </a:p>
          <a:p>
            <a:pPr lvl="0" algn="ctr">
              <a:defRPr sz="1800"/>
            </a:pPr>
            <a:endParaRPr sz="2300" b="1" dirty="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buClr>
                <a:srgbClr val="FFFFFF"/>
              </a:buClr>
              <a:buSzPct val="100000"/>
              <a:buFont typeface="Helvetica Neue"/>
              <a:buChar char="-"/>
              <a:defRPr sz="1800"/>
            </a:pP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Descrever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as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linhas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de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autoridade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e </a:t>
            </a:r>
          </a:p>
          <a:p>
            <a:pPr lvl="0" algn="ctr">
              <a:defRPr sz="1800"/>
            </a:pP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relacionamento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entre as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agências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envolvidas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, </a:t>
            </a:r>
          </a:p>
          <a:p>
            <a:pPr lvl="0" algn="ctr">
              <a:defRPr sz="1800"/>
            </a:pP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mostrando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como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as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ações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serão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coordenadas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;</a:t>
            </a:r>
          </a:p>
          <a:p>
            <a:pPr lvl="0" algn="ctr">
              <a:defRPr sz="1800"/>
            </a:pPr>
            <a:endParaRPr sz="2300" b="1" dirty="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buClr>
                <a:srgbClr val="FFFFFF"/>
              </a:buClr>
              <a:buSzPct val="100000"/>
              <a:buFont typeface="Helvetica Neue"/>
              <a:buChar char="-"/>
              <a:defRPr sz="1800"/>
            </a:pP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Descrever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como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as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pessoas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, o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meio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ambiente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</a:p>
          <a:p>
            <a:pPr lvl="0" algn="ctr">
              <a:defRPr sz="1800"/>
            </a:pP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 as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propriedades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serão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protegidas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</a:p>
          <a:p>
            <a:pPr lvl="0" algn="ctr">
              <a:defRPr sz="1800"/>
            </a:pP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durante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</a:t>
            </a:r>
            <a:r>
              <a:rPr sz="2300" b="1" dirty="0" err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emergências</a:t>
            </a:r>
            <a:r>
              <a:rPr sz="2300" b="1" dirty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;</a:t>
            </a:r>
          </a:p>
        </p:txBody>
      </p:sp>
    </p:spTree>
  </p:cSld>
  <p:clrMapOvr>
    <a:masterClrMapping/>
  </p:clrMapOvr>
  <p:transition>
    <p:check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-2" y="571499"/>
            <a:ext cx="9144004" cy="437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endParaRPr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buClr>
                <a:srgbClr val="FFFFFF"/>
              </a:buClr>
              <a:buSzPct val="100000"/>
              <a:buFont typeface="Helvetica Neue"/>
              <a:buChar char="-"/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Identificar pessoal, equipamento, instalações, </a:t>
            </a:r>
          </a:p>
          <a:p>
            <a:pPr lvl="0" algn="ctr"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Suprimentos e outros recursos disponíveis </a:t>
            </a:r>
          </a:p>
          <a:p>
            <a:pPr lvl="0" algn="ctr"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para a resposta às emergências,</a:t>
            </a:r>
          </a:p>
          <a:p>
            <a:pPr lvl="0" algn="ctr"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e como serão mobilizados;</a:t>
            </a:r>
          </a:p>
          <a:p>
            <a:pPr lvl="0">
              <a:defRPr sz="1800"/>
            </a:pPr>
            <a:endParaRPr sz="2900" b="1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buClr>
                <a:srgbClr val="FFFFFF"/>
              </a:buClr>
              <a:buSzPct val="100000"/>
              <a:buFont typeface="Helvetica Neue"/>
              <a:buChar char="-"/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Identificar ações que devem </a:t>
            </a:r>
          </a:p>
          <a:p>
            <a:pPr lvl="0" algn="ctr"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ser implementadas </a:t>
            </a:r>
          </a:p>
          <a:p>
            <a:pPr lvl="0" algn="ctr"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antes, durante e após </a:t>
            </a:r>
          </a:p>
          <a:p>
            <a:pPr lvl="0" algn="ctr">
              <a:defRPr sz="1800"/>
            </a:pPr>
            <a:r>
              <a:rPr sz="2900" b="1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 ocorrência de emergências.</a:t>
            </a:r>
          </a:p>
        </p:txBody>
      </p:sp>
    </p:spTree>
  </p:cSld>
  <p:clrMapOvr>
    <a:masterClrMapping/>
  </p:clrMapOvr>
  <p:transition>
    <p:check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/>
        </p:nvSpPr>
        <p:spPr>
          <a:xfrm>
            <a:off x="428624" y="142873"/>
            <a:ext cx="8501065" cy="132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FF00"/>
                </a:solidFill>
              </a:rPr>
              <a:t>Minha empresa esta preparada ???</a:t>
            </a:r>
          </a:p>
        </p:txBody>
      </p:sp>
      <p:sp>
        <p:nvSpPr>
          <p:cNvPr id="105" name="Shape 105"/>
          <p:cNvSpPr/>
          <p:nvPr/>
        </p:nvSpPr>
        <p:spPr>
          <a:xfrm>
            <a:off x="1423226" y="1928810"/>
            <a:ext cx="6899209" cy="2682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5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Questionamentos que um alto </a:t>
            </a:r>
          </a:p>
          <a:p>
            <a:pPr lvl="0" algn="ctr">
              <a:defRPr sz="1800"/>
            </a:pPr>
            <a:r>
              <a:rPr sz="35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executivo  deve fazer </a:t>
            </a:r>
          </a:p>
          <a:p>
            <a:pPr lvl="0" algn="ctr">
              <a:defRPr sz="1800"/>
            </a:pPr>
            <a:r>
              <a:rPr sz="35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Para saber se a sua</a:t>
            </a:r>
          </a:p>
          <a:p>
            <a:pPr lvl="0" algn="ctr">
              <a:defRPr sz="1800"/>
            </a:pPr>
            <a:r>
              <a:rPr sz="35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organização está preparada para</a:t>
            </a:r>
          </a:p>
          <a:p>
            <a:pPr lvl="0" algn="ctr">
              <a:defRPr sz="1800"/>
            </a:pPr>
            <a:r>
              <a:rPr sz="35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o inevitável</a:t>
            </a:r>
            <a:r>
              <a:rPr sz="3500">
                <a:solidFill>
                  <a:srgbClr val="E2AC76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:</a:t>
            </a:r>
          </a:p>
        </p:txBody>
      </p:sp>
    </p:spTree>
  </p:cSld>
  <p:clrMapOvr>
    <a:masterClrMapping/>
  </p:clrMapOvr>
  <p:transition>
    <p:pull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-1" y="1357312"/>
            <a:ext cx="8749067" cy="57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just">
              <a:defRPr sz="3200">
                <a:solidFill>
                  <a:srgbClr val="FFFF00"/>
                </a:solidFill>
                <a:latin typeface="Bell MT"/>
                <a:ea typeface="Bell MT"/>
                <a:cs typeface="Bell MT"/>
                <a:sym typeface="Bell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00"/>
                </a:solidFill>
              </a:rPr>
              <a:t>Quais são os principais negócios da minha empresa ?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4294967295"/>
          </p:nvPr>
        </p:nvSpPr>
        <p:spPr>
          <a:xfrm>
            <a:off x="224234" y="2438400"/>
            <a:ext cx="8131275" cy="384239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400">
                <a:solidFill>
                  <a:srgbClr val="FCBD32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CBD32"/>
                </a:solidFill>
              </a:rPr>
              <a:t>NUMA EMPRESA, QUE OPERE COM VARIOS TIPOS DE SEGMENTOS DE  NEGÓCIOS DOS TIPOS: ALIMENTOS, HIGIENE, PERFUMARIA, ETC. HA A NECESSIDADE DE DEFINIR QUAIS OS NEGÓCIOS PRIORITÁRIOS. TAREFA EXTREMAMENTE DIFÍCIL, POIS TODOS PODEM SER CONSIDERADOS PRIORITÁRIOS, CADA UM NO SEU SEGMENTO DE MERCADO.</a:t>
            </a:r>
          </a:p>
        </p:txBody>
      </p:sp>
    </p:spTree>
  </p:cSld>
  <p:clrMapOvr>
    <a:masterClrMapping/>
  </p:clrMapOvr>
  <p:transition>
    <p:pull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/>
        </p:nvSpPr>
        <p:spPr>
          <a:xfrm>
            <a:off x="-1" y="1357312"/>
            <a:ext cx="8749067" cy="57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just">
              <a:defRPr sz="3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Quais são os principais negócios da minha empresa ?</a:t>
            </a:r>
          </a:p>
        </p:txBody>
      </p:sp>
      <p:sp>
        <p:nvSpPr>
          <p:cNvPr id="114" name="Shape 114"/>
          <p:cNvSpPr/>
          <p:nvPr/>
        </p:nvSpPr>
        <p:spPr>
          <a:xfrm>
            <a:off x="407985" y="2214560"/>
            <a:ext cx="8900376" cy="95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r>
              <a:rPr sz="2800">
                <a:solidFill>
                  <a:srgbClr val="FFFF0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rPr>
              <a:t>Quais são os fatores de risco operacionais que podem </a:t>
            </a:r>
          </a:p>
          <a:p>
            <a:pPr lvl="0">
              <a:defRPr sz="1800"/>
            </a:pPr>
            <a:r>
              <a:rPr sz="2800">
                <a:solidFill>
                  <a:srgbClr val="FFFF0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rPr>
              <a:t>afetar seriamente os negócios da empresa ?</a:t>
            </a:r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/>
        </p:nvSpPr>
        <p:spPr>
          <a:xfrm>
            <a:off x="-1" y="1357312"/>
            <a:ext cx="8749067" cy="57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just">
              <a:defRPr sz="3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Quais são os principais negócios da minha empresa ?</a:t>
            </a:r>
          </a:p>
        </p:txBody>
      </p:sp>
      <p:sp>
        <p:nvSpPr>
          <p:cNvPr id="119" name="Shape 119"/>
          <p:cNvSpPr/>
          <p:nvPr/>
        </p:nvSpPr>
        <p:spPr>
          <a:xfrm>
            <a:off x="571498" y="2214560"/>
            <a:ext cx="8900376" cy="95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r>
              <a:rPr sz="2800">
                <a:solidFill>
                  <a:srgbClr val="FFFFFF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rPr>
              <a:t>Quais são os fatores de risco operacionais que podem </a:t>
            </a:r>
          </a:p>
          <a:p>
            <a:pPr lvl="0">
              <a:defRPr sz="1800"/>
            </a:pPr>
            <a:r>
              <a:rPr sz="2800">
                <a:solidFill>
                  <a:srgbClr val="FFFFFF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rPr>
              <a:t>afetar seriamente os negócios da empresa ?</a:t>
            </a:r>
          </a:p>
        </p:txBody>
      </p:sp>
      <p:sp>
        <p:nvSpPr>
          <p:cNvPr id="120" name="Shape 120"/>
          <p:cNvSpPr/>
          <p:nvPr/>
        </p:nvSpPr>
        <p:spPr>
          <a:xfrm>
            <a:off x="-1" y="3643312"/>
            <a:ext cx="8929690" cy="1767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600">
                <a:solidFill>
                  <a:srgbClr val="FFFF00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Qual seria o impacto nas receitas geradas pelo negócio da </a:t>
            </a:r>
            <a:endParaRPr sz="2600">
              <a:solidFill>
                <a:srgbClr val="FFFF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600">
                <a:solidFill>
                  <a:srgbClr val="FFFF00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empresa se um ou mais fatores de risco se manifestasse ?</a:t>
            </a:r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/>
        </p:nvSpPr>
        <p:spPr>
          <a:xfrm>
            <a:off x="-1" y="1357312"/>
            <a:ext cx="8749067" cy="57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just">
              <a:defRPr sz="3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Quais são os principais negócios da minha empresa ?</a:t>
            </a:r>
          </a:p>
        </p:txBody>
      </p:sp>
      <p:sp>
        <p:nvSpPr>
          <p:cNvPr id="125" name="Shape 125"/>
          <p:cNvSpPr/>
          <p:nvPr/>
        </p:nvSpPr>
        <p:spPr>
          <a:xfrm>
            <a:off x="571498" y="2214560"/>
            <a:ext cx="8900376" cy="95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r>
              <a:rPr sz="2800">
                <a:solidFill>
                  <a:srgbClr val="FFFFFF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rPr>
              <a:t>Quais são os fatores de risco operacionais que podem </a:t>
            </a:r>
          </a:p>
          <a:p>
            <a:pPr lvl="0">
              <a:defRPr sz="1800"/>
            </a:pPr>
            <a:r>
              <a:rPr sz="2800">
                <a:solidFill>
                  <a:srgbClr val="FFFFFF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rPr>
              <a:t>afetar seriamente os negócios da empresa ?</a:t>
            </a:r>
          </a:p>
        </p:txBody>
      </p:sp>
      <p:sp>
        <p:nvSpPr>
          <p:cNvPr id="126" name="Shape 126"/>
          <p:cNvSpPr/>
          <p:nvPr/>
        </p:nvSpPr>
        <p:spPr>
          <a:xfrm>
            <a:off x="-1" y="3643312"/>
            <a:ext cx="8929690" cy="1292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Qual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seria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o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impacto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nas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receitas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geradas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pelo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negócio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da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empresa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se um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ou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mais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fatores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de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risco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se </a:t>
            </a:r>
            <a:r>
              <a:rPr sz="2600" b="1" dirty="0" err="1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manifestasse</a:t>
            </a:r>
            <a:r>
              <a:rPr sz="2600" b="1" dirty="0">
                <a:solidFill>
                  <a:srgbClr val="FFFFFF"/>
                </a:solidFill>
                <a:latin typeface="Gill Sans UltraBold"/>
                <a:ea typeface="Gill Sans UltraBold"/>
                <a:cs typeface="Gill Sans UltraBold"/>
                <a:sym typeface="Gill Sans UltraBold"/>
              </a:rPr>
              <a:t> ?</a:t>
            </a:r>
          </a:p>
        </p:txBody>
      </p:sp>
      <p:sp>
        <p:nvSpPr>
          <p:cNvPr id="127" name="Shape 127"/>
          <p:cNvSpPr/>
          <p:nvPr/>
        </p:nvSpPr>
        <p:spPr>
          <a:xfrm>
            <a:off x="107949" y="5214937"/>
            <a:ext cx="7963056" cy="105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r>
              <a:rPr sz="3200" b="1">
                <a:solidFill>
                  <a:srgbClr val="FFFF00"/>
                </a:solidFill>
                <a:latin typeface="Cooper Black"/>
                <a:ea typeface="Cooper Black"/>
                <a:cs typeface="Cooper Black"/>
                <a:sym typeface="Cooper Black"/>
              </a:rPr>
              <a:t>Como a empresa está preparada para</a:t>
            </a:r>
          </a:p>
          <a:p>
            <a:pPr lvl="0">
              <a:defRPr sz="1800"/>
            </a:pPr>
            <a:r>
              <a:rPr sz="3200" b="1">
                <a:solidFill>
                  <a:srgbClr val="FFFF00"/>
                </a:solidFill>
                <a:latin typeface="Cooper Black"/>
                <a:ea typeface="Cooper Black"/>
                <a:cs typeface="Cooper Black"/>
                <a:sym typeface="Cooper Black"/>
              </a:rPr>
              <a:t> lidar com o inevitável ou o inesperado ?</a:t>
            </a: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/>
        </p:nvSpPr>
        <p:spPr>
          <a:xfrm>
            <a:off x="428624" y="142873"/>
            <a:ext cx="8501065" cy="132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FF00"/>
                </a:solidFill>
              </a:rPr>
              <a:t>Minha empresa esta preparada ???</a:t>
            </a:r>
          </a:p>
        </p:txBody>
      </p:sp>
      <p:sp>
        <p:nvSpPr>
          <p:cNvPr id="132" name="Shape 132"/>
          <p:cNvSpPr/>
          <p:nvPr/>
        </p:nvSpPr>
        <p:spPr>
          <a:xfrm>
            <a:off x="432474" y="1785935"/>
            <a:ext cx="7980600" cy="2619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Para cada questão não respondida ou </a:t>
            </a:r>
          </a:p>
          <a:p>
            <a:pPr lvl="0" algn="ctr">
              <a:defRPr sz="1800"/>
            </a:pPr>
            <a:r>
              <a:rPr sz="3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respondida insatisfatoriamente,</a:t>
            </a:r>
          </a:p>
          <a:p>
            <a:pPr lvl="0" algn="ctr">
              <a:defRPr sz="1800"/>
            </a:pPr>
            <a:r>
              <a:rPr sz="3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cresce a vulnerabilidade da empresa </a:t>
            </a:r>
          </a:p>
          <a:p>
            <a:pPr lvl="0" algn="ctr">
              <a:defRPr sz="1800"/>
            </a:pPr>
            <a:r>
              <a:rPr sz="3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frente a fatos cuja ocorrência esteja fora</a:t>
            </a:r>
          </a:p>
          <a:p>
            <a:pPr lvl="0" algn="ctr">
              <a:defRPr sz="1800"/>
            </a:pPr>
            <a:r>
              <a:rPr sz="3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 seu controle.</a:t>
            </a:r>
          </a:p>
        </p:txBody>
      </p:sp>
    </p:spTree>
  </p:cSld>
  <p:clrMapOvr>
    <a:masterClrMapping/>
  </p:clrMapOvr>
  <p:transition>
    <p:newsfla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428624" y="2571749"/>
            <a:ext cx="8501065" cy="132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1" indent="457200">
              <a:defRPr sz="1800"/>
            </a:pPr>
            <a:r>
              <a:rPr sz="4000" b="1">
                <a:solidFill>
                  <a:srgbClr val="FFFF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Fases de elaboração do Plano de Contingência Corporativo</a:t>
            </a:r>
          </a:p>
        </p:txBody>
      </p:sp>
      <p:pic>
        <p:nvPicPr>
          <p:cNvPr id="137" name="image10.png" descr="C:\Arquivos de programas\Microsoft Office\MEDIA\CAGCAT10\j0199549.wmf"/>
          <p:cNvPicPr/>
          <p:nvPr/>
        </p:nvPicPr>
        <p:blipFill>
          <a:blip r:embed="rId2"/>
          <a:stretch>
            <a:fillRect/>
          </a:stretch>
        </p:blipFill>
        <p:spPr>
          <a:xfrm>
            <a:off x="338135" y="4438650"/>
            <a:ext cx="1670053" cy="17938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852950" y="560386"/>
            <a:ext cx="7950863" cy="404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O Plano de Contingência Corporativo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prevê a avaliação de todas as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funções de negócio, juntamente com a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análise do ambiente de negócios em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que a empresa se insere, ganhando-se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uma visão objetiva dos riscos que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ameaçam a organização.</a:t>
            </a:r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-2" y="357186"/>
            <a:ext cx="9144004" cy="94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DEDE31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DEDE31"/>
                </a:solidFill>
              </a:rPr>
              <a:t>A metodologia do Programa do Plano  de Contingência consiste de 6 passos:</a:t>
            </a:r>
          </a:p>
        </p:txBody>
      </p:sp>
      <p:sp>
        <p:nvSpPr>
          <p:cNvPr id="144" name="Shape 144"/>
          <p:cNvSpPr/>
          <p:nvPr/>
        </p:nvSpPr>
        <p:spPr>
          <a:xfrm>
            <a:off x="142873" y="1428749"/>
            <a:ext cx="6392314" cy="419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1 - Avaliação do projeto: escopo e aplicabilidade;</a:t>
            </a:r>
          </a:p>
          <a:p>
            <a:pPr lvl="0">
              <a:defRPr sz="1800"/>
            </a:pPr>
            <a:endParaRPr sz="22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2 - Análise de risco;</a:t>
            </a:r>
          </a:p>
          <a:p>
            <a:pPr lvl="0">
              <a:defRPr sz="1800"/>
            </a:pPr>
            <a:endParaRPr sz="22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3 - Análise de impacto em negócios;</a:t>
            </a:r>
          </a:p>
          <a:p>
            <a:pPr lvl="0">
              <a:defRPr sz="1800"/>
            </a:pPr>
            <a:endParaRPr sz="22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4 -  Desenvolvimento dos planos de recuperação </a:t>
            </a:r>
          </a:p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 desastres;</a:t>
            </a:r>
          </a:p>
          <a:p>
            <a:pPr lvl="0">
              <a:defRPr sz="1800"/>
            </a:pPr>
            <a:endParaRPr sz="22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5 - Treinamento e teste dos planos;</a:t>
            </a:r>
          </a:p>
          <a:p>
            <a:pPr lvl="0">
              <a:defRPr sz="1800"/>
            </a:pPr>
            <a:endParaRPr sz="22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>
              <a:defRPr sz="1800"/>
            </a:pPr>
            <a:r>
              <a:rPr sz="22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6 - Implementação e manutenção;</a:t>
            </a:r>
          </a:p>
        </p:txBody>
      </p:sp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/>
        </p:nvSpPr>
        <p:spPr>
          <a:xfrm>
            <a:off x="642936" y="2643185"/>
            <a:ext cx="8501065" cy="69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000" b="1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b="1">
                <a:solidFill>
                  <a:srgbClr val="FFC000"/>
                </a:solidFill>
              </a:rPr>
              <a:t>Planos de Contingência</a:t>
            </a:r>
          </a:p>
        </p:txBody>
      </p:sp>
      <p:pic>
        <p:nvPicPr>
          <p:cNvPr id="149" name="image12.png" descr="C:\Arquivos de programas\Microsoft Office\MEDIA\CAGCAT10\j0278882.wmf"/>
          <p:cNvPicPr/>
          <p:nvPr/>
        </p:nvPicPr>
        <p:blipFill>
          <a:blip r:embed="rId2"/>
          <a:stretch>
            <a:fillRect/>
          </a:stretch>
        </p:blipFill>
        <p:spPr>
          <a:xfrm>
            <a:off x="785812" y="4286250"/>
            <a:ext cx="904876" cy="904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13.png" descr="C:\Arquivos de programas\Microsoft Office\MEDIA\CAGCAT10\j0212957.wmf"/>
          <p:cNvPicPr/>
          <p:nvPr/>
        </p:nvPicPr>
        <p:blipFill>
          <a:blip r:embed="rId3"/>
          <a:stretch>
            <a:fillRect/>
          </a:stretch>
        </p:blipFill>
        <p:spPr>
          <a:xfrm>
            <a:off x="5087937" y="4621212"/>
            <a:ext cx="1830390" cy="11493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/>
        </p:nvSpPr>
        <p:spPr>
          <a:xfrm>
            <a:off x="100025" y="1071561"/>
            <a:ext cx="8810596" cy="3355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6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São desenvolvidos para cada ameaça</a:t>
            </a:r>
          </a:p>
          <a:p>
            <a:pPr lvl="0" algn="ctr">
              <a:defRPr sz="1800"/>
            </a:pPr>
            <a:r>
              <a:rPr sz="36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considerada em cada um dos processos </a:t>
            </a:r>
          </a:p>
          <a:p>
            <a:pPr lvl="0" algn="ctr">
              <a:defRPr sz="1800"/>
            </a:pPr>
            <a:r>
              <a:rPr sz="36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do negócio pertencentes ao escopo, </a:t>
            </a:r>
          </a:p>
          <a:p>
            <a:pPr lvl="0" algn="ctr">
              <a:defRPr sz="1800"/>
            </a:pPr>
            <a:r>
              <a:rPr sz="36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definindo em detalhes os procedimentos </a:t>
            </a:r>
          </a:p>
          <a:p>
            <a:pPr lvl="0" algn="ctr">
              <a:defRPr sz="1800"/>
            </a:pPr>
            <a:r>
              <a:rPr sz="36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 serem executados em </a:t>
            </a:r>
          </a:p>
          <a:p>
            <a:pPr lvl="0" algn="ctr">
              <a:defRPr sz="1800"/>
            </a:pPr>
            <a:r>
              <a:rPr sz="3600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estado de contingência.</a:t>
            </a:r>
          </a:p>
        </p:txBody>
      </p:sp>
      <p:sp>
        <p:nvSpPr>
          <p:cNvPr id="154" name="Shape 154"/>
          <p:cNvSpPr/>
          <p:nvPr/>
        </p:nvSpPr>
        <p:spPr>
          <a:xfrm>
            <a:off x="6477000" y="76199"/>
            <a:ext cx="2514600" cy="264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D38E27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D38E27"/>
                </a:solidFill>
              </a:rPr>
              <a:t>11/3/16</a:t>
            </a:r>
          </a:p>
        </p:txBody>
      </p:sp>
    </p:spTree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/>
        </p:nvSpPr>
        <p:spPr>
          <a:xfrm>
            <a:off x="285749" y="142874"/>
            <a:ext cx="8501065" cy="636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 b="1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FC000"/>
                </a:solidFill>
              </a:rPr>
              <a:t>Plano de Administração de Crise</a:t>
            </a:r>
          </a:p>
        </p:txBody>
      </p:sp>
      <p:sp>
        <p:nvSpPr>
          <p:cNvPr id="157" name="Shape 157"/>
          <p:cNvSpPr/>
          <p:nvPr/>
        </p:nvSpPr>
        <p:spPr>
          <a:xfrm>
            <a:off x="724172" y="1571624"/>
            <a:ext cx="8259214" cy="3355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Este documento tem o propósito de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definir passo-a-passo o funcionamento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das equipes envolvidas com o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acionamento da contingência antes, 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durante e depois da ocorrência do</a:t>
            </a:r>
          </a:p>
          <a:p>
            <a:pPr lvl="0" algn="ctr">
              <a:defRPr sz="1800"/>
            </a:pPr>
            <a:r>
              <a:rPr sz="36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incidente</a:t>
            </a:r>
          </a:p>
        </p:txBody>
      </p: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/>
        </p:nvSpPr>
        <p:spPr>
          <a:xfrm>
            <a:off x="285749" y="142874"/>
            <a:ext cx="8501065" cy="636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 b="1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FC000"/>
                </a:solidFill>
              </a:rPr>
              <a:t>Plano de Continuidade Operacional</a:t>
            </a:r>
          </a:p>
        </p:txBody>
      </p:sp>
      <p:sp>
        <p:nvSpPr>
          <p:cNvPr id="161" name="Shape 161"/>
          <p:cNvSpPr/>
          <p:nvPr/>
        </p:nvSpPr>
        <p:spPr>
          <a:xfrm>
            <a:off x="68136" y="1500186"/>
            <a:ext cx="9128376" cy="3203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Tem o propósito de definir os procedimentos</a:t>
            </a:r>
          </a:p>
          <a:p>
            <a:pPr lvl="0" algn="ctr">
              <a:defRPr sz="1800"/>
            </a:pPr>
            <a:r>
              <a:rPr sz="3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para contingenciamento dos ativos que</a:t>
            </a:r>
          </a:p>
          <a:p>
            <a:pPr lvl="0" algn="ctr">
              <a:defRPr sz="1800"/>
            </a:pPr>
            <a:r>
              <a:rPr sz="3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suportam cada processo de negócio,</a:t>
            </a:r>
          </a:p>
          <a:p>
            <a:pPr lvl="0" algn="ctr">
              <a:defRPr sz="1800"/>
            </a:pPr>
            <a:r>
              <a:rPr sz="3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objetivando reduzir o tempo de </a:t>
            </a:r>
          </a:p>
          <a:p>
            <a:pPr lvl="0" algn="ctr">
              <a:defRPr sz="1800"/>
            </a:pPr>
            <a:r>
              <a:rPr sz="3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indisponibilidade e, conseqüentemente, </a:t>
            </a:r>
          </a:p>
          <a:p>
            <a:pPr lvl="0" algn="ctr">
              <a:defRPr sz="1800"/>
            </a:pPr>
            <a:r>
              <a:rPr sz="3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os impactos potenciais ao negócio</a:t>
            </a:r>
          </a:p>
        </p:txBody>
      </p:sp>
    </p:spTree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/>
        </p:nvSpPr>
        <p:spPr>
          <a:xfrm>
            <a:off x="285749" y="142874"/>
            <a:ext cx="8501065" cy="636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 b="1">
                <a:solidFill>
                  <a:srgbClr val="FFC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FFC000"/>
                </a:solidFill>
              </a:rPr>
              <a:t>Plano de Recuperação de Desastres</a:t>
            </a:r>
          </a:p>
        </p:txBody>
      </p:sp>
      <p:sp>
        <p:nvSpPr>
          <p:cNvPr id="165" name="Shape 165"/>
          <p:cNvSpPr/>
          <p:nvPr/>
        </p:nvSpPr>
        <p:spPr>
          <a:xfrm>
            <a:off x="662344" y="1500186"/>
            <a:ext cx="7781211" cy="3051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Tem o propósito de definir um plano de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recuperação e restauração das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funcionalidades dos ativos afetados que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suportam os processo de negócio,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 fim de restabelecer o ambiente e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as condições originais de operação.</a:t>
            </a:r>
          </a:p>
        </p:txBody>
      </p:sp>
    </p:spTree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/>
        </p:nvSpPr>
        <p:spPr>
          <a:xfrm>
            <a:off x="716286" y="642936"/>
            <a:ext cx="7879700" cy="404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O fator crítico de sucesso é estabelecer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adequadamente os gatilhos de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acionamento para cada plano de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 contingência. Estes gatilhos são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parâmetros de tolerância usados para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sinalizar o início da operacionalização da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contingência, evitando acionamentos </a:t>
            </a:r>
          </a:p>
          <a:p>
            <a:pPr lvl="0" algn="ctr">
              <a:defRPr sz="1800"/>
            </a:pPr>
            <a:r>
              <a:rPr sz="33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prematuros ou tardios</a:t>
            </a:r>
          </a:p>
        </p:txBody>
      </p:sp>
    </p:spTree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/>
        </p:nvSpPr>
        <p:spPr>
          <a:xfrm>
            <a:off x="761207" y="642935"/>
            <a:ext cx="7789860" cy="389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UM ACIONAMENTO DO GATILHO , FORA DO 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MOMENTO CERTO, PODE CAUSAR UM PREJUÍZO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INESPERADO PARA A EMPRESA, BEM COMO, A 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FALTA DE PESSOAS TREINADAS E BEM 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ORIENTADAS PARA EXECUTAR O PLANO.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EXEMPLO – EMERGENCY PULL DOS MAINFRAMES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SE ACIONADO NA HORA ERRADA, TRAVA O 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COMPUTADOR, EXIGINDO QUE TECNICOS DO 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FORNECEDOR, VENHAM ATE A EMPRESA</a:t>
            </a:r>
          </a:p>
          <a:p>
            <a:pPr lvl="0" algn="ctr">
              <a:defRPr sz="1800"/>
            </a:pPr>
            <a:r>
              <a:rPr sz="25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PARA DESTRAVAR O COMPUTADOR.</a:t>
            </a:r>
          </a:p>
        </p:txBody>
      </p:sp>
    </p:spTree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/>
        </p:nvSpPr>
        <p:spPr>
          <a:xfrm>
            <a:off x="796353" y="642935"/>
            <a:ext cx="7719565" cy="505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ctr">
              <a:defRPr sz="1800"/>
            </a:pPr>
            <a:r>
              <a:rPr sz="28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PERGUNTAS</a:t>
            </a:r>
          </a:p>
          <a:p>
            <a:pPr lvl="0" algn="ctr">
              <a:defRPr sz="1800"/>
            </a:pPr>
            <a:endParaRPr sz="28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1- PARA QUE SERVE UM PLANO DE CONTINGÊNCIA</a:t>
            </a:r>
          </a:p>
          <a:p>
            <a:pPr lvl="0" algn="ctr">
              <a:defRPr sz="1800"/>
            </a:pPr>
            <a:endParaRPr sz="24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2- PARA QUE SERVE O PLANO DE SEGURANÇA</a:t>
            </a:r>
          </a:p>
          <a:p>
            <a:pPr lvl="0" algn="ctr">
              <a:defRPr sz="1800"/>
            </a:pPr>
            <a:endParaRPr sz="24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3- QUAL A DIFERENÇA ENTRE UM PLANO  E OUTRO</a:t>
            </a:r>
          </a:p>
          <a:p>
            <a:pPr lvl="0" algn="ctr">
              <a:defRPr sz="1800"/>
            </a:pPr>
            <a:endParaRPr sz="24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4- O PLANO DE CONTINUIDADE DE NEGÓCIOS, VISA</a:t>
            </a:r>
          </a:p>
          <a:p>
            <a:pPr lvl="0" algn="ctr">
              <a:defRPr sz="1800"/>
            </a:pPr>
            <a:r>
              <a:rPr sz="2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AS MESMAS COISAS QUE OS OUTROS PLANOS?</a:t>
            </a:r>
          </a:p>
          <a:p>
            <a:pPr lvl="0" algn="ctr">
              <a:defRPr sz="1800"/>
            </a:pPr>
            <a:endParaRPr sz="24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4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5 - QUAL A FUNCAO DOS GATILHOS?</a:t>
            </a:r>
            <a:endParaRPr sz="2800">
              <a:solidFill>
                <a:srgbClr val="FFFFFF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lvl="0" algn="ctr">
              <a:defRPr sz="1800"/>
            </a:pPr>
            <a:r>
              <a:rPr sz="28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.</a:t>
            </a:r>
          </a:p>
        </p:txBody>
      </p:sp>
    </p:spTree>
  </p:cSld>
  <p:clrMapOvr>
    <a:masterClrMapping/>
  </p:clrMapOvr>
  <p:transition>
    <p:dissolv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3910226" y="2286000"/>
            <a:ext cx="1272741" cy="897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>
                <a:solidFill>
                  <a:srgbClr val="FF0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FIM</a:t>
            </a:r>
          </a:p>
        </p:txBody>
      </p:sp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A22E"/>
      </a:accent1>
      <a:accent2>
        <a:srgbClr val="A5644E"/>
      </a:accent2>
      <a:accent3>
        <a:srgbClr val="AAAAAA"/>
      </a:accent3>
      <a:accent4>
        <a:srgbClr val="DADADA"/>
      </a:accent4>
      <a:accent5>
        <a:srgbClr val="F5CCAD"/>
      </a:accent5>
      <a:accent6>
        <a:srgbClr val="955B47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F0A22E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0A22E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A22E"/>
      </a:accent1>
      <a:accent2>
        <a:srgbClr val="A5644E"/>
      </a:accent2>
      <a:accent3>
        <a:srgbClr val="AAAAAA"/>
      </a:accent3>
      <a:accent4>
        <a:srgbClr val="DADADA"/>
      </a:accent4>
      <a:accent5>
        <a:srgbClr val="F5CCAD"/>
      </a:accent5>
      <a:accent6>
        <a:srgbClr val="955B47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F0A22E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0A22E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1189</Words>
  <Application>Microsoft Macintosh PowerPoint</Application>
  <PresentationFormat>Apresentação na tela (4:3)</PresentationFormat>
  <Paragraphs>205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4" baseType="lpstr">
      <vt:lpstr>Avenir Roman</vt:lpstr>
      <vt:lpstr>Bell MT</vt:lpstr>
      <vt:lpstr>Cooper Black</vt:lpstr>
      <vt:lpstr>Franklin Gothic Book</vt:lpstr>
      <vt:lpstr>Franklin Gothic Demi</vt:lpstr>
      <vt:lpstr>Franklin Gothic Medium</vt:lpstr>
      <vt:lpstr>Gill Sans UltraBold</vt:lpstr>
      <vt:lpstr>Helvetica Neue</vt:lpstr>
      <vt:lpstr>Matura MT Script Capitals</vt:lpstr>
      <vt:lpstr>Wingdings 2</vt:lpstr>
      <vt:lpstr>Default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CASO CRITICO -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EDGARD ALEXANDRE ROMANATO</cp:lastModifiedBy>
  <cp:revision>1</cp:revision>
  <dcterms:modified xsi:type="dcterms:W3CDTF">2022-05-30T13:54:50Z</dcterms:modified>
</cp:coreProperties>
</file>