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 type="screen4x3"/>
  <p:notesSz cx="6858000" cy="9144000"/>
  <p:defaultTextStyle>
    <a:lvl1pPr>
      <a:defRPr sz="2400">
        <a:latin typeface="+mn-lt"/>
        <a:ea typeface="+mn-ea"/>
        <a:cs typeface="+mn-cs"/>
        <a:sym typeface="Avenir Roman"/>
      </a:defRPr>
    </a:lvl1pPr>
    <a:lvl2pPr>
      <a:defRPr sz="2400">
        <a:latin typeface="+mn-lt"/>
        <a:ea typeface="+mn-ea"/>
        <a:cs typeface="+mn-cs"/>
        <a:sym typeface="Avenir Roman"/>
      </a:defRPr>
    </a:lvl2pPr>
    <a:lvl3pPr>
      <a:defRPr sz="2400">
        <a:latin typeface="+mn-lt"/>
        <a:ea typeface="+mn-ea"/>
        <a:cs typeface="+mn-cs"/>
        <a:sym typeface="Avenir Roman"/>
      </a:defRPr>
    </a:lvl3pPr>
    <a:lvl4pPr>
      <a:defRPr sz="2400">
        <a:latin typeface="+mn-lt"/>
        <a:ea typeface="+mn-ea"/>
        <a:cs typeface="+mn-cs"/>
        <a:sym typeface="Avenir Roman"/>
      </a:defRPr>
    </a:lvl4pPr>
    <a:lvl5pPr>
      <a:defRPr sz="2400">
        <a:latin typeface="+mn-lt"/>
        <a:ea typeface="+mn-ea"/>
        <a:cs typeface="+mn-cs"/>
        <a:sym typeface="Avenir Roman"/>
      </a:defRPr>
    </a:lvl5pPr>
    <a:lvl6pPr>
      <a:defRPr sz="2400">
        <a:latin typeface="+mn-lt"/>
        <a:ea typeface="+mn-ea"/>
        <a:cs typeface="+mn-cs"/>
        <a:sym typeface="Avenir Roman"/>
      </a:defRPr>
    </a:lvl6pPr>
    <a:lvl7pPr>
      <a:defRPr sz="2400">
        <a:latin typeface="+mn-lt"/>
        <a:ea typeface="+mn-ea"/>
        <a:cs typeface="+mn-cs"/>
        <a:sym typeface="Avenir Roman"/>
      </a:defRPr>
    </a:lvl7pPr>
    <a:lvl8pPr>
      <a:defRPr sz="2400">
        <a:latin typeface="+mn-lt"/>
        <a:ea typeface="+mn-ea"/>
        <a:cs typeface="+mn-cs"/>
        <a:sym typeface="Avenir Roman"/>
      </a:defRPr>
    </a:lvl8pPr>
    <a:lvl9pPr>
      <a:defRPr sz="2400">
        <a:latin typeface="+mn-lt"/>
        <a:ea typeface="+mn-ea"/>
        <a:cs typeface="+mn-cs"/>
        <a:sym typeface="Avenir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F5E1"/>
          </a:solidFill>
        </a:fill>
      </a:tcStyle>
    </a:wholeTbl>
    <a:band2H>
      <a:tcTxStyle/>
      <a:tcStyle>
        <a:tcBdr/>
        <a:fill>
          <a:solidFill>
            <a:srgbClr val="E6FAF1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E4A8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E4A8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E4A8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6E7CA"/>
          </a:solidFill>
        </a:fill>
      </a:tcStyle>
    </a:wholeTbl>
    <a:band2H>
      <a:tcTxStyle/>
      <a:tcStyle>
        <a:tcBdr/>
        <a:fill>
          <a:solidFill>
            <a:srgbClr val="FAF3E6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7BC01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7BC01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7BC01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E4A8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E4A8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5"/>
  </p:normalViewPr>
  <p:slideViewPr>
    <p:cSldViewPr snapToGrid="0" snapToObjects="1">
      <p:cViewPr varScale="1">
        <p:scale>
          <a:sx n="106" d="100"/>
          <a:sy n="106" d="100"/>
        </p:scale>
        <p:origin x="1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2"/>
          <p:cNvGrpSpPr/>
          <p:nvPr/>
        </p:nvGrpSpPr>
        <p:grpSpPr>
          <a:xfrm>
            <a:off x="-6" y="2438397"/>
            <a:ext cx="9009077" cy="1052519"/>
            <a:chOff x="0" y="0"/>
            <a:chExt cx="9009075" cy="1052518"/>
          </a:xfrm>
        </p:grpSpPr>
        <p:grpSp>
          <p:nvGrpSpPr>
            <p:cNvPr id="15" name="Group 15"/>
            <p:cNvGrpSpPr/>
            <p:nvPr/>
          </p:nvGrpSpPr>
          <p:grpSpPr>
            <a:xfrm>
              <a:off x="290508" y="107948"/>
              <a:ext cx="711209" cy="474673"/>
              <a:chOff x="-1" y="-1"/>
              <a:chExt cx="711208" cy="474671"/>
            </a:xfrm>
          </p:grpSpPr>
          <p:sp>
            <p:nvSpPr>
              <p:cNvPr id="13" name="Shape 13"/>
              <p:cNvSpPr/>
              <p:nvPr/>
            </p:nvSpPr>
            <p:spPr>
              <a:xfrm>
                <a:off x="-2" y="-2"/>
                <a:ext cx="437668" cy="474673"/>
              </a:xfrm>
              <a:prstGeom prst="rect">
                <a:avLst/>
              </a:prstGeom>
              <a:solidFill>
                <a:srgbClr val="3333C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4" name="Shape 14"/>
              <p:cNvSpPr/>
              <p:nvPr/>
            </p:nvSpPr>
            <p:spPr>
              <a:xfrm>
                <a:off x="382956" y="-2"/>
                <a:ext cx="328252" cy="474673"/>
              </a:xfrm>
              <a:prstGeom prst="rect">
                <a:avLst/>
              </a:prstGeom>
              <a:gradFill flip="none" rotWithShape="1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14333" y="530224"/>
              <a:ext cx="738197" cy="474672"/>
              <a:chOff x="0" y="-1"/>
              <a:chExt cx="738196" cy="474671"/>
            </a:xfrm>
          </p:grpSpPr>
          <p:sp>
            <p:nvSpPr>
              <p:cNvPr id="16" name="Shape 16"/>
              <p:cNvSpPr/>
              <p:nvPr/>
            </p:nvSpPr>
            <p:spPr>
              <a:xfrm>
                <a:off x="-1" y="-2"/>
                <a:ext cx="421828" cy="474673"/>
              </a:xfrm>
              <a:prstGeom prst="rect">
                <a:avLst/>
              </a:prstGeom>
              <a:solidFill>
                <a:srgbClr val="FFCF0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7" name="Shape 17"/>
              <p:cNvSpPr/>
              <p:nvPr/>
            </p:nvSpPr>
            <p:spPr>
              <a:xfrm>
                <a:off x="369096" y="-2"/>
                <a:ext cx="369100" cy="474673"/>
              </a:xfrm>
              <a:prstGeom prst="rect">
                <a:avLst/>
              </a:prstGeom>
              <a:gradFill flip="none" rotWithShape="1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sp>
          <p:nvSpPr>
            <p:cNvPr id="19" name="Shape 19"/>
            <p:cNvSpPr/>
            <p:nvPr/>
          </p:nvSpPr>
          <p:spPr>
            <a:xfrm>
              <a:off x="-1" y="457200"/>
              <a:ext cx="560393" cy="422279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>
              <a:off x="635000" y="-1"/>
              <a:ext cx="31754" cy="1052519"/>
            </a:xfrm>
            <a:prstGeom prst="rect">
              <a:avLst/>
            </a:prstGeom>
            <a:solidFill>
              <a:srgbClr val="1C1C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21" name="Shape 21"/>
            <p:cNvSpPr/>
            <p:nvPr/>
          </p:nvSpPr>
          <p:spPr>
            <a:xfrm rot="10800000" flipH="1">
              <a:off x="315911" y="822326"/>
              <a:ext cx="8693165" cy="55567"/>
            </a:xfrm>
            <a:prstGeom prst="rect">
              <a:avLst/>
            </a:prstGeom>
            <a:gradFill flip="none" rotWithShape="1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</p:grpSp>
      <p:sp>
        <p:nvSpPr>
          <p:cNvPr id="23" name="Shape 23"/>
          <p:cNvSpPr>
            <a:spLocks noGrp="1"/>
          </p:cNvSpPr>
          <p:nvPr>
            <p:ph type="title"/>
          </p:nvPr>
        </p:nvSpPr>
        <p:spPr>
          <a:xfrm>
            <a:off x="990600" y="0"/>
            <a:ext cx="7772400" cy="29718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Texto do Título</a:t>
            </a:r>
          </a:p>
        </p:txBody>
      </p:sp>
      <p:sp>
        <p:nvSpPr>
          <p:cNvPr id="24" name="Shape 24"/>
          <p:cNvSpPr>
            <a:spLocks noGrp="1"/>
          </p:cNvSpPr>
          <p:nvPr>
            <p:ph type="body" idx="1"/>
          </p:nvPr>
        </p:nvSpPr>
        <p:spPr>
          <a:xfrm>
            <a:off x="1371600" y="3886200"/>
            <a:ext cx="6400800" cy="2971800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FontTx/>
              <a:buNone/>
            </a:lvl1pPr>
            <a:lvl2pPr algn="ctr">
              <a:buClrTx/>
              <a:buFontTx/>
            </a:lvl2pPr>
            <a:lvl3pPr algn="ctr">
              <a:buClrTx/>
              <a:buFontTx/>
            </a:lvl3pPr>
            <a:lvl4pPr algn="ctr">
              <a:buClrTx/>
              <a:buFontTx/>
            </a:lvl4pPr>
            <a:lvl5pPr algn="ctr">
              <a:buClrTx/>
              <a:buFontTx/>
            </a:lvl5pPr>
          </a:lstStyle>
          <a:p>
            <a:pPr lvl="0">
              <a:defRPr sz="1800"/>
            </a:pPr>
            <a:r>
              <a:rPr sz="3200"/>
              <a:t>Nível de Corpo Um</a:t>
            </a:r>
          </a:p>
          <a:p>
            <a:pPr lvl="1">
              <a:defRPr sz="1800"/>
            </a:pPr>
            <a:r>
              <a:rPr sz="3200"/>
              <a:t>Nível de Corpo Dois</a:t>
            </a:r>
          </a:p>
          <a:p>
            <a:pPr lvl="2">
              <a:defRPr sz="1800"/>
            </a:pPr>
            <a:r>
              <a:rPr sz="3200"/>
              <a:t>Nível de Corpo Três</a:t>
            </a:r>
          </a:p>
          <a:p>
            <a:pPr lvl="3">
              <a:defRPr sz="1800"/>
            </a:pPr>
            <a:r>
              <a:rPr sz="3200"/>
              <a:t>Nível de Corpo Quatro</a:t>
            </a:r>
          </a:p>
          <a:p>
            <a:pPr lvl="4">
              <a:defRPr sz="1800"/>
            </a:pPr>
            <a:r>
              <a:rPr sz="3200"/>
              <a:t>Nível de Corpo Cinco</a:t>
            </a:r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6858000" y="6398259"/>
            <a:ext cx="1905000" cy="30733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28" name="Shape 2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Texto do Título</a:t>
            </a:r>
          </a:p>
        </p:txBody>
      </p:sp>
      <p:sp>
        <p:nvSpPr>
          <p:cNvPr id="29" name="Shape 2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Nível de Corpo Um</a:t>
            </a:r>
          </a:p>
          <a:p>
            <a:pPr lvl="1">
              <a:defRPr sz="1800"/>
            </a:pPr>
            <a:r>
              <a:rPr sz="3200"/>
              <a:t>Nível de Corpo Dois</a:t>
            </a:r>
          </a:p>
          <a:p>
            <a:pPr lvl="2">
              <a:defRPr sz="1800"/>
            </a:pPr>
            <a:r>
              <a:rPr sz="3200"/>
              <a:t>Nível de Corpo Três</a:t>
            </a:r>
          </a:p>
          <a:p>
            <a:pPr lvl="3">
              <a:defRPr sz="1800"/>
            </a:pPr>
            <a:r>
              <a:rPr sz="3200"/>
              <a:t>Nível de Corpo Quatro</a:t>
            </a:r>
          </a:p>
          <a:p>
            <a:pPr lvl="4">
              <a:defRPr sz="1800"/>
            </a:pPr>
            <a:r>
              <a:rPr sz="3200"/>
              <a:t>Nível de Corpo Cinco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32" name="Shape 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Texto do Título</a:t>
            </a:r>
          </a:p>
        </p:txBody>
      </p:sp>
      <p:sp>
        <p:nvSpPr>
          <p:cNvPr id="33" name="Shape 33"/>
          <p:cNvSpPr>
            <a:spLocks noGrp="1"/>
          </p:cNvSpPr>
          <p:nvPr>
            <p:ph type="body" idx="1"/>
          </p:nvPr>
        </p:nvSpPr>
        <p:spPr>
          <a:xfrm>
            <a:off x="1182687" y="2017709"/>
            <a:ext cx="3814234" cy="484029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Nível de Corpo Um</a:t>
            </a:r>
          </a:p>
          <a:p>
            <a:pPr lvl="1">
              <a:defRPr sz="1800"/>
            </a:pPr>
            <a:r>
              <a:rPr sz="3200"/>
              <a:t>Nível de Corpo Dois</a:t>
            </a:r>
          </a:p>
          <a:p>
            <a:pPr lvl="2">
              <a:defRPr sz="1800"/>
            </a:pPr>
            <a:r>
              <a:rPr sz="3200"/>
              <a:t>Nível de Corpo Três</a:t>
            </a:r>
          </a:p>
          <a:p>
            <a:pPr lvl="3">
              <a:defRPr sz="1800"/>
            </a:pPr>
            <a:r>
              <a:rPr sz="3200"/>
              <a:t>Nível de Corpo Quatro</a:t>
            </a:r>
          </a:p>
          <a:p>
            <a:pPr lvl="4">
              <a:defRPr sz="1800"/>
            </a:pPr>
            <a:r>
              <a:rPr sz="3200"/>
              <a:t>Nível de Corpo Cinco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Texto do Título</a:t>
            </a:r>
          </a:p>
        </p:txBody>
      </p:sp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xfrm>
            <a:off x="5140854" y="2017709"/>
            <a:ext cx="3814234" cy="484029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Nível de Corpo Um</a:t>
            </a:r>
          </a:p>
          <a:p>
            <a:pPr lvl="1">
              <a:defRPr sz="1800"/>
            </a:pPr>
            <a:r>
              <a:rPr sz="3200"/>
              <a:t>Nível de Corpo Dois</a:t>
            </a:r>
          </a:p>
          <a:p>
            <a:pPr lvl="2">
              <a:defRPr sz="1800"/>
            </a:pPr>
            <a:r>
              <a:rPr sz="3200"/>
              <a:t>Nível de Corpo Três</a:t>
            </a:r>
          </a:p>
          <a:p>
            <a:pPr lvl="3">
              <a:defRPr sz="1800"/>
            </a:pPr>
            <a:r>
              <a:rPr sz="3200"/>
              <a:t>Nível de Corpo Quatro</a:t>
            </a:r>
          </a:p>
          <a:p>
            <a:pPr lvl="4">
              <a:defRPr sz="1800"/>
            </a:pPr>
            <a:r>
              <a:rPr sz="3200"/>
              <a:t>Nível de Corpo Cinco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7512" y="1098550"/>
            <a:ext cx="438155" cy="474663"/>
          </a:xfrm>
          <a:prstGeom prst="rect">
            <a:avLst/>
          </a:prstGeom>
          <a:solidFill>
            <a:srgbClr val="FFCF0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" name="Shape 3"/>
          <p:cNvSpPr/>
          <p:nvPr/>
        </p:nvSpPr>
        <p:spPr>
          <a:xfrm>
            <a:off x="800098" y="1098550"/>
            <a:ext cx="328616" cy="474663"/>
          </a:xfrm>
          <a:prstGeom prst="rect">
            <a:avLst/>
          </a:prstGeom>
          <a:gradFill>
            <a:gsLst>
              <a:gs pos="0">
                <a:srgbClr val="FFCF01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4" name="Shape 4"/>
          <p:cNvSpPr/>
          <p:nvPr/>
        </p:nvSpPr>
        <p:spPr>
          <a:xfrm>
            <a:off x="541337" y="1520825"/>
            <a:ext cx="422280" cy="474663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5" name="Shape 5"/>
          <p:cNvSpPr/>
          <p:nvPr/>
        </p:nvSpPr>
        <p:spPr>
          <a:xfrm>
            <a:off x="911224" y="1520825"/>
            <a:ext cx="368306" cy="474663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" name="Shape 6"/>
          <p:cNvSpPr/>
          <p:nvPr/>
        </p:nvSpPr>
        <p:spPr>
          <a:xfrm>
            <a:off x="126995" y="1447800"/>
            <a:ext cx="560395" cy="4222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" name="Shape 7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8" name="Shape 8"/>
          <p:cNvSpPr/>
          <p:nvPr/>
        </p:nvSpPr>
        <p:spPr>
          <a:xfrm>
            <a:off x="442912" y="1781175"/>
            <a:ext cx="8226426" cy="31750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9" name="Shape 9"/>
          <p:cNvSpPr>
            <a:spLocks noGrp="1"/>
          </p:cNvSpPr>
          <p:nvPr>
            <p:ph type="sldNum" sz="quarter" idx="2"/>
          </p:nvPr>
        </p:nvSpPr>
        <p:spPr>
          <a:xfrm>
            <a:off x="6781800" y="6474459"/>
            <a:ext cx="1905000" cy="3073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b">
            <a:spAutoFit/>
          </a:bodyPr>
          <a:lstStyle>
            <a:lvl1pPr algn="r"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xfrm>
            <a:off x="1150937" y="0"/>
            <a:ext cx="7793040" cy="176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Texto do Título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xfrm>
            <a:off x="1182687" y="2017709"/>
            <a:ext cx="7772401" cy="4840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/>
          <a:lstStyle/>
          <a:p>
            <a:pPr lvl="0">
              <a:defRPr sz="1800"/>
            </a:pPr>
            <a:r>
              <a:rPr sz="3200"/>
              <a:t>Nível de Corpo Um</a:t>
            </a:r>
          </a:p>
          <a:p>
            <a:pPr lvl="1">
              <a:defRPr sz="1800"/>
            </a:pPr>
            <a:r>
              <a:rPr sz="3200"/>
              <a:t>Nível de Corpo Dois</a:t>
            </a:r>
          </a:p>
          <a:p>
            <a:pPr lvl="2">
              <a:defRPr sz="1800"/>
            </a:pPr>
            <a:r>
              <a:rPr sz="3200"/>
              <a:t>Nível de Corpo Três</a:t>
            </a:r>
          </a:p>
          <a:p>
            <a:pPr lvl="3">
              <a:defRPr sz="1800"/>
            </a:pPr>
            <a:r>
              <a:rPr sz="3200"/>
              <a:t>Nível de Corpo Quatro</a:t>
            </a:r>
          </a:p>
          <a:p>
            <a:pPr lvl="4">
              <a:defRPr sz="1800"/>
            </a:pPr>
            <a:r>
              <a:rPr sz="3200"/>
              <a:t>Nível de Corpo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1pPr>
      <a:lvl2pPr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2pPr>
      <a:lvl3pPr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3pPr>
      <a:lvl4pPr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4pPr>
      <a:lvl5pPr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5pPr>
      <a:lvl6pPr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6pPr>
      <a:lvl7pPr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7pPr>
      <a:lvl8pPr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8pPr>
      <a:lvl9pPr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9pPr>
    </p:titleStyle>
    <p:bodyStyle>
      <a:lvl1pPr marL="342900" indent="-342900">
        <a:spcBef>
          <a:spcPts val="700"/>
        </a:spcBef>
        <a:buClr>
          <a:srgbClr val="3333CC"/>
        </a:buClr>
        <a:buSzPct val="60000"/>
        <a:buFont typeface="Wingdings"/>
        <a:buChar char="■"/>
        <a:defRPr sz="3200">
          <a:latin typeface="Tahoma"/>
          <a:ea typeface="Tahoma"/>
          <a:cs typeface="Tahoma"/>
          <a:sym typeface="Tahoma"/>
        </a:defRPr>
      </a:lvl1pPr>
      <a:lvl2pPr marL="783771" indent="-326571">
        <a:spcBef>
          <a:spcPts val="700"/>
        </a:spcBef>
        <a:buClr>
          <a:srgbClr val="3333CC"/>
        </a:buClr>
        <a:buSzPct val="55000"/>
        <a:buFont typeface="Wingdings"/>
        <a:buChar char="■"/>
        <a:defRPr sz="3200">
          <a:latin typeface="Tahoma"/>
          <a:ea typeface="Tahoma"/>
          <a:cs typeface="Tahoma"/>
          <a:sym typeface="Tahoma"/>
        </a:defRPr>
      </a:lvl2pPr>
      <a:lvl3pPr marL="1219200" indent="-304800">
        <a:spcBef>
          <a:spcPts val="700"/>
        </a:spcBef>
        <a:buClr>
          <a:srgbClr val="3333CC"/>
        </a:buClr>
        <a:buSzPct val="50000"/>
        <a:buFont typeface="Wingdings"/>
        <a:buChar char="■"/>
        <a:defRPr sz="3200">
          <a:latin typeface="Tahoma"/>
          <a:ea typeface="Tahoma"/>
          <a:cs typeface="Tahoma"/>
          <a:sym typeface="Tahoma"/>
        </a:defRPr>
      </a:lvl3pPr>
      <a:lvl4pPr marL="1737360" indent="-365760">
        <a:spcBef>
          <a:spcPts val="700"/>
        </a:spcBef>
        <a:buClr>
          <a:srgbClr val="3333CC"/>
        </a:buClr>
        <a:buSzPct val="55000"/>
        <a:buFont typeface="Wingdings"/>
        <a:buChar char="■"/>
        <a:defRPr sz="3200">
          <a:latin typeface="Tahoma"/>
          <a:ea typeface="Tahoma"/>
          <a:cs typeface="Tahoma"/>
          <a:sym typeface="Tahoma"/>
        </a:defRPr>
      </a:lvl4pPr>
      <a:lvl5pPr marL="2235200" indent="-406400">
        <a:spcBef>
          <a:spcPts val="700"/>
        </a:spcBef>
        <a:buClr>
          <a:srgbClr val="3333CC"/>
        </a:buClr>
        <a:buSzPct val="50000"/>
        <a:buFont typeface="Wingdings"/>
        <a:buChar char="■"/>
        <a:defRPr sz="3200">
          <a:latin typeface="Tahoma"/>
          <a:ea typeface="Tahoma"/>
          <a:cs typeface="Tahoma"/>
          <a:sym typeface="Tahoma"/>
        </a:defRPr>
      </a:lvl5pPr>
      <a:lvl6pPr marL="2692400" indent="-406400">
        <a:spcBef>
          <a:spcPts val="700"/>
        </a:spcBef>
        <a:buClr>
          <a:srgbClr val="3333CC"/>
        </a:buClr>
        <a:buSzPct val="50000"/>
        <a:buFont typeface="Wingdings"/>
        <a:buChar char="•"/>
        <a:defRPr sz="3200">
          <a:latin typeface="Tahoma"/>
          <a:ea typeface="Tahoma"/>
          <a:cs typeface="Tahoma"/>
          <a:sym typeface="Tahoma"/>
        </a:defRPr>
      </a:lvl6pPr>
      <a:lvl7pPr marL="3149600" indent="-406400">
        <a:spcBef>
          <a:spcPts val="700"/>
        </a:spcBef>
        <a:buClr>
          <a:srgbClr val="3333CC"/>
        </a:buClr>
        <a:buSzPct val="50000"/>
        <a:buFont typeface="Wingdings"/>
        <a:buChar char="•"/>
        <a:defRPr sz="3200">
          <a:latin typeface="Tahoma"/>
          <a:ea typeface="Tahoma"/>
          <a:cs typeface="Tahoma"/>
          <a:sym typeface="Tahoma"/>
        </a:defRPr>
      </a:lvl7pPr>
      <a:lvl8pPr marL="3606800" indent="-406400">
        <a:spcBef>
          <a:spcPts val="700"/>
        </a:spcBef>
        <a:buClr>
          <a:srgbClr val="3333CC"/>
        </a:buClr>
        <a:buSzPct val="50000"/>
        <a:buFont typeface="Wingdings"/>
        <a:buChar char="•"/>
        <a:defRPr sz="3200">
          <a:latin typeface="Tahoma"/>
          <a:ea typeface="Tahoma"/>
          <a:cs typeface="Tahoma"/>
          <a:sym typeface="Tahoma"/>
        </a:defRPr>
      </a:lvl8pPr>
      <a:lvl9pPr marL="4064000" indent="-406400">
        <a:spcBef>
          <a:spcPts val="700"/>
        </a:spcBef>
        <a:buClr>
          <a:srgbClr val="3333CC"/>
        </a:buClr>
        <a:buSzPct val="50000"/>
        <a:buFont typeface="Wingdings"/>
        <a:buChar char="•"/>
        <a:defRPr sz="3200">
          <a:latin typeface="Tahoma"/>
          <a:ea typeface="Tahoma"/>
          <a:cs typeface="Tahoma"/>
          <a:sym typeface="Tahoma"/>
        </a:defRPr>
      </a:lvl9pPr>
    </p:bodyStyle>
    <p:otherStyle>
      <a:lvl1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6781800" y="6474459"/>
            <a:ext cx="1905000" cy="3073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defTabSz="877822">
              <a:defRPr sz="1300"/>
            </a:lvl1pPr>
          </a:lstStyle>
          <a:p>
            <a:pPr lvl="0">
              <a:defRPr sz="1800"/>
            </a:pPr>
            <a:fld id="{86CB4B4D-7CA3-9044-876B-883B54F8677D}" type="slidenum">
              <a:rPr sz="1300"/>
              <a:t>1</a:t>
            </a:fld>
            <a:endParaRPr sz="1300"/>
          </a:p>
        </p:txBody>
      </p:sp>
      <p:sp>
        <p:nvSpPr>
          <p:cNvPr id="42" name="Shape 42"/>
          <p:cNvSpPr>
            <a:spLocks noGrp="1"/>
          </p:cNvSpPr>
          <p:nvPr>
            <p:ph type="title"/>
          </p:nvPr>
        </p:nvSpPr>
        <p:spPr>
          <a:xfrm>
            <a:off x="1150937" y="1106905"/>
            <a:ext cx="7793040" cy="292367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6000" dirty="0">
                <a:solidFill>
                  <a:srgbClr val="333399"/>
                </a:solidFill>
              </a:rPr>
              <a:t>DIAGNOSTICO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6781800" y="6474459"/>
            <a:ext cx="1905000" cy="3073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877822">
              <a:defRPr sz="1300"/>
            </a:lvl1pPr>
          </a:lstStyle>
          <a:p>
            <a:pPr lvl="0">
              <a:defRPr sz="1800"/>
            </a:pPr>
            <a:fld id="{86CB4B4D-7CA3-9044-876B-883B54F8677D}" type="slidenum">
              <a:rPr sz="1300"/>
              <a:t>2</a:t>
            </a:fld>
            <a:endParaRPr sz="1300"/>
          </a:p>
        </p:txBody>
      </p:sp>
      <p:sp>
        <p:nvSpPr>
          <p:cNvPr id="42" name="Shape 42"/>
          <p:cNvSpPr>
            <a:spLocks noGrp="1"/>
          </p:cNvSpPr>
          <p:nvPr>
            <p:ph type="title"/>
          </p:nvPr>
        </p:nvSpPr>
        <p:spPr>
          <a:xfrm>
            <a:off x="1150937" y="-1"/>
            <a:ext cx="7793040" cy="17605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DIAGNOSTICO</a:t>
            </a:r>
          </a:p>
        </p:txBody>
      </p:sp>
      <p:sp>
        <p:nvSpPr>
          <p:cNvPr id="43" name="Shape 43"/>
          <p:cNvSpPr>
            <a:spLocks noGrp="1"/>
          </p:cNvSpPr>
          <p:nvPr>
            <p:ph type="body" idx="1"/>
          </p:nvPr>
        </p:nvSpPr>
        <p:spPr>
          <a:xfrm>
            <a:off x="669924" y="1833559"/>
            <a:ext cx="7772402" cy="484029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>
                <a:solidFill>
                  <a:srgbClr val="0076A3"/>
                </a:solidFill>
              </a:rPr>
              <a:t>INTRODUÇÃO:</a:t>
            </a:r>
          </a:p>
          <a:p>
            <a:pPr marL="0" lvl="1" indent="228600">
              <a:buClrTx/>
              <a:buSzTx/>
              <a:buFontTx/>
              <a:buNone/>
              <a:defRPr sz="1800"/>
            </a:pPr>
            <a:r>
              <a:rPr sz="3000" dirty="0">
                <a:solidFill>
                  <a:srgbClr val="0076A3"/>
                </a:solidFill>
              </a:rPr>
              <a:t>Sempre que </a:t>
            </a:r>
            <a:r>
              <a:rPr sz="3000" dirty="0" err="1">
                <a:solidFill>
                  <a:srgbClr val="0076A3"/>
                </a:solidFill>
              </a:rPr>
              <a:t>recebemos</a:t>
            </a:r>
            <a:r>
              <a:rPr sz="3000" dirty="0">
                <a:solidFill>
                  <a:srgbClr val="0076A3"/>
                </a:solidFill>
              </a:rPr>
              <a:t> </a:t>
            </a:r>
            <a:r>
              <a:rPr sz="3000" dirty="0" err="1">
                <a:solidFill>
                  <a:srgbClr val="0076A3"/>
                </a:solidFill>
              </a:rPr>
              <a:t>uma</a:t>
            </a:r>
            <a:r>
              <a:rPr sz="3000" dirty="0">
                <a:solidFill>
                  <a:srgbClr val="0076A3"/>
                </a:solidFill>
              </a:rPr>
              <a:t> </a:t>
            </a:r>
            <a:r>
              <a:rPr sz="3000" dirty="0" err="1">
                <a:solidFill>
                  <a:srgbClr val="0076A3"/>
                </a:solidFill>
              </a:rPr>
              <a:t>tarefa</a:t>
            </a:r>
            <a:r>
              <a:rPr sz="3000" dirty="0">
                <a:solidFill>
                  <a:srgbClr val="0076A3"/>
                </a:solidFill>
              </a:rPr>
              <a:t> </a:t>
            </a:r>
            <a:r>
              <a:rPr sz="3000" dirty="0" err="1">
                <a:solidFill>
                  <a:srgbClr val="0076A3"/>
                </a:solidFill>
              </a:rPr>
              <a:t>qualquer</a:t>
            </a:r>
            <a:r>
              <a:rPr sz="3000" dirty="0">
                <a:solidFill>
                  <a:srgbClr val="0076A3"/>
                </a:solidFill>
              </a:rPr>
              <a:t>, </a:t>
            </a:r>
            <a:r>
              <a:rPr sz="3000" dirty="0" err="1">
                <a:solidFill>
                  <a:srgbClr val="0076A3"/>
                </a:solidFill>
              </a:rPr>
              <a:t>fazemos</a:t>
            </a:r>
            <a:r>
              <a:rPr sz="3000" dirty="0">
                <a:solidFill>
                  <a:srgbClr val="0076A3"/>
                </a:solidFill>
              </a:rPr>
              <a:t> um </a:t>
            </a:r>
            <a:r>
              <a:rPr sz="3000" dirty="0" err="1">
                <a:solidFill>
                  <a:srgbClr val="0076A3"/>
                </a:solidFill>
              </a:rPr>
              <a:t>diagnostico</a:t>
            </a:r>
            <a:r>
              <a:rPr sz="3000" dirty="0">
                <a:solidFill>
                  <a:srgbClr val="0076A3"/>
                </a:solidFill>
              </a:rPr>
              <a:t> do que </a:t>
            </a:r>
            <a:r>
              <a:rPr sz="3000" dirty="0" err="1">
                <a:solidFill>
                  <a:srgbClr val="0076A3"/>
                </a:solidFill>
              </a:rPr>
              <a:t>deve</a:t>
            </a:r>
            <a:r>
              <a:rPr sz="3000" dirty="0">
                <a:solidFill>
                  <a:srgbClr val="0076A3"/>
                </a:solidFill>
              </a:rPr>
              <a:t> ser </a:t>
            </a:r>
            <a:r>
              <a:rPr sz="3000" dirty="0" err="1">
                <a:solidFill>
                  <a:srgbClr val="0076A3"/>
                </a:solidFill>
              </a:rPr>
              <a:t>executado</a:t>
            </a:r>
            <a:r>
              <a:rPr sz="3000" dirty="0">
                <a:solidFill>
                  <a:srgbClr val="0076A3"/>
                </a:solidFill>
              </a:rPr>
              <a:t>, </a:t>
            </a:r>
            <a:r>
              <a:rPr sz="3000" dirty="0" err="1">
                <a:solidFill>
                  <a:srgbClr val="0076A3"/>
                </a:solidFill>
              </a:rPr>
              <a:t>mesmo</a:t>
            </a:r>
            <a:r>
              <a:rPr sz="3000" dirty="0">
                <a:solidFill>
                  <a:srgbClr val="0076A3"/>
                </a:solidFill>
              </a:rPr>
              <a:t> </a:t>
            </a:r>
            <a:r>
              <a:rPr sz="3000" dirty="0" err="1">
                <a:solidFill>
                  <a:srgbClr val="0076A3"/>
                </a:solidFill>
              </a:rPr>
              <a:t>inconscientemente</a:t>
            </a:r>
            <a:r>
              <a:rPr sz="3000" dirty="0">
                <a:solidFill>
                  <a:srgbClr val="0076A3"/>
                </a:solidFill>
              </a:rPr>
              <a:t>.</a:t>
            </a:r>
          </a:p>
          <a:p>
            <a:pPr marL="0" lvl="1" indent="228600">
              <a:buClrTx/>
              <a:buSzTx/>
              <a:buFontTx/>
              <a:buNone/>
              <a:defRPr sz="1800"/>
            </a:pPr>
            <a:r>
              <a:rPr sz="3000" dirty="0" err="1">
                <a:solidFill>
                  <a:srgbClr val="0076A3"/>
                </a:solidFill>
              </a:rPr>
              <a:t>Isso</a:t>
            </a:r>
            <a:r>
              <a:rPr sz="3000" dirty="0">
                <a:solidFill>
                  <a:srgbClr val="0076A3"/>
                </a:solidFill>
              </a:rPr>
              <a:t> </a:t>
            </a:r>
            <a:r>
              <a:rPr sz="3000" dirty="0" err="1">
                <a:solidFill>
                  <a:srgbClr val="0076A3"/>
                </a:solidFill>
              </a:rPr>
              <a:t>nos</a:t>
            </a:r>
            <a:r>
              <a:rPr sz="3000" dirty="0">
                <a:solidFill>
                  <a:srgbClr val="0076A3"/>
                </a:solidFill>
              </a:rPr>
              <a:t> </a:t>
            </a:r>
            <a:r>
              <a:rPr sz="3000" dirty="0" err="1">
                <a:solidFill>
                  <a:srgbClr val="0076A3"/>
                </a:solidFill>
              </a:rPr>
              <a:t>ajuda</a:t>
            </a:r>
            <a:r>
              <a:rPr sz="3000" dirty="0">
                <a:solidFill>
                  <a:srgbClr val="0076A3"/>
                </a:solidFill>
              </a:rPr>
              <a:t> a </a:t>
            </a:r>
            <a:r>
              <a:rPr sz="3000" dirty="0" err="1">
                <a:solidFill>
                  <a:srgbClr val="0076A3"/>
                </a:solidFill>
              </a:rPr>
              <a:t>termos</a:t>
            </a:r>
            <a:r>
              <a:rPr sz="3000" dirty="0">
                <a:solidFill>
                  <a:srgbClr val="0076A3"/>
                </a:solidFill>
              </a:rPr>
              <a:t> </a:t>
            </a:r>
            <a:r>
              <a:rPr sz="3000" dirty="0" err="1">
                <a:solidFill>
                  <a:srgbClr val="0076A3"/>
                </a:solidFill>
              </a:rPr>
              <a:t>uma</a:t>
            </a:r>
            <a:r>
              <a:rPr sz="3000" dirty="0">
                <a:solidFill>
                  <a:srgbClr val="0076A3"/>
                </a:solidFill>
              </a:rPr>
              <a:t> </a:t>
            </a:r>
            <a:r>
              <a:rPr sz="3000" dirty="0" err="1">
                <a:solidFill>
                  <a:srgbClr val="0076A3"/>
                </a:solidFill>
              </a:rPr>
              <a:t>vaga</a:t>
            </a:r>
            <a:r>
              <a:rPr sz="3000" dirty="0">
                <a:solidFill>
                  <a:srgbClr val="0076A3"/>
                </a:solidFill>
              </a:rPr>
              <a:t> </a:t>
            </a:r>
            <a:r>
              <a:rPr sz="3000" dirty="0" err="1">
                <a:solidFill>
                  <a:srgbClr val="0076A3"/>
                </a:solidFill>
              </a:rPr>
              <a:t>ideia</a:t>
            </a:r>
            <a:r>
              <a:rPr sz="3000" dirty="0">
                <a:solidFill>
                  <a:srgbClr val="0076A3"/>
                </a:solidFill>
              </a:rPr>
              <a:t> da </a:t>
            </a:r>
            <a:r>
              <a:rPr sz="3000" dirty="0" err="1">
                <a:solidFill>
                  <a:srgbClr val="0076A3"/>
                </a:solidFill>
              </a:rPr>
              <a:t>encrenca</a:t>
            </a:r>
            <a:r>
              <a:rPr sz="3000" dirty="0">
                <a:solidFill>
                  <a:srgbClr val="0076A3"/>
                </a:solidFill>
              </a:rPr>
              <a:t> que </a:t>
            </a:r>
            <a:r>
              <a:rPr sz="3000" dirty="0" err="1">
                <a:solidFill>
                  <a:srgbClr val="0076A3"/>
                </a:solidFill>
              </a:rPr>
              <a:t>vamos</a:t>
            </a:r>
            <a:r>
              <a:rPr sz="3000" dirty="0">
                <a:solidFill>
                  <a:srgbClr val="0076A3"/>
                </a:solidFill>
              </a:rPr>
              <a:t> </a:t>
            </a:r>
            <a:r>
              <a:rPr sz="3000" dirty="0" err="1">
                <a:solidFill>
                  <a:srgbClr val="0076A3"/>
                </a:solidFill>
              </a:rPr>
              <a:t>enfrentar</a:t>
            </a:r>
            <a:r>
              <a:rPr sz="3000" dirty="0">
                <a:solidFill>
                  <a:srgbClr val="0076A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03840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xfrm>
            <a:off x="6781800" y="6474459"/>
            <a:ext cx="1905000" cy="3073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defTabSz="877822">
              <a:defRPr sz="1300"/>
            </a:lvl1pPr>
          </a:lstStyle>
          <a:p>
            <a:pPr lvl="0">
              <a:defRPr sz="1800"/>
            </a:pPr>
            <a:fld id="{86CB4B4D-7CA3-9044-876B-883B54F8677D}" type="slidenum">
              <a:rPr sz="1300"/>
              <a:t>3</a:t>
            </a:fld>
            <a:endParaRPr sz="1300"/>
          </a:p>
        </p:txBody>
      </p:sp>
      <p:sp>
        <p:nvSpPr>
          <p:cNvPr id="46" name="Shape 46"/>
          <p:cNvSpPr>
            <a:spLocks noGrp="1"/>
          </p:cNvSpPr>
          <p:nvPr>
            <p:ph type="title"/>
          </p:nvPr>
        </p:nvSpPr>
        <p:spPr>
          <a:xfrm>
            <a:off x="1150937" y="-1"/>
            <a:ext cx="7793040" cy="17605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DIAGNOSTICO</a:t>
            </a:r>
          </a:p>
        </p:txBody>
      </p:sp>
      <p:sp>
        <p:nvSpPr>
          <p:cNvPr id="47" name="Shape 47"/>
          <p:cNvSpPr>
            <a:spLocks noGrp="1"/>
          </p:cNvSpPr>
          <p:nvPr>
            <p:ph type="body" idx="1"/>
          </p:nvPr>
        </p:nvSpPr>
        <p:spPr>
          <a:xfrm>
            <a:off x="518367" y="2017710"/>
            <a:ext cx="8436721" cy="425196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>
                <a:solidFill>
                  <a:srgbClr val="7A69EB"/>
                </a:solidFill>
              </a:rPr>
              <a:t>Antes de </a:t>
            </a:r>
            <a:r>
              <a:rPr sz="3000" dirty="0" err="1">
                <a:solidFill>
                  <a:srgbClr val="7A69EB"/>
                </a:solidFill>
              </a:rPr>
              <a:t>fazermos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ou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iniciarmos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qualquer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trabalho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deve</a:t>
            </a:r>
            <a:r>
              <a:rPr sz="3000" dirty="0">
                <a:solidFill>
                  <a:srgbClr val="7A69EB"/>
                </a:solidFill>
              </a:rPr>
              <a:t> ser </a:t>
            </a:r>
            <a:r>
              <a:rPr sz="3000" dirty="0" err="1">
                <a:solidFill>
                  <a:srgbClr val="7A69EB"/>
                </a:solidFill>
              </a:rPr>
              <a:t>elaborado</a:t>
            </a:r>
            <a:r>
              <a:rPr sz="3000" dirty="0">
                <a:solidFill>
                  <a:srgbClr val="7A69EB"/>
                </a:solidFill>
              </a:rPr>
              <a:t> um </a:t>
            </a:r>
            <a:r>
              <a:rPr sz="3000" dirty="0" err="1">
                <a:solidFill>
                  <a:srgbClr val="7A69EB"/>
                </a:solidFill>
              </a:rPr>
              <a:t>diagnostico</a:t>
            </a:r>
            <a:r>
              <a:rPr sz="3000" dirty="0">
                <a:solidFill>
                  <a:srgbClr val="7A69EB"/>
                </a:solidFill>
              </a:rPr>
              <a:t> do </a:t>
            </a:r>
            <a:r>
              <a:rPr sz="3000" dirty="0" err="1">
                <a:solidFill>
                  <a:srgbClr val="7A69EB"/>
                </a:solidFill>
              </a:rPr>
              <a:t>problema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ou</a:t>
            </a:r>
            <a:r>
              <a:rPr sz="3000" dirty="0">
                <a:solidFill>
                  <a:srgbClr val="7A69EB"/>
                </a:solidFill>
              </a:rPr>
              <a:t> do </a:t>
            </a:r>
            <a:r>
              <a:rPr sz="3000" dirty="0" err="1">
                <a:solidFill>
                  <a:srgbClr val="7A69EB"/>
                </a:solidFill>
              </a:rPr>
              <a:t>serviço</a:t>
            </a:r>
            <a:r>
              <a:rPr sz="3000" dirty="0">
                <a:solidFill>
                  <a:srgbClr val="7A69EB"/>
                </a:solidFill>
              </a:rPr>
              <a:t> a ser </a:t>
            </a:r>
            <a:r>
              <a:rPr sz="3000" dirty="0" err="1">
                <a:solidFill>
                  <a:srgbClr val="7A69EB"/>
                </a:solidFill>
              </a:rPr>
              <a:t>executado</a:t>
            </a:r>
            <a:r>
              <a:rPr sz="3000" dirty="0">
                <a:solidFill>
                  <a:srgbClr val="7A69EB"/>
                </a:solidFill>
              </a:rPr>
              <a:t>.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 err="1">
                <a:solidFill>
                  <a:srgbClr val="7A69EB"/>
                </a:solidFill>
              </a:rPr>
              <a:t>Muitas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vezes</a:t>
            </a:r>
            <a:r>
              <a:rPr sz="3000" dirty="0">
                <a:solidFill>
                  <a:srgbClr val="7A69EB"/>
                </a:solidFill>
              </a:rPr>
              <a:t>, </a:t>
            </a:r>
            <a:r>
              <a:rPr sz="3000" dirty="0" err="1">
                <a:solidFill>
                  <a:srgbClr val="7A69EB"/>
                </a:solidFill>
              </a:rPr>
              <a:t>aparecem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conflitos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sobre</a:t>
            </a:r>
            <a:r>
              <a:rPr sz="3000" dirty="0">
                <a:solidFill>
                  <a:srgbClr val="7A69EB"/>
                </a:solidFill>
              </a:rPr>
              <a:t> o que </a:t>
            </a:r>
            <a:r>
              <a:rPr sz="3000" dirty="0" err="1">
                <a:solidFill>
                  <a:srgbClr val="7A69EB"/>
                </a:solidFill>
              </a:rPr>
              <a:t>fazer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ou</a:t>
            </a:r>
            <a:r>
              <a:rPr sz="3000" dirty="0">
                <a:solidFill>
                  <a:srgbClr val="7A69EB"/>
                </a:solidFill>
              </a:rPr>
              <a:t> o que </a:t>
            </a:r>
            <a:r>
              <a:rPr sz="3000" dirty="0" err="1">
                <a:solidFill>
                  <a:srgbClr val="7A69EB"/>
                </a:solidFill>
              </a:rPr>
              <a:t>realmente</a:t>
            </a:r>
            <a:r>
              <a:rPr sz="3000" dirty="0">
                <a:solidFill>
                  <a:srgbClr val="7A69EB"/>
                </a:solidFill>
              </a:rPr>
              <a:t> </a:t>
            </a:r>
            <a:r>
              <a:rPr sz="3000" dirty="0" err="1">
                <a:solidFill>
                  <a:srgbClr val="7A69EB"/>
                </a:solidFill>
              </a:rPr>
              <a:t>seria</a:t>
            </a:r>
            <a:r>
              <a:rPr sz="3000" dirty="0">
                <a:solidFill>
                  <a:srgbClr val="7A69EB"/>
                </a:solidFill>
              </a:rPr>
              <a:t> o </a:t>
            </a:r>
            <a:r>
              <a:rPr sz="3000" dirty="0" err="1">
                <a:solidFill>
                  <a:srgbClr val="7A69EB"/>
                </a:solidFill>
              </a:rPr>
              <a:t>melho</a:t>
            </a:r>
            <a:r>
              <a:rPr lang="pt-BR" sz="3000" dirty="0" err="1">
                <a:solidFill>
                  <a:srgbClr val="7A69EB"/>
                </a:solidFill>
              </a:rPr>
              <a:t>r</a:t>
            </a:r>
            <a:r>
              <a:rPr lang="pt-BR" sz="3000" dirty="0">
                <a:solidFill>
                  <a:srgbClr val="7A69EB"/>
                </a:solidFill>
              </a:rPr>
              <a:t>, as vezes 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lang="pt-BR" sz="3000" dirty="0">
                <a:solidFill>
                  <a:srgbClr val="7A69EB"/>
                </a:solidFill>
              </a:rPr>
              <a:t>O melhor seria não fazer.</a:t>
            </a:r>
            <a:endParaRPr sz="3000" dirty="0">
              <a:solidFill>
                <a:srgbClr val="7A69EB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44450" tIns="44450" rIns="44450" bIns="44450" anchor="ctr">
            <a:normAutofit/>
          </a:bodyPr>
          <a:lstStyle>
            <a:lvl1pPr defTabSz="713230">
              <a:defRPr sz="3400">
                <a:solidFill>
                  <a:srgbClr val="063DE8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400">
                <a:solidFill>
                  <a:srgbClr val="063DE8"/>
                </a:solidFill>
              </a:rPr>
              <a:t>ABORDAGEM PARA UM PROJETO DE SISTEMA</a:t>
            </a:r>
          </a:p>
        </p:txBody>
      </p:sp>
      <p:sp>
        <p:nvSpPr>
          <p:cNvPr id="50" name="Shape 50"/>
          <p:cNvSpPr>
            <a:spLocks noGrp="1"/>
          </p:cNvSpPr>
          <p:nvPr>
            <p:ph type="body" idx="1"/>
          </p:nvPr>
        </p:nvSpPr>
        <p:spPr>
          <a:xfrm>
            <a:off x="276727" y="2017708"/>
            <a:ext cx="8678362" cy="4114807"/>
          </a:xfrm>
          <a:prstGeom prst="rect">
            <a:avLst/>
          </a:prstGeom>
        </p:spPr>
        <p:txBody>
          <a:bodyPr lIns="44450" tIns="44450" rIns="44450" bIns="4445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>
                <a:solidFill>
                  <a:srgbClr val="063DE8"/>
                </a:solidFill>
              </a:rPr>
              <a:t>SISTEMA NOVO</a:t>
            </a:r>
            <a:r>
              <a:rPr lang="pt-BR" sz="3000" dirty="0">
                <a:solidFill>
                  <a:srgbClr val="063DE8"/>
                </a:solidFill>
              </a:rPr>
              <a:t> (comprar ou desenvolver?)</a:t>
            </a:r>
            <a:endParaRPr sz="3000" dirty="0">
              <a:solidFill>
                <a:srgbClr val="063DE8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>
                <a:solidFill>
                  <a:srgbClr val="063DE8"/>
                </a:solidFill>
              </a:rPr>
              <a:t>MANUTENÇÃO DE SISTEMA</a:t>
            </a:r>
            <a:r>
              <a:rPr lang="pt-BR" sz="3000" dirty="0">
                <a:solidFill>
                  <a:srgbClr val="063DE8"/>
                </a:solidFill>
              </a:rPr>
              <a:t> (por que?)</a:t>
            </a:r>
            <a:endParaRPr sz="3000" dirty="0">
              <a:solidFill>
                <a:srgbClr val="063DE8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>
                <a:solidFill>
                  <a:srgbClr val="063DE8"/>
                </a:solidFill>
              </a:rPr>
              <a:t>REVISÃO DE SISTEMA</a:t>
            </a:r>
            <a:r>
              <a:rPr lang="pt-BR" sz="3000" dirty="0">
                <a:solidFill>
                  <a:srgbClr val="063DE8"/>
                </a:solidFill>
              </a:rPr>
              <a:t> (esta obsoleto?)</a:t>
            </a:r>
            <a:endParaRPr sz="3000" dirty="0">
              <a:solidFill>
                <a:srgbClr val="063DE8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>
                <a:solidFill>
                  <a:srgbClr val="063DE8"/>
                </a:solidFill>
              </a:rPr>
              <a:t>ADIÇÃO DE NOVOS MODULOS</a:t>
            </a:r>
            <a:r>
              <a:rPr lang="pt-BR" sz="3000" dirty="0">
                <a:solidFill>
                  <a:srgbClr val="063DE8"/>
                </a:solidFill>
              </a:rPr>
              <a:t> (o sistema aceita)</a:t>
            </a:r>
            <a:endParaRPr sz="3000" dirty="0">
              <a:solidFill>
                <a:srgbClr val="063DE8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>
                <a:solidFill>
                  <a:srgbClr val="063DE8"/>
                </a:solidFill>
              </a:rPr>
              <a:t>RECICLAGEM DE SISTEMA</a:t>
            </a:r>
            <a:r>
              <a:rPr lang="pt-BR" sz="3000" dirty="0">
                <a:solidFill>
                  <a:srgbClr val="063DE8"/>
                </a:solidFill>
              </a:rPr>
              <a:t> (sistema lento?)</a:t>
            </a:r>
            <a:endParaRPr sz="3000" dirty="0">
              <a:solidFill>
                <a:srgbClr val="063DE8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>
                <a:solidFill>
                  <a:srgbClr val="063DE8"/>
                </a:solidFill>
              </a:rPr>
              <a:t>ALTERAÇÃO DE CONCEITO DO NEGOCIO</a:t>
            </a:r>
            <a:r>
              <a:rPr lang="pt-BR" sz="3000" dirty="0">
                <a:solidFill>
                  <a:srgbClr val="063DE8"/>
                </a:solidFill>
              </a:rPr>
              <a:t>(lixo)</a:t>
            </a:r>
            <a:endParaRPr sz="3000" dirty="0">
              <a:solidFill>
                <a:srgbClr val="063DE8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1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44450" tIns="44450" rIns="44450" bIns="44450" anchor="ctr">
            <a:normAutofit/>
          </a:bodyPr>
          <a:lstStyle>
            <a:lvl1pPr>
              <a:defRPr sz="4000">
                <a:solidFill>
                  <a:srgbClr val="063DE8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63DE8"/>
                </a:solidFill>
              </a:rPr>
              <a:t>NECESSIDADES IMPERATIVAS</a:t>
            </a:r>
          </a:p>
        </p:txBody>
      </p:sp>
      <p:sp>
        <p:nvSpPr>
          <p:cNvPr id="53" name="Shape 53"/>
          <p:cNvSpPr>
            <a:spLocks noGrp="1"/>
          </p:cNvSpPr>
          <p:nvPr>
            <p:ph type="body" idx="1"/>
          </p:nvPr>
        </p:nvSpPr>
        <p:spPr>
          <a:xfrm>
            <a:off x="431800" y="1930400"/>
            <a:ext cx="8001000" cy="4648200"/>
          </a:xfrm>
          <a:prstGeom prst="rect">
            <a:avLst/>
          </a:prstGeom>
          <a:ln>
            <a:solidFill/>
            <a:round/>
          </a:ln>
        </p:spPr>
        <p:txBody>
          <a:bodyPr lIns="44450" tIns="44450" rIns="44450" bIns="44450">
            <a:normAutofit/>
          </a:bodyPr>
          <a:lstStyle/>
          <a:p>
            <a:pPr marL="0" lvl="0" indent="0">
              <a:spcBef>
                <a:spcPts val="800"/>
              </a:spcBef>
              <a:buClrTx/>
              <a:buSzTx/>
              <a:buFontTx/>
              <a:buNone/>
              <a:defRPr sz="1800"/>
            </a:pPr>
            <a:r>
              <a:rPr sz="3300" dirty="0">
                <a:solidFill>
                  <a:srgbClr val="063DE8"/>
                </a:solidFill>
              </a:rPr>
              <a:t>INFORMAÇÕES NECESSÁRIAS:</a:t>
            </a:r>
            <a:endParaRPr sz="3600" dirty="0">
              <a:solidFill>
                <a:srgbClr val="063DE8"/>
              </a:solidFill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 dirty="0">
                <a:solidFill>
                  <a:srgbClr val="063DE8"/>
                </a:solidFill>
              </a:rPr>
              <a:t>ENUNCIADO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 dirty="0">
                <a:solidFill>
                  <a:srgbClr val="063DE8"/>
                </a:solidFill>
              </a:rPr>
              <a:t>ESPECIFICAÇÃO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 dirty="0">
                <a:solidFill>
                  <a:srgbClr val="063DE8"/>
                </a:solidFill>
              </a:rPr>
              <a:t>DIFERENÇAS  = ATUAL X PROPOSTO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 dirty="0">
                <a:solidFill>
                  <a:srgbClr val="063DE8"/>
                </a:solidFill>
              </a:rPr>
              <a:t>MUDANÇAS OCORRIDAS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 dirty="0">
                <a:solidFill>
                  <a:srgbClr val="063DE8"/>
                </a:solidFill>
              </a:rPr>
              <a:t>HIPÓTESES DE CAUSA</a:t>
            </a:r>
            <a:r>
              <a:rPr lang="pt-BR" sz="2800" dirty="0">
                <a:solidFill>
                  <a:srgbClr val="063DE8"/>
                </a:solidFill>
              </a:rPr>
              <a:t> (das mudanças)</a:t>
            </a:r>
            <a:endParaRPr sz="2800" dirty="0">
              <a:solidFill>
                <a:srgbClr val="063DE8"/>
              </a:solidFill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 dirty="0">
                <a:solidFill>
                  <a:srgbClr val="063DE8"/>
                </a:solidFill>
              </a:rPr>
              <a:t>TESTE</a:t>
            </a:r>
            <a:r>
              <a:rPr lang="pt-BR" sz="2800" dirty="0">
                <a:solidFill>
                  <a:srgbClr val="063DE8"/>
                </a:solidFill>
              </a:rPr>
              <a:t> (simulação)</a:t>
            </a:r>
            <a:endParaRPr sz="2800" dirty="0">
              <a:solidFill>
                <a:srgbClr val="063DE8"/>
              </a:solidFill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 dirty="0">
                <a:solidFill>
                  <a:srgbClr val="063DE8"/>
                </a:solidFill>
              </a:rPr>
              <a:t>VERIFICAÇÃO</a:t>
            </a:r>
            <a:r>
              <a:rPr lang="pt-BR" sz="2800" dirty="0">
                <a:solidFill>
                  <a:srgbClr val="063DE8"/>
                </a:solidFill>
              </a:rPr>
              <a:t> (funcionou)</a:t>
            </a:r>
            <a:endParaRPr sz="2800" dirty="0">
              <a:solidFill>
                <a:srgbClr val="063DE8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DIAGNÓSTICO</a:t>
            </a:r>
          </a:p>
        </p:txBody>
      </p:sp>
      <p:sp>
        <p:nvSpPr>
          <p:cNvPr id="56" name="Shape 56"/>
          <p:cNvSpPr>
            <a:spLocks noGrp="1"/>
          </p:cNvSpPr>
          <p:nvPr>
            <p:ph type="body" idx="1"/>
          </p:nvPr>
        </p:nvSpPr>
        <p:spPr>
          <a:xfrm>
            <a:off x="472677" y="2017710"/>
            <a:ext cx="8482411" cy="461169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lnSpc>
                <a:spcPct val="90000"/>
              </a:lnSpc>
              <a:buClrTx/>
              <a:buSzTx/>
              <a:buFontTx/>
              <a:buNone/>
              <a:defRPr sz="1800"/>
            </a:pPr>
            <a:r>
              <a:rPr sz="2900">
                <a:solidFill>
                  <a:srgbClr val="063DE8"/>
                </a:solidFill>
              </a:rPr>
              <a:t>O CONJUNTO DE ITENS APRESENTADO NO SLIDE ANTERIOR, DEVERÁ NOS CAPACITAR A FORMAR UM DIAGNÓSTICO DO PROBLEMA QUE A EMPRESA DESEJA RESOLVER.</a:t>
            </a:r>
          </a:p>
          <a:p>
            <a:pPr marL="0" lvl="0" indent="0">
              <a:lnSpc>
                <a:spcPct val="90000"/>
              </a:lnSpc>
              <a:buClrTx/>
              <a:buSzTx/>
              <a:buFontTx/>
              <a:buNone/>
              <a:defRPr sz="1800"/>
            </a:pPr>
            <a:r>
              <a:rPr sz="2900">
                <a:solidFill>
                  <a:srgbClr val="063DE8"/>
                </a:solidFill>
              </a:rPr>
              <a:t>OBS: Se for uma equipe de analistas da própria empresa, evita-se o tempo que seria perdido por uma consultoria, para conhecer a Empresa, o ambiente em que ela esta inserida e os tipos de negocio da mesma.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DIAGNÓSTICO</a:t>
            </a:r>
          </a:p>
        </p:txBody>
      </p:sp>
      <p:sp>
        <p:nvSpPr>
          <p:cNvPr id="59" name="Shape 59"/>
          <p:cNvSpPr>
            <a:spLocks noGrp="1"/>
          </p:cNvSpPr>
          <p:nvPr>
            <p:ph type="body" idx="1"/>
          </p:nvPr>
        </p:nvSpPr>
        <p:spPr>
          <a:xfrm>
            <a:off x="188912" y="2017708"/>
            <a:ext cx="8766176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800"/>
              </a:spcBef>
              <a:buClrTx/>
              <a:buSzTx/>
              <a:buFontTx/>
              <a:buNone/>
              <a:defRPr sz="1800"/>
            </a:pPr>
            <a:r>
              <a:rPr sz="3600" u="sng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ENUNCIADO</a:t>
            </a:r>
            <a:r>
              <a:rPr sz="3600">
                <a:solidFill>
                  <a:srgbClr val="063DE8"/>
                </a:solidFill>
              </a:rPr>
              <a:t>:</a:t>
            </a:r>
          </a:p>
          <a:p>
            <a:pPr lvl="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40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DEPOIS DE ELABORADO, DEVERÁ SER APROVADO PELA GERENCIA OU DIRETORIA QUE PAGARA O PROJETO.(DESCREVA CLARAMENTE) : </a:t>
            </a:r>
            <a:r>
              <a:rPr sz="2400" u="sng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OBJETO E  OU DEFEITO</a:t>
            </a:r>
          </a:p>
          <a:p>
            <a:pPr lvl="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40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Obs. Não estão sendo abordados os aspectos financeiros, pois para se poder estimar um preço e um prazo coerentes, ainda faltam muitos levantamentos. Pode-se e deve-se estabelecer um preço para este diagnóstico inicial, caso ele ocupe mais de um dia.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DIAGNÓSTICO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213260" y="2020887"/>
            <a:ext cx="8717480" cy="411480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 u="sng" dirty="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ESPECIFICAÇÃO </a:t>
            </a:r>
            <a:r>
              <a:rPr sz="2800" dirty="0">
                <a:solidFill>
                  <a:srgbClr val="063DE8"/>
                </a:solidFill>
              </a:rPr>
              <a:t>– </a:t>
            </a:r>
            <a:r>
              <a:rPr sz="2800" dirty="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DEVE SER SEMPRE UM DETALHAMENTO FINO DO ENUNCIADO, ONDE DEVEM APARECER AS PERGUNTAS: </a:t>
            </a:r>
            <a:endParaRPr lang="pt-BR" sz="2800" dirty="0">
              <a:solidFill>
                <a:srgbClr val="063DE8"/>
              </a:solidFill>
              <a:latin typeface="Tahoma Negreta"/>
              <a:ea typeface="Tahoma Negreta"/>
              <a:cs typeface="Tahoma Negreta"/>
              <a:sym typeface="Tahoma Negreta"/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 dirty="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O QUE, ONDE, QUANTO E QUANDO. </a:t>
            </a:r>
            <a:r>
              <a:rPr sz="2800" dirty="0" err="1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É</a:t>
            </a:r>
            <a:r>
              <a:rPr sz="2800" dirty="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e NÃO </a:t>
            </a:r>
            <a:r>
              <a:rPr sz="2800" dirty="0" err="1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É</a:t>
            </a:r>
            <a:r>
              <a:rPr sz="2800" dirty="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.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2700" dirty="0" err="1">
                <a:solidFill>
                  <a:srgbClr val="063DE8"/>
                </a:solidFill>
              </a:rPr>
              <a:t>Não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esqueça</a:t>
            </a:r>
            <a:r>
              <a:rPr sz="2700" dirty="0">
                <a:solidFill>
                  <a:srgbClr val="063DE8"/>
                </a:solidFill>
              </a:rPr>
              <a:t> de </a:t>
            </a:r>
            <a:r>
              <a:rPr sz="2700" dirty="0" err="1">
                <a:solidFill>
                  <a:srgbClr val="063DE8"/>
                </a:solidFill>
              </a:rPr>
              <a:t>perguntar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também</a:t>
            </a:r>
            <a:r>
              <a:rPr sz="2700" dirty="0">
                <a:solidFill>
                  <a:srgbClr val="063DE8"/>
                </a:solidFill>
              </a:rPr>
              <a:t> POR QUE, mas tome </a:t>
            </a:r>
            <a:r>
              <a:rPr sz="2700" dirty="0" err="1">
                <a:solidFill>
                  <a:srgbClr val="063DE8"/>
                </a:solidFill>
              </a:rPr>
              <a:t>cuidado</a:t>
            </a:r>
            <a:r>
              <a:rPr sz="2700" dirty="0">
                <a:solidFill>
                  <a:srgbClr val="063DE8"/>
                </a:solidFill>
              </a:rPr>
              <a:t> para </a:t>
            </a:r>
            <a:r>
              <a:rPr sz="2700" dirty="0" err="1">
                <a:solidFill>
                  <a:srgbClr val="063DE8"/>
                </a:solidFill>
              </a:rPr>
              <a:t>não</a:t>
            </a:r>
            <a:r>
              <a:rPr sz="2700" dirty="0">
                <a:solidFill>
                  <a:srgbClr val="063DE8"/>
                </a:solidFill>
              </a:rPr>
              <a:t> se </a:t>
            </a:r>
            <a:r>
              <a:rPr sz="2700" dirty="0" err="1">
                <a:solidFill>
                  <a:srgbClr val="063DE8"/>
                </a:solidFill>
              </a:rPr>
              <a:t>tornar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chato</a:t>
            </a:r>
            <a:r>
              <a:rPr sz="2700" dirty="0">
                <a:solidFill>
                  <a:srgbClr val="063DE8"/>
                </a:solidFill>
              </a:rPr>
              <a:t>. </a:t>
            </a:r>
            <a:r>
              <a:rPr sz="2700" dirty="0" err="1">
                <a:solidFill>
                  <a:srgbClr val="063DE8"/>
                </a:solidFill>
              </a:rPr>
              <a:t>Essas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perguntas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podem</a:t>
            </a:r>
            <a:r>
              <a:rPr sz="2700" dirty="0">
                <a:solidFill>
                  <a:srgbClr val="063DE8"/>
                </a:solidFill>
              </a:rPr>
              <a:t> ser </a:t>
            </a:r>
            <a:r>
              <a:rPr sz="2700" dirty="0" err="1">
                <a:solidFill>
                  <a:srgbClr val="063DE8"/>
                </a:solidFill>
              </a:rPr>
              <a:t>respondidas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pelo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gerente</a:t>
            </a:r>
            <a:r>
              <a:rPr sz="2700" dirty="0">
                <a:solidFill>
                  <a:srgbClr val="063DE8"/>
                </a:solidFill>
              </a:rPr>
              <a:t> de </a:t>
            </a:r>
            <a:r>
              <a:rPr sz="2700" dirty="0" err="1">
                <a:solidFill>
                  <a:srgbClr val="063DE8"/>
                </a:solidFill>
              </a:rPr>
              <a:t>projetos</a:t>
            </a:r>
            <a:r>
              <a:rPr sz="2700" dirty="0">
                <a:solidFill>
                  <a:srgbClr val="063DE8"/>
                </a:solidFill>
              </a:rPr>
              <a:t>, que </a:t>
            </a:r>
            <a:r>
              <a:rPr sz="2700" dirty="0" err="1">
                <a:solidFill>
                  <a:srgbClr val="063DE8"/>
                </a:solidFill>
              </a:rPr>
              <a:t>deve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ter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obtido</a:t>
            </a:r>
            <a:r>
              <a:rPr sz="2700" dirty="0">
                <a:solidFill>
                  <a:srgbClr val="063DE8"/>
                </a:solidFill>
              </a:rPr>
              <a:t> as </a:t>
            </a:r>
            <a:r>
              <a:rPr sz="2700" dirty="0" err="1">
                <a:solidFill>
                  <a:srgbClr val="063DE8"/>
                </a:solidFill>
              </a:rPr>
              <a:t>respostas</a:t>
            </a:r>
            <a:r>
              <a:rPr sz="2700" dirty="0">
                <a:solidFill>
                  <a:srgbClr val="063DE8"/>
                </a:solidFill>
              </a:rPr>
              <a:t> da </a:t>
            </a:r>
            <a:r>
              <a:rPr sz="2700" dirty="0" err="1">
                <a:solidFill>
                  <a:srgbClr val="063DE8"/>
                </a:solidFill>
              </a:rPr>
              <a:t>Diretoria</a:t>
            </a:r>
            <a:r>
              <a:rPr sz="2700" dirty="0">
                <a:solidFill>
                  <a:srgbClr val="063DE8"/>
                </a:solidFill>
              </a:rPr>
              <a:t> que </a:t>
            </a:r>
            <a:r>
              <a:rPr sz="2700" dirty="0" err="1">
                <a:solidFill>
                  <a:srgbClr val="063DE8"/>
                </a:solidFill>
              </a:rPr>
              <a:t>solicitou</a:t>
            </a:r>
            <a:r>
              <a:rPr sz="2700" dirty="0">
                <a:solidFill>
                  <a:srgbClr val="063DE8"/>
                </a:solidFill>
              </a:rPr>
              <a:t> o </a:t>
            </a:r>
            <a:r>
              <a:rPr sz="2700" dirty="0" err="1">
                <a:solidFill>
                  <a:srgbClr val="063DE8"/>
                </a:solidFill>
              </a:rPr>
              <a:t>serviço</a:t>
            </a:r>
            <a:r>
              <a:rPr sz="2700" dirty="0">
                <a:solidFill>
                  <a:srgbClr val="063DE8"/>
                </a:solidFill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DIAGNÓSTICO</a:t>
            </a:r>
          </a:p>
        </p:txBody>
      </p:sp>
      <p:sp>
        <p:nvSpPr>
          <p:cNvPr id="65" name="Shape 65"/>
          <p:cNvSpPr>
            <a:spLocks noGrp="1"/>
          </p:cNvSpPr>
          <p:nvPr>
            <p:ph type="body" idx="1"/>
          </p:nvPr>
        </p:nvSpPr>
        <p:spPr>
          <a:xfrm>
            <a:off x="188912" y="2017708"/>
            <a:ext cx="8766176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 defTabSz="896111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3000" u="sng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DIFERENÇAS :  </a:t>
            </a:r>
          </a:p>
          <a:p>
            <a:pPr marL="0" lvl="0" indent="0" defTabSz="896111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90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COMPARE O É COM O NÃO É.</a:t>
            </a:r>
          </a:p>
          <a:p>
            <a:pPr marL="0" lvl="0" indent="0" defTabSz="896111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90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REGISTRE AS CARACTERÍSTICAS EXCLUSIVAS DO É. (procure verificar se são fatos)</a:t>
            </a:r>
          </a:p>
          <a:p>
            <a:pPr marL="0" lvl="0" indent="0" defTabSz="896111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3000">
                <a:solidFill>
                  <a:srgbClr val="063DE8"/>
                </a:solidFill>
              </a:rPr>
              <a:t>OBS.</a:t>
            </a:r>
            <a:r>
              <a:rPr sz="3000" u="sng">
                <a:solidFill>
                  <a:srgbClr val="EA4232"/>
                </a:solidFill>
              </a:rPr>
              <a:t>Pode ser</a:t>
            </a:r>
            <a:r>
              <a:rPr sz="3000">
                <a:solidFill>
                  <a:srgbClr val="EA4232"/>
                </a:solidFill>
              </a:rPr>
              <a:t> </a:t>
            </a:r>
            <a:r>
              <a:rPr sz="3000">
                <a:solidFill>
                  <a:srgbClr val="063DE8"/>
                </a:solidFill>
              </a:rPr>
              <a:t>não quer dizer é e </a:t>
            </a:r>
            <a:r>
              <a:rPr sz="3000" u="sng">
                <a:solidFill>
                  <a:srgbClr val="EA4A43"/>
                </a:solidFill>
              </a:rPr>
              <a:t>as</a:t>
            </a:r>
            <a:r>
              <a:rPr sz="3000" u="sng">
                <a:solidFill>
                  <a:srgbClr val="063DE8"/>
                </a:solidFill>
              </a:rPr>
              <a:t> </a:t>
            </a:r>
            <a:r>
              <a:rPr sz="3000" u="sng">
                <a:solidFill>
                  <a:srgbClr val="EA5243"/>
                </a:solidFill>
              </a:rPr>
              <a:t>vezes</a:t>
            </a:r>
            <a:r>
              <a:rPr sz="3000">
                <a:solidFill>
                  <a:srgbClr val="063DE8"/>
                </a:solidFill>
              </a:rPr>
              <a:t> não quer dizer não é. Isto mostra apenas insegurança e não adianta perguntar </a:t>
            </a:r>
            <a:r>
              <a:rPr sz="3000" u="sng">
                <a:solidFill>
                  <a:srgbClr val="EA444A"/>
                </a:solidFill>
              </a:rPr>
              <a:t>por que</a:t>
            </a:r>
            <a:r>
              <a:rPr sz="3000">
                <a:solidFill>
                  <a:srgbClr val="063DE8"/>
                </a:solidFill>
              </a:rPr>
              <a:t> nesse momento.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DIAGNÓSTICO</a:t>
            </a:r>
          </a:p>
        </p:txBody>
      </p:sp>
      <p:sp>
        <p:nvSpPr>
          <p:cNvPr id="68" name="Shape 68"/>
          <p:cNvSpPr>
            <a:spLocks noGrp="1"/>
          </p:cNvSpPr>
          <p:nvPr>
            <p:ph type="body" idx="1"/>
          </p:nvPr>
        </p:nvSpPr>
        <p:spPr>
          <a:xfrm>
            <a:off x="35332" y="2017708"/>
            <a:ext cx="8919756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lnSpc>
                <a:spcPct val="90000"/>
              </a:lnSpc>
              <a:buClrTx/>
              <a:buSzTx/>
              <a:buFontTx/>
              <a:buNone/>
              <a:defRPr sz="1800"/>
            </a:pPr>
            <a:r>
              <a:rPr sz="3200" u="sng" dirty="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MUDANÇAS: </a:t>
            </a:r>
            <a:endParaRPr dirty="0">
              <a:solidFill>
                <a:srgbClr val="063DE8"/>
              </a:solidFill>
            </a:endParaRPr>
          </a:p>
          <a:p>
            <a:pPr marL="0" lvl="0" indent="0">
              <a:lnSpc>
                <a:spcPct val="90000"/>
              </a:lnSpc>
              <a:buClrTx/>
              <a:buSzTx/>
              <a:buFontTx/>
              <a:buNone/>
              <a:defRPr sz="1800"/>
            </a:pPr>
            <a:r>
              <a:rPr sz="3200" dirty="0">
                <a:solidFill>
                  <a:srgbClr val="063DE8"/>
                </a:solidFill>
              </a:rPr>
              <a:t>REGISTRE O QUE MUDOU NAS DIFERENÇAS E TUDO QUE ESTIVER RELACIONADO A ELAS. ANOTE AS DATAS EM QUE AS MUDANÇAS OCORRERAM.(</a:t>
            </a:r>
            <a:r>
              <a:rPr sz="3200" dirty="0" err="1">
                <a:solidFill>
                  <a:srgbClr val="063DE8"/>
                </a:solidFill>
              </a:rPr>
              <a:t>Importante</a:t>
            </a:r>
            <a:r>
              <a:rPr sz="3200" dirty="0">
                <a:solidFill>
                  <a:srgbClr val="063DE8"/>
                </a:solidFill>
              </a:rPr>
              <a:t>)</a:t>
            </a:r>
            <a:endParaRPr dirty="0">
              <a:solidFill>
                <a:srgbClr val="063DE8"/>
              </a:solidFill>
            </a:endParaRPr>
          </a:p>
          <a:p>
            <a:pPr marL="0" lvl="0" indent="0">
              <a:lnSpc>
                <a:spcPct val="90000"/>
              </a:lnSpc>
              <a:buClrTx/>
              <a:buSzTx/>
              <a:buFontTx/>
              <a:buNone/>
              <a:defRPr sz="1800"/>
            </a:pPr>
            <a:r>
              <a:rPr sz="3200" dirty="0">
                <a:solidFill>
                  <a:srgbClr val="063DE8"/>
                </a:solidFill>
              </a:rPr>
              <a:t>EX: </a:t>
            </a:r>
            <a:r>
              <a:rPr sz="3200" dirty="0" err="1">
                <a:solidFill>
                  <a:srgbClr val="063DE8"/>
                </a:solidFill>
              </a:rPr>
              <a:t>Está</a:t>
            </a:r>
            <a:r>
              <a:rPr sz="3200" dirty="0">
                <a:solidFill>
                  <a:srgbClr val="063DE8"/>
                </a:solidFill>
              </a:rPr>
              <a:t> </a:t>
            </a:r>
            <a:r>
              <a:rPr sz="3200" dirty="0" err="1">
                <a:solidFill>
                  <a:srgbClr val="063DE8"/>
                </a:solidFill>
              </a:rPr>
              <a:t>diferente</a:t>
            </a:r>
            <a:r>
              <a:rPr sz="3200" dirty="0">
                <a:solidFill>
                  <a:srgbClr val="063DE8"/>
                </a:solidFill>
              </a:rPr>
              <a:t>? O que </a:t>
            </a:r>
            <a:r>
              <a:rPr sz="3200" dirty="0" err="1">
                <a:solidFill>
                  <a:srgbClr val="063DE8"/>
                </a:solidFill>
              </a:rPr>
              <a:t>mudou</a:t>
            </a:r>
            <a:r>
              <a:rPr sz="3200" dirty="0">
                <a:solidFill>
                  <a:srgbClr val="063DE8"/>
                </a:solidFill>
              </a:rPr>
              <a:t>? </a:t>
            </a:r>
            <a:r>
              <a:rPr sz="3200" dirty="0" err="1">
                <a:solidFill>
                  <a:srgbClr val="063DE8"/>
                </a:solidFill>
              </a:rPr>
              <a:t>Quando</a:t>
            </a:r>
            <a:r>
              <a:rPr sz="3200" dirty="0">
                <a:solidFill>
                  <a:srgbClr val="063DE8"/>
                </a:solidFill>
              </a:rPr>
              <a:t> </a:t>
            </a:r>
            <a:r>
              <a:rPr sz="3200" dirty="0" err="1">
                <a:solidFill>
                  <a:srgbClr val="063DE8"/>
                </a:solidFill>
              </a:rPr>
              <a:t>aconteceu</a:t>
            </a:r>
            <a:r>
              <a:rPr sz="3200" dirty="0">
                <a:solidFill>
                  <a:srgbClr val="063DE8"/>
                </a:solidFill>
              </a:rPr>
              <a:t> a </a:t>
            </a:r>
            <a:r>
              <a:rPr sz="3200" dirty="0" err="1">
                <a:solidFill>
                  <a:srgbClr val="063DE8"/>
                </a:solidFill>
              </a:rPr>
              <a:t>mudança</a:t>
            </a:r>
            <a:r>
              <a:rPr sz="3200" dirty="0">
                <a:solidFill>
                  <a:srgbClr val="063DE8"/>
                </a:solidFill>
              </a:rPr>
              <a:t>? Por que </a:t>
            </a:r>
            <a:r>
              <a:rPr sz="3200" dirty="0" err="1">
                <a:solidFill>
                  <a:srgbClr val="063DE8"/>
                </a:solidFill>
              </a:rPr>
              <a:t>houve</a:t>
            </a:r>
            <a:r>
              <a:rPr sz="3200" dirty="0">
                <a:solidFill>
                  <a:srgbClr val="063DE8"/>
                </a:solidFill>
              </a:rPr>
              <a:t> </a:t>
            </a:r>
            <a:r>
              <a:rPr sz="3200" dirty="0" err="1">
                <a:solidFill>
                  <a:srgbClr val="063DE8"/>
                </a:solidFill>
              </a:rPr>
              <a:t>uma</a:t>
            </a:r>
            <a:r>
              <a:rPr sz="3200" dirty="0">
                <a:solidFill>
                  <a:srgbClr val="063DE8"/>
                </a:solidFill>
              </a:rPr>
              <a:t> </a:t>
            </a:r>
            <a:r>
              <a:rPr sz="3200" dirty="0" err="1">
                <a:solidFill>
                  <a:srgbClr val="063DE8"/>
                </a:solidFill>
              </a:rPr>
              <a:t>mudança</a:t>
            </a:r>
            <a:r>
              <a:rPr sz="3200" dirty="0">
                <a:solidFill>
                  <a:srgbClr val="063DE8"/>
                </a:solidFill>
              </a:rPr>
              <a:t>?</a:t>
            </a:r>
            <a:r>
              <a:rPr lang="pt-BR" sz="3200" dirty="0">
                <a:solidFill>
                  <a:srgbClr val="063DE8"/>
                </a:solidFill>
              </a:rPr>
              <a:t> Qual a causa dessa mudança?</a:t>
            </a:r>
            <a:endParaRPr sz="3200" dirty="0">
              <a:solidFill>
                <a:srgbClr val="063DE8"/>
              </a:solidFill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DIAGNÓSTICO</a:t>
            </a:r>
          </a:p>
        </p:txBody>
      </p:sp>
      <p:sp>
        <p:nvSpPr>
          <p:cNvPr id="71" name="Shape 71"/>
          <p:cNvSpPr>
            <a:spLocks noGrp="1"/>
          </p:cNvSpPr>
          <p:nvPr>
            <p:ph type="body" idx="1"/>
          </p:nvPr>
        </p:nvSpPr>
        <p:spPr>
          <a:xfrm>
            <a:off x="215899" y="1833561"/>
            <a:ext cx="8680452" cy="450695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700" u="sng" dirty="0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HIPÓTESES DE CAUSA:</a:t>
            </a:r>
          </a:p>
          <a:p>
            <a:pPr marL="0" lvl="0" indent="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700" dirty="0">
                <a:solidFill>
                  <a:srgbClr val="063DE8"/>
                </a:solidFill>
              </a:rPr>
              <a:t>PERGUNTE: Como a </a:t>
            </a:r>
            <a:r>
              <a:rPr sz="2700" dirty="0" err="1">
                <a:solidFill>
                  <a:srgbClr val="063DE8"/>
                </a:solidFill>
              </a:rPr>
              <a:t>mudança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causou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este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efeito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ou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até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este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defeito</a:t>
            </a:r>
            <a:r>
              <a:rPr sz="2700" dirty="0">
                <a:solidFill>
                  <a:srgbClr val="063DE8"/>
                </a:solidFill>
              </a:rPr>
              <a:t>.</a:t>
            </a:r>
          </a:p>
          <a:p>
            <a:pPr marL="0" lvl="0" indent="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700" dirty="0" err="1">
                <a:solidFill>
                  <a:srgbClr val="063DE8"/>
                </a:solidFill>
              </a:rPr>
              <a:t>Veja</a:t>
            </a:r>
            <a:r>
              <a:rPr sz="2700" dirty="0">
                <a:solidFill>
                  <a:srgbClr val="063DE8"/>
                </a:solidFill>
              </a:rPr>
              <a:t> as </a:t>
            </a:r>
            <a:r>
              <a:rPr sz="2700" dirty="0" err="1">
                <a:solidFill>
                  <a:srgbClr val="063DE8"/>
                </a:solidFill>
              </a:rPr>
              <a:t>mudanças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descritas</a:t>
            </a:r>
            <a:r>
              <a:rPr sz="2700" dirty="0">
                <a:solidFill>
                  <a:srgbClr val="063DE8"/>
                </a:solidFill>
              </a:rPr>
              <a:t> e </a:t>
            </a:r>
            <a:r>
              <a:rPr sz="2700" dirty="0" err="1">
                <a:solidFill>
                  <a:srgbClr val="063DE8"/>
                </a:solidFill>
              </a:rPr>
              <a:t>relacione</a:t>
            </a:r>
            <a:r>
              <a:rPr sz="2700" dirty="0">
                <a:solidFill>
                  <a:srgbClr val="063DE8"/>
                </a:solidFill>
              </a:rPr>
              <a:t> as </a:t>
            </a:r>
            <a:r>
              <a:rPr sz="2700" dirty="0" err="1">
                <a:solidFill>
                  <a:srgbClr val="063DE8"/>
                </a:solidFill>
              </a:rPr>
              <a:t>mesmas</a:t>
            </a:r>
            <a:r>
              <a:rPr sz="2700" dirty="0">
                <a:solidFill>
                  <a:srgbClr val="063DE8"/>
                </a:solidFill>
              </a:rPr>
              <a:t> com as </a:t>
            </a:r>
            <a:r>
              <a:rPr sz="2700" dirty="0" err="1">
                <a:solidFill>
                  <a:srgbClr val="063DE8"/>
                </a:solidFill>
              </a:rPr>
              <a:t>diferenças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anotadas</a:t>
            </a:r>
            <a:endParaRPr sz="2700" dirty="0">
              <a:solidFill>
                <a:srgbClr val="063DE8"/>
              </a:solidFill>
            </a:endParaRPr>
          </a:p>
          <a:p>
            <a:pPr marL="0" lvl="0" indent="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700" dirty="0" err="1">
                <a:solidFill>
                  <a:srgbClr val="063DE8"/>
                </a:solidFill>
              </a:rPr>
              <a:t>Escreva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suas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observações</a:t>
            </a:r>
            <a:r>
              <a:rPr sz="2700" dirty="0">
                <a:solidFill>
                  <a:srgbClr val="063DE8"/>
                </a:solidFill>
              </a:rPr>
              <a:t> para </a:t>
            </a:r>
            <a:r>
              <a:rPr sz="2700" dirty="0" err="1">
                <a:solidFill>
                  <a:srgbClr val="063DE8"/>
                </a:solidFill>
              </a:rPr>
              <a:t>posteriores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verificações</a:t>
            </a:r>
            <a:r>
              <a:rPr sz="2700" dirty="0">
                <a:solidFill>
                  <a:srgbClr val="063DE8"/>
                </a:solidFill>
              </a:rPr>
              <a:t>.(</a:t>
            </a:r>
            <a:r>
              <a:rPr sz="2700" dirty="0" err="1">
                <a:solidFill>
                  <a:srgbClr val="063DE8"/>
                </a:solidFill>
              </a:rPr>
              <a:t>importante</a:t>
            </a:r>
            <a:r>
              <a:rPr lang="pt-BR" sz="2700" dirty="0">
                <a:solidFill>
                  <a:srgbClr val="063DE8"/>
                </a:solidFill>
              </a:rPr>
              <a:t>, </a:t>
            </a:r>
            <a:r>
              <a:rPr lang="pt-BR" sz="2700" dirty="0" err="1">
                <a:solidFill>
                  <a:srgbClr val="063DE8"/>
                </a:solidFill>
              </a:rPr>
              <a:t>vc</a:t>
            </a:r>
            <a:r>
              <a:rPr lang="pt-BR" sz="2700" dirty="0">
                <a:solidFill>
                  <a:srgbClr val="063DE8"/>
                </a:solidFill>
              </a:rPr>
              <a:t> vai esquecer</a:t>
            </a:r>
            <a:r>
              <a:rPr sz="2700" dirty="0">
                <a:solidFill>
                  <a:srgbClr val="063DE8"/>
                </a:solidFill>
              </a:rPr>
              <a:t>)</a:t>
            </a:r>
          </a:p>
          <a:p>
            <a:pPr marL="0" lvl="0" indent="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700" dirty="0">
                <a:solidFill>
                  <a:srgbClr val="063DE8"/>
                </a:solidFill>
              </a:rPr>
              <a:t>A </a:t>
            </a:r>
            <a:r>
              <a:rPr sz="2700" dirty="0" err="1">
                <a:solidFill>
                  <a:srgbClr val="063DE8"/>
                </a:solidFill>
              </a:rPr>
              <a:t>origem</a:t>
            </a:r>
            <a:r>
              <a:rPr sz="2700" dirty="0">
                <a:solidFill>
                  <a:srgbClr val="063DE8"/>
                </a:solidFill>
              </a:rPr>
              <a:t> do </a:t>
            </a:r>
            <a:r>
              <a:rPr sz="2700" dirty="0" err="1">
                <a:solidFill>
                  <a:srgbClr val="063DE8"/>
                </a:solidFill>
              </a:rPr>
              <a:t>erro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foi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causada</a:t>
            </a:r>
            <a:r>
              <a:rPr sz="2700" dirty="0">
                <a:solidFill>
                  <a:srgbClr val="063DE8"/>
                </a:solidFill>
              </a:rPr>
              <a:t> por </a:t>
            </a:r>
            <a:r>
              <a:rPr sz="2700" dirty="0" err="1">
                <a:solidFill>
                  <a:srgbClr val="063DE8"/>
                </a:solidFill>
              </a:rPr>
              <a:t>uma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mudança</a:t>
            </a:r>
            <a:r>
              <a:rPr sz="2700" dirty="0">
                <a:solidFill>
                  <a:srgbClr val="063DE8"/>
                </a:solidFill>
              </a:rPr>
              <a:t>?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DIAGNÓSTICO</a:t>
            </a:r>
          </a:p>
        </p:txBody>
      </p:sp>
      <p:sp>
        <p:nvSpPr>
          <p:cNvPr id="74" name="Shape 74"/>
          <p:cNvSpPr>
            <a:spLocks noGrp="1"/>
          </p:cNvSpPr>
          <p:nvPr>
            <p:ph type="body" idx="1"/>
          </p:nvPr>
        </p:nvSpPr>
        <p:spPr>
          <a:xfrm>
            <a:off x="188911" y="2017708"/>
            <a:ext cx="8766177" cy="440807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 defTabSz="896111">
              <a:buClrTx/>
              <a:buSzTx/>
              <a:buFontTx/>
              <a:buNone/>
              <a:defRPr sz="1800"/>
            </a:pPr>
            <a:r>
              <a:rPr sz="2900" u="sng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TESTE:</a:t>
            </a:r>
            <a:r>
              <a:rPr sz="2900">
                <a:solidFill>
                  <a:srgbClr val="063DE8"/>
                </a:solidFill>
              </a:rPr>
              <a:t> Avalie se a H.C. explica a ocorrência do problema no É; e a ausência no não É.</a:t>
            </a:r>
          </a:p>
          <a:p>
            <a:pPr marL="0" lvl="0" indent="0" defTabSz="896111">
              <a:buClrTx/>
              <a:buSzTx/>
              <a:buFontTx/>
              <a:buNone/>
              <a:defRPr sz="1800"/>
            </a:pPr>
            <a:r>
              <a:rPr sz="2900">
                <a:solidFill>
                  <a:srgbClr val="063DE8"/>
                </a:solidFill>
              </a:rPr>
              <a:t>Pergunte:</a:t>
            </a:r>
          </a:p>
          <a:p>
            <a:pPr marL="0" lvl="1" indent="22860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900">
                <a:solidFill>
                  <a:srgbClr val="063DE8"/>
                </a:solidFill>
              </a:rPr>
              <a:t>Se a H.C. é verdadeira.</a:t>
            </a:r>
          </a:p>
          <a:p>
            <a:pPr marL="0" lvl="1" indent="22860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900">
                <a:solidFill>
                  <a:srgbClr val="063DE8"/>
                </a:solidFill>
              </a:rPr>
              <a:t>Se é aceitável que o problema só ocorra no É e não ocorra no NÃO É.</a:t>
            </a:r>
          </a:p>
          <a:p>
            <a:pPr marL="0" lvl="1" indent="22860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900">
                <a:solidFill>
                  <a:srgbClr val="063DE8"/>
                </a:solidFill>
              </a:rPr>
              <a:t>O que impede? Porque?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DIAGNÓSTICO</a:t>
            </a:r>
          </a:p>
        </p:txBody>
      </p:sp>
      <p:sp>
        <p:nvSpPr>
          <p:cNvPr id="77" name="Shape 77"/>
          <p:cNvSpPr>
            <a:spLocks noGrp="1"/>
          </p:cNvSpPr>
          <p:nvPr>
            <p:ph type="body" idx="1"/>
          </p:nvPr>
        </p:nvSpPr>
        <p:spPr>
          <a:xfrm>
            <a:off x="157162" y="2017708"/>
            <a:ext cx="8797926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 defTabSz="86868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 u="sng">
                <a:solidFill>
                  <a:srgbClr val="063DE8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VERIFICAÇÃO:</a:t>
            </a:r>
          </a:p>
          <a:p>
            <a:pPr marL="0" lvl="0" indent="0" defTabSz="86868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063DE8"/>
                </a:solidFill>
              </a:rPr>
              <a:t>Certifique-se – A causa mais provável é a verdadeira?</a:t>
            </a:r>
          </a:p>
          <a:p>
            <a:pPr marL="0" lvl="0" indent="0" defTabSz="86868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063DE8"/>
                </a:solidFill>
              </a:rPr>
              <a:t>Busque novas evidências (provas)</a:t>
            </a:r>
          </a:p>
          <a:p>
            <a:pPr marL="0" lvl="0" indent="0" defTabSz="86868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063DE8"/>
                </a:solidFill>
              </a:rPr>
              <a:t>Teste o quanto possível</a:t>
            </a:r>
          </a:p>
          <a:p>
            <a:pPr marL="0" lvl="0" indent="0" defTabSz="86868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063DE8"/>
                </a:solidFill>
              </a:rPr>
              <a:t>Acompanhe e quantifique os resultados</a:t>
            </a:r>
          </a:p>
          <a:p>
            <a:pPr marL="0" lvl="1" indent="228600" defTabSz="868680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063DE8"/>
                </a:solidFill>
              </a:rPr>
              <a:t>Obs: Nunca acredite na 1° hipótese mesmo que ela pareça irrefutável.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Passos p/ uma boa correção</a:t>
            </a:r>
          </a:p>
        </p:txBody>
      </p:sp>
      <p:sp>
        <p:nvSpPr>
          <p:cNvPr id="80" name="Shape 80"/>
          <p:cNvSpPr>
            <a:spLocks noGrp="1"/>
          </p:cNvSpPr>
          <p:nvPr>
            <p:ph type="body" idx="1"/>
          </p:nvPr>
        </p:nvSpPr>
        <p:spPr>
          <a:xfrm>
            <a:off x="188912" y="2017708"/>
            <a:ext cx="8766176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700" dirty="0" err="1">
                <a:solidFill>
                  <a:srgbClr val="063DE8"/>
                </a:solidFill>
              </a:rPr>
              <a:t>Definir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claramente</a:t>
            </a:r>
            <a:r>
              <a:rPr sz="2700" dirty="0">
                <a:solidFill>
                  <a:srgbClr val="063DE8"/>
                </a:solidFill>
              </a:rPr>
              <a:t> o </a:t>
            </a:r>
            <a:r>
              <a:rPr sz="2700" dirty="0" err="1">
                <a:solidFill>
                  <a:srgbClr val="063DE8"/>
                </a:solidFill>
              </a:rPr>
              <a:t>problema</a:t>
            </a:r>
            <a:endParaRPr sz="2700" dirty="0">
              <a:solidFill>
                <a:srgbClr val="063DE8"/>
              </a:solidFill>
            </a:endParaRPr>
          </a:p>
          <a:p>
            <a:pPr marL="0" lvl="0" indent="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700" dirty="0" err="1">
                <a:solidFill>
                  <a:srgbClr val="063DE8"/>
                </a:solidFill>
              </a:rPr>
              <a:t>Descobrir</a:t>
            </a:r>
            <a:r>
              <a:rPr sz="2700" dirty="0">
                <a:solidFill>
                  <a:srgbClr val="063DE8"/>
                </a:solidFill>
              </a:rPr>
              <a:t> a causa do </a:t>
            </a:r>
            <a:r>
              <a:rPr sz="2700" dirty="0" err="1">
                <a:solidFill>
                  <a:srgbClr val="063DE8"/>
                </a:solidFill>
              </a:rPr>
              <a:t>problema</a:t>
            </a:r>
            <a:endParaRPr sz="2700" dirty="0">
              <a:solidFill>
                <a:srgbClr val="063DE8"/>
              </a:solidFill>
            </a:endParaRPr>
          </a:p>
          <a:p>
            <a:pPr marL="0" lvl="0" indent="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700" dirty="0" err="1">
                <a:solidFill>
                  <a:srgbClr val="063DE8"/>
                </a:solidFill>
              </a:rPr>
              <a:t>Corrigir</a:t>
            </a:r>
            <a:r>
              <a:rPr sz="2700" dirty="0">
                <a:solidFill>
                  <a:srgbClr val="063DE8"/>
                </a:solidFill>
              </a:rPr>
              <a:t> a causa do </a:t>
            </a:r>
            <a:r>
              <a:rPr sz="2700" dirty="0" err="1">
                <a:solidFill>
                  <a:srgbClr val="063DE8"/>
                </a:solidFill>
              </a:rPr>
              <a:t>problema</a:t>
            </a:r>
            <a:endParaRPr sz="2700" dirty="0">
              <a:solidFill>
                <a:srgbClr val="063DE8"/>
              </a:solidFill>
            </a:endParaRPr>
          </a:p>
          <a:p>
            <a:pPr marL="0" lvl="0" indent="0" defTabSz="896111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700" dirty="0" err="1">
                <a:solidFill>
                  <a:srgbClr val="063DE8"/>
                </a:solidFill>
              </a:rPr>
              <a:t>Pensar</a:t>
            </a:r>
            <a:r>
              <a:rPr sz="2700" dirty="0">
                <a:solidFill>
                  <a:srgbClr val="063DE8"/>
                </a:solidFill>
              </a:rPr>
              <a:t> </a:t>
            </a:r>
            <a:r>
              <a:rPr sz="2700" dirty="0" err="1">
                <a:solidFill>
                  <a:srgbClr val="063DE8"/>
                </a:solidFill>
              </a:rPr>
              <a:t>alem</a:t>
            </a:r>
            <a:r>
              <a:rPr sz="2700" dirty="0">
                <a:solidFill>
                  <a:srgbClr val="063DE8"/>
                </a:solidFill>
              </a:rPr>
              <a:t> da </a:t>
            </a:r>
            <a:r>
              <a:rPr sz="2700" dirty="0" err="1">
                <a:solidFill>
                  <a:srgbClr val="063DE8"/>
                </a:solidFill>
              </a:rPr>
              <a:t>situação</a:t>
            </a:r>
            <a:r>
              <a:rPr sz="2700" dirty="0">
                <a:solidFill>
                  <a:srgbClr val="063DE8"/>
                </a:solidFill>
              </a:rPr>
              <a:t>:</a:t>
            </a:r>
          </a:p>
          <a:p>
            <a:pPr marL="0" lvl="1" indent="228600" defTabSz="896111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Que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outras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situações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similares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podem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apresentar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o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mesmo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problema</a:t>
            </a:r>
            <a:endParaRPr sz="2300" dirty="0">
              <a:solidFill>
                <a:srgbClr val="3333CC"/>
              </a:solidFill>
              <a:latin typeface="Tahoma Negreta"/>
              <a:ea typeface="Tahoma Negreta"/>
              <a:cs typeface="Tahoma Negreta"/>
              <a:sym typeface="Tahoma Negreta"/>
            </a:endParaRPr>
          </a:p>
          <a:p>
            <a:pPr marL="0" lvl="1" indent="228600" defTabSz="896111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Que outros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problemas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podem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ter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nascido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deste</a:t>
            </a:r>
            <a:endParaRPr sz="2300" dirty="0">
              <a:solidFill>
                <a:srgbClr val="3333CC"/>
              </a:solidFill>
              <a:latin typeface="Tahoma Negreta"/>
              <a:ea typeface="Tahoma Negreta"/>
              <a:cs typeface="Tahoma Negreta"/>
              <a:sym typeface="Tahoma Negreta"/>
            </a:endParaRPr>
          </a:p>
          <a:p>
            <a:pPr marL="0" lvl="1" indent="228600" defTabSz="896111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Qual </a:t>
            </a:r>
            <a:r>
              <a:rPr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é</a:t>
            </a:r>
            <a:r>
              <a:rPr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a causa da causa?</a:t>
            </a:r>
            <a:r>
              <a:rPr lang="pt-BR"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lang="pt-BR" sz="23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Ex</a:t>
            </a:r>
            <a:r>
              <a:rPr lang="pt-BR"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: A causa foi erro na tabela de depósitos.</a:t>
            </a:r>
          </a:p>
          <a:p>
            <a:pPr marL="0" lvl="1" indent="228600" defTabSz="896111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lang="pt-BR" sz="23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Quem alterou? Por que alterou? Quem solicitou e quando? Quem testou antes de colocar em produção?</a:t>
            </a:r>
            <a:endParaRPr sz="2300" dirty="0">
              <a:solidFill>
                <a:srgbClr val="3333CC"/>
              </a:solidFill>
              <a:latin typeface="Tahoma Negreta"/>
              <a:ea typeface="Tahoma Negreta"/>
              <a:cs typeface="Tahoma Negreta"/>
              <a:sym typeface="Tahoma Negreta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AÇÕES</a:t>
            </a:r>
          </a:p>
        </p:txBody>
      </p:sp>
      <p:sp>
        <p:nvSpPr>
          <p:cNvPr id="83" name="Shape 83"/>
          <p:cNvSpPr>
            <a:spLocks noGrp="1"/>
          </p:cNvSpPr>
          <p:nvPr>
            <p:ph type="body" idx="1"/>
          </p:nvPr>
        </p:nvSpPr>
        <p:spPr>
          <a:xfrm>
            <a:off x="188911" y="2017708"/>
            <a:ext cx="8766177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 err="1">
                <a:solidFill>
                  <a:srgbClr val="3333CC"/>
                </a:solidFill>
              </a:rPr>
              <a:t>Corretiva</a:t>
            </a:r>
            <a:r>
              <a:rPr sz="3000" dirty="0">
                <a:solidFill>
                  <a:srgbClr val="3333CC"/>
                </a:solidFill>
              </a:rPr>
              <a:t> – </a:t>
            </a:r>
            <a:r>
              <a:rPr sz="3000" dirty="0" err="1">
                <a:solidFill>
                  <a:srgbClr val="3333CC"/>
                </a:solidFill>
              </a:rPr>
              <a:t>Elimina</a:t>
            </a:r>
            <a:r>
              <a:rPr sz="3000" dirty="0">
                <a:solidFill>
                  <a:srgbClr val="3333CC"/>
                </a:solidFill>
              </a:rPr>
              <a:t> a causa do </a:t>
            </a:r>
            <a:r>
              <a:rPr sz="3000" dirty="0" err="1">
                <a:solidFill>
                  <a:srgbClr val="3333CC"/>
                </a:solidFill>
              </a:rPr>
              <a:t>problema</a:t>
            </a:r>
            <a:r>
              <a:rPr sz="3000" dirty="0">
                <a:solidFill>
                  <a:srgbClr val="3333CC"/>
                </a:solidFill>
              </a:rPr>
              <a:t> </a:t>
            </a:r>
            <a:r>
              <a:rPr sz="3000" dirty="0" err="1">
                <a:solidFill>
                  <a:srgbClr val="3333CC"/>
                </a:solidFill>
              </a:rPr>
              <a:t>definitivamente</a:t>
            </a:r>
            <a:r>
              <a:rPr sz="3000" dirty="0">
                <a:solidFill>
                  <a:srgbClr val="3333CC"/>
                </a:solidFill>
              </a:rPr>
              <a:t> (</a:t>
            </a:r>
            <a:r>
              <a:rPr sz="3000" dirty="0" err="1">
                <a:solidFill>
                  <a:srgbClr val="3333CC"/>
                </a:solidFill>
              </a:rPr>
              <a:t>pode</a:t>
            </a:r>
            <a:r>
              <a:rPr sz="3000" dirty="0">
                <a:solidFill>
                  <a:srgbClr val="3333CC"/>
                </a:solidFill>
              </a:rPr>
              <a:t> ser um novo </a:t>
            </a:r>
            <a:r>
              <a:rPr sz="3000" dirty="0" err="1">
                <a:solidFill>
                  <a:srgbClr val="3333CC"/>
                </a:solidFill>
              </a:rPr>
              <a:t>sistema</a:t>
            </a:r>
            <a:r>
              <a:rPr sz="3000" dirty="0">
                <a:solidFill>
                  <a:srgbClr val="3333CC"/>
                </a:solidFill>
              </a:rPr>
              <a:t>)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 err="1">
                <a:solidFill>
                  <a:srgbClr val="3333CC"/>
                </a:solidFill>
              </a:rPr>
              <a:t>Adaptativa</a:t>
            </a:r>
            <a:r>
              <a:rPr sz="3000" dirty="0">
                <a:solidFill>
                  <a:srgbClr val="3333CC"/>
                </a:solidFill>
              </a:rPr>
              <a:t> - </a:t>
            </a:r>
            <a:r>
              <a:rPr sz="3000" dirty="0" err="1">
                <a:solidFill>
                  <a:srgbClr val="3333CC"/>
                </a:solidFill>
              </a:rPr>
              <a:t>Ameniza</a:t>
            </a:r>
            <a:r>
              <a:rPr sz="3000" dirty="0">
                <a:solidFill>
                  <a:srgbClr val="3333CC"/>
                </a:solidFill>
              </a:rPr>
              <a:t> o </a:t>
            </a:r>
            <a:r>
              <a:rPr sz="3000" dirty="0" err="1">
                <a:solidFill>
                  <a:srgbClr val="3333CC"/>
                </a:solidFill>
              </a:rPr>
              <a:t>efeito</a:t>
            </a:r>
            <a:r>
              <a:rPr sz="3000" dirty="0">
                <a:solidFill>
                  <a:srgbClr val="3333CC"/>
                </a:solidFill>
              </a:rPr>
              <a:t> e convive com a causa</a:t>
            </a:r>
            <a:r>
              <a:rPr lang="pt-BR" sz="3000" dirty="0">
                <a:solidFill>
                  <a:srgbClr val="3333CC"/>
                </a:solidFill>
              </a:rPr>
              <a:t> (podem ser varias causas)</a:t>
            </a:r>
            <a:endParaRPr sz="3000" dirty="0"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 dirty="0" err="1">
                <a:solidFill>
                  <a:srgbClr val="3333CC"/>
                </a:solidFill>
              </a:rPr>
              <a:t>Interina</a:t>
            </a:r>
            <a:r>
              <a:rPr sz="3000" dirty="0">
                <a:solidFill>
                  <a:srgbClr val="3333CC"/>
                </a:solidFill>
              </a:rPr>
              <a:t> – Atua n</a:t>
            </a:r>
            <a:r>
              <a:rPr lang="pt-BR" sz="3000" dirty="0">
                <a:solidFill>
                  <a:srgbClr val="3333CC"/>
                </a:solidFill>
              </a:rPr>
              <a:t>o</a:t>
            </a:r>
            <a:r>
              <a:rPr sz="3000" dirty="0">
                <a:solidFill>
                  <a:srgbClr val="3333CC"/>
                </a:solidFill>
              </a:rPr>
              <a:t> </a:t>
            </a:r>
            <a:r>
              <a:rPr lang="pt-BR" sz="3000" dirty="0">
                <a:solidFill>
                  <a:srgbClr val="3333CC"/>
                </a:solidFill>
              </a:rPr>
              <a:t>erro</a:t>
            </a:r>
            <a:r>
              <a:rPr sz="3000" dirty="0">
                <a:solidFill>
                  <a:srgbClr val="3333CC"/>
                </a:solidFill>
              </a:rPr>
              <a:t> </a:t>
            </a:r>
            <a:r>
              <a:rPr sz="3000" dirty="0" err="1">
                <a:solidFill>
                  <a:srgbClr val="3333CC"/>
                </a:solidFill>
              </a:rPr>
              <a:t>momentaneamente</a:t>
            </a:r>
            <a:r>
              <a:rPr sz="3000" dirty="0">
                <a:solidFill>
                  <a:srgbClr val="3333CC"/>
                </a:solidFill>
              </a:rPr>
              <a:t>. Serve para </a:t>
            </a:r>
            <a:r>
              <a:rPr sz="3000" dirty="0" err="1">
                <a:solidFill>
                  <a:srgbClr val="3333CC"/>
                </a:solidFill>
              </a:rPr>
              <a:t>ganhar</a:t>
            </a:r>
            <a:r>
              <a:rPr sz="3000" dirty="0">
                <a:solidFill>
                  <a:srgbClr val="3333CC"/>
                </a:solidFill>
              </a:rPr>
              <a:t> tempo. (</a:t>
            </a:r>
            <a:r>
              <a:rPr sz="3000" dirty="0" err="1">
                <a:solidFill>
                  <a:srgbClr val="3333CC"/>
                </a:solidFill>
              </a:rPr>
              <a:t>quebra</a:t>
            </a:r>
            <a:r>
              <a:rPr sz="3000" dirty="0">
                <a:solidFill>
                  <a:srgbClr val="3333CC"/>
                </a:solidFill>
              </a:rPr>
              <a:t> </a:t>
            </a:r>
            <a:r>
              <a:rPr sz="3000" dirty="0" err="1">
                <a:solidFill>
                  <a:srgbClr val="3333CC"/>
                </a:solidFill>
              </a:rPr>
              <a:t>galho</a:t>
            </a:r>
            <a:r>
              <a:rPr sz="3000" dirty="0">
                <a:solidFill>
                  <a:srgbClr val="3333CC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DICAS</a:t>
            </a:r>
          </a:p>
        </p:txBody>
      </p:sp>
      <p:sp>
        <p:nvSpPr>
          <p:cNvPr id="86" name="Shape 86"/>
          <p:cNvSpPr>
            <a:spLocks noGrp="1"/>
          </p:cNvSpPr>
          <p:nvPr>
            <p:ph type="body" idx="1"/>
          </p:nvPr>
        </p:nvSpPr>
        <p:spPr>
          <a:xfrm>
            <a:off x="486069" y="2017708"/>
            <a:ext cx="8469019" cy="441291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 defTabSz="832833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Em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1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dia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,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não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dá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para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conhecer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o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ambiente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. (por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menor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que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seja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)</a:t>
            </a:r>
            <a:endParaRPr sz="1500" dirty="0">
              <a:solidFill>
                <a:srgbClr val="3333CC"/>
              </a:solidFill>
              <a:latin typeface="Tahoma Negreta"/>
              <a:ea typeface="Tahoma Negreta"/>
              <a:cs typeface="Tahoma Negreta"/>
              <a:sym typeface="Tahoma Negreta"/>
            </a:endParaRPr>
          </a:p>
          <a:p>
            <a:pPr marL="0" lvl="0" indent="0" defTabSz="832833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Sempre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fale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com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mais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de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uma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pessoa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sobre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o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problema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.</a:t>
            </a:r>
            <a:endParaRPr sz="1500" dirty="0">
              <a:solidFill>
                <a:srgbClr val="3333CC"/>
              </a:solidFill>
              <a:latin typeface="Tahoma Negreta"/>
              <a:ea typeface="Tahoma Negreta"/>
              <a:cs typeface="Tahoma Negreta"/>
              <a:sym typeface="Tahoma Negreta"/>
            </a:endParaRPr>
          </a:p>
          <a:p>
            <a:pPr marL="0" lvl="0" indent="0" defTabSz="832833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Não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acredite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em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tudo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que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escuta</a:t>
            </a:r>
            <a:endParaRPr sz="1500" dirty="0">
              <a:solidFill>
                <a:srgbClr val="3333CC"/>
              </a:solidFill>
              <a:latin typeface="Tahoma Negreta"/>
              <a:ea typeface="Tahoma Negreta"/>
              <a:cs typeface="Tahoma Negreta"/>
              <a:sym typeface="Tahoma Negreta"/>
            </a:endParaRPr>
          </a:p>
          <a:p>
            <a:pPr marL="0" lvl="0" indent="0" defTabSz="832833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Sempre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seja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profissional</a:t>
            </a:r>
            <a:endParaRPr sz="1500" dirty="0">
              <a:solidFill>
                <a:srgbClr val="3333CC"/>
              </a:solidFill>
              <a:latin typeface="Tahoma Negreta"/>
              <a:ea typeface="Tahoma Negreta"/>
              <a:cs typeface="Tahoma Negreta"/>
              <a:sym typeface="Tahoma Negreta"/>
            </a:endParaRPr>
          </a:p>
          <a:p>
            <a:pPr marL="0" lvl="0" indent="0" defTabSz="832833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Seja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simpático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, mas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mantenha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sua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 </a:t>
            </a:r>
            <a:r>
              <a:rPr sz="2800" dirty="0" err="1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postura</a:t>
            </a:r>
            <a:r>
              <a:rPr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.</a:t>
            </a:r>
            <a:endParaRPr lang="pt-BR" sz="2800" dirty="0">
              <a:solidFill>
                <a:srgbClr val="3333CC"/>
              </a:solidFill>
              <a:latin typeface="Tahoma Negreta"/>
              <a:ea typeface="Tahoma Negreta"/>
              <a:cs typeface="Tahoma Negreta"/>
              <a:sym typeface="Tahoma Negreta"/>
            </a:endParaRPr>
          </a:p>
          <a:p>
            <a:pPr marL="0" lvl="0" indent="0" defTabSz="832833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lang="pt-BR"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Não seja puxa saco nem falso.</a:t>
            </a:r>
          </a:p>
          <a:p>
            <a:pPr marL="0" lvl="0" indent="0" defTabSz="832833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lang="pt-BR" sz="2800" dirty="0">
                <a:solidFill>
                  <a:srgbClr val="3333CC"/>
                </a:solidFill>
                <a:latin typeface="Tahoma Negreta"/>
                <a:ea typeface="Tahoma Negreta"/>
                <a:cs typeface="Tahoma Negreta"/>
                <a:sym typeface="Tahoma Negreta"/>
              </a:rPr>
              <a:t>Não explique muito, somente resolva.</a:t>
            </a:r>
            <a:endParaRPr sz="2800" dirty="0">
              <a:solidFill>
                <a:srgbClr val="3333CC"/>
              </a:solidFill>
              <a:latin typeface="Tahoma Negreta"/>
              <a:ea typeface="Tahoma Negreta"/>
              <a:cs typeface="Tahoma Negreta"/>
              <a:sym typeface="Tahoma Negreta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PROXIMOS PASSOS</a:t>
            </a:r>
          </a:p>
        </p:txBody>
      </p:sp>
      <p:sp>
        <p:nvSpPr>
          <p:cNvPr id="89" name="Shape 89"/>
          <p:cNvSpPr>
            <a:spLocks noGrp="1"/>
          </p:cNvSpPr>
          <p:nvPr>
            <p:ph type="body" idx="1"/>
          </p:nvPr>
        </p:nvSpPr>
        <p:spPr>
          <a:xfrm>
            <a:off x="188912" y="2017708"/>
            <a:ext cx="8766176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3333CC"/>
                </a:solidFill>
              </a:rPr>
              <a:t>ESTABELECER OS OBJETIVOS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3333CC"/>
                </a:solidFill>
              </a:rPr>
              <a:t>CLASSIFICAR OS OBJETIVOS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3333CC"/>
                </a:solidFill>
              </a:rPr>
              <a:t>CRIAR ALTERNATIVAS PARA RESOLUÇÃO DO PROBLEMA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3333CC"/>
                </a:solidFill>
              </a:rPr>
              <a:t>COMPARAR AS ALTERNATIVAS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3333CC"/>
                </a:solidFill>
              </a:rPr>
              <a:t>CONSEQUÊNCIAS ADVERSAS (causadas pelo sistema)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3333CC"/>
                </a:solidFill>
              </a:rPr>
              <a:t>ESCOLHA / DECISÃO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ESTABELECER OS OBJETIVOS</a:t>
            </a:r>
          </a:p>
        </p:txBody>
      </p:sp>
      <p:sp>
        <p:nvSpPr>
          <p:cNvPr id="92" name="Shape 92"/>
          <p:cNvSpPr>
            <a:spLocks noGrp="1"/>
          </p:cNvSpPr>
          <p:nvPr>
            <p:ph type="body" idx="1"/>
          </p:nvPr>
        </p:nvSpPr>
        <p:spPr>
          <a:xfrm>
            <a:off x="188911" y="2017708"/>
            <a:ext cx="8766177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3200" dirty="0" err="1">
                <a:solidFill>
                  <a:srgbClr val="3333CC"/>
                </a:solidFill>
              </a:rPr>
              <a:t>Definição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clara</a:t>
            </a:r>
            <a:r>
              <a:rPr sz="3200" dirty="0">
                <a:solidFill>
                  <a:srgbClr val="3333CC"/>
                </a:solidFill>
              </a:rPr>
              <a:t> dos </a:t>
            </a:r>
            <a:r>
              <a:rPr sz="3200" dirty="0" err="1">
                <a:solidFill>
                  <a:srgbClr val="3333CC"/>
                </a:solidFill>
              </a:rPr>
              <a:t>resultados</a:t>
            </a:r>
            <a:r>
              <a:rPr sz="3200" dirty="0">
                <a:solidFill>
                  <a:srgbClr val="3333CC"/>
                </a:solidFill>
              </a:rPr>
              <a:t> que </a:t>
            </a:r>
            <a:r>
              <a:rPr sz="3200" dirty="0" err="1">
                <a:solidFill>
                  <a:srgbClr val="3333CC"/>
                </a:solidFill>
              </a:rPr>
              <a:t>deverão</a:t>
            </a:r>
            <a:r>
              <a:rPr sz="3200" dirty="0">
                <a:solidFill>
                  <a:srgbClr val="3333CC"/>
                </a:solidFill>
              </a:rPr>
              <a:t> ser </a:t>
            </a:r>
            <a:r>
              <a:rPr sz="3200" dirty="0" err="1">
                <a:solidFill>
                  <a:srgbClr val="3333CC"/>
                </a:solidFill>
              </a:rPr>
              <a:t>atingidos</a:t>
            </a:r>
            <a:endParaRPr dirty="0"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200" dirty="0">
                <a:solidFill>
                  <a:srgbClr val="3333CC"/>
                </a:solidFill>
              </a:rPr>
              <a:t>Draft dos </a:t>
            </a:r>
            <a:r>
              <a:rPr sz="3200" dirty="0" err="1">
                <a:solidFill>
                  <a:srgbClr val="3333CC"/>
                </a:solidFill>
              </a:rPr>
              <a:t>recursos</a:t>
            </a:r>
            <a:r>
              <a:rPr sz="3200" dirty="0">
                <a:solidFill>
                  <a:srgbClr val="3333CC"/>
                </a:solidFill>
              </a:rPr>
              <a:t> que </a:t>
            </a:r>
            <a:r>
              <a:rPr sz="3200" dirty="0" err="1">
                <a:solidFill>
                  <a:srgbClr val="3333CC"/>
                </a:solidFill>
              </a:rPr>
              <a:t>serão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usados</a:t>
            </a:r>
            <a:endParaRPr dirty="0"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200" dirty="0" err="1">
                <a:solidFill>
                  <a:srgbClr val="3333CC"/>
                </a:solidFill>
              </a:rPr>
              <a:t>Fixação</a:t>
            </a:r>
            <a:r>
              <a:rPr sz="3200" dirty="0">
                <a:solidFill>
                  <a:srgbClr val="3333CC"/>
                </a:solidFill>
              </a:rPr>
              <a:t> da </a:t>
            </a:r>
            <a:r>
              <a:rPr sz="3200" dirty="0" err="1">
                <a:solidFill>
                  <a:srgbClr val="3333CC"/>
                </a:solidFill>
              </a:rPr>
              <a:t>alternativa</a:t>
            </a:r>
            <a:r>
              <a:rPr sz="3200" dirty="0">
                <a:solidFill>
                  <a:srgbClr val="3333CC"/>
                </a:solidFill>
              </a:rPr>
              <a:t> (s) </a:t>
            </a:r>
            <a:r>
              <a:rPr sz="3200" dirty="0" err="1">
                <a:solidFill>
                  <a:srgbClr val="3333CC"/>
                </a:solidFill>
              </a:rPr>
              <a:t>escolhida</a:t>
            </a:r>
            <a:endParaRPr dirty="0"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200" dirty="0" err="1">
                <a:solidFill>
                  <a:srgbClr val="3333CC"/>
                </a:solidFill>
              </a:rPr>
              <a:t>Fixação</a:t>
            </a:r>
            <a:r>
              <a:rPr sz="3200" dirty="0">
                <a:solidFill>
                  <a:srgbClr val="3333CC"/>
                </a:solidFill>
              </a:rPr>
              <a:t> dos </a:t>
            </a:r>
            <a:r>
              <a:rPr sz="3200" dirty="0" err="1">
                <a:solidFill>
                  <a:srgbClr val="3333CC"/>
                </a:solidFill>
              </a:rPr>
              <a:t>limites</a:t>
            </a:r>
            <a:r>
              <a:rPr sz="3200" dirty="0">
                <a:solidFill>
                  <a:srgbClr val="3333CC"/>
                </a:solidFill>
              </a:rPr>
              <a:t> que </a:t>
            </a:r>
            <a:r>
              <a:rPr sz="3200" dirty="0" err="1">
                <a:solidFill>
                  <a:srgbClr val="3333CC"/>
                </a:solidFill>
              </a:rPr>
              <a:t>deverão</a:t>
            </a:r>
            <a:r>
              <a:rPr sz="3200" dirty="0">
                <a:solidFill>
                  <a:srgbClr val="3333CC"/>
                </a:solidFill>
              </a:rPr>
              <a:t> ser </a:t>
            </a:r>
            <a:r>
              <a:rPr sz="3200" dirty="0" err="1">
                <a:solidFill>
                  <a:srgbClr val="3333CC"/>
                </a:solidFill>
              </a:rPr>
              <a:t>respeitados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em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qualquer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alternativa</a:t>
            </a:r>
            <a:r>
              <a:rPr sz="3200" dirty="0">
                <a:solidFill>
                  <a:srgbClr val="3333CC"/>
                </a:solidFill>
              </a:rPr>
              <a:t> (</a:t>
            </a:r>
            <a:r>
              <a:rPr sz="3200" dirty="0" err="1">
                <a:solidFill>
                  <a:srgbClr val="3333CC"/>
                </a:solidFill>
              </a:rPr>
              <a:t>prazos</a:t>
            </a:r>
            <a:r>
              <a:rPr sz="3200" dirty="0">
                <a:solidFill>
                  <a:srgbClr val="3333CC"/>
                </a:solidFill>
              </a:rPr>
              <a:t> e </a:t>
            </a:r>
            <a:r>
              <a:rPr sz="3200" dirty="0" err="1">
                <a:solidFill>
                  <a:srgbClr val="3333CC"/>
                </a:solidFill>
              </a:rPr>
              <a:t>custo</a:t>
            </a:r>
            <a:r>
              <a:rPr sz="3200" dirty="0">
                <a:solidFill>
                  <a:srgbClr val="3333CC"/>
                </a:solidFill>
              </a:rPr>
              <a:t>)</a:t>
            </a:r>
            <a:endParaRPr lang="pt-BR" sz="3200" dirty="0"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lang="pt-BR" sz="3200" dirty="0">
                <a:solidFill>
                  <a:srgbClr val="3333CC"/>
                </a:solidFill>
              </a:rPr>
              <a:t>Estabelecer o tamanho da encrenca</a:t>
            </a:r>
            <a:r>
              <a:rPr lang="pt-BR" dirty="0">
                <a:solidFill>
                  <a:srgbClr val="3333CC"/>
                </a:solidFill>
              </a:rPr>
              <a:t>. (escopo)</a:t>
            </a:r>
            <a:endParaRPr lang="pt-BR" sz="3200" dirty="0"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endParaRPr sz="32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CLASSIFICAR OS OBJETIVOS</a:t>
            </a:r>
          </a:p>
        </p:txBody>
      </p:sp>
      <p:sp>
        <p:nvSpPr>
          <p:cNvPr id="95" name="Shape 95"/>
          <p:cNvSpPr>
            <a:spLocks noGrp="1"/>
          </p:cNvSpPr>
          <p:nvPr>
            <p:ph type="body" idx="1"/>
          </p:nvPr>
        </p:nvSpPr>
        <p:spPr>
          <a:xfrm>
            <a:off x="442152" y="2020887"/>
            <a:ext cx="7772402" cy="411480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3000">
                <a:solidFill>
                  <a:srgbClr val="3333CC"/>
                </a:solidFill>
              </a:rPr>
              <a:t>Determinar a importância relativa dos diferentes resultados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>
                <a:solidFill>
                  <a:srgbClr val="3333CC"/>
                </a:solidFill>
              </a:rPr>
              <a:t>Observar os recursos necessários para cada alternativa (diferenças)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>
                <a:solidFill>
                  <a:srgbClr val="3333CC"/>
                </a:solidFill>
              </a:rPr>
              <a:t>Relacionar os objetivos desejáveis (perfumaria)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000">
                <a:solidFill>
                  <a:srgbClr val="3333CC"/>
                </a:solidFill>
              </a:rPr>
              <a:t>Identificar os objetivos obrigatórios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OTIMIZAR  ALTERNATIVAS</a:t>
            </a:r>
          </a:p>
        </p:txBody>
      </p:sp>
      <p:sp>
        <p:nvSpPr>
          <p:cNvPr id="98" name="Shape 98"/>
          <p:cNvSpPr>
            <a:spLocks noGrp="1"/>
          </p:cNvSpPr>
          <p:nvPr>
            <p:ph type="body" idx="1"/>
          </p:nvPr>
        </p:nvSpPr>
        <p:spPr>
          <a:xfrm>
            <a:off x="188912" y="2017708"/>
            <a:ext cx="8766176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3200" dirty="0" err="1">
                <a:solidFill>
                  <a:srgbClr val="3333CC"/>
                </a:solidFill>
              </a:rPr>
              <a:t>Identificar</a:t>
            </a:r>
            <a:r>
              <a:rPr sz="3200" dirty="0">
                <a:solidFill>
                  <a:srgbClr val="3333CC"/>
                </a:solidFill>
              </a:rPr>
              <a:t> as </a:t>
            </a:r>
            <a:r>
              <a:rPr sz="3200" dirty="0" err="1">
                <a:solidFill>
                  <a:srgbClr val="3333CC"/>
                </a:solidFill>
              </a:rPr>
              <a:t>diversas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maneiras</a:t>
            </a:r>
            <a:r>
              <a:rPr sz="3200" dirty="0">
                <a:solidFill>
                  <a:srgbClr val="3333CC"/>
                </a:solidFill>
              </a:rPr>
              <a:t> de </a:t>
            </a:r>
            <a:r>
              <a:rPr sz="3200" dirty="0" err="1">
                <a:solidFill>
                  <a:srgbClr val="3333CC"/>
                </a:solidFill>
              </a:rPr>
              <a:t>satisfazer</a:t>
            </a:r>
            <a:r>
              <a:rPr sz="3200" dirty="0">
                <a:solidFill>
                  <a:srgbClr val="3333CC"/>
                </a:solidFill>
              </a:rPr>
              <a:t> as </a:t>
            </a:r>
            <a:r>
              <a:rPr sz="3200" dirty="0" err="1">
                <a:solidFill>
                  <a:srgbClr val="3333CC"/>
                </a:solidFill>
              </a:rPr>
              <a:t>necessidades</a:t>
            </a:r>
            <a:r>
              <a:rPr sz="3200" dirty="0">
                <a:solidFill>
                  <a:srgbClr val="3333CC"/>
                </a:solidFill>
              </a:rPr>
              <a:t> da </a:t>
            </a:r>
            <a:r>
              <a:rPr sz="3200" dirty="0" err="1">
                <a:solidFill>
                  <a:srgbClr val="3333CC"/>
                </a:solidFill>
              </a:rPr>
              <a:t>alternativa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escolhida</a:t>
            </a:r>
            <a:endParaRPr dirty="0"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200" dirty="0" err="1">
                <a:solidFill>
                  <a:srgbClr val="3333CC"/>
                </a:solidFill>
              </a:rPr>
              <a:t>Confrontá</a:t>
            </a:r>
            <a:r>
              <a:rPr sz="3200" dirty="0">
                <a:solidFill>
                  <a:srgbClr val="3333CC"/>
                </a:solidFill>
              </a:rPr>
              <a:t>-las com </a:t>
            </a:r>
            <a:r>
              <a:rPr sz="3200" dirty="0" err="1">
                <a:solidFill>
                  <a:srgbClr val="3333CC"/>
                </a:solidFill>
              </a:rPr>
              <a:t>os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objetivos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obrigatórios</a:t>
            </a:r>
            <a:r>
              <a:rPr sz="3200" dirty="0">
                <a:solidFill>
                  <a:srgbClr val="3333CC"/>
                </a:solidFill>
              </a:rPr>
              <a:t> e com </a:t>
            </a:r>
            <a:r>
              <a:rPr sz="3200" dirty="0" err="1">
                <a:solidFill>
                  <a:srgbClr val="3333CC"/>
                </a:solidFill>
              </a:rPr>
              <a:t>os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desejáveis</a:t>
            </a:r>
            <a:endParaRPr dirty="0"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200" dirty="0" err="1">
                <a:solidFill>
                  <a:srgbClr val="3333CC"/>
                </a:solidFill>
              </a:rPr>
              <a:t>Apurar</a:t>
            </a:r>
            <a:r>
              <a:rPr sz="3200" dirty="0">
                <a:solidFill>
                  <a:srgbClr val="3333CC"/>
                </a:solidFill>
              </a:rPr>
              <a:t> a que </a:t>
            </a:r>
            <a:r>
              <a:rPr sz="3200" dirty="0" err="1">
                <a:solidFill>
                  <a:srgbClr val="3333CC"/>
                </a:solidFill>
              </a:rPr>
              <a:t>oferece</a:t>
            </a:r>
            <a:r>
              <a:rPr sz="3200" dirty="0">
                <a:solidFill>
                  <a:srgbClr val="3333CC"/>
                </a:solidFill>
              </a:rPr>
              <a:t> o </a:t>
            </a:r>
            <a:r>
              <a:rPr sz="3200" dirty="0" err="1">
                <a:solidFill>
                  <a:srgbClr val="3333CC"/>
                </a:solidFill>
              </a:rPr>
              <a:t>melhor</a:t>
            </a:r>
            <a:r>
              <a:rPr sz="3200" dirty="0">
                <a:solidFill>
                  <a:srgbClr val="3333CC"/>
                </a:solidFill>
              </a:rPr>
              <a:t> </a:t>
            </a:r>
            <a:r>
              <a:rPr sz="3200" dirty="0" err="1">
                <a:solidFill>
                  <a:srgbClr val="3333CC"/>
                </a:solidFill>
              </a:rPr>
              <a:t>desempenho</a:t>
            </a:r>
            <a:endParaRPr lang="pt-BR" sz="3200" dirty="0"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lang="pt-BR" sz="3200" dirty="0">
                <a:solidFill>
                  <a:srgbClr val="3333CC"/>
                </a:solidFill>
              </a:rPr>
              <a:t>Verificar se o sistema pode </a:t>
            </a:r>
            <a:r>
              <a:rPr lang="pt-BR" sz="3200">
                <a:solidFill>
                  <a:srgbClr val="3333CC"/>
                </a:solidFill>
              </a:rPr>
              <a:t>ser rejeitado</a:t>
            </a:r>
            <a:endParaRPr sz="32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CONSEQUÊNCIAS ADVERSAS</a:t>
            </a:r>
          </a:p>
        </p:txBody>
      </p:sp>
      <p:sp>
        <p:nvSpPr>
          <p:cNvPr id="101" name="Shape 101"/>
          <p:cNvSpPr>
            <a:spLocks noGrp="1"/>
          </p:cNvSpPr>
          <p:nvPr>
            <p:ph type="body" idx="1"/>
          </p:nvPr>
        </p:nvSpPr>
        <p:spPr>
          <a:xfrm>
            <a:off x="188912" y="2017708"/>
            <a:ext cx="8766176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3333CC"/>
                </a:solidFill>
              </a:rPr>
              <a:t>Relacionar todos os aspectos negativos apontados nas alternativas escolhidas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3333CC"/>
                </a:solidFill>
              </a:rPr>
              <a:t>Estudar os riscos respectivos de cada uma delas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3333CC"/>
                </a:solidFill>
              </a:rPr>
              <a:t>Procurar descobrir o propósito lógico por trás de cada pergunta ou comentário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  <a:defRPr sz="1800"/>
            </a:pPr>
            <a:r>
              <a:rPr sz="2800">
                <a:solidFill>
                  <a:srgbClr val="3333CC"/>
                </a:solidFill>
              </a:rPr>
              <a:t>Identificar as armadilhas intencionais ou não, que possam estar atrás de cada pergunta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ESCOLHA / DECISÃO</a:t>
            </a:r>
          </a:p>
        </p:txBody>
      </p:sp>
      <p:sp>
        <p:nvSpPr>
          <p:cNvPr id="104" name="Shape 104"/>
          <p:cNvSpPr>
            <a:spLocks noGrp="1"/>
          </p:cNvSpPr>
          <p:nvPr>
            <p:ph type="body" idx="1"/>
          </p:nvPr>
        </p:nvSpPr>
        <p:spPr>
          <a:xfrm>
            <a:off x="297405" y="2017708"/>
            <a:ext cx="8657683" cy="473581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 defTabSz="851305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3400">
                <a:solidFill>
                  <a:srgbClr val="3333CC"/>
                </a:solidFill>
              </a:rPr>
              <a:t>Examinar com isenção de ânimos:</a:t>
            </a:r>
          </a:p>
          <a:p>
            <a:pPr marL="0" lvl="0" indent="0" defTabSz="851305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600">
                <a:solidFill>
                  <a:srgbClr val="3333CC"/>
                </a:solidFill>
              </a:rPr>
              <a:t>1)  Os riscos de cada alternativa</a:t>
            </a:r>
          </a:p>
          <a:p>
            <a:pPr marL="0" lvl="0" indent="0" defTabSz="851305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600">
                <a:solidFill>
                  <a:srgbClr val="3333CC"/>
                </a:solidFill>
              </a:rPr>
              <a:t>2)  Os benefícios de cada alternativa</a:t>
            </a:r>
          </a:p>
          <a:p>
            <a:pPr marL="0" lvl="0" indent="0" defTabSz="851305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600">
                <a:solidFill>
                  <a:srgbClr val="3333CC"/>
                </a:solidFill>
              </a:rPr>
              <a:t>3)  Relacionar os fatores que poderão contribuir para o sucesso do projeto</a:t>
            </a:r>
          </a:p>
          <a:p>
            <a:pPr marL="0" lvl="0" indent="0" defTabSz="851305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600">
                <a:solidFill>
                  <a:srgbClr val="3333CC"/>
                </a:solidFill>
              </a:rPr>
              <a:t>4) Relacionar os fatores que poderão contribuir para o fracasso do projeto</a:t>
            </a:r>
          </a:p>
          <a:p>
            <a:pPr marL="0" lvl="0" indent="0" defTabSz="851305"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600">
                <a:solidFill>
                  <a:srgbClr val="3333CC"/>
                </a:solidFill>
              </a:rPr>
              <a:t>5)   Discutir esses fatores com os envolvidos diretamente com o projeto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APRESENTAR RESULTADOS</a:t>
            </a:r>
          </a:p>
        </p:txBody>
      </p:sp>
      <p:sp>
        <p:nvSpPr>
          <p:cNvPr id="107" name="Shape 107"/>
          <p:cNvSpPr>
            <a:spLocks noGrp="1"/>
          </p:cNvSpPr>
          <p:nvPr>
            <p:ph type="body" idx="1"/>
          </p:nvPr>
        </p:nvSpPr>
        <p:spPr>
          <a:xfrm>
            <a:off x="188912" y="2017708"/>
            <a:ext cx="8766176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3200">
                <a:solidFill>
                  <a:srgbClr val="3333CC"/>
                </a:solidFill>
              </a:rPr>
              <a:t>Certifique-se da formação da platéia</a:t>
            </a:r>
            <a:endParaRPr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200">
                <a:solidFill>
                  <a:srgbClr val="3333CC"/>
                </a:solidFill>
              </a:rPr>
              <a:t>Identifique a oposição</a:t>
            </a:r>
            <a:endParaRPr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200">
                <a:solidFill>
                  <a:srgbClr val="3333CC"/>
                </a:solidFill>
              </a:rPr>
              <a:t>Seja impessoal, sem ser arrogante</a:t>
            </a:r>
            <a:endParaRPr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200">
                <a:solidFill>
                  <a:srgbClr val="3333CC"/>
                </a:solidFill>
              </a:rPr>
              <a:t>Não brinque para quebrar o gelo. (ainda não é hora)</a:t>
            </a:r>
            <a:endParaRPr>
              <a:solidFill>
                <a:srgbClr val="3333CC"/>
              </a:solidFill>
            </a:endParaRP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200">
                <a:solidFill>
                  <a:srgbClr val="3333CC"/>
                </a:solidFill>
              </a:rPr>
              <a:t>Fale com firmeza, sem ser o dono da verdade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/>
          </p:cNvSpPr>
          <p:nvPr>
            <p:ph type="title"/>
          </p:nvPr>
        </p:nvSpPr>
        <p:spPr>
          <a:xfrm>
            <a:off x="1150936" y="617537"/>
            <a:ext cx="779304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APRESENTAR RESULTADOS</a:t>
            </a:r>
          </a:p>
        </p:txBody>
      </p:sp>
      <p:sp>
        <p:nvSpPr>
          <p:cNvPr id="110" name="Shape 110"/>
          <p:cNvSpPr>
            <a:spLocks noGrp="1"/>
          </p:cNvSpPr>
          <p:nvPr>
            <p:ph type="body" idx="1"/>
          </p:nvPr>
        </p:nvSpPr>
        <p:spPr>
          <a:xfrm>
            <a:off x="188912" y="2017708"/>
            <a:ext cx="8766176" cy="411480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3100">
                <a:solidFill>
                  <a:srgbClr val="3333CC"/>
                </a:solidFill>
              </a:rPr>
              <a:t>Peça para que as dúvidas sejam anotadas e se possível respondidas somente no final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100">
                <a:solidFill>
                  <a:srgbClr val="3333CC"/>
                </a:solidFill>
              </a:rPr>
              <a:t>Não se perca em detalhes (se houver diretores presentes)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3100">
                <a:solidFill>
                  <a:srgbClr val="3333CC"/>
                </a:solidFill>
              </a:rPr>
              <a:t>Tenha em mente que “eles” estão pagando os seus honorários.</a:t>
            </a:r>
          </a:p>
          <a:p>
            <a:pPr marL="0" lvl="0" indent="0">
              <a:buClrTx/>
              <a:buSzTx/>
              <a:buFontTx/>
              <a:buNone/>
              <a:defRPr sz="1800"/>
            </a:pPr>
            <a:r>
              <a:rPr sz="2200">
                <a:solidFill>
                  <a:srgbClr val="3333CC"/>
                </a:solidFill>
              </a:rPr>
              <a:t>(Paciência e simpatia são sempre recomendáveis)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E4A8"/>
      </a:accent1>
      <a:accent2>
        <a:srgbClr val="FFCF01"/>
      </a:accent2>
      <a:accent3>
        <a:srgbClr val="8F8F8F"/>
      </a:accent3>
      <a:accent4>
        <a:srgbClr val="707070"/>
      </a:accent4>
      <a:accent5>
        <a:srgbClr val="AAEECF"/>
      </a:accent5>
      <a:accent6>
        <a:srgbClr val="E7BC01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00E4A8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E4A8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E4A8"/>
      </a:accent1>
      <a:accent2>
        <a:srgbClr val="FFCF01"/>
      </a:accent2>
      <a:accent3>
        <a:srgbClr val="8F8F8F"/>
      </a:accent3>
      <a:accent4>
        <a:srgbClr val="707070"/>
      </a:accent4>
      <a:accent5>
        <a:srgbClr val="AAEECF"/>
      </a:accent5>
      <a:accent6>
        <a:srgbClr val="E7BC01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00E4A8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E4A8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1167</Words>
  <Application>Microsoft Macintosh PowerPoint</Application>
  <PresentationFormat>Apresentação na tela (4:3)</PresentationFormat>
  <Paragraphs>134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Avenir Roman</vt:lpstr>
      <vt:lpstr>Tahoma</vt:lpstr>
      <vt:lpstr>Tahoma Negreta</vt:lpstr>
      <vt:lpstr>Times New Roman</vt:lpstr>
      <vt:lpstr>Wingdings</vt:lpstr>
      <vt:lpstr>Default</vt:lpstr>
      <vt:lpstr>DIAGNOSTICO</vt:lpstr>
      <vt:lpstr>DIAGNOSTICO</vt:lpstr>
      <vt:lpstr>DIAGNOSTICO</vt:lpstr>
      <vt:lpstr>ABORDAGEM PARA UM PROJETO DE SISTEMA</vt:lpstr>
      <vt:lpstr>NECESSIDADES IMPERATIVAS</vt:lpstr>
      <vt:lpstr>DIAGNÓSTICO</vt:lpstr>
      <vt:lpstr>DIAGNÓSTICO</vt:lpstr>
      <vt:lpstr>DIAGNÓSTICO</vt:lpstr>
      <vt:lpstr>DIAGNÓSTICO</vt:lpstr>
      <vt:lpstr>DIAGNÓSTICO</vt:lpstr>
      <vt:lpstr>DIAGNÓSTICO</vt:lpstr>
      <vt:lpstr>DIAGNÓSTICO</vt:lpstr>
      <vt:lpstr>DIAGNÓSTICO</vt:lpstr>
      <vt:lpstr>Passos p/ uma boa correção</vt:lpstr>
      <vt:lpstr>AÇÕES</vt:lpstr>
      <vt:lpstr>DICAS</vt:lpstr>
      <vt:lpstr>PROXIMOS PASSOS</vt:lpstr>
      <vt:lpstr>ESTABELECER OS OBJETIVOS</vt:lpstr>
      <vt:lpstr>CLASSIFICAR OS OBJETIVOS</vt:lpstr>
      <vt:lpstr>OTIMIZAR  ALTERNATIVAS</vt:lpstr>
      <vt:lpstr>CONSEQUÊNCIAS ADVERSAS</vt:lpstr>
      <vt:lpstr>ESCOLHA / DECISÃO</vt:lpstr>
      <vt:lpstr>APRESENTAR RESULTADOS</vt:lpstr>
      <vt:lpstr>APRESENTAR RESULTADOS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DIAGNOSTICO</dc:title>
  <cp:lastModifiedBy>EDGARD ALEXANDRE ROMANATO</cp:lastModifiedBy>
  <cp:revision>4</cp:revision>
  <dcterms:modified xsi:type="dcterms:W3CDTF">2022-03-21T18:24:42Z</dcterms:modified>
</cp:coreProperties>
</file>