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2" r:id="rId26"/>
    <p:sldId id="283" r:id="rId27"/>
    <p:sldId id="284" r:id="rId28"/>
  </p:sldIdLst>
  <p:sldSz cx="9144000" cy="6858000" type="screen4x3"/>
  <p:notesSz cx="6858000" cy="9144000"/>
  <p:defaultTextStyle>
    <a:lvl1pPr algn="r">
      <a:defRPr sz="1600" baseline="-25000">
        <a:latin typeface="+mj-lt"/>
        <a:ea typeface="+mj-ea"/>
        <a:cs typeface="+mj-cs"/>
        <a:sym typeface="Avenir Roman"/>
      </a:defRPr>
    </a:lvl1pPr>
    <a:lvl2pPr algn="r">
      <a:defRPr sz="1600" baseline="-25000">
        <a:latin typeface="+mj-lt"/>
        <a:ea typeface="+mj-ea"/>
        <a:cs typeface="+mj-cs"/>
        <a:sym typeface="Avenir Roman"/>
      </a:defRPr>
    </a:lvl2pPr>
    <a:lvl3pPr algn="r">
      <a:defRPr sz="1600" baseline="-25000">
        <a:latin typeface="+mj-lt"/>
        <a:ea typeface="+mj-ea"/>
        <a:cs typeface="+mj-cs"/>
        <a:sym typeface="Avenir Roman"/>
      </a:defRPr>
    </a:lvl3pPr>
    <a:lvl4pPr algn="r">
      <a:defRPr sz="1600" baseline="-25000">
        <a:latin typeface="+mj-lt"/>
        <a:ea typeface="+mj-ea"/>
        <a:cs typeface="+mj-cs"/>
        <a:sym typeface="Avenir Roman"/>
      </a:defRPr>
    </a:lvl4pPr>
    <a:lvl5pPr algn="r">
      <a:defRPr sz="1600" baseline="-25000">
        <a:latin typeface="+mj-lt"/>
        <a:ea typeface="+mj-ea"/>
        <a:cs typeface="+mj-cs"/>
        <a:sym typeface="Avenir Roman"/>
      </a:defRPr>
    </a:lvl5pPr>
    <a:lvl6pPr algn="r">
      <a:defRPr sz="1600" baseline="-25000">
        <a:latin typeface="+mj-lt"/>
        <a:ea typeface="+mj-ea"/>
        <a:cs typeface="+mj-cs"/>
        <a:sym typeface="Avenir Roman"/>
      </a:defRPr>
    </a:lvl6pPr>
    <a:lvl7pPr algn="r">
      <a:defRPr sz="1600" baseline="-25000">
        <a:latin typeface="+mj-lt"/>
        <a:ea typeface="+mj-ea"/>
        <a:cs typeface="+mj-cs"/>
        <a:sym typeface="Avenir Roman"/>
      </a:defRPr>
    </a:lvl7pPr>
    <a:lvl8pPr algn="r">
      <a:defRPr sz="1600" baseline="-25000">
        <a:latin typeface="+mj-lt"/>
        <a:ea typeface="+mj-ea"/>
        <a:cs typeface="+mj-cs"/>
        <a:sym typeface="Avenir Roman"/>
      </a:defRPr>
    </a:lvl8pPr>
    <a:lvl9pPr algn="r">
      <a:defRPr sz="1600" baseline="-25000">
        <a:latin typeface="+mj-lt"/>
        <a:ea typeface="+mj-ea"/>
        <a:cs typeface="+mj-cs"/>
        <a:sym typeface="Avenir Roman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1DBFE"/>
          </a:solidFill>
        </a:fill>
      </a:tcStyle>
    </a:wholeTbl>
    <a:band2H>
      <a:tcTxStyle/>
      <a:tcStyle>
        <a:tcBdr/>
        <a:fill>
          <a:solidFill>
            <a:srgbClr val="EAEEFF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618FFD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618FFD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618FFD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BDBDB"/>
          </a:solidFill>
        </a:fill>
      </a:tcStyle>
    </a:wholeTbl>
    <a:band2H>
      <a:tcTxStyle/>
      <a:tcStyle>
        <a:tcBdr/>
        <a:fill>
          <a:solidFill>
            <a:srgbClr val="EEEEEE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DECA"/>
          </a:solidFill>
        </a:fill>
      </a:tcStyle>
    </a:wholeTbl>
    <a:band2H>
      <a:tcTxStyle/>
      <a:tcStyle>
        <a:tcBdr/>
        <a:fill>
          <a:solidFill>
            <a:srgbClr val="E6EFE6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9E00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9E00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9E00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18FFD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18FFD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5"/>
  </p:normalViewPr>
  <p:slideViewPr>
    <p:cSldViewPr snapToGrid="0" snapToObjects="1">
      <p:cViewPr varScale="1">
        <p:scale>
          <a:sx n="77" d="100"/>
          <a:sy n="77" d="100"/>
        </p:scale>
        <p:origin x="84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1pPr>
    <a:lvl2pPr indent="2286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2pPr>
    <a:lvl3pPr indent="4572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3pPr>
    <a:lvl4pPr indent="6858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4pPr>
    <a:lvl5pPr indent="9144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5pPr>
    <a:lvl6pPr indent="11430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6pPr>
    <a:lvl7pPr indent="13716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7pPr>
    <a:lvl8pPr indent="16002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8pPr>
    <a:lvl9pPr indent="18288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102475" y="6578600"/>
            <a:ext cx="2355850" cy="288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800"/>
              </a:spcBef>
              <a:defRPr sz="1400"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400"/>
              <a:t>© 2003 by Prentice Hall</a:t>
            </a:r>
          </a:p>
        </p:txBody>
      </p:sp>
      <p:pic>
        <p:nvPicPr>
          <p:cNvPr id="3" name="image1.png" descr="dblue"/>
          <p:cNvPicPr/>
          <p:nvPr/>
        </p:nvPicPr>
        <p:blipFill>
          <a:blip r:embed="rId5"/>
          <a:stretch>
            <a:fillRect/>
          </a:stretch>
        </p:blipFill>
        <p:spPr>
          <a:xfrm>
            <a:off x="11111" y="0"/>
            <a:ext cx="9144002" cy="682625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image2.png" descr="lblue"/>
          <p:cNvPicPr/>
          <p:nvPr/>
        </p:nvPicPr>
        <p:blipFill>
          <a:blip r:embed="rId6"/>
          <a:stretch>
            <a:fillRect/>
          </a:stretch>
        </p:blipFill>
        <p:spPr>
          <a:xfrm>
            <a:off x="1587" y="704850"/>
            <a:ext cx="9153526" cy="4032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image2.jpeg" descr="globe"/>
          <p:cNvPicPr/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184275" cy="104775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6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5199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>
            <a:lvl1pPr>
              <a:defRPr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algn="ctr">
        <a:defRPr sz="3200">
          <a:latin typeface="Times New Roman Bold"/>
          <a:ea typeface="Times New Roman Bold"/>
          <a:cs typeface="Times New Roman Bold"/>
          <a:sym typeface="Times New Roman Bold"/>
        </a:defRPr>
      </a:lvl1pPr>
      <a:lvl2pPr algn="ctr">
        <a:defRPr sz="3200">
          <a:latin typeface="Times New Roman Bold"/>
          <a:ea typeface="Times New Roman Bold"/>
          <a:cs typeface="Times New Roman Bold"/>
          <a:sym typeface="Times New Roman Bold"/>
        </a:defRPr>
      </a:lvl2pPr>
      <a:lvl3pPr algn="ctr">
        <a:defRPr sz="3200">
          <a:latin typeface="Times New Roman Bold"/>
          <a:ea typeface="Times New Roman Bold"/>
          <a:cs typeface="Times New Roman Bold"/>
          <a:sym typeface="Times New Roman Bold"/>
        </a:defRPr>
      </a:lvl3pPr>
      <a:lvl4pPr algn="ctr">
        <a:defRPr sz="3200">
          <a:latin typeface="Times New Roman Bold"/>
          <a:ea typeface="Times New Roman Bold"/>
          <a:cs typeface="Times New Roman Bold"/>
          <a:sym typeface="Times New Roman Bold"/>
        </a:defRPr>
      </a:lvl4pPr>
      <a:lvl5pPr algn="ctr">
        <a:defRPr sz="3200">
          <a:latin typeface="Times New Roman Bold"/>
          <a:ea typeface="Times New Roman Bold"/>
          <a:cs typeface="Times New Roman Bold"/>
          <a:sym typeface="Times New Roman Bold"/>
        </a:defRPr>
      </a:lvl5pPr>
      <a:lvl6pPr algn="ctr">
        <a:defRPr sz="3200">
          <a:latin typeface="Times New Roman Bold"/>
          <a:ea typeface="Times New Roman Bold"/>
          <a:cs typeface="Times New Roman Bold"/>
          <a:sym typeface="Times New Roman Bold"/>
        </a:defRPr>
      </a:lvl6pPr>
      <a:lvl7pPr algn="ctr">
        <a:defRPr sz="3200">
          <a:latin typeface="Times New Roman Bold"/>
          <a:ea typeface="Times New Roman Bold"/>
          <a:cs typeface="Times New Roman Bold"/>
          <a:sym typeface="Times New Roman Bold"/>
        </a:defRPr>
      </a:lvl7pPr>
      <a:lvl8pPr algn="ctr">
        <a:defRPr sz="3200">
          <a:latin typeface="Times New Roman Bold"/>
          <a:ea typeface="Times New Roman Bold"/>
          <a:cs typeface="Times New Roman Bold"/>
          <a:sym typeface="Times New Roman Bold"/>
        </a:defRPr>
      </a:lvl8pPr>
      <a:lvl9pPr algn="ctr">
        <a:defRPr sz="3200">
          <a:latin typeface="Times New Roman Bold"/>
          <a:ea typeface="Times New Roman Bold"/>
          <a:cs typeface="Times New Roman Bold"/>
          <a:sym typeface="Times New Roman Bold"/>
        </a:defRPr>
      </a:lvl9pPr>
    </p:titleStyle>
    <p:bodyStyle>
      <a:lvl1pPr marL="342900" indent="-342900">
        <a:spcBef>
          <a:spcPts val="700"/>
        </a:spcBef>
        <a:buSzPct val="100000"/>
        <a:buChar char="•"/>
        <a:defRPr sz="3200">
          <a:solidFill>
            <a:srgbClr val="FC0128"/>
          </a:solidFill>
          <a:latin typeface="Arial Bold"/>
          <a:ea typeface="Arial Bold"/>
          <a:cs typeface="Arial Bold"/>
          <a:sym typeface="Arial Bold"/>
        </a:defRPr>
      </a:lvl1pPr>
      <a:lvl2pPr marL="783771" indent="-326571">
        <a:spcBef>
          <a:spcPts val="700"/>
        </a:spcBef>
        <a:buSzPct val="100000"/>
        <a:buChar char="–"/>
        <a:defRPr sz="3200">
          <a:solidFill>
            <a:srgbClr val="FC0128"/>
          </a:solidFill>
          <a:latin typeface="Arial Bold"/>
          <a:ea typeface="Arial Bold"/>
          <a:cs typeface="Arial Bold"/>
          <a:sym typeface="Arial Bold"/>
        </a:defRPr>
      </a:lvl2pPr>
      <a:lvl3pPr marL="1162050" indent="-304800">
        <a:spcBef>
          <a:spcPts val="700"/>
        </a:spcBef>
        <a:buSzPct val="100000"/>
        <a:buChar char="•"/>
        <a:defRPr sz="3200">
          <a:solidFill>
            <a:srgbClr val="FC0128"/>
          </a:solidFill>
          <a:latin typeface="Arial Bold"/>
          <a:ea typeface="Arial Bold"/>
          <a:cs typeface="Arial Bold"/>
          <a:sym typeface="Arial Bold"/>
        </a:defRPr>
      </a:lvl3pPr>
      <a:lvl4pPr marL="1565910" indent="-365760">
        <a:spcBef>
          <a:spcPts val="700"/>
        </a:spcBef>
        <a:buSzPct val="100000"/>
        <a:buChar char="–"/>
        <a:defRPr sz="3200">
          <a:solidFill>
            <a:srgbClr val="FC0128"/>
          </a:solidFill>
          <a:latin typeface="Arial Bold"/>
          <a:ea typeface="Arial Bold"/>
          <a:cs typeface="Arial Bold"/>
          <a:sym typeface="Arial Bold"/>
        </a:defRPr>
      </a:lvl4pPr>
      <a:lvl5pPr marL="1949450" indent="-406400">
        <a:spcBef>
          <a:spcPts val="700"/>
        </a:spcBef>
        <a:buSzPct val="100000"/>
        <a:buChar char="•"/>
        <a:defRPr sz="3200">
          <a:solidFill>
            <a:srgbClr val="FC0128"/>
          </a:solidFill>
          <a:latin typeface="Arial Bold"/>
          <a:ea typeface="Arial Bold"/>
          <a:cs typeface="Arial Bold"/>
          <a:sym typeface="Arial Bold"/>
        </a:defRPr>
      </a:lvl5pPr>
      <a:lvl6pPr marL="2406650" indent="-406400">
        <a:spcBef>
          <a:spcPts val="700"/>
        </a:spcBef>
        <a:buSzPct val="100000"/>
        <a:buChar char="•"/>
        <a:defRPr sz="3200">
          <a:solidFill>
            <a:srgbClr val="FC0128"/>
          </a:solidFill>
          <a:latin typeface="Arial Bold"/>
          <a:ea typeface="Arial Bold"/>
          <a:cs typeface="Arial Bold"/>
          <a:sym typeface="Arial Bold"/>
        </a:defRPr>
      </a:lvl6pPr>
      <a:lvl7pPr marL="2863850" indent="-406400">
        <a:spcBef>
          <a:spcPts val="700"/>
        </a:spcBef>
        <a:buSzPct val="100000"/>
        <a:buChar char="•"/>
        <a:defRPr sz="3200">
          <a:solidFill>
            <a:srgbClr val="FC0128"/>
          </a:solidFill>
          <a:latin typeface="Arial Bold"/>
          <a:ea typeface="Arial Bold"/>
          <a:cs typeface="Arial Bold"/>
          <a:sym typeface="Arial Bold"/>
        </a:defRPr>
      </a:lvl7pPr>
      <a:lvl8pPr marL="3321050" indent="-406400">
        <a:spcBef>
          <a:spcPts val="700"/>
        </a:spcBef>
        <a:buSzPct val="100000"/>
        <a:buChar char="•"/>
        <a:defRPr sz="3200">
          <a:solidFill>
            <a:srgbClr val="FC0128"/>
          </a:solidFill>
          <a:latin typeface="Arial Bold"/>
          <a:ea typeface="Arial Bold"/>
          <a:cs typeface="Arial Bold"/>
          <a:sym typeface="Arial Bold"/>
        </a:defRPr>
      </a:lvl8pPr>
      <a:lvl9pPr marL="3778250" indent="-406400">
        <a:spcBef>
          <a:spcPts val="700"/>
        </a:spcBef>
        <a:buSzPct val="100000"/>
        <a:buChar char="•"/>
        <a:defRPr sz="3200">
          <a:solidFill>
            <a:srgbClr val="FC0128"/>
          </a:solidFill>
          <a:latin typeface="Arial Bold"/>
          <a:ea typeface="Arial Bold"/>
          <a:cs typeface="Arial Bold"/>
          <a:sym typeface="Arial Bold"/>
        </a:defRPr>
      </a:lvl9pPr>
    </p:bodyStyle>
    <p:otherStyle>
      <a:lvl1pPr algn="r">
        <a:defRPr sz="1600" baseline="-25000">
          <a:solidFill>
            <a:schemeClr val="tx1"/>
          </a:solidFill>
          <a:latin typeface="+mn-lt"/>
          <a:ea typeface="+mn-ea"/>
          <a:cs typeface="+mn-cs"/>
          <a:sym typeface="Arial Bold"/>
        </a:defRPr>
      </a:lvl1pPr>
      <a:lvl2pPr algn="r">
        <a:defRPr sz="1600" baseline="-25000">
          <a:solidFill>
            <a:schemeClr val="tx1"/>
          </a:solidFill>
          <a:latin typeface="+mn-lt"/>
          <a:ea typeface="+mn-ea"/>
          <a:cs typeface="+mn-cs"/>
          <a:sym typeface="Arial Bold"/>
        </a:defRPr>
      </a:lvl2pPr>
      <a:lvl3pPr algn="r">
        <a:defRPr sz="1600" baseline="-25000">
          <a:solidFill>
            <a:schemeClr val="tx1"/>
          </a:solidFill>
          <a:latin typeface="+mn-lt"/>
          <a:ea typeface="+mn-ea"/>
          <a:cs typeface="+mn-cs"/>
          <a:sym typeface="Arial Bold"/>
        </a:defRPr>
      </a:lvl3pPr>
      <a:lvl4pPr algn="r">
        <a:defRPr sz="1600" baseline="-25000">
          <a:solidFill>
            <a:schemeClr val="tx1"/>
          </a:solidFill>
          <a:latin typeface="+mn-lt"/>
          <a:ea typeface="+mn-ea"/>
          <a:cs typeface="+mn-cs"/>
          <a:sym typeface="Arial Bold"/>
        </a:defRPr>
      </a:lvl4pPr>
      <a:lvl5pPr algn="r">
        <a:defRPr sz="1600" baseline="-25000">
          <a:solidFill>
            <a:schemeClr val="tx1"/>
          </a:solidFill>
          <a:latin typeface="+mn-lt"/>
          <a:ea typeface="+mn-ea"/>
          <a:cs typeface="+mn-cs"/>
          <a:sym typeface="Arial Bold"/>
        </a:defRPr>
      </a:lvl5pPr>
      <a:lvl6pPr algn="r">
        <a:defRPr sz="1600" baseline="-25000">
          <a:solidFill>
            <a:schemeClr val="tx1"/>
          </a:solidFill>
          <a:latin typeface="+mn-lt"/>
          <a:ea typeface="+mn-ea"/>
          <a:cs typeface="+mn-cs"/>
          <a:sym typeface="Arial Bold"/>
        </a:defRPr>
      </a:lvl6pPr>
      <a:lvl7pPr algn="r">
        <a:defRPr sz="1600" baseline="-25000">
          <a:solidFill>
            <a:schemeClr val="tx1"/>
          </a:solidFill>
          <a:latin typeface="+mn-lt"/>
          <a:ea typeface="+mn-ea"/>
          <a:cs typeface="+mn-cs"/>
          <a:sym typeface="Arial Bold"/>
        </a:defRPr>
      </a:lvl7pPr>
      <a:lvl8pPr algn="r">
        <a:defRPr sz="1600" baseline="-25000">
          <a:solidFill>
            <a:schemeClr val="tx1"/>
          </a:solidFill>
          <a:latin typeface="+mn-lt"/>
          <a:ea typeface="+mn-ea"/>
          <a:cs typeface="+mn-cs"/>
          <a:sym typeface="Arial Bold"/>
        </a:defRPr>
      </a:lvl8pPr>
      <a:lvl9pPr algn="r">
        <a:defRPr sz="1600" baseline="-25000">
          <a:solidFill>
            <a:schemeClr val="tx1"/>
          </a:solidFill>
          <a:latin typeface="+mn-lt"/>
          <a:ea typeface="+mn-ea"/>
          <a:cs typeface="+mn-cs"/>
          <a:sym typeface="Arial 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</a:t>
            </a:fld>
            <a:endParaRPr sz="1600"/>
          </a:p>
        </p:txBody>
      </p:sp>
      <p:sp>
        <p:nvSpPr>
          <p:cNvPr id="15" name="Shape 15"/>
          <p:cNvSpPr/>
          <p:nvPr/>
        </p:nvSpPr>
        <p:spPr>
          <a:xfrm>
            <a:off x="4432300" y="-76201"/>
            <a:ext cx="600075" cy="623963"/>
          </a:xfrm>
          <a:prstGeom prst="rect">
            <a:avLst/>
          </a:prstGeom>
          <a:ln w="12700">
            <a:miter lim="400000"/>
          </a:ln>
          <a:effectLst>
            <a:outerShdw blurRad="63500" dist="35921" dir="2700000" rotWithShape="0">
              <a:srgbClr val="FF9900">
                <a:alpha val="74996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 defTabSz="457200">
              <a:spcBef>
                <a:spcPts val="2600"/>
              </a:spcBef>
              <a:defRPr sz="4400" baseline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Shape 16"/>
          <p:cNvSpPr/>
          <p:nvPr/>
        </p:nvSpPr>
        <p:spPr>
          <a:xfrm>
            <a:off x="1377950" y="2838450"/>
            <a:ext cx="5791200" cy="1363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2600"/>
              </a:spcBef>
              <a:defRPr sz="4400" baseline="0">
                <a:effectLst>
                  <a:outerShdw blurRad="12700" dist="25400" dir="2700000" rotWithShape="0">
                    <a:srgbClr val="FFFFFF"/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lvl="0">
              <a:defRPr sz="1800">
                <a:effectLst/>
              </a:defRPr>
            </a:pPr>
            <a:r>
              <a:rPr sz="4400">
                <a:effectLst>
                  <a:outerShdw blurRad="12700" dist="25400" dir="2700000" rotWithShape="0">
                    <a:srgbClr val="FFFFFF"/>
                  </a:outerShdw>
                </a:effectLst>
              </a:rPr>
              <a:t>ADMINISTRAÇÃO DA EMPRESA DIGITAL</a:t>
            </a:r>
          </a:p>
        </p:txBody>
      </p:sp>
      <p:sp>
        <p:nvSpPr>
          <p:cNvPr id="17" name="Shape 17"/>
          <p:cNvSpPr/>
          <p:nvPr/>
        </p:nvSpPr>
        <p:spPr>
          <a:xfrm>
            <a:off x="1765300" y="-60326"/>
            <a:ext cx="1917374" cy="666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0" algn="l" defTabSz="457200">
              <a:defRPr sz="1800" baseline="0"/>
            </a:pPr>
            <a:r>
              <a:rPr sz="4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Capítulo</a:t>
            </a:r>
            <a:r>
              <a:rPr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</p:spTree>
  </p:cSld>
  <p:clrMapOvr>
    <a:masterClrMapping/>
  </p:clrMapOvr>
  <p:transition spd="med" advClick="0" advTm="1000"/>
  <p:timing>
    <p:tnLst>
      <p:par>
        <p:cTn id="1" dur="indefinite" restart="never" fill="hold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2</a:t>
            </a:fld>
            <a:endParaRPr sz="1600"/>
          </a:p>
        </p:txBody>
      </p:sp>
      <p:sp>
        <p:nvSpPr>
          <p:cNvPr id="20" name="Shape 20"/>
          <p:cNvSpPr>
            <a:spLocks noGrp="1"/>
          </p:cNvSpPr>
          <p:nvPr>
            <p:ph type="body" idx="4294967295"/>
          </p:nvPr>
        </p:nvSpPr>
        <p:spPr>
          <a:xfrm>
            <a:off x="685800" y="1666875"/>
            <a:ext cx="7658100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457200" lvl="0" indent="-457200"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1. Projetar sistemas competitivos e eficazes</a:t>
            </a:r>
            <a:b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57200" lvl="0" indent="-457200"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2. Entender requisitos de sistema do ambiente de negócios global</a:t>
            </a:r>
            <a:b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57200" lvl="0" indent="-457200"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3. Criar arquitetura de informação que apóie os objetivos da organização</a:t>
            </a:r>
          </a:p>
        </p:txBody>
      </p:sp>
      <p:sp>
        <p:nvSpPr>
          <p:cNvPr id="21" name="Shape 21"/>
          <p:cNvSpPr/>
          <p:nvPr/>
        </p:nvSpPr>
        <p:spPr>
          <a:xfrm>
            <a:off x="2493961" y="711199"/>
            <a:ext cx="3935414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CCECFF"/>
                </a:solidFill>
              </a:rPr>
              <a:t>DESAFIOS PARA AS EMPRESAS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3</a:t>
            </a:fld>
            <a:endParaRPr sz="1600"/>
          </a:p>
        </p:txBody>
      </p:sp>
      <p:sp>
        <p:nvSpPr>
          <p:cNvPr id="24" name="Shape 24"/>
          <p:cNvSpPr>
            <a:spLocks noGrp="1"/>
          </p:cNvSpPr>
          <p:nvPr>
            <p:ph type="body" idx="4294967295"/>
          </p:nvPr>
        </p:nvSpPr>
        <p:spPr>
          <a:xfrm>
            <a:off x="660400" y="1670050"/>
            <a:ext cx="7772400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457200" lvl="0" indent="-457200"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4. Determinar o valor dos sistemas de informação para o negócio</a:t>
            </a:r>
            <a:b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57200" lvl="0" indent="-457200"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5. Projetar sistemas que as pessoas possam controlar, entender e usar de maneira social e eticamente responsável</a:t>
            </a:r>
          </a:p>
        </p:txBody>
      </p:sp>
      <p:sp>
        <p:nvSpPr>
          <p:cNvPr id="25" name="Shape 25"/>
          <p:cNvSpPr/>
          <p:nvPr/>
        </p:nvSpPr>
        <p:spPr>
          <a:xfrm>
            <a:off x="2508250" y="711199"/>
            <a:ext cx="3935413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CCECFF"/>
                </a:solidFill>
              </a:rPr>
              <a:t>DESAFIOS PARA AS EMPRESAS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4</a:t>
            </a:fld>
            <a:endParaRPr sz="1600"/>
          </a:p>
        </p:txBody>
      </p:sp>
      <p:sp>
        <p:nvSpPr>
          <p:cNvPr id="28" name="Shape 28"/>
          <p:cNvSpPr/>
          <p:nvPr/>
        </p:nvSpPr>
        <p:spPr>
          <a:xfrm>
            <a:off x="638175" y="1085849"/>
            <a:ext cx="887095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O ambiente empresarial competitivo e a empresa digital emergente</a:t>
            </a:r>
          </a:p>
        </p:txBody>
      </p:sp>
      <p:sp>
        <p:nvSpPr>
          <p:cNvPr id="29" name="Shape 29"/>
          <p:cNvSpPr/>
          <p:nvPr/>
        </p:nvSpPr>
        <p:spPr>
          <a:xfrm>
            <a:off x="2304790" y="338203"/>
            <a:ext cx="4727836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POR QUE SISTEMAS DE INFORMAÇÃO?</a:t>
            </a:r>
          </a:p>
        </p:txBody>
      </p:sp>
      <p:sp>
        <p:nvSpPr>
          <p:cNvPr id="30" name="Shape 30"/>
          <p:cNvSpPr>
            <a:spLocks noGrp="1"/>
          </p:cNvSpPr>
          <p:nvPr>
            <p:ph type="body" idx="4294967295"/>
          </p:nvPr>
        </p:nvSpPr>
        <p:spPr>
          <a:xfrm>
            <a:off x="660399" y="1954060"/>
            <a:ext cx="8221665" cy="4308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609600" lvl="0" indent="-609600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 dirty="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Quatro </a:t>
            </a:r>
            <a:r>
              <a:rPr sz="3200" dirty="0" err="1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grandes</a:t>
            </a:r>
            <a:r>
              <a:rPr sz="3200" dirty="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mudanças</a:t>
            </a:r>
            <a:r>
              <a:rPr sz="3200" dirty="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de </a:t>
            </a:r>
            <a:r>
              <a:rPr sz="3200" dirty="0" err="1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âmbito</a:t>
            </a:r>
            <a:r>
              <a:rPr sz="3200" dirty="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mundial</a:t>
            </a:r>
            <a:r>
              <a:rPr sz="3200" dirty="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que </a:t>
            </a:r>
            <a:r>
              <a:rPr sz="3200" dirty="0" err="1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alteraram</a:t>
            </a:r>
            <a:r>
              <a:rPr sz="3200" dirty="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o </a:t>
            </a:r>
            <a:r>
              <a:rPr sz="3200" dirty="0" err="1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ambiente</a:t>
            </a:r>
            <a:r>
              <a:rPr sz="3200" dirty="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3200" dirty="0" err="1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empresarial</a:t>
            </a:r>
            <a:r>
              <a:rPr sz="3200" dirty="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:</a:t>
            </a:r>
            <a:br>
              <a:rPr sz="3200" dirty="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dirty="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829733" lvl="0" indent="-829733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emergência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da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economia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global</a:t>
            </a:r>
          </a:p>
          <a:p>
            <a:pPr marL="829733" lvl="0" indent="-829733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transformação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das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economias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insdustriais</a:t>
            </a:r>
            <a:endParaRPr sz="2800" dirty="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829733" lvl="0" indent="-829733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transformação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da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empresa</a:t>
            </a:r>
            <a:endParaRPr sz="2800" dirty="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829733" lvl="0" indent="-829733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emergência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da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empresa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digital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1" build="p" bldLvl="5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5</a:t>
            </a:fld>
            <a:endParaRPr sz="1600"/>
          </a:p>
        </p:txBody>
      </p:sp>
      <p:sp>
        <p:nvSpPr>
          <p:cNvPr id="33" name="Shape 33"/>
          <p:cNvSpPr>
            <a:spLocks noGrp="1"/>
          </p:cNvSpPr>
          <p:nvPr>
            <p:ph type="body" idx="4294967295"/>
          </p:nvPr>
        </p:nvSpPr>
        <p:spPr>
          <a:xfrm>
            <a:off x="438411" y="2192055"/>
            <a:ext cx="7994389" cy="3820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609600" lvl="0" indent="-60960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 dirty="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 </a:t>
            </a:r>
            <a:r>
              <a:rPr sz="3200" dirty="0" err="1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emergência</a:t>
            </a:r>
            <a:r>
              <a:rPr sz="3200" dirty="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da </a:t>
            </a:r>
            <a:r>
              <a:rPr sz="3200" dirty="0" err="1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economia</a:t>
            </a:r>
            <a:r>
              <a:rPr sz="3200" dirty="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global</a:t>
            </a:r>
            <a:br>
              <a:rPr sz="3200" dirty="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dirty="0">
              <a:solidFill>
                <a:srgbClr val="008000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829733" lvl="0" indent="-829733"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Gestão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e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controle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em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um mercado global</a:t>
            </a:r>
          </a:p>
          <a:p>
            <a:pPr marL="829733" lvl="0" indent="-829733"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Competição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em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mercados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mundiais</a:t>
            </a:r>
            <a:endParaRPr sz="2800" dirty="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829733" lvl="0" indent="-829733"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Grupos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de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trabalho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globais</a:t>
            </a:r>
            <a:endParaRPr sz="2800" dirty="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829733" lvl="0" indent="-829733"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Sistemas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de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entrega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globais</a:t>
            </a:r>
            <a:endParaRPr sz="2800" dirty="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</p:txBody>
      </p:sp>
      <p:sp>
        <p:nvSpPr>
          <p:cNvPr id="34" name="Shape 34"/>
          <p:cNvSpPr/>
          <p:nvPr/>
        </p:nvSpPr>
        <p:spPr>
          <a:xfrm>
            <a:off x="1415442" y="330304"/>
            <a:ext cx="5617184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POR QUE SISTEMAS DE INFORMAÇÃO?</a:t>
            </a:r>
          </a:p>
        </p:txBody>
      </p:sp>
      <p:sp>
        <p:nvSpPr>
          <p:cNvPr id="35" name="Shape 35"/>
          <p:cNvSpPr/>
          <p:nvPr/>
        </p:nvSpPr>
        <p:spPr>
          <a:xfrm>
            <a:off x="273050" y="1085849"/>
            <a:ext cx="887095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O ambiente empresarial competitivo e a empresa digital emergente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6</a:t>
            </a:fld>
            <a:endParaRPr sz="1600"/>
          </a:p>
        </p:txBody>
      </p:sp>
      <p:sp>
        <p:nvSpPr>
          <p:cNvPr id="38" name="Shape 38"/>
          <p:cNvSpPr>
            <a:spLocks noGrp="1"/>
          </p:cNvSpPr>
          <p:nvPr>
            <p:ph type="body" idx="4294967295"/>
          </p:nvPr>
        </p:nvSpPr>
        <p:spPr>
          <a:xfrm>
            <a:off x="660399" y="1670050"/>
            <a:ext cx="8266115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609600" lvl="0" indent="-609600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 transformação das economias industriais</a:t>
            </a:r>
            <a:b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>
              <a:solidFill>
                <a:srgbClr val="008000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829733" lvl="0" indent="-829733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Economias baseadas no conhecimento e na informação</a:t>
            </a:r>
          </a:p>
          <a:p>
            <a:pPr marL="829733" lvl="0" indent="-829733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Produtividade</a:t>
            </a:r>
          </a:p>
          <a:p>
            <a:pPr marL="829733" lvl="0" indent="-829733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Novos produtos e serviços</a:t>
            </a:r>
          </a:p>
          <a:p>
            <a:pPr marL="829733" lvl="0" indent="-829733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Conhecimento: um ativ produtivo e estratégico fundamental</a:t>
            </a:r>
          </a:p>
        </p:txBody>
      </p:sp>
      <p:sp>
        <p:nvSpPr>
          <p:cNvPr id="39" name="Shape 39"/>
          <p:cNvSpPr/>
          <p:nvPr/>
        </p:nvSpPr>
        <p:spPr>
          <a:xfrm>
            <a:off x="1628384" y="336549"/>
            <a:ext cx="5404241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POR QUE SISTEMAS DE INFORMAÇÃO?</a:t>
            </a:r>
          </a:p>
        </p:txBody>
      </p:sp>
      <p:sp>
        <p:nvSpPr>
          <p:cNvPr id="40" name="Shape 40"/>
          <p:cNvSpPr/>
          <p:nvPr/>
        </p:nvSpPr>
        <p:spPr>
          <a:xfrm>
            <a:off x="273050" y="1085849"/>
            <a:ext cx="887095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O ambiente empresarial competitivo e a empresa digital emergente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1" build="p" bldLvl="5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7</a:t>
            </a:fld>
            <a:endParaRPr sz="1600"/>
          </a:p>
        </p:txBody>
      </p:sp>
      <p:sp>
        <p:nvSpPr>
          <p:cNvPr id="43" name="Shape 43"/>
          <p:cNvSpPr>
            <a:spLocks noGrp="1"/>
          </p:cNvSpPr>
          <p:nvPr>
            <p:ph type="body" idx="4294967295"/>
          </p:nvPr>
        </p:nvSpPr>
        <p:spPr>
          <a:xfrm>
            <a:off x="660399" y="1670050"/>
            <a:ext cx="8164515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609600" lvl="0" indent="-60960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 transformação das economias industriais</a:t>
            </a:r>
            <a:b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>
              <a:solidFill>
                <a:srgbClr val="008000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829733" lvl="0" indent="-829733"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Concorrência baseada em tempo</a:t>
            </a:r>
          </a:p>
          <a:p>
            <a:pPr marL="829733" lvl="0" indent="-829733"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Produtos de vida mais curta</a:t>
            </a:r>
          </a:p>
          <a:p>
            <a:pPr marL="829733" lvl="0" indent="-829733"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Ambiente turbulento</a:t>
            </a:r>
          </a:p>
          <a:p>
            <a:pPr marL="829733" lvl="0" indent="-829733"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Base de conhecimento do funcionário limitada</a:t>
            </a:r>
          </a:p>
        </p:txBody>
      </p:sp>
      <p:sp>
        <p:nvSpPr>
          <p:cNvPr id="44" name="Shape 44"/>
          <p:cNvSpPr/>
          <p:nvPr/>
        </p:nvSpPr>
        <p:spPr>
          <a:xfrm>
            <a:off x="1878904" y="336549"/>
            <a:ext cx="5153721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POR QUE SISTEMAS DE INFORMAÇÃO?</a:t>
            </a:r>
          </a:p>
        </p:txBody>
      </p:sp>
      <p:sp>
        <p:nvSpPr>
          <p:cNvPr id="45" name="Shape 45"/>
          <p:cNvSpPr/>
          <p:nvPr/>
        </p:nvSpPr>
        <p:spPr>
          <a:xfrm>
            <a:off x="273050" y="1085849"/>
            <a:ext cx="887095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O ambiente empresarial competitivo e a empresa digital emergente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1" build="p" bldLvl="5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8</a:t>
            </a:fld>
            <a:endParaRPr sz="1600"/>
          </a:p>
        </p:txBody>
      </p:sp>
      <p:sp>
        <p:nvSpPr>
          <p:cNvPr id="48" name="Shape 48"/>
          <p:cNvSpPr>
            <a:spLocks noGrp="1"/>
          </p:cNvSpPr>
          <p:nvPr>
            <p:ph type="body" idx="4294967295"/>
          </p:nvPr>
        </p:nvSpPr>
        <p:spPr>
          <a:xfrm>
            <a:off x="660400" y="1670050"/>
            <a:ext cx="8483600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609600" lvl="0" indent="-609600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Transformação da empresa</a:t>
            </a:r>
            <a:b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829733" lvl="0" indent="-829733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Achatamento</a:t>
            </a:r>
          </a:p>
          <a:p>
            <a:pPr marL="829733" lvl="0" indent="-829733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Descentralização</a:t>
            </a:r>
          </a:p>
          <a:p>
            <a:pPr marL="829733" lvl="0" indent="-829733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Flexibilidade</a:t>
            </a:r>
          </a:p>
          <a:p>
            <a:pPr marL="829733" lvl="0" indent="-829733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Independência de localização</a:t>
            </a:r>
          </a:p>
          <a:p>
            <a:pPr marL="829733" lvl="0" indent="-829733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Baixos custos de transação e coordenação</a:t>
            </a:r>
          </a:p>
          <a:p>
            <a:pPr marL="829733" lvl="0" indent="-829733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Empowerment</a:t>
            </a:r>
          </a:p>
          <a:p>
            <a:pPr marL="829733" lvl="0" indent="-829733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Trabalho colaborativo e em equipe</a:t>
            </a:r>
          </a:p>
        </p:txBody>
      </p:sp>
      <p:sp>
        <p:nvSpPr>
          <p:cNvPr id="49" name="Shape 49"/>
          <p:cNvSpPr/>
          <p:nvPr/>
        </p:nvSpPr>
        <p:spPr>
          <a:xfrm>
            <a:off x="1503124" y="336549"/>
            <a:ext cx="5529502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POR QUE SISTEMAS DE INFORMAÇÃO?</a:t>
            </a:r>
          </a:p>
        </p:txBody>
      </p:sp>
      <p:sp>
        <p:nvSpPr>
          <p:cNvPr id="50" name="Shape 50"/>
          <p:cNvSpPr/>
          <p:nvPr/>
        </p:nvSpPr>
        <p:spPr>
          <a:xfrm>
            <a:off x="587375" y="1085849"/>
            <a:ext cx="887095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O ambiente empresarial competitivo e a empresa digital emergente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9</a:t>
            </a:fld>
            <a:endParaRPr sz="1600"/>
          </a:p>
        </p:txBody>
      </p:sp>
      <p:sp>
        <p:nvSpPr>
          <p:cNvPr id="53" name="Shape 53"/>
          <p:cNvSpPr>
            <a:spLocks noGrp="1"/>
          </p:cNvSpPr>
          <p:nvPr>
            <p:ph type="body" idx="4294967295"/>
          </p:nvPr>
        </p:nvSpPr>
        <p:spPr>
          <a:xfrm>
            <a:off x="660400" y="1670050"/>
            <a:ext cx="7772400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566927" lvl="0" indent="-566927" defTabSz="850391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900">
                <a:solidFill>
                  <a:srgbClr val="008000"/>
                </a:solidFill>
                <a:effectLst>
                  <a:outerShdw blurRad="12700" dist="23622" dir="2700000" rotWithShape="0">
                    <a:srgbClr val="000000"/>
                  </a:outerShdw>
                </a:effectLst>
              </a:rPr>
              <a:t>A emergência da empresa digital</a:t>
            </a:r>
            <a:br>
              <a:rPr sz="2900">
                <a:solidFill>
                  <a:srgbClr val="008000"/>
                </a:solidFill>
                <a:effectLst>
                  <a:outerShdw blurRad="12700" dist="23622" dir="2700000" rotWithShape="0">
                    <a:srgbClr val="000000"/>
                  </a:outerShdw>
                </a:effectLst>
              </a:rPr>
            </a:br>
            <a:endParaRPr sz="2900">
              <a:solidFill>
                <a:srgbClr val="008000"/>
              </a:solidFill>
              <a:effectLst>
                <a:outerShdw blurRad="12700" dist="23622" dir="2700000" rotWithShape="0">
                  <a:srgbClr val="000000"/>
                </a:outerShdw>
              </a:effectLst>
            </a:endParaRPr>
          </a:p>
          <a:p>
            <a:pPr marL="716534" lvl="0" indent="-716534" defTabSz="850391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600">
                <a:solidFill>
                  <a:srgbClr val="022A8E"/>
                </a:solidFill>
                <a:effectLst>
                  <a:outerShdw blurRad="12700" dist="23622" dir="2700000" rotWithShape="0">
                    <a:srgbClr val="000000"/>
                  </a:outerShdw>
                </a:effectLst>
              </a:rPr>
              <a:t>Relacionamentos possibilitados digitalmente com clientes, fornecedores e funcionários</a:t>
            </a:r>
          </a:p>
          <a:p>
            <a:pPr marL="716534" lvl="0" indent="-716534" defTabSz="850391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600">
                <a:solidFill>
                  <a:srgbClr val="022A8E"/>
                </a:solidFill>
                <a:effectLst>
                  <a:outerShdw blurRad="12700" dist="23622" dir="2700000" rotWithShape="0">
                    <a:srgbClr val="000000"/>
                  </a:outerShdw>
                </a:effectLst>
              </a:rPr>
              <a:t>Processos do negócio principal realizados via redes digitais</a:t>
            </a:r>
          </a:p>
          <a:p>
            <a:pPr marL="716534" lvl="0" indent="-716534" defTabSz="850391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600">
                <a:solidFill>
                  <a:srgbClr val="022A8E"/>
                </a:solidFill>
                <a:effectLst>
                  <a:outerShdw blurRad="12700" dist="23622" dir="2700000" rotWithShape="0">
                    <a:srgbClr val="000000"/>
                  </a:outerShdw>
                </a:effectLst>
              </a:rPr>
              <a:t>Gestão digital dos principais ativos da empresa</a:t>
            </a:r>
          </a:p>
          <a:p>
            <a:pPr marL="716534" lvl="0" indent="-716534" defTabSz="850391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600">
                <a:solidFill>
                  <a:srgbClr val="022A8E"/>
                </a:solidFill>
                <a:effectLst>
                  <a:outerShdw blurRad="12700" dist="23622" dir="2700000" rotWithShape="0">
                    <a:srgbClr val="000000"/>
                  </a:outerShdw>
                </a:effectLst>
              </a:rPr>
              <a:t>Rapidez em sentir e responder a mudanças ambientais</a:t>
            </a:r>
          </a:p>
        </p:txBody>
      </p:sp>
      <p:sp>
        <p:nvSpPr>
          <p:cNvPr id="54" name="Shape 54"/>
          <p:cNvSpPr/>
          <p:nvPr/>
        </p:nvSpPr>
        <p:spPr>
          <a:xfrm>
            <a:off x="1991638" y="336549"/>
            <a:ext cx="5040987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POR QUE SISTEMAS DE INFORMAÇÃO?</a:t>
            </a:r>
          </a:p>
        </p:txBody>
      </p:sp>
      <p:sp>
        <p:nvSpPr>
          <p:cNvPr id="55" name="Shape 55"/>
          <p:cNvSpPr/>
          <p:nvPr/>
        </p:nvSpPr>
        <p:spPr>
          <a:xfrm>
            <a:off x="287337" y="1085849"/>
            <a:ext cx="8870951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O ambiente empresarial competitivo e a empresa digital emergente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10</a:t>
            </a:fld>
            <a:endParaRPr sz="1600"/>
          </a:p>
        </p:txBody>
      </p:sp>
      <p:pic>
        <p:nvPicPr>
          <p:cNvPr id="58" name="image3.jpeg" descr="laudon+f01-02"/>
          <p:cNvPicPr/>
          <p:nvPr/>
        </p:nvPicPr>
        <p:blipFill>
          <a:blip r:embed="rId2"/>
          <a:stretch>
            <a:fillRect/>
          </a:stretch>
        </p:blipFill>
        <p:spPr>
          <a:xfrm>
            <a:off x="188912" y="1808161"/>
            <a:ext cx="8783639" cy="4259264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Shape 59"/>
          <p:cNvSpPr/>
          <p:nvPr/>
        </p:nvSpPr>
        <p:spPr>
          <a:xfrm>
            <a:off x="3633787" y="6243637"/>
            <a:ext cx="1409702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336B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336B7"/>
                </a:solidFill>
              </a:rPr>
              <a:t>Figura 1-2</a:t>
            </a:r>
          </a:p>
        </p:txBody>
      </p:sp>
      <p:sp>
        <p:nvSpPr>
          <p:cNvPr id="60" name="Shape 60"/>
          <p:cNvSpPr/>
          <p:nvPr/>
        </p:nvSpPr>
        <p:spPr>
          <a:xfrm>
            <a:off x="3222624" y="5584824"/>
            <a:ext cx="251619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Dados e informações</a:t>
            </a:r>
          </a:p>
        </p:txBody>
      </p:sp>
      <p:sp>
        <p:nvSpPr>
          <p:cNvPr id="61" name="Shape 61"/>
          <p:cNvSpPr/>
          <p:nvPr/>
        </p:nvSpPr>
        <p:spPr>
          <a:xfrm>
            <a:off x="1930400" y="263703"/>
            <a:ext cx="5102225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POR QUE SISTEMAS DE INFORMAÇÃO?</a:t>
            </a:r>
          </a:p>
        </p:txBody>
      </p:sp>
      <p:sp>
        <p:nvSpPr>
          <p:cNvPr id="62" name="Shape 62"/>
          <p:cNvSpPr/>
          <p:nvPr/>
        </p:nvSpPr>
        <p:spPr>
          <a:xfrm>
            <a:off x="1930400" y="1106487"/>
            <a:ext cx="4608513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O que é um sistema de informação?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11</a:t>
            </a:fld>
            <a:endParaRPr sz="1600"/>
          </a:p>
        </p:txBody>
      </p:sp>
      <p:sp>
        <p:nvSpPr>
          <p:cNvPr id="65" name="Shape 65"/>
          <p:cNvSpPr/>
          <p:nvPr/>
        </p:nvSpPr>
        <p:spPr>
          <a:xfrm>
            <a:off x="2454275" y="1181099"/>
            <a:ext cx="442595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Funções de um sistema de informação</a:t>
            </a:r>
          </a:p>
        </p:txBody>
      </p:sp>
      <p:sp>
        <p:nvSpPr>
          <p:cNvPr id="66" name="Shape 66"/>
          <p:cNvSpPr/>
          <p:nvPr/>
        </p:nvSpPr>
        <p:spPr>
          <a:xfrm>
            <a:off x="3867150" y="6483349"/>
            <a:ext cx="140970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336B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336B7"/>
                </a:solidFill>
              </a:rPr>
              <a:t>Figura 1-3</a:t>
            </a:r>
          </a:p>
        </p:txBody>
      </p:sp>
      <p:sp>
        <p:nvSpPr>
          <p:cNvPr id="67" name="Shape 67"/>
          <p:cNvSpPr/>
          <p:nvPr/>
        </p:nvSpPr>
        <p:spPr>
          <a:xfrm>
            <a:off x="1766170" y="237995"/>
            <a:ext cx="5266455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POR QUE SISTEMAS DE INFORMAÇÃO?</a:t>
            </a:r>
          </a:p>
        </p:txBody>
      </p:sp>
      <p:pic>
        <p:nvPicPr>
          <p:cNvPr id="68" name="image4.jpeg" descr="laudon+f01-03"/>
          <p:cNvPicPr/>
          <p:nvPr/>
        </p:nvPicPr>
        <p:blipFill>
          <a:blip r:embed="rId2"/>
          <a:stretch>
            <a:fillRect/>
          </a:stretch>
        </p:blipFill>
        <p:spPr>
          <a:xfrm>
            <a:off x="1155700" y="1660525"/>
            <a:ext cx="6543675" cy="46497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12</a:t>
            </a:fld>
            <a:endParaRPr sz="1600"/>
          </a:p>
        </p:txBody>
      </p:sp>
      <p:sp>
        <p:nvSpPr>
          <p:cNvPr id="71" name="Shape 71"/>
          <p:cNvSpPr>
            <a:spLocks noGrp="1"/>
          </p:cNvSpPr>
          <p:nvPr>
            <p:ph type="body" idx="4294967295"/>
          </p:nvPr>
        </p:nvSpPr>
        <p:spPr>
          <a:xfrm>
            <a:off x="654050" y="1663700"/>
            <a:ext cx="7372350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466724" lvl="0" indent="-466724"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Uma solução organizacional e administrativa</a:t>
            </a:r>
            <a:b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66724" lvl="0" indent="-466724"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Baseada em tecnologia da informação</a:t>
            </a:r>
            <a:b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66724" lvl="0" indent="-466724"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 um desafio imposto pelo ambiente</a:t>
            </a:r>
          </a:p>
        </p:txBody>
      </p:sp>
      <p:sp>
        <p:nvSpPr>
          <p:cNvPr id="72" name="Shape 72"/>
          <p:cNvSpPr/>
          <p:nvPr/>
        </p:nvSpPr>
        <p:spPr>
          <a:xfrm>
            <a:off x="1468436" y="1098549"/>
            <a:ext cx="6238878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Perspectiva empresarial sobre sistemas de informação</a:t>
            </a:r>
          </a:p>
        </p:txBody>
      </p:sp>
      <p:sp>
        <p:nvSpPr>
          <p:cNvPr id="73" name="Shape 73"/>
          <p:cNvSpPr/>
          <p:nvPr/>
        </p:nvSpPr>
        <p:spPr>
          <a:xfrm>
            <a:off x="1841326" y="342899"/>
            <a:ext cx="5191299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POR QUE SISTEMAS DE INFORMAÇÃO?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13</a:t>
            </a:fld>
            <a:endParaRPr sz="1600"/>
          </a:p>
        </p:txBody>
      </p:sp>
      <p:sp>
        <p:nvSpPr>
          <p:cNvPr id="76" name="Shape 76"/>
          <p:cNvSpPr/>
          <p:nvPr/>
        </p:nvSpPr>
        <p:spPr>
          <a:xfrm>
            <a:off x="3044824" y="1136649"/>
            <a:ext cx="3141665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Sistemas de informação</a:t>
            </a:r>
          </a:p>
        </p:txBody>
      </p:sp>
      <p:grpSp>
        <p:nvGrpSpPr>
          <p:cNvPr id="87" name="Group 87"/>
          <p:cNvGrpSpPr/>
          <p:nvPr/>
        </p:nvGrpSpPr>
        <p:grpSpPr>
          <a:xfrm>
            <a:off x="2000188" y="1798637"/>
            <a:ext cx="4846517" cy="4986161"/>
            <a:chOff x="-61" y="0"/>
            <a:chExt cx="4846515" cy="4986160"/>
          </a:xfrm>
        </p:grpSpPr>
        <p:sp>
          <p:nvSpPr>
            <p:cNvPr id="77" name="Shape 77"/>
            <p:cNvSpPr/>
            <p:nvPr/>
          </p:nvSpPr>
          <p:spPr>
            <a:xfrm>
              <a:off x="-62" y="4703"/>
              <a:ext cx="4846517" cy="46179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618FFD"/>
                </a:gs>
                <a:gs pos="100000">
                  <a:srgbClr val="1D2B4B"/>
                </a:gs>
              </a:gsLst>
              <a:path path="circle">
                <a:fillToRect l="37721" t="-19636" r="62278" b="119636"/>
              </a:path>
            </a:gradFill>
            <a:ln w="571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800" baseline="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8" name="Shape 78"/>
            <p:cNvSpPr/>
            <p:nvPr/>
          </p:nvSpPr>
          <p:spPr>
            <a:xfrm>
              <a:off x="2482849" y="0"/>
              <a:ext cx="1590" cy="2127250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 defTabSz="457200">
                <a:defRPr sz="1200" baseline="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79" name="Shape 79"/>
            <p:cNvSpPr/>
            <p:nvPr/>
          </p:nvSpPr>
          <p:spPr>
            <a:xfrm flipH="1">
              <a:off x="514350" y="2139950"/>
              <a:ext cx="2065339" cy="1593852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 defTabSz="457200">
                <a:defRPr sz="1200" baseline="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0" name="Shape 80"/>
            <p:cNvSpPr/>
            <p:nvPr/>
          </p:nvSpPr>
          <p:spPr>
            <a:xfrm>
              <a:off x="2743200" y="2139950"/>
              <a:ext cx="1727201" cy="1423989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 defTabSz="457200">
                <a:defRPr sz="1200" baseline="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81" name="Shape 81"/>
            <p:cNvSpPr/>
            <p:nvPr/>
          </p:nvSpPr>
          <p:spPr>
            <a:xfrm>
              <a:off x="450850" y="831850"/>
              <a:ext cx="1943349" cy="3481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4450" tIns="44450" rIns="44450" bIns="44450" numCol="1" anchor="t">
              <a:spAutoFit/>
            </a:bodyPr>
            <a:lstStyle>
              <a:lvl1pPr algn="l" defTabSz="457200">
                <a:spcBef>
                  <a:spcPts val="1000"/>
                </a:spcBef>
                <a:defRPr sz="1800" baseline="0"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  <a:effectLst/>
                </a:defRPr>
              </a:pPr>
              <a:r>
                <a:rPr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</a:rPr>
                <a:t>ORGANIZAÇÕES</a:t>
              </a:r>
            </a:p>
          </p:txBody>
        </p:sp>
        <p:sp>
          <p:nvSpPr>
            <p:cNvPr id="82" name="Shape 82"/>
            <p:cNvSpPr/>
            <p:nvPr/>
          </p:nvSpPr>
          <p:spPr>
            <a:xfrm>
              <a:off x="2676525" y="765175"/>
              <a:ext cx="1600449" cy="3481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4450" tIns="44450" rIns="44450" bIns="44450" numCol="1" anchor="t">
              <a:spAutoFit/>
            </a:bodyPr>
            <a:lstStyle>
              <a:lvl1pPr algn="l" defTabSz="457200">
                <a:spcBef>
                  <a:spcPts val="1000"/>
                </a:spcBef>
                <a:defRPr sz="1800" baseline="0"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  <a:effectLst/>
                </a:defRPr>
              </a:pPr>
              <a:r>
                <a:rPr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</a:rPr>
                <a:t>TECNOLOGIA</a:t>
              </a:r>
            </a:p>
          </p:txBody>
        </p:sp>
        <p:sp>
          <p:nvSpPr>
            <p:cNvPr id="83" name="Shape 83"/>
            <p:cNvSpPr/>
            <p:nvPr/>
          </p:nvSpPr>
          <p:spPr>
            <a:xfrm>
              <a:off x="1725612" y="3689350"/>
              <a:ext cx="2006750" cy="3481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4450" tIns="44450" rIns="44450" bIns="44450" numCol="1" anchor="t">
              <a:spAutoFit/>
            </a:bodyPr>
            <a:lstStyle>
              <a:lvl1pPr algn="l" defTabSz="457200">
                <a:spcBef>
                  <a:spcPts val="1000"/>
                </a:spcBef>
                <a:defRPr sz="1800" baseline="0"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  <a:effectLst/>
                </a:defRPr>
              </a:pPr>
              <a:r>
                <a:rPr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</a:rPr>
                <a:t>ADMINISTRAÇÃO</a:t>
              </a:r>
            </a:p>
          </p:txBody>
        </p:sp>
        <p:sp>
          <p:nvSpPr>
            <p:cNvPr id="84" name="Shape 84"/>
            <p:cNvSpPr/>
            <p:nvPr/>
          </p:nvSpPr>
          <p:spPr>
            <a:xfrm>
              <a:off x="1381096" y="1101696"/>
              <a:ext cx="2290706" cy="2224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3400"/>
                </a:gs>
                <a:gs pos="100000">
                  <a:srgbClr val="00AE00"/>
                </a:gs>
              </a:gsLst>
              <a:path path="circle">
                <a:fillToRect l="37721" t="-19636" r="62278" b="119636"/>
              </a:path>
            </a:gra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800" baseline="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85" name="Shape 85"/>
            <p:cNvSpPr/>
            <p:nvPr/>
          </p:nvSpPr>
          <p:spPr>
            <a:xfrm>
              <a:off x="1685925" y="1879600"/>
              <a:ext cx="1800226" cy="614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4450" tIns="44450" rIns="44450" bIns="44450" numCol="1" anchor="t">
              <a:spAutoFit/>
            </a:bodyPr>
            <a:lstStyle>
              <a:lvl1pPr algn="l" defTabSz="457200">
                <a:spcBef>
                  <a:spcPts val="1000"/>
                </a:spcBef>
                <a:defRPr sz="1800" baseline="0"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  <a:effectLst/>
                </a:defRPr>
              </a:pPr>
              <a:r>
                <a:rPr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</a:rPr>
                <a:t>SISTEMAS DE INFORMAÇÃO</a:t>
              </a:r>
            </a:p>
          </p:txBody>
        </p:sp>
        <p:sp>
          <p:nvSpPr>
            <p:cNvPr id="86" name="Shape 86"/>
            <p:cNvSpPr/>
            <p:nvPr/>
          </p:nvSpPr>
          <p:spPr>
            <a:xfrm>
              <a:off x="1809750" y="4635500"/>
              <a:ext cx="1409701" cy="3506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l" defTabSz="457200">
                <a:spcBef>
                  <a:spcPts val="1000"/>
                </a:spcBef>
                <a:defRPr sz="1800" baseline="0">
                  <a:solidFill>
                    <a:srgbClr val="0336B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>
                  <a:solidFill>
                    <a:srgbClr val="0336B7"/>
                  </a:solidFill>
                </a:rPr>
                <a:t>Figura 1-4</a:t>
              </a:r>
            </a:p>
          </p:txBody>
        </p:sp>
      </p:grpSp>
      <p:sp>
        <p:nvSpPr>
          <p:cNvPr id="88" name="Shape 88"/>
          <p:cNvSpPr/>
          <p:nvPr/>
        </p:nvSpPr>
        <p:spPr>
          <a:xfrm>
            <a:off x="2000188" y="247824"/>
            <a:ext cx="5032438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POR QUE SISTEMAS DE INFORMAÇÃO?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1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14</a:t>
            </a:fld>
            <a:endParaRPr sz="1600"/>
          </a:p>
        </p:txBody>
      </p:sp>
      <p:sp>
        <p:nvSpPr>
          <p:cNvPr id="91" name="Shape 91"/>
          <p:cNvSpPr>
            <a:spLocks noGrp="1"/>
          </p:cNvSpPr>
          <p:nvPr>
            <p:ph type="body" idx="4294967295"/>
          </p:nvPr>
        </p:nvSpPr>
        <p:spPr>
          <a:xfrm>
            <a:off x="654050" y="1663700"/>
            <a:ext cx="7772400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Vendas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e marketing</a:t>
            </a:r>
            <a:b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 dirty="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Fabricação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e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produção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/>
            </a:r>
            <a:b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 dirty="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Finanças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/>
            </a:r>
            <a:b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 dirty="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Contabilidade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/>
            </a:r>
            <a:b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 dirty="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Recursos</a:t>
            </a:r>
            <a:r>
              <a:rPr sz="2800" dirty="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</a:t>
            </a:r>
            <a:r>
              <a:rPr sz="2800" dirty="0" err="1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humanos</a:t>
            </a:r>
            <a:endParaRPr sz="2800" dirty="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</p:txBody>
      </p:sp>
      <p:grpSp>
        <p:nvGrpSpPr>
          <p:cNvPr id="175" name="Group 175"/>
          <p:cNvGrpSpPr/>
          <p:nvPr/>
        </p:nvGrpSpPr>
        <p:grpSpPr>
          <a:xfrm>
            <a:off x="6862761" y="2751135"/>
            <a:ext cx="2281241" cy="3632204"/>
            <a:chOff x="0" y="0"/>
            <a:chExt cx="2281240" cy="3632202"/>
          </a:xfrm>
        </p:grpSpPr>
        <p:grpSp>
          <p:nvGrpSpPr>
            <p:cNvPr id="173" name="Group 173"/>
            <p:cNvGrpSpPr/>
            <p:nvPr/>
          </p:nvGrpSpPr>
          <p:grpSpPr>
            <a:xfrm>
              <a:off x="158749" y="-1"/>
              <a:ext cx="2003431" cy="3192468"/>
              <a:chOff x="0" y="0"/>
              <a:chExt cx="2003430" cy="3192466"/>
            </a:xfrm>
          </p:grpSpPr>
          <p:grpSp>
            <p:nvGrpSpPr>
              <p:cNvPr id="96" name="Group 96"/>
              <p:cNvGrpSpPr/>
              <p:nvPr/>
            </p:nvGrpSpPr>
            <p:grpSpPr>
              <a:xfrm>
                <a:off x="1276352" y="741556"/>
                <a:ext cx="211140" cy="2450911"/>
                <a:chOff x="0" y="0"/>
                <a:chExt cx="211139" cy="2450910"/>
              </a:xfrm>
            </p:grpSpPr>
            <p:sp>
              <p:nvSpPr>
                <p:cNvPr id="92" name="Shape 92"/>
                <p:cNvSpPr/>
                <p:nvPr/>
              </p:nvSpPr>
              <p:spPr>
                <a:xfrm flipH="1">
                  <a:off x="0" y="180152"/>
                  <a:ext cx="177802" cy="2270759"/>
                </a:xfrm>
                <a:prstGeom prst="rect">
                  <a:avLst/>
                </a:prstGeom>
                <a:solidFill>
                  <a:srgbClr val="80808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93" name="Shape 93"/>
                <p:cNvSpPr/>
                <p:nvPr/>
              </p:nvSpPr>
              <p:spPr>
                <a:xfrm flipH="1">
                  <a:off x="146050" y="163393"/>
                  <a:ext cx="65090" cy="2283328"/>
                </a:xfrm>
                <a:prstGeom prst="rect">
                  <a:avLst/>
                </a:prstGeom>
                <a:solidFill>
                  <a:srgbClr val="60606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94" name="Shape 94"/>
                <p:cNvSpPr/>
                <p:nvPr/>
              </p:nvSpPr>
              <p:spPr>
                <a:xfrm flipH="1">
                  <a:off x="149225" y="4189"/>
                  <a:ext cx="52390" cy="2178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21600"/>
                      </a:moveTo>
                      <a:lnTo>
                        <a:pt x="21600" y="2181"/>
                      </a:lnTo>
                      <a:lnTo>
                        <a:pt x="0" y="0"/>
                      </a:lnTo>
                      <a:lnTo>
                        <a:pt x="655" y="2160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95" name="Shape 95"/>
                <p:cNvSpPr/>
                <p:nvPr/>
              </p:nvSpPr>
              <p:spPr>
                <a:xfrm flipH="1">
                  <a:off x="0" y="0"/>
                  <a:ext cx="150815" cy="3519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600" y="11219"/>
                      </a:lnTo>
                      <a:lnTo>
                        <a:pt x="21600" y="21600"/>
                      </a:lnTo>
                      <a:lnTo>
                        <a:pt x="0" y="112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</p:grpSp>
          <p:grpSp>
            <p:nvGrpSpPr>
              <p:cNvPr id="120" name="Group 120"/>
              <p:cNvGrpSpPr/>
              <p:nvPr/>
            </p:nvGrpSpPr>
            <p:grpSpPr>
              <a:xfrm>
                <a:off x="1463677" y="0"/>
                <a:ext cx="539754" cy="3188277"/>
                <a:chOff x="0" y="0"/>
                <a:chExt cx="539753" cy="3188276"/>
              </a:xfrm>
            </p:grpSpPr>
            <p:sp>
              <p:nvSpPr>
                <p:cNvPr id="97" name="Shape 97"/>
                <p:cNvSpPr/>
                <p:nvPr/>
              </p:nvSpPr>
              <p:spPr>
                <a:xfrm flipH="1">
                  <a:off x="307976" y="0"/>
                  <a:ext cx="14289" cy="22623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0" y="0"/>
                      </a:lnTo>
                      <a:lnTo>
                        <a:pt x="21600" y="800"/>
                      </a:lnTo>
                      <a:lnTo>
                        <a:pt x="21600" y="202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98" name="Shape 98"/>
                <p:cNvSpPr/>
                <p:nvPr/>
              </p:nvSpPr>
              <p:spPr>
                <a:xfrm flipH="1">
                  <a:off x="273050" y="192720"/>
                  <a:ext cx="85727" cy="1215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0" y="5354"/>
                      </a:lnTo>
                      <a:lnTo>
                        <a:pt x="21600" y="0"/>
                      </a:lnTo>
                      <a:lnTo>
                        <a:pt x="21600" y="16062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99" name="Shape 99"/>
                <p:cNvSpPr/>
                <p:nvPr/>
              </p:nvSpPr>
              <p:spPr>
                <a:xfrm flipH="1">
                  <a:off x="239712" y="192720"/>
                  <a:ext cx="36515" cy="796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18795"/>
                      </a:moveTo>
                      <a:lnTo>
                        <a:pt x="0" y="0"/>
                      </a:lnTo>
                      <a:lnTo>
                        <a:pt x="21600" y="8135"/>
                      </a:lnTo>
                      <a:lnTo>
                        <a:pt x="18548" y="21600"/>
                      </a:lnTo>
                      <a:lnTo>
                        <a:pt x="0" y="1879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00" name="Shape 100"/>
                <p:cNvSpPr/>
                <p:nvPr/>
              </p:nvSpPr>
              <p:spPr>
                <a:xfrm flipH="1">
                  <a:off x="69849" y="276512"/>
                  <a:ext cx="82552" cy="2471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309" y="0"/>
                      </a:moveTo>
                      <a:lnTo>
                        <a:pt x="0" y="3903"/>
                      </a:lnTo>
                      <a:lnTo>
                        <a:pt x="5451" y="21600"/>
                      </a:lnTo>
                      <a:lnTo>
                        <a:pt x="21600" y="17425"/>
                      </a:lnTo>
                      <a:lnTo>
                        <a:pt x="18309" y="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01" name="Shape 101"/>
                <p:cNvSpPr/>
                <p:nvPr/>
              </p:nvSpPr>
              <p:spPr>
                <a:xfrm flipH="1">
                  <a:off x="-1" y="209479"/>
                  <a:ext cx="198440" cy="29787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17268"/>
                      </a:moveTo>
                      <a:lnTo>
                        <a:pt x="0" y="13407"/>
                      </a:lnTo>
                      <a:lnTo>
                        <a:pt x="3197" y="12008"/>
                      </a:lnTo>
                      <a:lnTo>
                        <a:pt x="3197" y="0"/>
                      </a:lnTo>
                      <a:lnTo>
                        <a:pt x="12571" y="1034"/>
                      </a:lnTo>
                      <a:lnTo>
                        <a:pt x="12571" y="441"/>
                      </a:lnTo>
                      <a:lnTo>
                        <a:pt x="20434" y="1330"/>
                      </a:lnTo>
                      <a:lnTo>
                        <a:pt x="20434" y="1908"/>
                      </a:lnTo>
                      <a:lnTo>
                        <a:pt x="21600" y="2204"/>
                      </a:lnTo>
                      <a:lnTo>
                        <a:pt x="21600" y="21600"/>
                      </a:lnTo>
                      <a:lnTo>
                        <a:pt x="3154" y="21600"/>
                      </a:lnTo>
                      <a:lnTo>
                        <a:pt x="0" y="21585"/>
                      </a:lnTo>
                      <a:lnTo>
                        <a:pt x="0" y="17268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02" name="Shape 102"/>
                <p:cNvSpPr/>
                <p:nvPr/>
              </p:nvSpPr>
              <p:spPr>
                <a:xfrm flipH="1">
                  <a:off x="166687" y="209479"/>
                  <a:ext cx="371479" cy="29787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0" y="13422"/>
                      </a:lnTo>
                      <a:lnTo>
                        <a:pt x="1802" y="12062"/>
                      </a:lnTo>
                      <a:lnTo>
                        <a:pt x="1802" y="1459"/>
                      </a:lnTo>
                      <a:lnTo>
                        <a:pt x="2795" y="844"/>
                      </a:lnTo>
                      <a:lnTo>
                        <a:pt x="21600" y="0"/>
                      </a:lnTo>
                      <a:lnTo>
                        <a:pt x="21600" y="12084"/>
                      </a:lnTo>
                      <a:lnTo>
                        <a:pt x="19983" y="13490"/>
                      </a:lnTo>
                      <a:lnTo>
                        <a:pt x="19983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grpSp>
              <p:nvGrpSpPr>
                <p:cNvPr id="107" name="Group 107"/>
                <p:cNvGrpSpPr/>
                <p:nvPr/>
              </p:nvGrpSpPr>
              <p:grpSpPr>
                <a:xfrm>
                  <a:off x="204787" y="2291704"/>
                  <a:ext cx="322266" cy="213672"/>
                  <a:chOff x="0" y="0"/>
                  <a:chExt cx="322264" cy="213670"/>
                </a:xfrm>
              </p:grpSpPr>
              <p:sp>
                <p:nvSpPr>
                  <p:cNvPr id="103" name="Shape 103"/>
                  <p:cNvSpPr/>
                  <p:nvPr/>
                </p:nvSpPr>
                <p:spPr>
                  <a:xfrm flipH="1">
                    <a:off x="0" y="0"/>
                    <a:ext cx="322266" cy="4191"/>
                  </a:xfrm>
                  <a:prstGeom prst="line">
                    <a:avLst/>
                  </a:prstGeom>
                  <a:noFill/>
                  <a:ln w="4763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lvl="0" algn="l" defTabSz="457200">
                      <a:defRPr sz="1200" baseline="0"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/>
                  </a:p>
                </p:txBody>
              </p:sp>
              <p:sp>
                <p:nvSpPr>
                  <p:cNvPr id="104" name="Shape 104"/>
                  <p:cNvSpPr/>
                  <p:nvPr/>
                </p:nvSpPr>
                <p:spPr>
                  <a:xfrm flipH="1">
                    <a:off x="0" y="71222"/>
                    <a:ext cx="322266" cy="4192"/>
                  </a:xfrm>
                  <a:prstGeom prst="line">
                    <a:avLst/>
                  </a:prstGeom>
                  <a:noFill/>
                  <a:ln w="4763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lvl="0" algn="l" defTabSz="457200">
                      <a:defRPr sz="1200" baseline="0"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/>
                  </a:p>
                </p:txBody>
              </p:sp>
              <p:sp>
                <p:nvSpPr>
                  <p:cNvPr id="105" name="Shape 105"/>
                  <p:cNvSpPr/>
                  <p:nvPr/>
                </p:nvSpPr>
                <p:spPr>
                  <a:xfrm flipH="1">
                    <a:off x="0" y="209480"/>
                    <a:ext cx="322266" cy="4191"/>
                  </a:xfrm>
                  <a:prstGeom prst="line">
                    <a:avLst/>
                  </a:prstGeom>
                  <a:noFill/>
                  <a:ln w="4763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lvl="0" algn="l" defTabSz="457200">
                      <a:defRPr sz="1200" baseline="0"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/>
                  </a:p>
                </p:txBody>
              </p:sp>
              <p:sp>
                <p:nvSpPr>
                  <p:cNvPr id="106" name="Shape 106"/>
                  <p:cNvSpPr/>
                  <p:nvPr/>
                </p:nvSpPr>
                <p:spPr>
                  <a:xfrm flipH="1">
                    <a:off x="0" y="142445"/>
                    <a:ext cx="322266" cy="4192"/>
                  </a:xfrm>
                  <a:prstGeom prst="line">
                    <a:avLst/>
                  </a:prstGeom>
                  <a:noFill/>
                  <a:ln w="4763" cap="flat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pPr lvl="0" algn="l" defTabSz="457200">
                      <a:defRPr sz="1200" baseline="0">
                        <a:latin typeface="+mn-lt"/>
                        <a:ea typeface="+mn-ea"/>
                        <a:cs typeface="+mn-cs"/>
                        <a:sym typeface="Helvetica"/>
                      </a:defRPr>
                    </a:pPr>
                    <a:endParaRPr/>
                  </a:p>
                </p:txBody>
              </p:sp>
            </p:grpSp>
            <p:sp>
              <p:nvSpPr>
                <p:cNvPr id="108" name="Shape 108"/>
                <p:cNvSpPr/>
                <p:nvPr/>
              </p:nvSpPr>
              <p:spPr>
                <a:xfrm flipH="1">
                  <a:off x="15875" y="506939"/>
                  <a:ext cx="15876" cy="1604615"/>
                </a:xfrm>
                <a:prstGeom prst="rect">
                  <a:avLst/>
                </a:prstGeom>
                <a:solidFill>
                  <a:srgbClr val="80808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09" name="Shape 109"/>
                <p:cNvSpPr/>
                <p:nvPr/>
              </p:nvSpPr>
              <p:spPr>
                <a:xfrm flipH="1">
                  <a:off x="103187" y="381252"/>
                  <a:ext cx="14289" cy="1608804"/>
                </a:xfrm>
                <a:prstGeom prst="rect">
                  <a:avLst/>
                </a:prstGeom>
                <a:solidFill>
                  <a:srgbClr val="80808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10" name="Shape 110"/>
                <p:cNvSpPr/>
                <p:nvPr/>
              </p:nvSpPr>
              <p:spPr>
                <a:xfrm flipH="1">
                  <a:off x="47625" y="456664"/>
                  <a:ext cx="14289" cy="1604615"/>
                </a:xfrm>
                <a:prstGeom prst="rect">
                  <a:avLst/>
                </a:prstGeom>
                <a:solidFill>
                  <a:srgbClr val="80808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11" name="Shape 111"/>
                <p:cNvSpPr/>
                <p:nvPr/>
              </p:nvSpPr>
              <p:spPr>
                <a:xfrm flipH="1">
                  <a:off x="73025" y="414768"/>
                  <a:ext cx="14289" cy="1604615"/>
                </a:xfrm>
                <a:prstGeom prst="rect">
                  <a:avLst/>
                </a:prstGeom>
                <a:solidFill>
                  <a:srgbClr val="80808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12" name="Shape 112"/>
                <p:cNvSpPr/>
                <p:nvPr/>
              </p:nvSpPr>
              <p:spPr>
                <a:xfrm flipH="1">
                  <a:off x="131762" y="335166"/>
                  <a:ext cx="14289" cy="1604615"/>
                </a:xfrm>
                <a:prstGeom prst="rect">
                  <a:avLst/>
                </a:prstGeom>
                <a:solidFill>
                  <a:srgbClr val="80808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13" name="Shape 113"/>
                <p:cNvSpPr/>
                <p:nvPr/>
              </p:nvSpPr>
              <p:spPr>
                <a:xfrm flipH="1">
                  <a:off x="166687" y="209479"/>
                  <a:ext cx="341315" cy="2136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1179" y="12297"/>
                      </a:lnTo>
                      <a:lnTo>
                        <a:pt x="21600" y="0"/>
                      </a:lnTo>
                      <a:lnTo>
                        <a:pt x="21600" y="11869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14" name="Shape 114"/>
                <p:cNvSpPr/>
                <p:nvPr/>
              </p:nvSpPr>
              <p:spPr>
                <a:xfrm flipH="1">
                  <a:off x="166687" y="1876935"/>
                  <a:ext cx="373067" cy="19691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909" y="0"/>
                      </a:moveTo>
                      <a:lnTo>
                        <a:pt x="21600" y="0"/>
                      </a:lnTo>
                      <a:lnTo>
                        <a:pt x="19990" y="21600"/>
                      </a:lnTo>
                      <a:lnTo>
                        <a:pt x="0" y="21600"/>
                      </a:lnTo>
                      <a:lnTo>
                        <a:pt x="1909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15" name="Shape 115"/>
                <p:cNvSpPr/>
                <p:nvPr/>
              </p:nvSpPr>
              <p:spPr>
                <a:xfrm flipH="1">
                  <a:off x="222250" y="335166"/>
                  <a:ext cx="49215" cy="174287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21600" y="19155"/>
                      </a:lnTo>
                      <a:lnTo>
                        <a:pt x="8078" y="21600"/>
                      </a:lnTo>
                      <a:lnTo>
                        <a:pt x="0" y="21600"/>
                      </a:lnTo>
                      <a:lnTo>
                        <a:pt x="13873" y="19168"/>
                      </a:lnTo>
                      <a:lnTo>
                        <a:pt x="13873" y="52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16" name="Shape 116"/>
                <p:cNvSpPr/>
                <p:nvPr/>
              </p:nvSpPr>
              <p:spPr>
                <a:xfrm flipH="1">
                  <a:off x="279401" y="356114"/>
                  <a:ext cx="44451" cy="172192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574"/>
                      </a:moveTo>
                      <a:lnTo>
                        <a:pt x="13954" y="19130"/>
                      </a:lnTo>
                      <a:lnTo>
                        <a:pt x="13954" y="39"/>
                      </a:lnTo>
                      <a:lnTo>
                        <a:pt x="21600" y="0"/>
                      </a:lnTo>
                      <a:lnTo>
                        <a:pt x="21600" y="19182"/>
                      </a:lnTo>
                      <a:lnTo>
                        <a:pt x="8411" y="21600"/>
                      </a:lnTo>
                      <a:lnTo>
                        <a:pt x="0" y="2157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17" name="Shape 117"/>
                <p:cNvSpPr/>
                <p:nvPr/>
              </p:nvSpPr>
              <p:spPr>
                <a:xfrm flipH="1">
                  <a:off x="336550" y="368683"/>
                  <a:ext cx="46040" cy="170516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3662" y="93"/>
                      </a:moveTo>
                      <a:lnTo>
                        <a:pt x="21600" y="0"/>
                      </a:lnTo>
                      <a:lnTo>
                        <a:pt x="21600" y="19263"/>
                      </a:lnTo>
                      <a:lnTo>
                        <a:pt x="8862" y="21600"/>
                      </a:lnTo>
                      <a:lnTo>
                        <a:pt x="0" y="21600"/>
                      </a:lnTo>
                      <a:lnTo>
                        <a:pt x="13662" y="19197"/>
                      </a:lnTo>
                      <a:lnTo>
                        <a:pt x="13662" y="93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18" name="Shape 118"/>
                <p:cNvSpPr/>
                <p:nvPr/>
              </p:nvSpPr>
              <p:spPr>
                <a:xfrm flipH="1">
                  <a:off x="392113" y="385441"/>
                  <a:ext cx="49214" cy="16925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3873" y="40"/>
                      </a:moveTo>
                      <a:lnTo>
                        <a:pt x="21600" y="0"/>
                      </a:lnTo>
                      <a:lnTo>
                        <a:pt x="21600" y="19176"/>
                      </a:lnTo>
                      <a:lnTo>
                        <a:pt x="8956" y="21600"/>
                      </a:lnTo>
                      <a:lnTo>
                        <a:pt x="0" y="21600"/>
                      </a:lnTo>
                      <a:lnTo>
                        <a:pt x="13873" y="19136"/>
                      </a:lnTo>
                      <a:lnTo>
                        <a:pt x="13873" y="4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19" name="Shape 119"/>
                <p:cNvSpPr/>
                <p:nvPr/>
              </p:nvSpPr>
              <p:spPr>
                <a:xfrm flipH="1">
                  <a:off x="447675" y="402200"/>
                  <a:ext cx="47628" cy="166745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3432" y="54"/>
                      </a:moveTo>
                      <a:lnTo>
                        <a:pt x="21600" y="0"/>
                      </a:lnTo>
                      <a:lnTo>
                        <a:pt x="21600" y="19132"/>
                      </a:lnTo>
                      <a:lnTo>
                        <a:pt x="7624" y="21600"/>
                      </a:lnTo>
                      <a:lnTo>
                        <a:pt x="0" y="21600"/>
                      </a:lnTo>
                      <a:lnTo>
                        <a:pt x="13432" y="19159"/>
                      </a:lnTo>
                      <a:lnTo>
                        <a:pt x="13432" y="5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</p:grpSp>
          <p:grpSp>
            <p:nvGrpSpPr>
              <p:cNvPr id="128" name="Group 128"/>
              <p:cNvGrpSpPr/>
              <p:nvPr/>
            </p:nvGrpSpPr>
            <p:grpSpPr>
              <a:xfrm>
                <a:off x="1325564" y="2212102"/>
                <a:ext cx="84141" cy="980365"/>
                <a:chOff x="0" y="0"/>
                <a:chExt cx="84140" cy="980363"/>
              </a:xfrm>
            </p:grpSpPr>
            <p:sp>
              <p:nvSpPr>
                <p:cNvPr id="121" name="Shape 121"/>
                <p:cNvSpPr/>
                <p:nvPr/>
              </p:nvSpPr>
              <p:spPr>
                <a:xfrm flipH="1">
                  <a:off x="0" y="0"/>
                  <a:ext cx="84141" cy="980365"/>
                </a:xfrm>
                <a:prstGeom prst="rect">
                  <a:avLst/>
                </a:prstGeom>
                <a:solidFill>
                  <a:srgbClr val="C0C0C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22" name="Shape 122"/>
                <p:cNvSpPr/>
                <p:nvPr/>
              </p:nvSpPr>
              <p:spPr>
                <a:xfrm flipH="1">
                  <a:off x="47626" y="54464"/>
                  <a:ext cx="15876" cy="347738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23" name="Shape 123"/>
                <p:cNvSpPr/>
                <p:nvPr/>
              </p:nvSpPr>
              <p:spPr>
                <a:xfrm flipH="1">
                  <a:off x="22225" y="54464"/>
                  <a:ext cx="15876" cy="347738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24" name="Shape 124"/>
                <p:cNvSpPr/>
                <p:nvPr/>
              </p:nvSpPr>
              <p:spPr>
                <a:xfrm flipH="1">
                  <a:off x="9525" y="117308"/>
                  <a:ext cx="65090" cy="4191"/>
                </a:xfrm>
                <a:prstGeom prst="line">
                  <a:avLst/>
                </a:prstGeom>
                <a:noFill/>
                <a:ln w="4763" cap="flat">
                  <a:solidFill>
                    <a:srgbClr val="C0C0C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200" baseline="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25" name="Shape 125"/>
                <p:cNvSpPr/>
                <p:nvPr/>
              </p:nvSpPr>
              <p:spPr>
                <a:xfrm flipH="1">
                  <a:off x="6350" y="192720"/>
                  <a:ext cx="65090" cy="4192"/>
                </a:xfrm>
                <a:prstGeom prst="line">
                  <a:avLst/>
                </a:prstGeom>
                <a:noFill/>
                <a:ln w="4763" cap="flat">
                  <a:solidFill>
                    <a:srgbClr val="C0C0C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200" baseline="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26" name="Shape 126"/>
                <p:cNvSpPr/>
                <p:nvPr/>
              </p:nvSpPr>
              <p:spPr>
                <a:xfrm flipH="1">
                  <a:off x="9525" y="255564"/>
                  <a:ext cx="65090" cy="4192"/>
                </a:xfrm>
                <a:prstGeom prst="line">
                  <a:avLst/>
                </a:prstGeom>
                <a:noFill/>
                <a:ln w="4763" cap="flat">
                  <a:solidFill>
                    <a:srgbClr val="C0C0C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200" baseline="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27" name="Shape 127"/>
                <p:cNvSpPr/>
                <p:nvPr/>
              </p:nvSpPr>
              <p:spPr>
                <a:xfrm flipH="1">
                  <a:off x="6350" y="326787"/>
                  <a:ext cx="65090" cy="4192"/>
                </a:xfrm>
                <a:prstGeom prst="line">
                  <a:avLst/>
                </a:prstGeom>
                <a:noFill/>
                <a:ln w="4763" cap="flat">
                  <a:solidFill>
                    <a:srgbClr val="C0C0C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200" baseline="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</p:grpSp>
          <p:grpSp>
            <p:nvGrpSpPr>
              <p:cNvPr id="138" name="Group 138"/>
              <p:cNvGrpSpPr/>
              <p:nvPr/>
            </p:nvGrpSpPr>
            <p:grpSpPr>
              <a:xfrm>
                <a:off x="811213" y="1717730"/>
                <a:ext cx="250829" cy="1470549"/>
                <a:chOff x="0" y="0"/>
                <a:chExt cx="250827" cy="1470547"/>
              </a:xfrm>
            </p:grpSpPr>
            <p:sp>
              <p:nvSpPr>
                <p:cNvPr id="129" name="Shape 129"/>
                <p:cNvSpPr/>
                <p:nvPr/>
              </p:nvSpPr>
              <p:spPr>
                <a:xfrm flipH="1">
                  <a:off x="0" y="129877"/>
                  <a:ext cx="96839" cy="1340671"/>
                </a:xfrm>
                <a:prstGeom prst="rect">
                  <a:avLst/>
                </a:prstGeom>
                <a:solidFill>
                  <a:srgbClr val="20202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30" name="Shape 130"/>
                <p:cNvSpPr/>
                <p:nvPr/>
              </p:nvSpPr>
              <p:spPr>
                <a:xfrm flipH="1">
                  <a:off x="57149" y="4189"/>
                  <a:ext cx="193679" cy="14663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24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21600" y="0"/>
                      </a:lnTo>
                      <a:lnTo>
                        <a:pt x="0" y="52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31" name="Shape 131"/>
                <p:cNvSpPr/>
                <p:nvPr/>
              </p:nvSpPr>
              <p:spPr>
                <a:xfrm flipH="1">
                  <a:off x="-1" y="-1"/>
                  <a:ext cx="61915" cy="25137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600" y="11070"/>
                      </a:lnTo>
                      <a:lnTo>
                        <a:pt x="21600" y="21600"/>
                      </a:lnTo>
                      <a:lnTo>
                        <a:pt x="0" y="1377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32" name="Shape 132"/>
                <p:cNvSpPr/>
                <p:nvPr/>
              </p:nvSpPr>
              <p:spPr>
                <a:xfrm flipH="1">
                  <a:off x="212727" y="180152"/>
                  <a:ext cx="20639" cy="624251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33" name="Shape 133"/>
                <p:cNvSpPr/>
                <p:nvPr/>
              </p:nvSpPr>
              <p:spPr>
                <a:xfrm flipH="1">
                  <a:off x="92076" y="188531"/>
                  <a:ext cx="17464" cy="624251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34" name="Shape 134"/>
                <p:cNvSpPr/>
                <p:nvPr/>
              </p:nvSpPr>
              <p:spPr>
                <a:xfrm flipH="1">
                  <a:off x="68263" y="289081"/>
                  <a:ext cx="176215" cy="4191"/>
                </a:xfrm>
                <a:prstGeom prst="line">
                  <a:avLst/>
                </a:prstGeom>
                <a:noFill/>
                <a:ln w="4763" cap="flat">
                  <a:solidFill>
                    <a:srgbClr val="A0A0A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200" baseline="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35" name="Shape 135"/>
                <p:cNvSpPr/>
                <p:nvPr/>
              </p:nvSpPr>
              <p:spPr>
                <a:xfrm flipH="1">
                  <a:off x="74613" y="410579"/>
                  <a:ext cx="166690" cy="4191"/>
                </a:xfrm>
                <a:prstGeom prst="line">
                  <a:avLst/>
                </a:prstGeom>
                <a:noFill/>
                <a:ln w="4763" cap="flat">
                  <a:solidFill>
                    <a:srgbClr val="A0A0A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200" baseline="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36" name="Shape 136"/>
                <p:cNvSpPr/>
                <p:nvPr/>
              </p:nvSpPr>
              <p:spPr>
                <a:xfrm flipH="1">
                  <a:off x="74613" y="548836"/>
                  <a:ext cx="168278" cy="4192"/>
                </a:xfrm>
                <a:prstGeom prst="line">
                  <a:avLst/>
                </a:prstGeom>
                <a:noFill/>
                <a:ln w="4763" cap="flat">
                  <a:solidFill>
                    <a:srgbClr val="A0A0A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200" baseline="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37" name="Shape 137"/>
                <p:cNvSpPr/>
                <p:nvPr/>
              </p:nvSpPr>
              <p:spPr>
                <a:xfrm flipH="1">
                  <a:off x="73026" y="666144"/>
                  <a:ext cx="165102" cy="4192"/>
                </a:xfrm>
                <a:prstGeom prst="line">
                  <a:avLst/>
                </a:prstGeom>
                <a:noFill/>
                <a:ln w="4763" cap="flat">
                  <a:solidFill>
                    <a:srgbClr val="A0A0A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200" baseline="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</p:grpSp>
          <p:grpSp>
            <p:nvGrpSpPr>
              <p:cNvPr id="150" name="Group 150"/>
              <p:cNvGrpSpPr/>
              <p:nvPr/>
            </p:nvGrpSpPr>
            <p:grpSpPr>
              <a:xfrm>
                <a:off x="-1" y="1516630"/>
                <a:ext cx="204791" cy="1671649"/>
                <a:chOff x="0" y="0"/>
                <a:chExt cx="204789" cy="1671647"/>
              </a:xfrm>
            </p:grpSpPr>
            <p:sp>
              <p:nvSpPr>
                <p:cNvPr id="139" name="Shape 139"/>
                <p:cNvSpPr/>
                <p:nvPr/>
              </p:nvSpPr>
              <p:spPr>
                <a:xfrm flipH="1">
                  <a:off x="44450" y="0"/>
                  <a:ext cx="66677" cy="18015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86" y="0"/>
                      </a:moveTo>
                      <a:lnTo>
                        <a:pt x="21600" y="7324"/>
                      </a:lnTo>
                      <a:lnTo>
                        <a:pt x="20571" y="21600"/>
                      </a:lnTo>
                      <a:lnTo>
                        <a:pt x="0" y="15641"/>
                      </a:lnTo>
                      <a:lnTo>
                        <a:pt x="2186" y="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40" name="Shape 140"/>
                <p:cNvSpPr/>
                <p:nvPr/>
              </p:nvSpPr>
              <p:spPr>
                <a:xfrm flipH="1">
                  <a:off x="100012" y="0"/>
                  <a:ext cx="34927" cy="192722"/>
                </a:xfrm>
                <a:prstGeom prst="rect">
                  <a:avLst/>
                </a:prstGeom>
                <a:solidFill>
                  <a:srgbClr val="60606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41" name="Shape 141"/>
                <p:cNvSpPr/>
                <p:nvPr/>
              </p:nvSpPr>
              <p:spPr>
                <a:xfrm flipH="1">
                  <a:off x="79376" y="134066"/>
                  <a:ext cx="125414" cy="1537582"/>
                </a:xfrm>
                <a:prstGeom prst="rect">
                  <a:avLst/>
                </a:prstGeom>
                <a:solidFill>
                  <a:srgbClr val="A0A0A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42" name="Shape 142"/>
                <p:cNvSpPr/>
                <p:nvPr/>
              </p:nvSpPr>
              <p:spPr>
                <a:xfrm flipH="1">
                  <a:off x="-1" y="134066"/>
                  <a:ext cx="84140" cy="153758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600" y="868"/>
                      </a:lnTo>
                      <a:lnTo>
                        <a:pt x="21600" y="21600"/>
                      </a:lnTo>
                      <a:lnTo>
                        <a:pt x="0" y="2157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43" name="Shape 143"/>
                <p:cNvSpPr/>
                <p:nvPr/>
              </p:nvSpPr>
              <p:spPr>
                <a:xfrm flipH="1">
                  <a:off x="163513" y="217858"/>
                  <a:ext cx="19052" cy="754128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44" name="Shape 144"/>
                <p:cNvSpPr/>
                <p:nvPr/>
              </p:nvSpPr>
              <p:spPr>
                <a:xfrm flipH="1">
                  <a:off x="136526" y="217858"/>
                  <a:ext cx="19052" cy="754128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45" name="Shape 145"/>
                <p:cNvSpPr/>
                <p:nvPr/>
              </p:nvSpPr>
              <p:spPr>
                <a:xfrm flipH="1">
                  <a:off x="104775" y="217858"/>
                  <a:ext cx="19052" cy="754128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46" name="Shape 146"/>
                <p:cNvSpPr/>
                <p:nvPr/>
              </p:nvSpPr>
              <p:spPr>
                <a:xfrm flipH="1">
                  <a:off x="88900" y="347735"/>
                  <a:ext cx="112715" cy="4192"/>
                </a:xfrm>
                <a:prstGeom prst="line">
                  <a:avLst/>
                </a:prstGeom>
                <a:noFill/>
                <a:ln w="4763" cap="flat">
                  <a:solidFill>
                    <a:srgbClr val="A0A0A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200" baseline="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47" name="Shape 147"/>
                <p:cNvSpPr/>
                <p:nvPr/>
              </p:nvSpPr>
              <p:spPr>
                <a:xfrm flipH="1">
                  <a:off x="85725" y="490182"/>
                  <a:ext cx="112715" cy="4191"/>
                </a:xfrm>
                <a:prstGeom prst="line">
                  <a:avLst/>
                </a:prstGeom>
                <a:noFill/>
                <a:ln w="4763" cap="flat">
                  <a:solidFill>
                    <a:srgbClr val="A0A0A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200" baseline="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48" name="Shape 148"/>
                <p:cNvSpPr/>
                <p:nvPr/>
              </p:nvSpPr>
              <p:spPr>
                <a:xfrm flipH="1">
                  <a:off x="85725" y="661955"/>
                  <a:ext cx="114303" cy="4191"/>
                </a:xfrm>
                <a:prstGeom prst="line">
                  <a:avLst/>
                </a:prstGeom>
                <a:noFill/>
                <a:ln w="4763" cap="flat">
                  <a:solidFill>
                    <a:srgbClr val="A0A0A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200" baseline="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49" name="Shape 149"/>
                <p:cNvSpPr/>
                <p:nvPr/>
              </p:nvSpPr>
              <p:spPr>
                <a:xfrm flipH="1">
                  <a:off x="90488" y="800211"/>
                  <a:ext cx="103190" cy="4192"/>
                </a:xfrm>
                <a:prstGeom prst="line">
                  <a:avLst/>
                </a:prstGeom>
                <a:noFill/>
                <a:ln w="4763" cap="flat">
                  <a:solidFill>
                    <a:srgbClr val="A0A0A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200" baseline="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</p:grpSp>
          <p:grpSp>
            <p:nvGrpSpPr>
              <p:cNvPr id="153" name="Group 153"/>
              <p:cNvGrpSpPr/>
              <p:nvPr/>
            </p:nvGrpSpPr>
            <p:grpSpPr>
              <a:xfrm>
                <a:off x="182562" y="2048707"/>
                <a:ext cx="195266" cy="1143760"/>
                <a:chOff x="0" y="0"/>
                <a:chExt cx="195265" cy="1143759"/>
              </a:xfrm>
            </p:grpSpPr>
            <p:sp>
              <p:nvSpPr>
                <p:cNvPr id="151" name="Shape 151"/>
                <p:cNvSpPr/>
                <p:nvPr/>
              </p:nvSpPr>
              <p:spPr>
                <a:xfrm flipH="1">
                  <a:off x="79376" y="-1"/>
                  <a:ext cx="115890" cy="1143760"/>
                </a:xfrm>
                <a:prstGeom prst="rect">
                  <a:avLst/>
                </a:prstGeom>
                <a:solidFill>
                  <a:srgbClr val="A0A0A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52" name="Shape 152"/>
                <p:cNvSpPr/>
                <p:nvPr/>
              </p:nvSpPr>
              <p:spPr>
                <a:xfrm flipH="1">
                  <a:off x="-1" y="-1"/>
                  <a:ext cx="84141" cy="113957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600" y="1707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</p:grpSp>
          <p:grpSp>
            <p:nvGrpSpPr>
              <p:cNvPr id="161" name="Group 161"/>
              <p:cNvGrpSpPr/>
              <p:nvPr/>
            </p:nvGrpSpPr>
            <p:grpSpPr>
              <a:xfrm>
                <a:off x="366712" y="624248"/>
                <a:ext cx="379417" cy="2568220"/>
                <a:chOff x="0" y="0"/>
                <a:chExt cx="379415" cy="2568218"/>
              </a:xfrm>
            </p:grpSpPr>
            <p:sp>
              <p:nvSpPr>
                <p:cNvPr id="154" name="Shape 154"/>
                <p:cNvSpPr/>
                <p:nvPr/>
              </p:nvSpPr>
              <p:spPr>
                <a:xfrm flipH="1">
                  <a:off x="0" y="4189"/>
                  <a:ext cx="74614" cy="25640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751" y="0"/>
                      </a:moveTo>
                      <a:lnTo>
                        <a:pt x="21600" y="1685"/>
                      </a:lnTo>
                      <a:lnTo>
                        <a:pt x="21600" y="21582"/>
                      </a:lnTo>
                      <a:lnTo>
                        <a:pt x="0" y="21600"/>
                      </a:lnTo>
                      <a:lnTo>
                        <a:pt x="1751" y="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55" name="Shape 155"/>
                <p:cNvSpPr/>
                <p:nvPr/>
              </p:nvSpPr>
              <p:spPr>
                <a:xfrm flipH="1">
                  <a:off x="63499" y="-1"/>
                  <a:ext cx="315917" cy="256822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652"/>
                      </a:moveTo>
                      <a:lnTo>
                        <a:pt x="21600" y="0"/>
                      </a:lnTo>
                      <a:lnTo>
                        <a:pt x="21600" y="21600"/>
                      </a:lnTo>
                      <a:lnTo>
                        <a:pt x="0" y="21582"/>
                      </a:lnTo>
                      <a:lnTo>
                        <a:pt x="0" y="652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56" name="Shape 156"/>
                <p:cNvSpPr/>
                <p:nvPr/>
              </p:nvSpPr>
              <p:spPr>
                <a:xfrm flipH="1">
                  <a:off x="112712" y="12568"/>
                  <a:ext cx="22227" cy="255565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27"/>
                      </a:ln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57" name="Shape 157"/>
                <p:cNvSpPr/>
                <p:nvPr/>
              </p:nvSpPr>
              <p:spPr>
                <a:xfrm flipH="1">
                  <a:off x="169863" y="25137"/>
                  <a:ext cx="20639" cy="253889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415" y="71"/>
                      </a:lnTo>
                      <a:lnTo>
                        <a:pt x="0" y="21600"/>
                      </a:lnTo>
                      <a:lnTo>
                        <a:pt x="20769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58" name="Shape 158"/>
                <p:cNvSpPr/>
                <p:nvPr/>
              </p:nvSpPr>
              <p:spPr>
                <a:xfrm flipH="1">
                  <a:off x="225425" y="41895"/>
                  <a:ext cx="20640" cy="25221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415" y="18"/>
                      </a:lnTo>
                      <a:lnTo>
                        <a:pt x="0" y="21600"/>
                      </a:lnTo>
                      <a:lnTo>
                        <a:pt x="20769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59" name="Shape 159"/>
                <p:cNvSpPr/>
                <p:nvPr/>
              </p:nvSpPr>
              <p:spPr>
                <a:xfrm flipH="1">
                  <a:off x="280989" y="54464"/>
                  <a:ext cx="20639" cy="25095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408" y="27"/>
                      </a:lnTo>
                      <a:lnTo>
                        <a:pt x="0" y="21600"/>
                      </a:lnTo>
                      <a:lnTo>
                        <a:pt x="20785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60" name="Shape 160"/>
                <p:cNvSpPr/>
                <p:nvPr/>
              </p:nvSpPr>
              <p:spPr>
                <a:xfrm flipH="1">
                  <a:off x="334964" y="67033"/>
                  <a:ext cx="22227" cy="249699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408" y="18"/>
                      </a:lnTo>
                      <a:lnTo>
                        <a:pt x="0" y="21600"/>
                      </a:lnTo>
                      <a:lnTo>
                        <a:pt x="21192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</p:grpSp>
          <p:grpSp>
            <p:nvGrpSpPr>
              <p:cNvPr id="172" name="Group 172"/>
              <p:cNvGrpSpPr/>
              <p:nvPr/>
            </p:nvGrpSpPr>
            <p:grpSpPr>
              <a:xfrm>
                <a:off x="1060452" y="2128310"/>
                <a:ext cx="255590" cy="1059969"/>
                <a:chOff x="0" y="0"/>
                <a:chExt cx="255589" cy="1059967"/>
              </a:xfrm>
            </p:grpSpPr>
            <p:sp>
              <p:nvSpPr>
                <p:cNvPr id="162" name="Shape 162"/>
                <p:cNvSpPr/>
                <p:nvPr/>
              </p:nvSpPr>
              <p:spPr>
                <a:xfrm flipH="1">
                  <a:off x="101600" y="0"/>
                  <a:ext cx="153990" cy="105996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600" y="256"/>
                      </a:lnTo>
                      <a:lnTo>
                        <a:pt x="21600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63" name="Shape 163"/>
                <p:cNvSpPr/>
                <p:nvPr/>
              </p:nvSpPr>
              <p:spPr>
                <a:xfrm flipH="1">
                  <a:off x="157163" y="129877"/>
                  <a:ext cx="17464" cy="343547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64" name="Shape 164"/>
                <p:cNvSpPr/>
                <p:nvPr/>
              </p:nvSpPr>
              <p:spPr>
                <a:xfrm flipH="1">
                  <a:off x="126999" y="129877"/>
                  <a:ext cx="15877" cy="343547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65" name="Shape 165"/>
                <p:cNvSpPr/>
                <p:nvPr/>
              </p:nvSpPr>
              <p:spPr>
                <a:xfrm flipH="1">
                  <a:off x="-1" y="12568"/>
                  <a:ext cx="106365" cy="10474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557"/>
                      </a:lnTo>
                      <a:lnTo>
                        <a:pt x="21600" y="21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>
                    <a:defRPr>
                      <a:latin typeface="Arial Bold"/>
                      <a:ea typeface="Arial Bold"/>
                      <a:cs typeface="Arial Bold"/>
                      <a:sym typeface="Arial Bold"/>
                    </a:defRPr>
                  </a:pPr>
                  <a:endParaRPr/>
                </a:p>
              </p:txBody>
            </p:sp>
            <p:sp>
              <p:nvSpPr>
                <p:cNvPr id="166" name="Shape 166"/>
                <p:cNvSpPr/>
                <p:nvPr/>
              </p:nvSpPr>
              <p:spPr>
                <a:xfrm flipH="1">
                  <a:off x="220663" y="129877"/>
                  <a:ext cx="15877" cy="343547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67" name="Shape 167"/>
                <p:cNvSpPr/>
                <p:nvPr/>
              </p:nvSpPr>
              <p:spPr>
                <a:xfrm flipH="1">
                  <a:off x="188913" y="129877"/>
                  <a:ext cx="15877" cy="343547"/>
                </a:xfrm>
                <a:prstGeom prst="rect">
                  <a:avLst/>
                </a:prstGeom>
                <a:solidFill>
                  <a:srgbClr val="00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800" baseline="0"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/>
                </a:p>
              </p:txBody>
            </p:sp>
            <p:sp>
              <p:nvSpPr>
                <p:cNvPr id="168" name="Shape 168"/>
                <p:cNvSpPr/>
                <p:nvPr/>
              </p:nvSpPr>
              <p:spPr>
                <a:xfrm flipH="1">
                  <a:off x="112713" y="192720"/>
                  <a:ext cx="142877" cy="4192"/>
                </a:xfrm>
                <a:prstGeom prst="line">
                  <a:avLst/>
                </a:prstGeom>
                <a:noFill/>
                <a:ln w="4763" cap="flat">
                  <a:solidFill>
                    <a:srgbClr val="A0A0A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200" baseline="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69" name="Shape 169"/>
                <p:cNvSpPr/>
                <p:nvPr/>
              </p:nvSpPr>
              <p:spPr>
                <a:xfrm flipH="1">
                  <a:off x="125413" y="263943"/>
                  <a:ext cx="123827" cy="4192"/>
                </a:xfrm>
                <a:prstGeom prst="line">
                  <a:avLst/>
                </a:prstGeom>
                <a:noFill/>
                <a:ln w="4763" cap="flat">
                  <a:solidFill>
                    <a:srgbClr val="A0A0A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200" baseline="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70" name="Shape 170"/>
                <p:cNvSpPr/>
                <p:nvPr/>
              </p:nvSpPr>
              <p:spPr>
                <a:xfrm flipH="1">
                  <a:off x="107950" y="330977"/>
                  <a:ext cx="142878" cy="4191"/>
                </a:xfrm>
                <a:prstGeom prst="line">
                  <a:avLst/>
                </a:prstGeom>
                <a:noFill/>
                <a:ln w="4763" cap="flat">
                  <a:solidFill>
                    <a:srgbClr val="A0A0A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200" baseline="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71" name="Shape 171"/>
                <p:cNvSpPr/>
                <p:nvPr/>
              </p:nvSpPr>
              <p:spPr>
                <a:xfrm flipH="1">
                  <a:off x="117475" y="398011"/>
                  <a:ext cx="123827" cy="4192"/>
                </a:xfrm>
                <a:prstGeom prst="line">
                  <a:avLst/>
                </a:prstGeom>
                <a:noFill/>
                <a:ln w="4763" cap="flat">
                  <a:solidFill>
                    <a:srgbClr val="A0A0A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algn="l" defTabSz="457200">
                    <a:defRPr sz="1200" baseline="0">
                      <a:latin typeface="+mn-lt"/>
                      <a:ea typeface="+mn-ea"/>
                      <a:cs typeface="+mn-cs"/>
                      <a:sym typeface="Helvetica"/>
                    </a:defRPr>
                  </a:pPr>
                  <a:endParaRPr/>
                </a:p>
              </p:txBody>
            </p:sp>
          </p:grpSp>
        </p:grpSp>
        <p:sp>
          <p:nvSpPr>
            <p:cNvPr id="174" name="Shape 174"/>
            <p:cNvSpPr/>
            <p:nvPr/>
          </p:nvSpPr>
          <p:spPr>
            <a:xfrm flipH="1">
              <a:off x="-1" y="2686050"/>
              <a:ext cx="2281242" cy="946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6746"/>
                  </a:moveTo>
                  <a:lnTo>
                    <a:pt x="440" y="4425"/>
                  </a:lnTo>
                  <a:lnTo>
                    <a:pt x="714" y="5502"/>
                  </a:lnTo>
                  <a:lnTo>
                    <a:pt x="920" y="2775"/>
                  </a:lnTo>
                  <a:lnTo>
                    <a:pt x="1912" y="4138"/>
                  </a:lnTo>
                  <a:lnTo>
                    <a:pt x="2183" y="1866"/>
                  </a:lnTo>
                  <a:lnTo>
                    <a:pt x="2543" y="3732"/>
                  </a:lnTo>
                  <a:lnTo>
                    <a:pt x="2877" y="3157"/>
                  </a:lnTo>
                  <a:lnTo>
                    <a:pt x="3182" y="2966"/>
                  </a:lnTo>
                  <a:lnTo>
                    <a:pt x="3482" y="4497"/>
                  </a:lnTo>
                  <a:lnTo>
                    <a:pt x="3726" y="2655"/>
                  </a:lnTo>
                  <a:lnTo>
                    <a:pt x="4249" y="3397"/>
                  </a:lnTo>
                  <a:lnTo>
                    <a:pt x="4538" y="3205"/>
                  </a:lnTo>
                  <a:lnTo>
                    <a:pt x="4651" y="4138"/>
                  </a:lnTo>
                  <a:lnTo>
                    <a:pt x="4872" y="2799"/>
                  </a:lnTo>
                  <a:lnTo>
                    <a:pt x="5188" y="4880"/>
                  </a:lnTo>
                  <a:lnTo>
                    <a:pt x="5481" y="5597"/>
                  </a:lnTo>
                  <a:lnTo>
                    <a:pt x="5729" y="3899"/>
                  </a:lnTo>
                  <a:lnTo>
                    <a:pt x="6176" y="4545"/>
                  </a:lnTo>
                  <a:lnTo>
                    <a:pt x="6397" y="5908"/>
                  </a:lnTo>
                  <a:lnTo>
                    <a:pt x="6563" y="4736"/>
                  </a:lnTo>
                  <a:lnTo>
                    <a:pt x="6863" y="4784"/>
                  </a:lnTo>
                  <a:lnTo>
                    <a:pt x="7513" y="4306"/>
                  </a:lnTo>
                  <a:lnTo>
                    <a:pt x="7817" y="4784"/>
                  </a:lnTo>
                  <a:lnTo>
                    <a:pt x="8114" y="5262"/>
                  </a:lnTo>
                  <a:lnTo>
                    <a:pt x="8373" y="4090"/>
                  </a:lnTo>
                  <a:lnTo>
                    <a:pt x="9110" y="5908"/>
                  </a:lnTo>
                  <a:lnTo>
                    <a:pt x="9297" y="4425"/>
                  </a:lnTo>
                  <a:lnTo>
                    <a:pt x="10011" y="4832"/>
                  </a:lnTo>
                  <a:lnTo>
                    <a:pt x="11202" y="4497"/>
                  </a:lnTo>
                  <a:lnTo>
                    <a:pt x="11469" y="2057"/>
                  </a:lnTo>
                  <a:lnTo>
                    <a:pt x="12539" y="1603"/>
                  </a:lnTo>
                  <a:lnTo>
                    <a:pt x="13539" y="3205"/>
                  </a:lnTo>
                  <a:lnTo>
                    <a:pt x="13880" y="2799"/>
                  </a:lnTo>
                  <a:lnTo>
                    <a:pt x="14245" y="2272"/>
                  </a:lnTo>
                  <a:lnTo>
                    <a:pt x="14898" y="3397"/>
                  </a:lnTo>
                  <a:lnTo>
                    <a:pt x="15090" y="2631"/>
                  </a:lnTo>
                  <a:lnTo>
                    <a:pt x="15251" y="2655"/>
                  </a:lnTo>
                  <a:lnTo>
                    <a:pt x="16326" y="1722"/>
                  </a:lnTo>
                  <a:lnTo>
                    <a:pt x="16593" y="3732"/>
                  </a:lnTo>
                  <a:lnTo>
                    <a:pt x="17182" y="861"/>
                  </a:lnTo>
                  <a:lnTo>
                    <a:pt x="17479" y="1124"/>
                  </a:lnTo>
                  <a:lnTo>
                    <a:pt x="18058" y="2272"/>
                  </a:lnTo>
                  <a:lnTo>
                    <a:pt x="18324" y="2320"/>
                  </a:lnTo>
                  <a:lnTo>
                    <a:pt x="18617" y="1005"/>
                  </a:lnTo>
                  <a:lnTo>
                    <a:pt x="20980" y="789"/>
                  </a:lnTo>
                  <a:lnTo>
                    <a:pt x="21266" y="765"/>
                  </a:ln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746"/>
                  </a:lnTo>
                  <a:close/>
                </a:path>
              </a:pathLst>
            </a:custGeom>
            <a:solidFill>
              <a:srgbClr val="006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defRPr>
                  <a:latin typeface="Arial Bold"/>
                  <a:ea typeface="Arial Bold"/>
                  <a:cs typeface="Arial Bold"/>
                  <a:sym typeface="Arial Bold"/>
                </a:defRPr>
              </a:pPr>
              <a:endParaRPr/>
            </a:p>
          </p:txBody>
        </p:sp>
      </p:grpSp>
      <p:sp>
        <p:nvSpPr>
          <p:cNvPr id="176" name="Shape 176"/>
          <p:cNvSpPr/>
          <p:nvPr/>
        </p:nvSpPr>
        <p:spPr>
          <a:xfrm>
            <a:off x="2903536" y="1106487"/>
            <a:ext cx="4483102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Princiais funções empresariais</a:t>
            </a:r>
          </a:p>
        </p:txBody>
      </p:sp>
      <p:sp>
        <p:nvSpPr>
          <p:cNvPr id="177" name="Shape 177"/>
          <p:cNvSpPr/>
          <p:nvPr/>
        </p:nvSpPr>
        <p:spPr>
          <a:xfrm>
            <a:off x="1866378" y="350837"/>
            <a:ext cx="5166247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POR QUE SISTEMAS DE INFORMAÇÃO?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2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2" build="p" bldLvl="5" animBg="1" advAuto="0"/>
      <p:bldP spid="175" grpId="1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15</a:t>
            </a:fld>
            <a:endParaRPr sz="1600"/>
          </a:p>
        </p:txBody>
      </p:sp>
      <p:sp>
        <p:nvSpPr>
          <p:cNvPr id="180" name="Shape 180"/>
          <p:cNvSpPr>
            <a:spLocks noGrp="1"/>
          </p:cNvSpPr>
          <p:nvPr>
            <p:ph type="body" idx="4294967295"/>
          </p:nvPr>
        </p:nvSpPr>
        <p:spPr>
          <a:xfrm>
            <a:off x="654050" y="1663700"/>
            <a:ext cx="7772400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Elementos-chave:</a:t>
            </a:r>
            <a:endParaRPr>
              <a:solidFill>
                <a:srgbClr val="008000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609600" lvl="0" indent="-609600"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Pessoas:</a:t>
            </a: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Gerentes, trabalhadores do conhecimento, trabalhadores de dados, trabalhadores de produção ou de serviços</a:t>
            </a:r>
            <a:b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609600" lvl="0" indent="-609600"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Estrutura:</a:t>
            </a: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Organograma, grupos de especialistas, produtos, geografia</a:t>
            </a:r>
          </a:p>
        </p:txBody>
      </p:sp>
      <p:sp>
        <p:nvSpPr>
          <p:cNvPr id="181" name="Shape 181"/>
          <p:cNvSpPr/>
          <p:nvPr/>
        </p:nvSpPr>
        <p:spPr>
          <a:xfrm>
            <a:off x="3584575" y="1106487"/>
            <a:ext cx="1882775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Organizações</a:t>
            </a:r>
          </a:p>
        </p:txBody>
      </p:sp>
      <p:sp>
        <p:nvSpPr>
          <p:cNvPr id="182" name="Shape 182"/>
          <p:cNvSpPr/>
          <p:nvPr/>
        </p:nvSpPr>
        <p:spPr>
          <a:xfrm>
            <a:off x="2259106" y="350837"/>
            <a:ext cx="4773519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POR QUE SISTEMAS DE INFORMAÇÃO?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1" build="p" bldLvl="5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16</a:t>
            </a:fld>
            <a:endParaRPr sz="1600"/>
          </a:p>
        </p:txBody>
      </p:sp>
      <p:sp>
        <p:nvSpPr>
          <p:cNvPr id="185" name="Shape 185"/>
          <p:cNvSpPr>
            <a:spLocks noGrp="1"/>
          </p:cNvSpPr>
          <p:nvPr>
            <p:ph type="body" idx="4294967295"/>
          </p:nvPr>
        </p:nvSpPr>
        <p:spPr>
          <a:xfrm>
            <a:off x="654050" y="1663700"/>
            <a:ext cx="8458200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609600" lvl="0" indent="-609600"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Procedimentos operacionais:</a:t>
            </a: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Procedimentos operacionais padrão (POP, regras para a ação)</a:t>
            </a:r>
            <a:b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609600" lvl="0" indent="-609600"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Política:</a:t>
            </a: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Poder para persuadir, para conseguir que as coisas sejam feitas</a:t>
            </a:r>
            <a:b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609600" lvl="0" indent="-609600"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Cultura:</a:t>
            </a: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Comportamento habitual</a:t>
            </a:r>
          </a:p>
        </p:txBody>
      </p:sp>
      <p:sp>
        <p:nvSpPr>
          <p:cNvPr id="186" name="Shape 186"/>
          <p:cNvSpPr/>
          <p:nvPr/>
        </p:nvSpPr>
        <p:spPr>
          <a:xfrm>
            <a:off x="3584575" y="1106487"/>
            <a:ext cx="1882775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Organizações</a:t>
            </a:r>
          </a:p>
        </p:txBody>
      </p:sp>
      <p:sp>
        <p:nvSpPr>
          <p:cNvPr id="187" name="Shape 187"/>
          <p:cNvSpPr/>
          <p:nvPr/>
        </p:nvSpPr>
        <p:spPr>
          <a:xfrm>
            <a:off x="1976718" y="350837"/>
            <a:ext cx="5055907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POR QUE SISTEMAS DE INFORMAÇÃO?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1" build="p" bldLvl="5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17</a:t>
            </a:fld>
            <a:endParaRPr sz="1600"/>
          </a:p>
        </p:txBody>
      </p:sp>
      <p:sp>
        <p:nvSpPr>
          <p:cNvPr id="190" name="Shape 190"/>
          <p:cNvSpPr>
            <a:spLocks noGrp="1"/>
          </p:cNvSpPr>
          <p:nvPr>
            <p:ph type="body" idx="4294967295"/>
          </p:nvPr>
        </p:nvSpPr>
        <p:spPr>
          <a:xfrm>
            <a:off x="392111" y="1677986"/>
            <a:ext cx="8443915" cy="4433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Níveis:</a:t>
            </a:r>
            <a:endParaRPr>
              <a:solidFill>
                <a:srgbClr val="008000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609600" lvl="0" indent="-609600">
              <a:lnSpc>
                <a:spcPct val="90000"/>
              </a:lnSpc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Gerentes seniores:</a:t>
            </a: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Tomam decisões estratégicas de longo prazo sobre produtos e serviços </a:t>
            </a:r>
            <a:b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609600" lvl="0" indent="-609600">
              <a:lnSpc>
                <a:spcPct val="90000"/>
              </a:lnSpc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Gerentes de nível médio:</a:t>
            </a: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Executam os programas e planos da gerência sênior</a:t>
            </a:r>
          </a:p>
          <a:p>
            <a:pPr lvl="0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endParaRPr sz="280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609600" lvl="0" indent="-609600">
              <a:lnSpc>
                <a:spcPct val="90000"/>
              </a:lnSpc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Gerentes operacionais:</a:t>
            </a: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monitoram as atividades diárias da empresa</a:t>
            </a:r>
          </a:p>
        </p:txBody>
      </p:sp>
      <p:sp>
        <p:nvSpPr>
          <p:cNvPr id="191" name="Shape 191"/>
          <p:cNvSpPr/>
          <p:nvPr/>
        </p:nvSpPr>
        <p:spPr>
          <a:xfrm>
            <a:off x="3584575" y="1106487"/>
            <a:ext cx="1882775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Administração</a:t>
            </a:r>
          </a:p>
        </p:txBody>
      </p:sp>
      <p:sp>
        <p:nvSpPr>
          <p:cNvPr id="192" name="Shape 192"/>
          <p:cNvSpPr/>
          <p:nvPr/>
        </p:nvSpPr>
        <p:spPr>
          <a:xfrm>
            <a:off x="2084294" y="336176"/>
            <a:ext cx="4948331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POR QUE SISTEMAS DE INFORMAÇÃO?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1" build="p" bldLvl="5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18</a:t>
            </a:fld>
            <a:endParaRPr sz="1600"/>
          </a:p>
        </p:txBody>
      </p:sp>
      <p:sp>
        <p:nvSpPr>
          <p:cNvPr id="195" name="Shape 195"/>
          <p:cNvSpPr/>
          <p:nvPr/>
        </p:nvSpPr>
        <p:spPr>
          <a:xfrm>
            <a:off x="1085847" y="28169"/>
            <a:ext cx="7672391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ctr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ABORDAGENS CONTEMPORÂNEAS AOS SISTEMAS DE INFORMAÇÃO</a:t>
            </a:r>
          </a:p>
        </p:txBody>
      </p:sp>
      <p:grpSp>
        <p:nvGrpSpPr>
          <p:cNvPr id="211" name="Group 211"/>
          <p:cNvGrpSpPr/>
          <p:nvPr/>
        </p:nvGrpSpPr>
        <p:grpSpPr>
          <a:xfrm>
            <a:off x="-2" y="1179511"/>
            <a:ext cx="9144003" cy="5589412"/>
            <a:chOff x="0" y="0"/>
            <a:chExt cx="9144001" cy="5589410"/>
          </a:xfrm>
        </p:grpSpPr>
        <p:sp>
          <p:nvSpPr>
            <p:cNvPr id="196" name="Shape 196"/>
            <p:cNvSpPr/>
            <p:nvPr/>
          </p:nvSpPr>
          <p:spPr>
            <a:xfrm>
              <a:off x="1109569" y="1585869"/>
              <a:ext cx="7302317" cy="33400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84200"/>
                </a:gs>
                <a:gs pos="100000">
                  <a:srgbClr val="51DC00"/>
                </a:gs>
              </a:gsLst>
              <a:lin ang="2700000" scaled="0"/>
            </a:gra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800" baseline="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97" name="Shape 197"/>
            <p:cNvSpPr/>
            <p:nvPr/>
          </p:nvSpPr>
          <p:spPr>
            <a:xfrm>
              <a:off x="6286500" y="3371850"/>
              <a:ext cx="1749427" cy="3481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4450" tIns="44450" rIns="44450" bIns="44450" numCol="1" anchor="t">
              <a:spAutoFit/>
            </a:bodyPr>
            <a:lstStyle>
              <a:lvl1pPr algn="l" defTabSz="457200">
                <a:spcBef>
                  <a:spcPts val="1000"/>
                </a:spcBef>
                <a:defRPr sz="1800" baseline="0"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  <a:effectLst/>
                </a:defRPr>
              </a:pPr>
              <a:r>
                <a:rPr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</a:rPr>
                <a:t>SOCIOLOGIA</a:t>
              </a:r>
            </a:p>
          </p:txBody>
        </p:sp>
        <p:sp>
          <p:nvSpPr>
            <p:cNvPr id="198" name="Shape 198"/>
            <p:cNvSpPr/>
            <p:nvPr/>
          </p:nvSpPr>
          <p:spPr>
            <a:xfrm>
              <a:off x="4533900" y="4057650"/>
              <a:ext cx="2587627" cy="3726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4450" tIns="44450" rIns="44450" bIns="44450" numCol="1" anchor="t">
              <a:spAutoFit/>
            </a:bodyPr>
            <a:lstStyle>
              <a:lvl1pPr algn="ctr" defTabSz="457200">
                <a:spcBef>
                  <a:spcPts val="1200"/>
                </a:spcBef>
                <a:defRPr sz="2000" baseline="0"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effectLst/>
                </a:defRPr>
              </a:pPr>
              <a:r>
                <a:rPr sz="2000"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</a:rPr>
                <a:t>ECONOMIA</a:t>
              </a:r>
            </a:p>
          </p:txBody>
        </p:sp>
        <p:sp>
          <p:nvSpPr>
            <p:cNvPr id="199" name="Shape 199"/>
            <p:cNvSpPr/>
            <p:nvPr/>
          </p:nvSpPr>
          <p:spPr>
            <a:xfrm>
              <a:off x="2324100" y="4133850"/>
              <a:ext cx="2587627" cy="3726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4450" tIns="44450" rIns="44450" bIns="44450" numCol="1" anchor="t">
              <a:spAutoFit/>
            </a:bodyPr>
            <a:lstStyle>
              <a:lvl1pPr algn="l" defTabSz="457200">
                <a:spcBef>
                  <a:spcPts val="1200"/>
                </a:spcBef>
                <a:defRPr sz="2000" baseline="0"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effectLst/>
                </a:defRPr>
              </a:pPr>
              <a:r>
                <a:rPr sz="2000"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</a:rPr>
                <a:t>PSICOLOGIA</a:t>
              </a:r>
            </a:p>
          </p:txBody>
        </p:sp>
        <p:sp>
          <p:nvSpPr>
            <p:cNvPr id="200" name="Shape 200"/>
            <p:cNvSpPr/>
            <p:nvPr/>
          </p:nvSpPr>
          <p:spPr>
            <a:xfrm>
              <a:off x="539657" y="330157"/>
              <a:ext cx="7302317" cy="3340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618FFD"/>
                </a:gs>
                <a:gs pos="100000">
                  <a:srgbClr val="1D2B4B"/>
                </a:gs>
              </a:gsLst>
              <a:lin ang="2700000" scaled="0"/>
            </a:gra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800" baseline="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01" name="Shape 201"/>
            <p:cNvSpPr/>
            <p:nvPr/>
          </p:nvSpPr>
          <p:spPr>
            <a:xfrm>
              <a:off x="1906587" y="839787"/>
              <a:ext cx="2968627" cy="664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4450" tIns="44450" rIns="44450" bIns="44450" numCol="1" anchor="t">
              <a:spAutoFit/>
            </a:bodyPr>
            <a:lstStyle>
              <a:lvl1pPr algn="ctr" defTabSz="457200">
                <a:spcBef>
                  <a:spcPts val="1200"/>
                </a:spcBef>
                <a:defRPr sz="2000" baseline="0"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effectLst/>
                </a:defRPr>
              </a:pPr>
              <a:r>
                <a:rPr sz="2000"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</a:rPr>
                <a:t>CIÊNCIA DA COMPUTAÇÃO</a:t>
              </a:r>
            </a:p>
          </p:txBody>
        </p:sp>
        <p:sp>
          <p:nvSpPr>
            <p:cNvPr id="202" name="Shape 202"/>
            <p:cNvSpPr/>
            <p:nvPr/>
          </p:nvSpPr>
          <p:spPr>
            <a:xfrm>
              <a:off x="5106987" y="1144587"/>
              <a:ext cx="2359027" cy="664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4450" tIns="44450" rIns="44450" bIns="44450" numCol="1" anchor="t">
              <a:spAutoFit/>
            </a:bodyPr>
            <a:lstStyle>
              <a:lvl1pPr algn="ctr" defTabSz="457200">
                <a:spcBef>
                  <a:spcPts val="1200"/>
                </a:spcBef>
                <a:defRPr sz="2000" baseline="0"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effectLst/>
                </a:defRPr>
              </a:pPr>
              <a:r>
                <a:rPr sz="2000"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</a:rPr>
                <a:t>PESQUISA OPERACIONAL</a:t>
              </a:r>
            </a:p>
          </p:txBody>
        </p:sp>
        <p:sp>
          <p:nvSpPr>
            <p:cNvPr id="203" name="Shape 203"/>
            <p:cNvSpPr/>
            <p:nvPr/>
          </p:nvSpPr>
          <p:spPr>
            <a:xfrm>
              <a:off x="687386" y="2058987"/>
              <a:ext cx="2435227" cy="664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4450" tIns="44450" rIns="44450" bIns="44450" numCol="1" anchor="t">
              <a:spAutoFit/>
            </a:bodyPr>
            <a:lstStyle>
              <a:lvl1pPr algn="ctr" defTabSz="457200">
                <a:spcBef>
                  <a:spcPts val="1200"/>
                </a:spcBef>
                <a:defRPr sz="2000" baseline="0"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effectLst/>
                </a:defRPr>
              </a:pPr>
              <a:r>
                <a:rPr sz="2000">
                  <a:solidFill>
                    <a:srgbClr val="FFFFFF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</a:rPr>
                <a:t>CIÊNCIA DA ADMINISTRAÇÃO</a:t>
              </a:r>
            </a:p>
          </p:txBody>
        </p:sp>
        <p:sp>
          <p:nvSpPr>
            <p:cNvPr id="204" name="Shape 204"/>
            <p:cNvSpPr/>
            <p:nvPr/>
          </p:nvSpPr>
          <p:spPr>
            <a:xfrm>
              <a:off x="4956175" y="-1"/>
              <a:ext cx="4187827" cy="4345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4450" tIns="44450" rIns="44450" bIns="44450" numCol="1" anchor="t">
              <a:spAutoFit/>
            </a:bodyPr>
            <a:lstStyle>
              <a:lvl1pPr algn="l" defTabSz="457200">
                <a:spcBef>
                  <a:spcPts val="1400"/>
                </a:spcBef>
                <a:defRPr sz="2400" baseline="0">
                  <a:solidFill>
                    <a:srgbClr val="0336B7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effectLst/>
                </a:defRPr>
              </a:pPr>
              <a:r>
                <a:rPr sz="2400">
                  <a:solidFill>
                    <a:srgbClr val="0336B7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</a:rPr>
                <a:t>ABORDAGENS TÉCNICAS</a:t>
              </a:r>
            </a:p>
          </p:txBody>
        </p:sp>
        <p:sp>
          <p:nvSpPr>
            <p:cNvPr id="205" name="Shape 205"/>
            <p:cNvSpPr/>
            <p:nvPr/>
          </p:nvSpPr>
          <p:spPr>
            <a:xfrm>
              <a:off x="1085849" y="1092200"/>
              <a:ext cx="6276978" cy="333057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 defTabSz="457200">
                <a:defRPr sz="1200" baseline="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06" name="Shape 206"/>
            <p:cNvSpPr/>
            <p:nvPr/>
          </p:nvSpPr>
          <p:spPr>
            <a:xfrm>
              <a:off x="4229100" y="304798"/>
              <a:ext cx="990602" cy="459740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 defTabSz="457200">
                <a:defRPr sz="1200" baseline="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07" name="Shape 207"/>
            <p:cNvSpPr/>
            <p:nvPr/>
          </p:nvSpPr>
          <p:spPr>
            <a:xfrm>
              <a:off x="2940006" y="1911323"/>
              <a:ext cx="3416216" cy="2120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66"/>
                </a:gs>
                <a:gs pos="100000">
                  <a:srgbClr val="000000"/>
                </a:gs>
              </a:gsLst>
              <a:path path="circle">
                <a:fillToRect l="37721" t="-19636" r="62278" b="119636"/>
              </a:path>
            </a:gradFill>
            <a:ln w="381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l" defTabSz="457200">
                <a:defRPr sz="1800" baseline="0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08" name="Shape 208"/>
            <p:cNvSpPr/>
            <p:nvPr/>
          </p:nvSpPr>
          <p:spPr>
            <a:xfrm>
              <a:off x="4078287" y="2668587"/>
              <a:ext cx="1139827" cy="643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4450" tIns="44450" rIns="44450" bIns="44450" numCol="1" anchor="t">
              <a:spAutoFit/>
            </a:bodyPr>
            <a:lstStyle>
              <a:lvl1pPr algn="l" defTabSz="457200">
                <a:spcBef>
                  <a:spcPts val="2400"/>
                </a:spcBef>
                <a:defRPr sz="4000" baseline="0">
                  <a:effectLst>
                    <a:outerShdw blurRad="12700" dist="25400" dir="2700000" rotWithShape="0">
                      <a:srgbClr val="FFFFFF"/>
                    </a:outerShdw>
                  </a:effectLst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effectLst/>
                </a:defRPr>
              </a:pPr>
              <a:r>
                <a:rPr sz="4000">
                  <a:effectLst>
                    <a:outerShdw blurRad="12700" dist="25400" dir="2700000" rotWithShape="0">
                      <a:srgbClr val="FFFFFF"/>
                    </a:outerShdw>
                  </a:effectLst>
                </a:rPr>
                <a:t>MIS</a:t>
              </a:r>
            </a:p>
          </p:txBody>
        </p:sp>
        <p:sp>
          <p:nvSpPr>
            <p:cNvPr id="209" name="Shape 209"/>
            <p:cNvSpPr/>
            <p:nvPr/>
          </p:nvSpPr>
          <p:spPr>
            <a:xfrm>
              <a:off x="-1" y="4430712"/>
              <a:ext cx="4645027" cy="7901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4450" tIns="44450" rIns="44450" bIns="44450" numCol="1" anchor="t">
              <a:spAutoFit/>
            </a:bodyPr>
            <a:lstStyle>
              <a:lvl1pPr algn="l" defTabSz="457200">
                <a:spcBef>
                  <a:spcPts val="1400"/>
                </a:spcBef>
                <a:defRPr sz="2400" baseline="0">
                  <a:solidFill>
                    <a:srgbClr val="0336B7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  <a:effectLst/>
                </a:defRPr>
              </a:pPr>
              <a:r>
                <a:rPr sz="2400">
                  <a:solidFill>
                    <a:srgbClr val="0336B7"/>
                  </a:solidFill>
                  <a:effectLst>
                    <a:outerShdw blurRad="12700" dist="25400" dir="2700000" rotWithShape="0">
                      <a:srgbClr val="000000"/>
                    </a:outerShdw>
                  </a:effectLst>
                </a:rPr>
                <a:t>ABORDAGENS COMPORTAMENTAIS</a:t>
              </a:r>
            </a:p>
          </p:txBody>
        </p:sp>
        <p:sp>
          <p:nvSpPr>
            <p:cNvPr id="210" name="Shape 210"/>
            <p:cNvSpPr/>
            <p:nvPr/>
          </p:nvSpPr>
          <p:spPr>
            <a:xfrm>
              <a:off x="3752850" y="5238750"/>
              <a:ext cx="1409702" cy="3506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l" defTabSz="457200">
                <a:spcBef>
                  <a:spcPts val="1000"/>
                </a:spcBef>
                <a:defRPr sz="1800" baseline="0">
                  <a:solidFill>
                    <a:srgbClr val="0336B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>
                  <a:solidFill>
                    <a:srgbClr val="0336B7"/>
                  </a:solidFill>
                </a:rPr>
                <a:t>Figura 1-5</a:t>
              </a:r>
            </a:p>
          </p:txBody>
        </p:sp>
      </p:grp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19</a:t>
            </a:fld>
            <a:endParaRPr sz="1600"/>
          </a:p>
        </p:txBody>
      </p:sp>
      <p:sp>
        <p:nvSpPr>
          <p:cNvPr id="214" name="Shape 214"/>
          <p:cNvSpPr>
            <a:spLocks noGrp="1"/>
          </p:cNvSpPr>
          <p:nvPr>
            <p:ph type="body" idx="4294967295"/>
          </p:nvPr>
        </p:nvSpPr>
        <p:spPr>
          <a:xfrm>
            <a:off x="666750" y="1663700"/>
            <a:ext cx="8134350" cy="245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315468" lvl="0" indent="-315468" defTabSz="841247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900">
                <a:solidFill>
                  <a:srgbClr val="008000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Optimizar o desempenho de sistemas:</a:t>
            </a:r>
            <a:br>
              <a:rPr sz="2900">
                <a:solidFill>
                  <a:srgbClr val="008000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</a:br>
            <a:endParaRPr sz="2900">
              <a:solidFill>
                <a:srgbClr val="008000"/>
              </a:solidFill>
              <a:effectLst>
                <a:outerShdw blurRad="12700" dist="23368" dir="2700000" rotWithShape="0">
                  <a:srgbClr val="000000"/>
                </a:outerShdw>
              </a:effectLst>
            </a:endParaRPr>
          </a:p>
          <a:p>
            <a:pPr marL="383380" lvl="0" indent="-383380" defTabSz="841247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22A8E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Tecnologia e organização</a:t>
            </a:r>
            <a:br>
              <a:rPr sz="2500">
                <a:solidFill>
                  <a:srgbClr val="022A8E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</a:br>
            <a:endParaRPr sz="2500">
              <a:solidFill>
                <a:srgbClr val="022A8E"/>
              </a:solidFill>
              <a:effectLst>
                <a:outerShdw blurRad="12700" dist="23368" dir="2700000" rotWithShape="0">
                  <a:srgbClr val="000000"/>
                </a:outerShdw>
              </a:effectLst>
            </a:endParaRPr>
          </a:p>
          <a:p>
            <a:pPr marL="383380" lvl="0" indent="-383380" defTabSz="841247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22A8E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As organizações ajustam-se mutuamente uma à outra até que o ajuste seja satisfatório</a:t>
            </a:r>
          </a:p>
        </p:txBody>
      </p:sp>
      <p:sp>
        <p:nvSpPr>
          <p:cNvPr id="215" name="Shape 215"/>
          <p:cNvSpPr/>
          <p:nvPr/>
        </p:nvSpPr>
        <p:spPr>
          <a:xfrm>
            <a:off x="2816225" y="1135062"/>
            <a:ext cx="3708400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Sistemas socio-técnicos</a:t>
            </a:r>
          </a:p>
        </p:txBody>
      </p:sp>
      <p:sp>
        <p:nvSpPr>
          <p:cNvPr id="216" name="Shape 216"/>
          <p:cNvSpPr/>
          <p:nvPr/>
        </p:nvSpPr>
        <p:spPr>
          <a:xfrm>
            <a:off x="1177447" y="0"/>
            <a:ext cx="7580791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ctr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ABORDAGENS CONTEMPORÂNEAS AOS SISTEMAS DE INFORMAÇÃO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1" build="p" bldLvl="5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20</a:t>
            </a:fld>
            <a:endParaRPr sz="1600"/>
          </a:p>
        </p:txBody>
      </p:sp>
      <p:sp>
        <p:nvSpPr>
          <p:cNvPr id="219" name="Shape 219"/>
          <p:cNvSpPr/>
          <p:nvPr/>
        </p:nvSpPr>
        <p:spPr>
          <a:xfrm>
            <a:off x="5257800" y="6248400"/>
            <a:ext cx="3048000" cy="264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700"/>
              </a:spcBef>
              <a:defRPr sz="1200"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200"/>
              <a:t>FONTE: Liker, et al, 1987</a:t>
            </a:r>
          </a:p>
        </p:txBody>
      </p:sp>
      <p:sp>
        <p:nvSpPr>
          <p:cNvPr id="220" name="Shape 220"/>
          <p:cNvSpPr/>
          <p:nvPr/>
        </p:nvSpPr>
        <p:spPr>
          <a:xfrm>
            <a:off x="3752850" y="6210299"/>
            <a:ext cx="140970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336B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336B7"/>
                </a:solidFill>
              </a:rPr>
              <a:t>Figura 1-6</a:t>
            </a:r>
          </a:p>
        </p:txBody>
      </p:sp>
      <p:sp>
        <p:nvSpPr>
          <p:cNvPr id="221" name="Shape 221"/>
          <p:cNvSpPr/>
          <p:nvPr/>
        </p:nvSpPr>
        <p:spPr>
          <a:xfrm>
            <a:off x="2833686" y="1100137"/>
            <a:ext cx="3475039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Sistemas socio-técnicos</a:t>
            </a:r>
          </a:p>
        </p:txBody>
      </p:sp>
      <p:sp>
        <p:nvSpPr>
          <p:cNvPr id="222" name="Shape 222"/>
          <p:cNvSpPr/>
          <p:nvPr/>
        </p:nvSpPr>
        <p:spPr>
          <a:xfrm>
            <a:off x="1064712" y="125260"/>
            <a:ext cx="7693526" cy="64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ctr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ABORDAGENS CONTEMPORÂNEAS AOS SISTEMAS DE INFORMAÇÃO</a:t>
            </a:r>
          </a:p>
        </p:txBody>
      </p:sp>
      <p:pic>
        <p:nvPicPr>
          <p:cNvPr id="223" name="image5.jpeg" descr="laudon+f01-06"/>
          <p:cNvPicPr/>
          <p:nvPr/>
        </p:nvPicPr>
        <p:blipFill>
          <a:blip r:embed="rId2"/>
          <a:stretch>
            <a:fillRect/>
          </a:stretch>
        </p:blipFill>
        <p:spPr>
          <a:xfrm>
            <a:off x="376236" y="2100261"/>
            <a:ext cx="8370890" cy="37560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21</a:t>
            </a:fld>
            <a:endParaRPr sz="1600"/>
          </a:p>
        </p:txBody>
      </p:sp>
      <p:sp>
        <p:nvSpPr>
          <p:cNvPr id="226" name="Shape 226"/>
          <p:cNvSpPr/>
          <p:nvPr/>
        </p:nvSpPr>
        <p:spPr>
          <a:xfrm>
            <a:off x="1751011" y="200416"/>
            <a:ext cx="4546602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EM DIREÇÃO </a:t>
            </a:r>
            <a:r>
              <a:rPr dirty="0" err="1">
                <a:solidFill>
                  <a:srgbClr val="CCECFF"/>
                </a:solidFill>
              </a:rPr>
              <a:t>À</a:t>
            </a:r>
            <a:r>
              <a:rPr dirty="0">
                <a:solidFill>
                  <a:srgbClr val="CCECFF"/>
                </a:solidFill>
              </a:rPr>
              <a:t> EMPRESA DIGITAL</a:t>
            </a:r>
          </a:p>
        </p:txBody>
      </p:sp>
      <p:sp>
        <p:nvSpPr>
          <p:cNvPr id="227" name="Shape 227"/>
          <p:cNvSpPr/>
          <p:nvPr/>
        </p:nvSpPr>
        <p:spPr>
          <a:xfrm>
            <a:off x="741362" y="1100137"/>
            <a:ext cx="8099426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A interdependência entre as organizações e os sistemas de informação</a:t>
            </a:r>
          </a:p>
        </p:txBody>
      </p:sp>
      <p:sp>
        <p:nvSpPr>
          <p:cNvPr id="228" name="Shape 228"/>
          <p:cNvSpPr/>
          <p:nvPr/>
        </p:nvSpPr>
        <p:spPr>
          <a:xfrm>
            <a:off x="4029074" y="6396037"/>
            <a:ext cx="1146011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336B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336B7"/>
                </a:solidFill>
              </a:rPr>
              <a:t>Figura 1-7</a:t>
            </a:r>
          </a:p>
        </p:txBody>
      </p:sp>
      <p:pic>
        <p:nvPicPr>
          <p:cNvPr id="229" name="image6.jpeg" descr="laudon+f01-07"/>
          <p:cNvPicPr/>
          <p:nvPr/>
        </p:nvPicPr>
        <p:blipFill>
          <a:blip r:embed="rId2"/>
          <a:stretch>
            <a:fillRect/>
          </a:stretch>
        </p:blipFill>
        <p:spPr>
          <a:xfrm>
            <a:off x="1751011" y="1657350"/>
            <a:ext cx="5786439" cy="4648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22</a:t>
            </a:fld>
            <a:endParaRPr sz="1600"/>
          </a:p>
        </p:txBody>
      </p:sp>
      <p:sp>
        <p:nvSpPr>
          <p:cNvPr id="238" name="Shape 238"/>
          <p:cNvSpPr>
            <a:spLocks noGrp="1"/>
          </p:cNvSpPr>
          <p:nvPr>
            <p:ph type="body" idx="4294967295"/>
          </p:nvPr>
        </p:nvSpPr>
        <p:spPr>
          <a:xfrm>
            <a:off x="654050" y="1663700"/>
            <a:ext cx="7772400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Organizaçoes achatadas</a:t>
            </a:r>
            <a:b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Separação do trabalho do local de trabalho</a:t>
            </a:r>
            <a:b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Reorganização de fluxos de trabalho</a:t>
            </a:r>
            <a:b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Flexibilidade crescente</a:t>
            </a:r>
            <a:b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Redefinição das fronteiras organizacionais</a:t>
            </a:r>
          </a:p>
        </p:txBody>
      </p:sp>
      <p:sp>
        <p:nvSpPr>
          <p:cNvPr id="239" name="Shape 239"/>
          <p:cNvSpPr/>
          <p:nvPr/>
        </p:nvSpPr>
        <p:spPr>
          <a:xfrm>
            <a:off x="2190750" y="1100137"/>
            <a:ext cx="5195888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Novas opções para o desenho organizacional</a:t>
            </a:r>
          </a:p>
        </p:txBody>
      </p:sp>
      <p:sp>
        <p:nvSpPr>
          <p:cNvPr id="240" name="Shape 240"/>
          <p:cNvSpPr/>
          <p:nvPr/>
        </p:nvSpPr>
        <p:spPr>
          <a:xfrm>
            <a:off x="2480153" y="344487"/>
            <a:ext cx="3895247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RUMO </a:t>
            </a:r>
            <a:r>
              <a:rPr dirty="0" err="1">
                <a:solidFill>
                  <a:srgbClr val="CCECFF"/>
                </a:solidFill>
              </a:rPr>
              <a:t>À</a:t>
            </a:r>
            <a:r>
              <a:rPr dirty="0">
                <a:solidFill>
                  <a:srgbClr val="CCECFF"/>
                </a:solidFill>
              </a:rPr>
              <a:t> EMPRESA DIGITAL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" grpId="1" build="p" bldLvl="5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23</a:t>
            </a:fld>
            <a:endParaRPr sz="1600"/>
          </a:p>
        </p:txBody>
      </p:sp>
      <p:sp>
        <p:nvSpPr>
          <p:cNvPr id="243" name="Shape 243"/>
          <p:cNvSpPr/>
          <p:nvPr/>
        </p:nvSpPr>
        <p:spPr>
          <a:xfrm>
            <a:off x="3752850" y="6210299"/>
            <a:ext cx="140970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336B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336B7"/>
                </a:solidFill>
              </a:rPr>
              <a:t>Figura 1-9</a:t>
            </a:r>
          </a:p>
        </p:txBody>
      </p:sp>
      <p:sp>
        <p:nvSpPr>
          <p:cNvPr id="244" name="Shape 244"/>
          <p:cNvSpPr/>
          <p:nvPr/>
        </p:nvSpPr>
        <p:spPr>
          <a:xfrm>
            <a:off x="993774" y="1100137"/>
            <a:ext cx="7542215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O achatamento das organizaçoes pelos sistemas de informação</a:t>
            </a:r>
          </a:p>
        </p:txBody>
      </p:sp>
      <p:sp>
        <p:nvSpPr>
          <p:cNvPr id="245" name="Shape 245"/>
          <p:cNvSpPr/>
          <p:nvPr/>
        </p:nvSpPr>
        <p:spPr>
          <a:xfrm>
            <a:off x="2530258" y="297041"/>
            <a:ext cx="3845142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RUMO </a:t>
            </a:r>
            <a:r>
              <a:rPr dirty="0" err="1">
                <a:solidFill>
                  <a:srgbClr val="CCECFF"/>
                </a:solidFill>
              </a:rPr>
              <a:t>À</a:t>
            </a:r>
            <a:r>
              <a:rPr dirty="0">
                <a:solidFill>
                  <a:srgbClr val="CCECFF"/>
                </a:solidFill>
              </a:rPr>
              <a:t> EMPRESA DIGITAL</a:t>
            </a:r>
          </a:p>
        </p:txBody>
      </p:sp>
      <p:pic>
        <p:nvPicPr>
          <p:cNvPr id="246" name="image8.jpeg" descr="laudon+f01-09"/>
          <p:cNvPicPr/>
          <p:nvPr/>
        </p:nvPicPr>
        <p:blipFill>
          <a:blip r:embed="rId2"/>
          <a:stretch>
            <a:fillRect/>
          </a:stretch>
        </p:blipFill>
        <p:spPr>
          <a:xfrm>
            <a:off x="1277937" y="1665286"/>
            <a:ext cx="6234113" cy="44307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24</a:t>
            </a:fld>
            <a:endParaRPr sz="1600"/>
          </a:p>
        </p:txBody>
      </p:sp>
      <p:sp>
        <p:nvSpPr>
          <p:cNvPr id="249" name="Shape 249"/>
          <p:cNvSpPr/>
          <p:nvPr/>
        </p:nvSpPr>
        <p:spPr>
          <a:xfrm>
            <a:off x="3752850" y="6210299"/>
            <a:ext cx="140970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336B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336B7"/>
                </a:solidFill>
              </a:rPr>
              <a:t>Figura 1-10</a:t>
            </a:r>
          </a:p>
        </p:txBody>
      </p:sp>
      <p:sp>
        <p:nvSpPr>
          <p:cNvPr id="250" name="Shape 250"/>
          <p:cNvSpPr/>
          <p:nvPr/>
        </p:nvSpPr>
        <p:spPr>
          <a:xfrm>
            <a:off x="901699" y="1101724"/>
            <a:ext cx="728504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Fluxo de trabalho replanejado para a subscrição de seguros</a:t>
            </a:r>
          </a:p>
        </p:txBody>
      </p:sp>
      <p:sp>
        <p:nvSpPr>
          <p:cNvPr id="251" name="Shape 251"/>
          <p:cNvSpPr/>
          <p:nvPr/>
        </p:nvSpPr>
        <p:spPr>
          <a:xfrm>
            <a:off x="2267211" y="297041"/>
            <a:ext cx="4108189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RUMO </a:t>
            </a:r>
            <a:r>
              <a:rPr dirty="0" err="1">
                <a:solidFill>
                  <a:srgbClr val="CCECFF"/>
                </a:solidFill>
              </a:rPr>
              <a:t>À</a:t>
            </a:r>
            <a:r>
              <a:rPr dirty="0">
                <a:solidFill>
                  <a:srgbClr val="CCECFF"/>
                </a:solidFill>
              </a:rPr>
              <a:t> EMPRESA DIGITAL</a:t>
            </a:r>
          </a:p>
        </p:txBody>
      </p:sp>
      <p:pic>
        <p:nvPicPr>
          <p:cNvPr id="252" name="image9.jpeg" descr="laudon+f01-10"/>
          <p:cNvPicPr/>
          <p:nvPr/>
        </p:nvPicPr>
        <p:blipFill>
          <a:blip r:embed="rId2"/>
          <a:stretch>
            <a:fillRect/>
          </a:stretch>
        </p:blipFill>
        <p:spPr>
          <a:xfrm>
            <a:off x="142875" y="2382836"/>
            <a:ext cx="8850314" cy="26670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25</a:t>
            </a:fld>
            <a:endParaRPr sz="1600"/>
          </a:p>
        </p:txBody>
      </p:sp>
      <p:sp>
        <p:nvSpPr>
          <p:cNvPr id="260" name="Shape 260"/>
          <p:cNvSpPr/>
          <p:nvPr/>
        </p:nvSpPr>
        <p:spPr>
          <a:xfrm>
            <a:off x="3644900" y="6491287"/>
            <a:ext cx="1409700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336B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336B7"/>
                </a:solidFill>
              </a:rPr>
              <a:t>Figura 1-11</a:t>
            </a:r>
          </a:p>
        </p:txBody>
      </p:sp>
      <p:sp>
        <p:nvSpPr>
          <p:cNvPr id="261" name="Shape 261"/>
          <p:cNvSpPr/>
          <p:nvPr/>
        </p:nvSpPr>
        <p:spPr>
          <a:xfrm>
            <a:off x="2329841" y="225469"/>
            <a:ext cx="4045559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RUMO </a:t>
            </a:r>
            <a:r>
              <a:rPr dirty="0" err="1">
                <a:solidFill>
                  <a:srgbClr val="CCECFF"/>
                </a:solidFill>
              </a:rPr>
              <a:t>À</a:t>
            </a:r>
            <a:r>
              <a:rPr dirty="0">
                <a:solidFill>
                  <a:srgbClr val="CCECFF"/>
                </a:solidFill>
              </a:rPr>
              <a:t> EMPRESA DIGITAL</a:t>
            </a:r>
          </a:p>
        </p:txBody>
      </p:sp>
      <p:pic>
        <p:nvPicPr>
          <p:cNvPr id="262" name="image10.jpeg" descr="laudon+f01-11"/>
          <p:cNvPicPr/>
          <p:nvPr/>
        </p:nvPicPr>
        <p:blipFill>
          <a:blip r:embed="rId2"/>
          <a:stretch>
            <a:fillRect/>
          </a:stretch>
        </p:blipFill>
        <p:spPr>
          <a:xfrm>
            <a:off x="1538287" y="1185862"/>
            <a:ext cx="5570538" cy="52752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26</a:t>
            </a:fld>
            <a:endParaRPr sz="1600"/>
          </a:p>
        </p:txBody>
      </p:sp>
      <p:sp>
        <p:nvSpPr>
          <p:cNvPr id="265" name="Shape 265"/>
          <p:cNvSpPr>
            <a:spLocks noGrp="1"/>
          </p:cNvSpPr>
          <p:nvPr>
            <p:ph type="body" idx="4294967295"/>
          </p:nvPr>
        </p:nvSpPr>
        <p:spPr>
          <a:xfrm>
            <a:off x="654050" y="1663700"/>
            <a:ext cx="7772400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A Internet liga compradores e vendedores</a:t>
            </a:r>
            <a:b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Custos de transação mais baixos</a:t>
            </a:r>
            <a:b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Bens e serviços são anunciados, comprados e trocados ao redor do mundo</a:t>
            </a:r>
            <a:b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</a:br>
            <a:endParaRPr sz="2800">
              <a:solidFill>
                <a:srgbClr val="022A8E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22A8E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22A8E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Crescimento das transações Business-to-business</a:t>
            </a:r>
          </a:p>
        </p:txBody>
      </p:sp>
      <p:sp>
        <p:nvSpPr>
          <p:cNvPr id="266" name="Shape 266"/>
          <p:cNvSpPr/>
          <p:nvPr/>
        </p:nvSpPr>
        <p:spPr>
          <a:xfrm>
            <a:off x="2924175" y="1100137"/>
            <a:ext cx="3708400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Comércio eletrônico</a:t>
            </a:r>
          </a:p>
        </p:txBody>
      </p:sp>
      <p:sp>
        <p:nvSpPr>
          <p:cNvPr id="267" name="Shape 267"/>
          <p:cNvSpPr/>
          <p:nvPr/>
        </p:nvSpPr>
        <p:spPr>
          <a:xfrm>
            <a:off x="2480153" y="344487"/>
            <a:ext cx="3895247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CCECFF"/>
                </a:solidFill>
              </a:rPr>
              <a:t>RUMO </a:t>
            </a:r>
            <a:r>
              <a:rPr dirty="0" err="1">
                <a:solidFill>
                  <a:srgbClr val="CCECFF"/>
                </a:solidFill>
              </a:rPr>
              <a:t>À</a:t>
            </a:r>
            <a:r>
              <a:rPr dirty="0">
                <a:solidFill>
                  <a:srgbClr val="CCECFF"/>
                </a:solidFill>
              </a:rPr>
              <a:t> EMPRESA DIGITAL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" grpId="1" build="p" bldLvl="5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algn="l" defTabSz="416051">
              <a:spcBef>
                <a:spcPts val="900"/>
              </a:spcBef>
              <a:defRPr baseline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27</a:t>
            </a:fld>
            <a:endParaRPr sz="1600"/>
          </a:p>
        </p:txBody>
      </p:sp>
      <p:sp>
        <p:nvSpPr>
          <p:cNvPr id="270" name="Shape 270"/>
          <p:cNvSpPr/>
          <p:nvPr/>
        </p:nvSpPr>
        <p:spPr>
          <a:xfrm>
            <a:off x="427036" y="1117599"/>
            <a:ext cx="840264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Arquitetura de informação e infra-estrutura de tecnologia da informação</a:t>
            </a:r>
          </a:p>
        </p:txBody>
      </p:sp>
      <p:sp>
        <p:nvSpPr>
          <p:cNvPr id="271" name="Shape 271"/>
          <p:cNvSpPr/>
          <p:nvPr/>
        </p:nvSpPr>
        <p:spPr>
          <a:xfrm>
            <a:off x="4181473" y="6491287"/>
            <a:ext cx="1273147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0336B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336B7"/>
                </a:solidFill>
              </a:rPr>
              <a:t>Figura 1-12</a:t>
            </a:r>
          </a:p>
        </p:txBody>
      </p:sp>
      <p:sp>
        <p:nvSpPr>
          <p:cNvPr id="272" name="Shape 272"/>
          <p:cNvSpPr/>
          <p:nvPr/>
        </p:nvSpPr>
        <p:spPr>
          <a:xfrm>
            <a:off x="2705622" y="250521"/>
            <a:ext cx="3669778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l" defTabSz="457200">
              <a:spcBef>
                <a:spcPts val="1000"/>
              </a:spcBef>
              <a:defRPr sz="1800" baseline="0">
                <a:solidFill>
                  <a:srgbClr val="CCEC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CCECFF"/>
                </a:solidFill>
              </a:rPr>
              <a:t>RUMO À EMPRESA DIGITAL</a:t>
            </a:r>
          </a:p>
        </p:txBody>
      </p:sp>
      <p:pic>
        <p:nvPicPr>
          <p:cNvPr id="273" name="image11.jpeg" descr="laudon+f01-12"/>
          <p:cNvPicPr/>
          <p:nvPr/>
        </p:nvPicPr>
        <p:blipFill>
          <a:blip r:embed="rId2"/>
          <a:stretch>
            <a:fillRect/>
          </a:stretch>
        </p:blipFill>
        <p:spPr>
          <a:xfrm>
            <a:off x="868362" y="1612900"/>
            <a:ext cx="7354889" cy="48307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18FFD"/>
      </a:accent1>
      <a:accent2>
        <a:srgbClr val="00AE00"/>
      </a:accent2>
      <a:accent3>
        <a:srgbClr val="8F8F8F"/>
      </a:accent3>
      <a:accent4>
        <a:srgbClr val="707070"/>
      </a:accent4>
      <a:accent5>
        <a:srgbClr val="B6C5FE"/>
      </a:accent5>
      <a:accent6>
        <a:srgbClr val="009E00"/>
      </a:accent6>
      <a:hlink>
        <a:srgbClr val="0000FF"/>
      </a:hlink>
      <a:folHlink>
        <a:srgbClr val="FF00FF"/>
      </a:folHlink>
    </a:clrScheme>
    <a:fontScheme name="Default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618FFD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r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-2500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618FFD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r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-2500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18FFD"/>
      </a:accent1>
      <a:accent2>
        <a:srgbClr val="00AE00"/>
      </a:accent2>
      <a:accent3>
        <a:srgbClr val="8F8F8F"/>
      </a:accent3>
      <a:accent4>
        <a:srgbClr val="707070"/>
      </a:accent4>
      <a:accent5>
        <a:srgbClr val="B6C5FE"/>
      </a:accent5>
      <a:accent6>
        <a:srgbClr val="009E00"/>
      </a:accent6>
      <a:hlink>
        <a:srgbClr val="0000FF"/>
      </a:hlink>
      <a:folHlink>
        <a:srgbClr val="FF00FF"/>
      </a:folHlink>
    </a:clrScheme>
    <a:fontScheme name="Default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618FFD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r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-2500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618FFD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r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-2500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800</Words>
  <Application>Microsoft Office PowerPoint</Application>
  <PresentationFormat>Apresentação na tela (4:3)</PresentationFormat>
  <Paragraphs>172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4" baseType="lpstr">
      <vt:lpstr>Arial</vt:lpstr>
      <vt:lpstr>Arial Bold</vt:lpstr>
      <vt:lpstr>Avenir Roman</vt:lpstr>
      <vt:lpstr>Helvetica</vt:lpstr>
      <vt:lpstr>Times New Roman</vt:lpstr>
      <vt:lpstr>Times New Roman Bold</vt:lpstr>
      <vt:lpstr>Default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Sala_51_A</cp:lastModifiedBy>
  <cp:revision>2</cp:revision>
  <dcterms:modified xsi:type="dcterms:W3CDTF">2022-05-23T23:46:33Z</dcterms:modified>
</cp:coreProperties>
</file>