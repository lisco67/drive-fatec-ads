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E0E9"/>
          </a:solidFill>
        </a:fill>
      </a:tcStyle>
    </a:wholeTbl>
    <a:band2H>
      <a:tcTxStyle/>
      <a:tcStyle>
        <a:tcBdr/>
        <a:fill>
          <a:solidFill>
            <a:srgbClr val="E8F0F4"/>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51A6C2"/>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51A6C2"/>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51A6C2"/>
          </a:solidFill>
        </a:fill>
      </a:tcStyle>
    </a:firstRow>
  </a:tblStyle>
  <a:tblStyle styleId="{C7B018BB-80A7-4F77-B60F-C8B233D01FF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7E9CF"/>
          </a:solidFill>
        </a:fill>
      </a:tcStyle>
    </a:wholeTbl>
    <a:band2H>
      <a:tcTxStyle/>
      <a:tcStyle>
        <a:tcBdr/>
        <a:fill>
          <a:solidFill>
            <a:srgbClr val="ECF4E8"/>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7EC251"/>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7EC251"/>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7EC251"/>
          </a:solidFill>
        </a:fill>
      </a:tcStyle>
    </a:firstRow>
  </a:tblStyle>
  <a:tblStyle styleId="{EEE7283C-3CF3-47DC-8721-378D4A62B228}"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FD3E4"/>
          </a:solidFill>
        </a:fill>
      </a:tcStyle>
    </a:wholeTbl>
    <a:band2H>
      <a:tcTxStyle/>
      <a:tcStyle>
        <a:tcBdr/>
        <a:fill>
          <a:solidFill>
            <a:srgbClr val="F0EAF2"/>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16BB1"/>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16BB1"/>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16BB1"/>
          </a:solidFill>
        </a:fill>
      </a:tcStyle>
    </a:firstRow>
  </a:tblStyle>
  <a:tblStyle styleId="{CF821DB8-F4EB-4A41-A1BA-3FCAFE7338EE}" styleName="">
    <a:tblBg/>
    <a:wholeTbl>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51A6C2"/>
          </a:solidFill>
        </a:fill>
      </a:tcStyle>
    </a:firstCol>
    <a:lastRow>
      <a:tcTxStyle b="on" i="on">
        <a:font>
          <a:latin typeface="Avenir Book"/>
          <a:ea typeface="Avenir Book"/>
          <a:cs typeface="Avenir Book"/>
        </a:font>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
          <a:latin typeface="Avenir Book"/>
          <a:ea typeface="Avenir Book"/>
          <a:cs typeface="Avenir Book"/>
        </a:font>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51A6C2"/>
          </a:solidFill>
        </a:fill>
      </a:tcStyle>
    </a:firstRow>
  </a:tblStyle>
  <a:tblStyle styleId="{33BA23B1-9221-436E-865A-0063620EA4FD}" styleName="">
    <a:tblBg/>
    <a:wholeTbl>
      <a:tcTxStyle b="on" i="on">
        <a:font>
          <a:latin typeface="Avenir Book"/>
          <a:ea typeface="Avenir Book"/>
          <a:cs typeface="Avenir Book"/>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
          <a:latin typeface="Avenir Book"/>
          <a:ea typeface="Avenir Book"/>
          <a:cs typeface="Avenir Book"/>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
          <a:latin typeface="Avenir Book"/>
          <a:ea typeface="Avenir Book"/>
          <a:cs typeface="Avenir Book"/>
        </a:font>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0"/>
  </p:normalViewPr>
  <p:slideViewPr>
    <p:cSldViewPr snapToGrid="0" snapToObjects="1">
      <p:cViewPr varScale="1">
        <p:scale>
          <a:sx n="107" d="100"/>
          <a:sy n="107" d="100"/>
        </p:scale>
        <p:origin x="1760"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Shape 61"/>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62" name="Shape 62"/>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prstGeom prst="rect">
            <a:avLst/>
          </a:prstGeom>
        </p:spPr>
        <p:txBody>
          <a:bodyPr/>
          <a:lstStyle/>
          <a:p>
            <a:pPr lvl="0"/>
            <a:endParaRPr/>
          </a:p>
        </p:txBody>
      </p:sp>
      <p:sp>
        <p:nvSpPr>
          <p:cNvPr id="70" name="Shape 70"/>
          <p:cNvSpPr>
            <a:spLocks noGrp="1"/>
          </p:cNvSpPr>
          <p:nvPr>
            <p:ph type="body" sz="quarter" idx="1"/>
          </p:nvPr>
        </p:nvSpPr>
        <p:spPr>
          <a:prstGeom prst="rect">
            <a:avLst/>
          </a:prstGeom>
        </p:spPr>
        <p:txBody>
          <a:bodyPr/>
          <a:lstStyle/>
          <a:p>
            <a:pPr lvl="0">
              <a:lnSpc>
                <a:spcPct val="100000"/>
              </a:lnSpc>
              <a:defRPr sz="1800"/>
            </a:pPr>
            <a:r>
              <a:rPr sz="1200">
                <a:latin typeface="Calibri"/>
                <a:ea typeface="Calibri"/>
                <a:cs typeface="Calibri"/>
                <a:sym typeface="Calibri"/>
              </a:rPr>
              <a:t>de alimentos, saúde, transportes e etc.</a:t>
            </a:r>
            <a:r>
              <a:rPr sz="1200" b="1">
                <a:latin typeface="Calibri"/>
                <a:ea typeface="Calibri"/>
                <a:cs typeface="Calibri"/>
                <a:sym typeface="Calibri"/>
              </a:rPr>
              <a:t> </a:t>
            </a:r>
            <a:r>
              <a:rPr sz="1200">
                <a:latin typeface="Calibri"/>
                <a:ea typeface="Calibri"/>
                <a:cs typeface="Calibri"/>
                <a:sym typeface="Calibri"/>
              </a:rPr>
              <a:t>e etc.</a:t>
            </a:r>
            <a:r>
              <a:rPr sz="1200" b="1">
                <a:latin typeface="Calibri"/>
                <a:ea typeface="Calibri"/>
                <a:cs typeface="Calibri"/>
                <a:sym typeface="Calibri"/>
              </a:rPr>
              <a:t> Logística</a:t>
            </a:r>
            <a:r>
              <a:rPr sz="1200">
                <a:latin typeface="Calibri"/>
                <a:ea typeface="Calibri"/>
                <a:cs typeface="Calibri"/>
                <a:sym typeface="Calibri"/>
              </a:rPr>
              <a:t> surgiu inicialmente como parte da arte dos militares, era utilizada na guerra como a área que cuidava do planejamento de vários itens importantes, armazenamento, distribuição e manutenção de vários tipos de materiais, como armas, roupas, além de alimentos, saúde, transportes e etc.</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pt-BR"/>
              <a:t>Clique para editar o título Mestre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48A87A34-81AB-432B-8DAE-1953F412C126}" type="datetimeFigureOut">
              <a:rPr lang="en-US" smtClean="0"/>
              <a:t>3/14/22</a:t>
            </a:fld>
            <a:endParaRPr lang="en-US" dirty="0"/>
          </a:p>
        </p:txBody>
      </p:sp>
      <p:sp>
        <p:nvSpPr>
          <p:cNvPr id="5" name="Footer Placeholder 4"/>
          <p:cNvSpPr>
            <a:spLocks noGrp="1"/>
          </p:cNvSpPr>
          <p:nvPr>
            <p:ph type="ftr" sz="quarter" idx="11"/>
          </p:nvPr>
        </p:nvSpPr>
        <p:spPr>
          <a:xfrm>
            <a:off x="1900237" y="5410202"/>
            <a:ext cx="3843665" cy="365125"/>
          </a:xfrm>
        </p:spPr>
        <p:txBody>
          <a:bodyPr/>
          <a:lstStyle/>
          <a:p>
            <a:endParaRPr lang="en-US" dirty="0"/>
          </a:p>
        </p:txBody>
      </p:sp>
      <p:sp>
        <p:nvSpPr>
          <p:cNvPr id="6" name="Slide Number Placeholder 5"/>
          <p:cNvSpPr>
            <a:spLocks noGrp="1"/>
          </p:cNvSpPr>
          <p:nvPr>
            <p:ph type="sldNum" sz="quarter" idx="12"/>
          </p:nvPr>
        </p:nvSpPr>
        <p:spPr>
          <a:xfrm>
            <a:off x="7915603" y="5410200"/>
            <a:ext cx="578317" cy="365125"/>
          </a:xfrm>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4704045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pt-BR"/>
              <a:t>Clique para editar o título Mestre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48A87A34-81AB-432B-8DAE-1953F412C126}" type="datetimeFigureOut">
              <a:rPr lang="en-US" smtClean="0"/>
              <a:t>3/14/22</a:t>
            </a:fld>
            <a:endParaRPr lang="en-US" dirty="0"/>
          </a:p>
        </p:txBody>
      </p:sp>
      <p:sp>
        <p:nvSpPr>
          <p:cNvPr id="50" name="Footer Placeholder 4"/>
          <p:cNvSpPr>
            <a:spLocks noGrp="1"/>
          </p:cNvSpPr>
          <p:nvPr>
            <p:ph type="ftr" sz="quarter" idx="11"/>
          </p:nvPr>
        </p:nvSpPr>
        <p:spPr>
          <a:xfrm>
            <a:off x="856059" y="5883276"/>
            <a:ext cx="4679482" cy="365125"/>
          </a:xfrm>
        </p:spPr>
        <p:txBody>
          <a:bodyPr/>
          <a:lstStyle/>
          <a:p>
            <a:endParaRPr lang="en-US" dirty="0"/>
          </a:p>
        </p:txBody>
      </p:sp>
      <p:sp>
        <p:nvSpPr>
          <p:cNvPr id="51" name="Slide Number Placeholder 5"/>
          <p:cNvSpPr>
            <a:spLocks noGrp="1"/>
          </p:cNvSpPr>
          <p:nvPr>
            <p:ph type="sldNum" sz="quarter" idx="12"/>
          </p:nvPr>
        </p:nvSpPr>
        <p:spPr>
          <a:xfrm>
            <a:off x="7707241" y="5883275"/>
            <a:ext cx="578317" cy="365125"/>
          </a:xfrm>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2444430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pt-BR"/>
              <a:t>Clique para editar o título Mestre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48A87A34-81AB-432B-8DAE-1953F412C126}" type="datetimeFigureOut">
              <a:rPr lang="en-US" smtClean="0"/>
              <a:t>3/14/22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3911487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106361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pt-BR"/>
              <a:t>Clique para editar o título Mestre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856058" y="3073398"/>
            <a:ext cx="3658793"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4629150" y="3073398"/>
            <a:ext cx="3656408" cy="2717801"/>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3/14/22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184644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3/14/22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3019492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3/14/22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6419513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pt-BR"/>
              <a:t>Clique para editar o título Mestre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2361579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pt-BR"/>
              <a:t>Clique no ícone para adicionar uma imagem</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1074901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pt-BR"/>
              <a:t>Clique no ícone para adicionar uma imagem</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3203764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6267969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pt-BR"/>
              <a:t>Clique para editar o título Mestre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921522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pt-BR"/>
              <a:t>Clique para editar o título Mestre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688046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pt-BR"/>
              <a:t>Clique para editar o título Mestre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20879909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pt-BR"/>
              <a:t>Clique para editar o título Mestre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pt-BR"/>
              <a:t>Clique no ícone para adicionar uma imagem</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pt-BR"/>
              <a:t>Clique no ícone para adicionar uma imagem</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pt-BR"/>
              <a:t>Clique no ícone para adicionar uma imagem</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de texto Mestres</a:t>
            </a:r>
          </a:p>
        </p:txBody>
      </p:sp>
      <p:sp>
        <p:nvSpPr>
          <p:cNvPr id="3" name="Date Placeholder 2"/>
          <p:cNvSpPr>
            <a:spLocks noGrp="1"/>
          </p:cNvSpPr>
          <p:nvPr>
            <p:ph type="dt" sz="half" idx="10"/>
          </p:nvPr>
        </p:nvSpPr>
        <p:spPr/>
        <p:txBody>
          <a:bodyPr/>
          <a:lstStyle/>
          <a:p>
            <a:fld id="{48A87A34-81AB-432B-8DAE-1953F412C126}" type="datetimeFigureOut">
              <a:rPr lang="en-US" smtClean="0"/>
              <a:pPr/>
              <a:t>3/14/22</a:t>
            </a:fld>
            <a:endParaRPr lang="en-US" dirty="0"/>
          </a:p>
        </p:txBody>
      </p:sp>
      <p:sp>
        <p:nvSpPr>
          <p:cNvPr id="4" name="Footer Placeholder 3"/>
          <p:cNvSpPr>
            <a:spLocks noGrp="1"/>
          </p:cNvSpPr>
          <p:nvPr>
            <p:ph type="ftr" sz="quarter" idx="11"/>
          </p:nvPr>
        </p:nvSpPr>
        <p:spPr/>
        <p:txBody>
          <a:bodyPr/>
          <a:lstStyle>
            <a:lvl1pPr>
              <a:defRPr cap="all" baseline="0"/>
            </a:lvl1pPr>
          </a:lstStyle>
          <a:p>
            <a:endParaRPr lang="en-US" dirty="0"/>
          </a:p>
        </p:txBody>
      </p:sp>
      <p:sp>
        <p:nvSpPr>
          <p:cNvPr id="5" name="Slide Number Placeholder 4"/>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1106020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35272323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3/14/22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37565737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itle Slide">
    <p:bg>
      <p:bgPr>
        <a:solidFill>
          <a:srgbClr val="A8D3E1"/>
        </a:solidFill>
        <a:effectLst/>
      </p:bgPr>
    </p:bg>
    <p:spTree>
      <p:nvGrpSpPr>
        <p:cNvPr id="1" name=""/>
        <p:cNvGrpSpPr/>
        <p:nvPr/>
      </p:nvGrpSpPr>
      <p:grpSpPr>
        <a:xfrm>
          <a:off x="0" y="0"/>
          <a:ext cx="0" cy="0"/>
          <a:chOff x="0" y="0"/>
          <a:chExt cx="0" cy="0"/>
        </a:xfrm>
      </p:grpSpPr>
      <p:sp>
        <p:nvSpPr>
          <p:cNvPr id="8" name="Shape 8"/>
          <p:cNvSpPr>
            <a:spLocks noGrp="1"/>
          </p:cNvSpPr>
          <p:nvPr>
            <p:ph type="title"/>
          </p:nvPr>
        </p:nvSpPr>
        <p:spPr>
          <a:xfrm>
            <a:off x="779462" y="0"/>
            <a:ext cx="7583490" cy="3276600"/>
          </a:xfrm>
          <a:prstGeom prst="rect">
            <a:avLst/>
          </a:prstGeom>
        </p:spPr>
        <p:txBody>
          <a:bodyPr anchor="b"/>
          <a:lstStyle>
            <a:lvl1pPr>
              <a:defRPr sz="7200">
                <a:solidFill>
                  <a:srgbClr val="000000"/>
                </a:solidFill>
              </a:defRPr>
            </a:lvl1pPr>
          </a:lstStyle>
          <a:p>
            <a:pPr lvl="0">
              <a:defRPr sz="1800" b="0">
                <a:effectLst/>
              </a:defRPr>
            </a:pPr>
            <a:r>
              <a:rPr sz="7200" b="1">
                <a:effectLst>
                  <a:outerShdw blurRad="101600" dist="12700" dir="3600000" rotWithShape="0">
                    <a:srgbClr val="000000">
                      <a:alpha val="30000"/>
                    </a:srgbClr>
                  </a:outerShdw>
                </a:effectLst>
              </a:rPr>
              <a:t>Texto do Título</a:t>
            </a:r>
          </a:p>
        </p:txBody>
      </p:sp>
      <p:sp>
        <p:nvSpPr>
          <p:cNvPr id="9" name="Shape 9"/>
          <p:cNvSpPr>
            <a:spLocks noGrp="1"/>
          </p:cNvSpPr>
          <p:nvPr>
            <p:ph type="body" idx="1"/>
          </p:nvPr>
        </p:nvSpPr>
        <p:spPr>
          <a:xfrm>
            <a:off x="779462" y="3276600"/>
            <a:ext cx="7583490" cy="3581400"/>
          </a:xfrm>
          <a:prstGeom prst="rect">
            <a:avLst/>
          </a:prstGeom>
        </p:spPr>
        <p:txBody>
          <a:bodyPr/>
          <a:lstStyle>
            <a:lvl1pPr>
              <a:spcBef>
                <a:spcPts val="600"/>
              </a:spcBef>
              <a:defRPr sz="2400"/>
            </a:lvl1pPr>
            <a:lvl2pPr marL="955961" indent="-498763">
              <a:spcBef>
                <a:spcPts val="600"/>
              </a:spcBef>
              <a:defRPr sz="2400"/>
            </a:lvl2pPr>
            <a:lvl3pPr marL="1463038" indent="-548638">
              <a:spcBef>
                <a:spcPts val="600"/>
              </a:spcBef>
              <a:defRPr sz="2400"/>
            </a:lvl3pPr>
            <a:lvl4pPr marL="1981200" indent="-609600">
              <a:spcBef>
                <a:spcPts val="600"/>
              </a:spcBef>
              <a:defRPr sz="2400"/>
            </a:lvl4pPr>
            <a:lvl5pPr marL="2438400" indent="-609600">
              <a:spcBef>
                <a:spcPts val="600"/>
              </a:spcBef>
              <a:defRPr sz="2400"/>
            </a:lvl5pPr>
          </a:lstStyle>
          <a:p>
            <a:pPr lvl="0">
              <a:defRPr sz="1800">
                <a:solidFill>
                  <a:srgbClr val="000000"/>
                </a:solidFill>
                <a:effectLst/>
              </a:defRPr>
            </a:pPr>
            <a:r>
              <a:rPr sz="2400">
                <a:solidFill>
                  <a:srgbClr val="FFFFFF"/>
                </a:solidFill>
                <a:effectLst>
                  <a:outerShdw blurRad="101600" dist="12700" dir="3600000" rotWithShape="0">
                    <a:srgbClr val="000000">
                      <a:alpha val="30000"/>
                    </a:srgbClr>
                  </a:outerShdw>
                </a:effectLst>
              </a:rPr>
              <a:t>Nível de Corpo Um</a:t>
            </a:r>
          </a:p>
          <a:p>
            <a:pPr lvl="1">
              <a:defRPr sz="1800">
                <a:solidFill>
                  <a:srgbClr val="000000"/>
                </a:solidFill>
                <a:effectLst/>
              </a:defRPr>
            </a:pPr>
            <a:r>
              <a:rPr sz="2400">
                <a:solidFill>
                  <a:srgbClr val="FFFFFF"/>
                </a:solidFill>
                <a:effectLst>
                  <a:outerShdw blurRad="101600" dist="12700" dir="3600000" rotWithShape="0">
                    <a:srgbClr val="000000">
                      <a:alpha val="30000"/>
                    </a:srgbClr>
                  </a:outerShdw>
                </a:effectLst>
              </a:rPr>
              <a:t>Nível de Corpo Dois</a:t>
            </a:r>
          </a:p>
          <a:p>
            <a:pPr lvl="2">
              <a:defRPr sz="1800">
                <a:solidFill>
                  <a:srgbClr val="000000"/>
                </a:solidFill>
                <a:effectLst/>
              </a:defRPr>
            </a:pPr>
            <a:r>
              <a:rPr sz="2400">
                <a:solidFill>
                  <a:srgbClr val="FFFFFF"/>
                </a:solidFill>
                <a:effectLst>
                  <a:outerShdw blurRad="101600" dist="12700" dir="3600000" rotWithShape="0">
                    <a:srgbClr val="000000">
                      <a:alpha val="30000"/>
                    </a:srgbClr>
                  </a:outerShdw>
                </a:effectLst>
              </a:rPr>
              <a:t>Nível de Corpo Três</a:t>
            </a:r>
          </a:p>
          <a:p>
            <a:pPr lvl="3">
              <a:defRPr sz="1800">
                <a:solidFill>
                  <a:srgbClr val="000000"/>
                </a:solidFill>
                <a:effectLst/>
              </a:defRPr>
            </a:pPr>
            <a:r>
              <a:rPr sz="2400">
                <a:solidFill>
                  <a:srgbClr val="FFFFFF"/>
                </a:solidFill>
                <a:effectLst>
                  <a:outerShdw blurRad="101600" dist="12700" dir="3600000" rotWithShape="0">
                    <a:srgbClr val="000000">
                      <a:alpha val="30000"/>
                    </a:srgbClr>
                  </a:outerShdw>
                </a:effectLst>
              </a:rPr>
              <a:t>Nível de Corpo Quatro</a:t>
            </a:r>
          </a:p>
          <a:p>
            <a:pPr lvl="4">
              <a:defRPr sz="1800">
                <a:solidFill>
                  <a:srgbClr val="000000"/>
                </a:solidFill>
                <a:effectLst/>
              </a:defRPr>
            </a:pPr>
            <a:r>
              <a:rPr sz="2400">
                <a:solidFill>
                  <a:srgbClr val="FFFFFF"/>
                </a:solidFill>
                <a:effectLst>
                  <a:outerShdw blurRad="101600" dist="12700" dir="3600000" rotWithShape="0">
                    <a:srgbClr val="000000">
                      <a:alpha val="30000"/>
                    </a:srgbClr>
                  </a:outerShdw>
                </a:effectLst>
              </a:rPr>
              <a:t>Nível de Corpo Cinco</a:t>
            </a:r>
          </a:p>
        </p:txBody>
      </p:sp>
      <p:sp>
        <p:nvSpPr>
          <p:cNvPr id="10" name="Shape 10"/>
          <p:cNvSpPr>
            <a:spLocks noGrp="1"/>
          </p:cNvSpPr>
          <p:nvPr>
            <p:ph type="sldNum" sz="quarter" idx="2"/>
          </p:nvPr>
        </p:nvSpPr>
        <p:spPr>
          <a:prstGeom prst="rect">
            <a:avLst/>
          </a:prstGeom>
        </p:spPr>
        <p:txBody>
          <a:bodyPr/>
          <a:lstStyle/>
          <a:p>
            <a:pPr lvl="0"/>
            <a:fld id="{86CB4B4D-7CA3-9044-876B-883B54F8677D}" type="slidenum">
              <a:t>‹nº›</a:t>
            </a:fld>
            <a:endParaRPr/>
          </a:p>
        </p:txBody>
      </p:sp>
    </p:spTree>
    <p:extLst>
      <p:ext uri="{BB962C8B-B14F-4D97-AF65-F5344CB8AC3E}">
        <p14:creationId xmlns:p14="http://schemas.microsoft.com/office/powerpoint/2010/main" val="3403482361"/>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3/14/22</a:t>
            </a:fld>
            <a:endParaRPr lang="en-US" dirty="0"/>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lvl="0"/>
            <a:fld id="{86CB4B4D-7CA3-9044-876B-883B54F8677D}" type="slidenum">
              <a:rPr lang="pt-BR" smtClean="0"/>
              <a:t>‹nº›</a:t>
            </a:fld>
            <a:endParaRPr lang="pt-BR"/>
          </a:p>
        </p:txBody>
      </p:sp>
    </p:spTree>
    <p:extLst>
      <p:ext uri="{BB962C8B-B14F-4D97-AF65-F5344CB8AC3E}">
        <p14:creationId xmlns:p14="http://schemas.microsoft.com/office/powerpoint/2010/main" val="1001616894"/>
      </p:ext>
    </p:extLst>
  </p:cSld>
  <p:clrMap bg1="dk1" tx1="lt1" bg2="dk2" tx2="lt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 id="2147483706" r:id="rId18"/>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1A6C2"/>
        </a:solidFill>
        <a:effectLst/>
      </p:bgPr>
    </p:bg>
    <p:spTree>
      <p:nvGrpSpPr>
        <p:cNvPr id="1" name=""/>
        <p:cNvGrpSpPr/>
        <p:nvPr/>
      </p:nvGrpSpPr>
      <p:grpSpPr>
        <a:xfrm>
          <a:off x="0" y="0"/>
          <a:ext cx="0" cy="0"/>
          <a:chOff x="0" y="0"/>
          <a:chExt cx="0" cy="0"/>
        </a:xfrm>
      </p:grpSpPr>
      <p:sp>
        <p:nvSpPr>
          <p:cNvPr id="64" name="Shape 64"/>
          <p:cNvSpPr>
            <a:spLocks noGrp="1"/>
          </p:cNvSpPr>
          <p:nvPr>
            <p:ph type="title"/>
          </p:nvPr>
        </p:nvSpPr>
        <p:spPr>
          <a:xfrm>
            <a:off x="709862" y="2430379"/>
            <a:ext cx="7685751" cy="1973179"/>
          </a:xfrm>
          <a:prstGeom prst="rect">
            <a:avLst/>
          </a:prstGeom>
        </p:spPr>
        <p:txBody>
          <a:bodyPr lIns="0" tIns="0" rIns="0" bIns="0">
            <a:normAutofit fontScale="90000"/>
          </a:bodyPr>
          <a:lstStyle/>
          <a:p>
            <a:pPr lvl="0">
              <a:defRPr sz="1800" b="0">
                <a:effectLst/>
              </a:defRPr>
            </a:pPr>
            <a:r>
              <a:rPr sz="4800" b="1" dirty="0">
                <a:effectLst>
                  <a:outerShdw blurRad="101600" dist="12700" dir="3600000" rotWithShape="0">
                    <a:srgbClr val="000000">
                      <a:alpha val="30000"/>
                    </a:srgbClr>
                  </a:outerShdw>
                </a:effectLst>
              </a:rPr>
              <a:t>LOGISTICA/ DISTRIBUIÇÃO</a:t>
            </a:r>
            <a:br>
              <a:rPr sz="4800" b="1" dirty="0">
                <a:effectLst>
                  <a:outerShdw blurRad="101600" dist="12700" dir="3600000" rotWithShape="0">
                    <a:srgbClr val="000000">
                      <a:alpha val="30000"/>
                    </a:srgbClr>
                  </a:outerShdw>
                </a:effectLst>
              </a:rPr>
            </a:br>
            <a:r>
              <a:rPr sz="4800" b="1" dirty="0">
                <a:effectLst>
                  <a:outerShdw blurRad="101600" dist="12700" dir="3600000" rotWithShape="0">
                    <a:srgbClr val="000000">
                      <a:alpha val="30000"/>
                    </a:srgbClr>
                  </a:outerShdw>
                </a:effectLst>
              </a:rPr>
              <a:t>CONCEITOS</a:t>
            </a:r>
            <a:br>
              <a:rPr sz="4800" b="1" dirty="0">
                <a:effectLst>
                  <a:outerShdw blurRad="101600" dist="12700" dir="3600000" rotWithShape="0">
                    <a:srgbClr val="000000">
                      <a:alpha val="30000"/>
                    </a:srgbClr>
                  </a:outerShdw>
                </a:effectLst>
              </a:rPr>
            </a:br>
            <a:r>
              <a:rPr sz="4800" b="1" dirty="0">
                <a:effectLst>
                  <a:outerShdw blurRad="101600" dist="12700" dir="3600000" rotWithShape="0">
                    <a:srgbClr val="000000">
                      <a:alpha val="30000"/>
                    </a:srgbClr>
                  </a:outerShdw>
                </a:effectLst>
              </a:rPr>
              <a:t>BASICOS</a:t>
            </a:r>
          </a:p>
        </p:txBody>
      </p:sp>
      <p:sp>
        <p:nvSpPr>
          <p:cNvPr id="65" name="Shape 65"/>
          <p:cNvSpPr/>
          <p:nvPr/>
        </p:nvSpPr>
        <p:spPr>
          <a:xfrm>
            <a:off x="5195208" y="6278560"/>
            <a:ext cx="3200405"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67" name="Shape 67"/>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lang="pt-BR" sz="4800" b="1">
                <a:effectLst>
                  <a:outerShdw blurRad="101600" dist="12700" dir="3600000" rotWithShape="0">
                    <a:srgbClr val="000000">
                      <a:alpha val="30000"/>
                    </a:srgbClr>
                  </a:outerShdw>
                </a:effectLst>
              </a:rPr>
              <a:t>LOGÍSTICA</a:t>
            </a:r>
          </a:p>
        </p:txBody>
      </p:sp>
      <p:sp>
        <p:nvSpPr>
          <p:cNvPr id="68" name="Shape 68"/>
          <p:cNvSpPr>
            <a:spLocks noGrp="1"/>
          </p:cNvSpPr>
          <p:nvPr>
            <p:ph type="body" idx="1"/>
          </p:nvPr>
        </p:nvSpPr>
        <p:spPr>
          <a:xfrm>
            <a:off x="0" y="1600200"/>
            <a:ext cx="9144000" cy="5112657"/>
          </a:xfrm>
          <a:prstGeom prst="rect">
            <a:avLst/>
          </a:prstGeom>
        </p:spPr>
        <p:txBody>
          <a:bodyPr/>
          <a:lstStyle/>
          <a:p>
            <a:pPr marL="0" lvl="0" indent="0" defTabSz="905255">
              <a:lnSpc>
                <a:spcPct val="80000"/>
              </a:lnSpc>
              <a:spcBef>
                <a:spcPts val="1900"/>
              </a:spcBef>
              <a:buSzTx/>
              <a:buFontTx/>
              <a:buNone/>
              <a:defRPr sz="1800">
                <a:solidFill>
                  <a:srgbClr val="000000"/>
                </a:solidFill>
                <a:effectLst/>
              </a:defRPr>
            </a:pPr>
            <a:r>
              <a:rPr lang="pt-BR" sz="2800" b="1" i="1" dirty="0">
                <a:solidFill>
                  <a:schemeClr val="bg2"/>
                </a:solidFill>
                <a:effectLst>
                  <a:outerShdw blurRad="101600" dist="12573" dir="3600000" rotWithShape="0">
                    <a:srgbClr val="000000">
                      <a:alpha val="30000"/>
                    </a:srgbClr>
                  </a:outerShdw>
                </a:effectLst>
              </a:rPr>
              <a:t>Logística surgiu inicialmente como parte da arte dos militares, era utilizada na guerra como a área que cuidava do planejamento de vários itens importantes, armazenamento, distribuição e manutenção de vários tipos de materiais, como armas, roupas, além de alimentos, saúde, transportes e etc.</a:t>
            </a:r>
            <a:endParaRPr lang="pt-BR" sz="2100" i="1" dirty="0">
              <a:solidFill>
                <a:schemeClr val="bg2"/>
              </a:solidFill>
            </a:endParaRPr>
          </a:p>
          <a:p>
            <a:pPr marL="0" lvl="0" indent="0" defTabSz="905255">
              <a:lnSpc>
                <a:spcPct val="80000"/>
              </a:lnSpc>
              <a:spcBef>
                <a:spcPts val="1900"/>
              </a:spcBef>
              <a:buSzTx/>
              <a:buFontTx/>
              <a:buNone/>
              <a:defRPr sz="1800">
                <a:solidFill>
                  <a:srgbClr val="000000"/>
                </a:solidFill>
                <a:effectLst/>
              </a:defRPr>
            </a:pPr>
            <a:r>
              <a:rPr lang="pt-BR" sz="2800" b="1" i="1" dirty="0">
                <a:solidFill>
                  <a:schemeClr val="bg2"/>
                </a:solidFill>
                <a:effectLst>
                  <a:outerShdw blurRad="101600" dist="12573" dir="3600000" rotWithShape="0">
                    <a:srgbClr val="000000">
                      <a:alpha val="30000"/>
                    </a:srgbClr>
                  </a:outerShdw>
                </a:effectLst>
              </a:rPr>
              <a:t>DEFINIÇÃO - </a:t>
            </a:r>
            <a:r>
              <a:rPr lang="pt-BR" sz="2800" i="1" dirty="0">
                <a:solidFill>
                  <a:schemeClr val="bg2"/>
                </a:solidFill>
                <a:effectLst>
                  <a:outerShdw blurRad="101600" dist="12573" dir="3600000" rotWithShape="0">
                    <a:srgbClr val="000000">
                      <a:alpha val="30000"/>
                    </a:srgbClr>
                  </a:outerShdw>
                </a:effectLst>
              </a:rPr>
              <a:t>A </a:t>
            </a:r>
            <a:r>
              <a:rPr lang="pt-BR" sz="2800" b="1" i="1" dirty="0">
                <a:solidFill>
                  <a:schemeClr val="bg2"/>
                </a:solidFill>
                <a:effectLst>
                  <a:outerShdw blurRad="101600" dist="12573" dir="3600000" rotWithShape="0">
                    <a:srgbClr val="000000">
                      <a:alpha val="30000"/>
                    </a:srgbClr>
                  </a:outerShdw>
                </a:effectLst>
              </a:rPr>
              <a:t>Logística</a:t>
            </a:r>
            <a:r>
              <a:rPr lang="pt-BR" sz="2800" i="1" dirty="0">
                <a:solidFill>
                  <a:schemeClr val="bg2"/>
                </a:solidFill>
                <a:effectLst>
                  <a:outerShdw blurRad="101600" dist="12573" dir="3600000" rotWithShape="0">
                    <a:srgbClr val="000000">
                      <a:alpha val="30000"/>
                    </a:srgbClr>
                  </a:outerShdw>
                </a:effectLst>
              </a:rPr>
              <a:t> é a área da gestão responsável por prover recursos, equipamentos e informações para a execução de todas as atividades de uma empresa.</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72" name="Shape 72"/>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sz="4800" b="1">
                <a:effectLst>
                  <a:outerShdw blurRad="101600" dist="12700" dir="3600000" rotWithShape="0">
                    <a:srgbClr val="000000">
                      <a:alpha val="30000"/>
                    </a:srgbClr>
                  </a:outerShdw>
                </a:effectLst>
              </a:rPr>
              <a:t>LOGÍSTICA</a:t>
            </a:r>
          </a:p>
        </p:txBody>
      </p:sp>
      <p:sp>
        <p:nvSpPr>
          <p:cNvPr id="73" name="Shape 73"/>
          <p:cNvSpPr>
            <a:spLocks noGrp="1"/>
          </p:cNvSpPr>
          <p:nvPr>
            <p:ph type="body" idx="1"/>
          </p:nvPr>
        </p:nvSpPr>
        <p:spPr>
          <a:xfrm>
            <a:off x="0" y="1600200"/>
            <a:ext cx="9144000" cy="5112657"/>
          </a:xfrm>
          <a:prstGeom prst="rect">
            <a:avLst/>
          </a:prstGeom>
        </p:spPr>
        <p:txBody>
          <a:bodyPr/>
          <a:lstStyle/>
          <a:p>
            <a:pPr marL="0" lvl="0" indent="0" defTabSz="841247">
              <a:spcBef>
                <a:spcPts val="1800"/>
              </a:spcBef>
              <a:buSzTx/>
              <a:buFontTx/>
              <a:buNone/>
              <a:defRPr sz="1800">
                <a:solidFill>
                  <a:srgbClr val="000000"/>
                </a:solidFill>
                <a:effectLst/>
              </a:defRPr>
            </a:pPr>
            <a:r>
              <a:rPr sz="2208" b="1">
                <a:effectLst>
                  <a:outerShdw blurRad="93472" dist="11684" dir="3600000" rotWithShape="0">
                    <a:srgbClr val="000000">
                      <a:alpha val="30000"/>
                    </a:srgbClr>
                  </a:outerShdw>
                </a:effectLst>
              </a:rPr>
              <a:t>PODEMOS DIVIDIR A AREA DE LOGÍSTICA EM 3 SETORES PRINCIPAIS:</a:t>
            </a:r>
            <a:endParaRPr sz="1656" b="1"/>
          </a:p>
          <a:p>
            <a:pPr marL="1329379" lvl="0" indent="-1329379" defTabSz="841247">
              <a:spcBef>
                <a:spcPts val="1800"/>
              </a:spcBef>
              <a:buClr>
                <a:srgbClr val="000000"/>
              </a:buClr>
              <a:buFontTx/>
              <a:buAutoNum type="arabicPeriod"/>
              <a:defRPr sz="1800">
                <a:solidFill>
                  <a:srgbClr val="000000"/>
                </a:solidFill>
                <a:effectLst/>
              </a:defRPr>
            </a:pPr>
            <a:r>
              <a:rPr sz="2208" b="1">
                <a:effectLst>
                  <a:outerShdw blurRad="93472" dist="11684" dir="3600000" rotWithShape="0">
                    <a:srgbClr val="000000">
                      <a:alpha val="30000"/>
                    </a:srgbClr>
                  </a:outerShdw>
                </a:effectLst>
              </a:rPr>
              <a:t>DISTRIBUIÇÃO</a:t>
            </a:r>
            <a:endParaRPr sz="1656" b="1"/>
          </a:p>
          <a:p>
            <a:pPr marL="1329379" lvl="0" indent="-1329379" defTabSz="841247">
              <a:spcBef>
                <a:spcPts val="1800"/>
              </a:spcBef>
              <a:buClr>
                <a:srgbClr val="000000"/>
              </a:buClr>
              <a:buFontTx/>
              <a:buAutoNum type="arabicPeriod"/>
              <a:defRPr sz="1800">
                <a:solidFill>
                  <a:srgbClr val="000000"/>
                </a:solidFill>
                <a:effectLst/>
              </a:defRPr>
            </a:pPr>
            <a:r>
              <a:rPr sz="2208" b="1">
                <a:effectLst>
                  <a:outerShdw blurRad="93472" dist="11684" dir="3600000" rotWithShape="0">
                    <a:srgbClr val="000000">
                      <a:alpha val="30000"/>
                    </a:srgbClr>
                  </a:outerShdw>
                </a:effectLst>
              </a:rPr>
              <a:t>GERENCIAMENTO DE DEPÓSITOS</a:t>
            </a:r>
            <a:endParaRPr sz="1656" b="1"/>
          </a:p>
          <a:p>
            <a:pPr marL="1329379" lvl="0" indent="-1329379" defTabSz="841247">
              <a:spcBef>
                <a:spcPts val="1800"/>
              </a:spcBef>
              <a:buClr>
                <a:srgbClr val="000000"/>
              </a:buClr>
              <a:buFontTx/>
              <a:buAutoNum type="arabicPeriod"/>
              <a:defRPr sz="1800">
                <a:solidFill>
                  <a:srgbClr val="000000"/>
                </a:solidFill>
                <a:effectLst/>
              </a:defRPr>
            </a:pPr>
            <a:r>
              <a:rPr sz="2208" b="1">
                <a:effectLst>
                  <a:outerShdw blurRad="93472" dist="11684" dir="3600000" rotWithShape="0">
                    <a:srgbClr val="000000">
                      <a:alpha val="30000"/>
                    </a:srgbClr>
                  </a:outerShdw>
                </a:effectLst>
              </a:rPr>
              <a:t>GERENCIAMENTO DE TRANSPORTADORAS</a:t>
            </a:r>
          </a:p>
          <a:p>
            <a:pPr marL="0" lvl="0" indent="0" defTabSz="841247">
              <a:spcBef>
                <a:spcPts val="1800"/>
              </a:spcBef>
              <a:buSzTx/>
              <a:buFontTx/>
              <a:buNone/>
              <a:defRPr sz="1800">
                <a:solidFill>
                  <a:srgbClr val="000000"/>
                </a:solidFill>
                <a:effectLst/>
              </a:defRPr>
            </a:pPr>
            <a:r>
              <a:rPr sz="2208" b="1">
                <a:effectLst>
                  <a:outerShdw blurRad="93472" dist="11684" dir="3600000" rotWithShape="0">
                    <a:srgbClr val="000000">
                      <a:alpha val="30000"/>
                    </a:srgbClr>
                  </a:outerShdw>
                </a:effectLst>
              </a:rPr>
              <a:t>Obs: Eh uma área estratégica para  Empresa, por ser responsável pela localização das suas fabricas, depósitos e quaisquer locais utilizados pela mesma.</a:t>
            </a:r>
          </a:p>
          <a:p>
            <a:pPr marL="997034" lvl="0" indent="-997034" defTabSz="841247">
              <a:spcBef>
                <a:spcPts val="1800"/>
              </a:spcBef>
              <a:buClr>
                <a:srgbClr val="000000"/>
              </a:buClr>
              <a:buFontTx/>
              <a:buAutoNum type="arabicPeriod" startAt="4"/>
              <a:defRPr sz="1800">
                <a:solidFill>
                  <a:srgbClr val="000000"/>
                </a:solidFill>
                <a:effectLst/>
              </a:defRPr>
            </a:pPr>
            <a:endParaRPr sz="1656" b="1"/>
          </a:p>
          <a:p>
            <a:pPr marL="420623" lvl="0" indent="-420623" defTabSz="841247">
              <a:spcBef>
                <a:spcPts val="1800"/>
              </a:spcBef>
              <a:buClr>
                <a:srgbClr val="000000"/>
              </a:buClr>
              <a:buFontTx/>
              <a:buAutoNum type="arabicPeriod" startAt="4"/>
              <a:defRPr sz="1800">
                <a:solidFill>
                  <a:srgbClr val="000000"/>
                </a:solidFill>
                <a:effectLst/>
              </a:defRPr>
            </a:pPr>
            <a:endParaRPr sz="1656" b="1"/>
          </a:p>
        </p:txBody>
      </p:sp>
      <p:sp>
        <p:nvSpPr>
          <p:cNvPr id="74" name="Shape 74"/>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76" name="Shape 76"/>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sz="4800" b="1">
                <a:effectLst>
                  <a:outerShdw blurRad="101600" dist="12700" dir="3600000" rotWithShape="0">
                    <a:srgbClr val="000000">
                      <a:alpha val="30000"/>
                    </a:srgbClr>
                  </a:outerShdw>
                </a:effectLst>
              </a:rPr>
              <a:t>DISTRIBUIÇÃO</a:t>
            </a:r>
          </a:p>
        </p:txBody>
      </p:sp>
      <p:sp>
        <p:nvSpPr>
          <p:cNvPr id="78" name="Shape 78"/>
          <p:cNvSpPr>
            <a:spLocks noGrp="1"/>
          </p:cNvSpPr>
          <p:nvPr>
            <p:ph type="body" idx="1"/>
          </p:nvPr>
        </p:nvSpPr>
        <p:spPr>
          <a:xfrm>
            <a:off x="0" y="1600200"/>
            <a:ext cx="9017000" cy="5112657"/>
          </a:xfrm>
          <a:prstGeom prst="rect">
            <a:avLst/>
          </a:prstGeom>
        </p:spPr>
        <p:txBody>
          <a:bodyPr/>
          <a:lstStyle/>
          <a:p>
            <a:pPr marL="0" lvl="0" indent="0" defTabSz="905255">
              <a:spcBef>
                <a:spcPts val="1900"/>
              </a:spcBef>
              <a:buSzTx/>
              <a:buFontTx/>
              <a:buNone/>
              <a:defRPr sz="1800">
                <a:solidFill>
                  <a:srgbClr val="000000"/>
                </a:solidFill>
                <a:effectLst/>
              </a:defRPr>
            </a:pPr>
            <a:r>
              <a:rPr sz="2000">
                <a:effectLst>
                  <a:outerShdw blurRad="101600" dist="12573" dir="3600000" rotWithShape="0">
                    <a:srgbClr val="000000">
                      <a:alpha val="30000"/>
                    </a:srgbClr>
                  </a:outerShdw>
                </a:effectLst>
              </a:rPr>
              <a:t>ESSE SETOR EH RESPONSÁVEL PELA MOVIMENTAÇÃO DOS PRODUTOS ENTRE OS VARIOS LOCAIS PERTENCENTES A EMPRESA. </a:t>
            </a:r>
            <a:endParaRPr sz="2000"/>
          </a:p>
          <a:p>
            <a:pPr marL="0" lvl="0" indent="0" defTabSz="905255">
              <a:spcBef>
                <a:spcPts val="1900"/>
              </a:spcBef>
              <a:buSzTx/>
              <a:buFontTx/>
              <a:buNone/>
              <a:defRPr sz="1800">
                <a:solidFill>
                  <a:srgbClr val="000000"/>
                </a:solidFill>
                <a:effectLst/>
              </a:defRPr>
            </a:pPr>
            <a:r>
              <a:rPr sz="2000">
                <a:effectLst>
                  <a:outerShdw blurRad="101600" dist="12573" dir="3600000" rotWithShape="0">
                    <a:srgbClr val="000000">
                      <a:alpha val="30000"/>
                    </a:srgbClr>
                  </a:outerShdw>
                </a:effectLst>
              </a:rPr>
              <a:t>ESSES SITES OU LOCAIS PODEM SER: DEPÓSITOS, FABRICAS, ARMAZÉNS ALUGADOS OU QUALQUER LUGAR QUE SIRVA PARA GUARDAR A MERCADORIA.</a:t>
            </a:r>
            <a:endParaRPr sz="2000"/>
          </a:p>
          <a:p>
            <a:pPr marL="0" lvl="0" indent="0" defTabSz="905255">
              <a:spcBef>
                <a:spcPts val="1900"/>
              </a:spcBef>
              <a:buSzTx/>
              <a:buFontTx/>
              <a:buNone/>
              <a:defRPr sz="1800">
                <a:solidFill>
                  <a:srgbClr val="000000"/>
                </a:solidFill>
                <a:effectLst/>
              </a:defRPr>
            </a:pPr>
            <a:r>
              <a:rPr sz="2000">
                <a:effectLst>
                  <a:outerShdw blurRad="101600" dist="12573" dir="3600000" rotWithShape="0">
                    <a:srgbClr val="000000">
                      <a:alpha val="30000"/>
                    </a:srgbClr>
                  </a:outerShdw>
                </a:effectLst>
              </a:rPr>
              <a:t>AS EMPRESAS, NORMALMENTE MANTEM UM DEPOSITO DE PRODUTOS ACABADOS CENTRAL NO MESMO LOCAL DA FABRICA E OUTROS ESPALHADOS  POR VARIOS ESTADOS, PREVIAMENTE ESCOLHIDOS PELO DEPTO. DE LOGÍSTICA. O ABASTECIMENTO DESSES DEPÓSITOS FICA A CARGO DO SETOR DE DISTRIBUIÇÃO.</a:t>
            </a:r>
          </a:p>
        </p:txBody>
      </p:sp>
      <p:sp>
        <p:nvSpPr>
          <p:cNvPr id="77" name="Shape 77"/>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80" name="Shape 80"/>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sz="4800" b="1">
                <a:effectLst>
                  <a:outerShdw blurRad="101600" dist="12700" dir="3600000" rotWithShape="0">
                    <a:srgbClr val="000000">
                      <a:alpha val="30000"/>
                    </a:srgbClr>
                  </a:outerShdw>
                </a:effectLst>
              </a:rPr>
              <a:t>DISTRIBUIÇÃO</a:t>
            </a:r>
          </a:p>
        </p:txBody>
      </p:sp>
      <p:sp>
        <p:nvSpPr>
          <p:cNvPr id="82" name="Shape 82"/>
          <p:cNvSpPr>
            <a:spLocks noGrp="1"/>
          </p:cNvSpPr>
          <p:nvPr>
            <p:ph type="body" idx="1"/>
          </p:nvPr>
        </p:nvSpPr>
        <p:spPr>
          <a:xfrm>
            <a:off x="0" y="1600200"/>
            <a:ext cx="9017000" cy="5112657"/>
          </a:xfrm>
          <a:prstGeom prst="rect">
            <a:avLst/>
          </a:prstGeom>
        </p:spPr>
        <p:txBody>
          <a:bodyPr/>
          <a:lstStyle/>
          <a:p>
            <a:pPr marL="0" lvl="0" indent="0">
              <a:buSzTx/>
              <a:buFontTx/>
              <a:buNone/>
              <a:defRPr sz="1800">
                <a:solidFill>
                  <a:srgbClr val="000000"/>
                </a:solidFill>
                <a:effectLst/>
              </a:defRPr>
            </a:pPr>
            <a:r>
              <a:rPr sz="2100" dirty="0">
                <a:effectLst>
                  <a:outerShdw blurRad="101600" dist="12700" dir="3600000" rotWithShape="0">
                    <a:srgbClr val="000000">
                      <a:alpha val="30000"/>
                    </a:srgbClr>
                  </a:outerShdw>
                </a:effectLst>
              </a:rPr>
              <a:t>FUNCIONAMENTO –  OS PRODUTOS ACABADOS, SAEM DA PRODUÇÃO E VAO PARA O DEPOSITO CENTRAL, QUE OS ARMAZENA. O SISTEMA DE FATURAMENTO, EMITE AS NOTAS FISCAIS, COM OS PRODUTOS SAINDO DOS DEPÓSITOS DE CADA ESTADO E CABE A DISTRIBUIÇÃO  FAZER COM QUE ESSES PRODUTOS CHEGUEM AOS CLIENTES.</a:t>
            </a:r>
            <a:endParaRPr sz="2100" dirty="0"/>
          </a:p>
          <a:p>
            <a:pPr marL="0" lvl="0" indent="0">
              <a:buSzTx/>
              <a:buFontTx/>
              <a:buNone/>
              <a:defRPr sz="1800">
                <a:solidFill>
                  <a:srgbClr val="000000"/>
                </a:solidFill>
                <a:effectLst/>
              </a:defRPr>
            </a:pPr>
            <a:r>
              <a:rPr sz="2100" dirty="0">
                <a:effectLst>
                  <a:outerShdw blurRad="101600" dist="12700" dir="3600000" rotWithShape="0">
                    <a:srgbClr val="000000">
                      <a:alpha val="30000"/>
                    </a:srgbClr>
                  </a:outerShdw>
                </a:effectLst>
              </a:rPr>
              <a:t>O TRANSPORTE DESSES PRODUTOS ENTRE DEPÓSITOS   COSTUMA SER COM CAMINHÕES PRÓPRIOS. PARA</a:t>
            </a:r>
            <a:r>
              <a:rPr lang="pt-BR" sz="2100" dirty="0">
                <a:effectLst>
                  <a:outerShdw blurRad="101600" dist="12700" dir="3600000" rotWithShape="0">
                    <a:srgbClr val="000000">
                      <a:alpha val="30000"/>
                    </a:srgbClr>
                  </a:outerShdw>
                </a:effectLst>
              </a:rPr>
              <a:t> ENTREGA</a:t>
            </a:r>
            <a:r>
              <a:rPr sz="2100" dirty="0">
                <a:effectLst>
                  <a:outerShdw blurRad="101600" dist="12700" dir="3600000" rotWithShape="0">
                    <a:srgbClr val="000000">
                      <a:alpha val="30000"/>
                    </a:srgbClr>
                  </a:outerShdw>
                </a:effectLst>
              </a:rPr>
              <a:t> </a:t>
            </a:r>
            <a:r>
              <a:rPr lang="pt-BR" sz="2100" dirty="0">
                <a:effectLst>
                  <a:outerShdw blurRad="101600" dist="12700" dir="3600000" rotWithShape="0">
                    <a:srgbClr val="000000">
                      <a:alpha val="30000"/>
                    </a:srgbClr>
                  </a:outerShdw>
                </a:effectLst>
              </a:rPr>
              <a:t>A</a:t>
            </a:r>
            <a:r>
              <a:rPr sz="2100" dirty="0">
                <a:effectLst>
                  <a:outerShdw blurRad="101600" dist="12700" dir="3600000" rotWithShape="0">
                    <a:srgbClr val="000000">
                      <a:alpha val="30000"/>
                    </a:srgbClr>
                  </a:outerShdw>
                </a:effectLst>
              </a:rPr>
              <a:t>OS CLIENTES UTILIZAM TRANSPORTADORAS CONTRATADAS.</a:t>
            </a:r>
            <a:endParaRPr lang="pt-BR" sz="2100" dirty="0">
              <a:effectLst>
                <a:outerShdw blurRad="101600" dist="12700" dir="3600000" rotWithShape="0">
                  <a:srgbClr val="000000">
                    <a:alpha val="30000"/>
                  </a:srgbClr>
                </a:outerShdw>
              </a:effectLst>
            </a:endParaRPr>
          </a:p>
          <a:p>
            <a:pPr marL="0" lvl="0" indent="0">
              <a:buSzTx/>
              <a:buFontTx/>
              <a:buNone/>
              <a:defRPr sz="1800">
                <a:solidFill>
                  <a:srgbClr val="000000"/>
                </a:solidFill>
                <a:effectLst/>
              </a:defRPr>
            </a:pPr>
            <a:r>
              <a:rPr lang="pt-BR" sz="2100" dirty="0"/>
              <a:t>PARECE BEM LOGICO, POIS TERIAMOS 20 OU 30 DEPOSITOS CONTRA ALGUNS MILHARES DE CLIENTES.</a:t>
            </a:r>
            <a:endParaRPr sz="2100" dirty="0">
              <a:effectLst>
                <a:outerShdw blurRad="101600" dist="12700" dir="3600000" rotWithShape="0">
                  <a:srgbClr val="000000">
                    <a:alpha val="30000"/>
                  </a:srgbClr>
                </a:outerShdw>
              </a:effectLst>
            </a:endParaRPr>
          </a:p>
        </p:txBody>
      </p:sp>
      <p:sp>
        <p:nvSpPr>
          <p:cNvPr id="81" name="Shape 81"/>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84" name="Shape 84"/>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sz="4800" b="1">
                <a:effectLst>
                  <a:outerShdw blurRad="101600" dist="12700" dir="3600000" rotWithShape="0">
                    <a:srgbClr val="000000">
                      <a:alpha val="30000"/>
                    </a:srgbClr>
                  </a:outerShdw>
                </a:effectLst>
              </a:rPr>
              <a:t>DISTRIBUIÇÃO</a:t>
            </a:r>
          </a:p>
        </p:txBody>
      </p:sp>
      <p:sp>
        <p:nvSpPr>
          <p:cNvPr id="86" name="Shape 86"/>
          <p:cNvSpPr>
            <a:spLocks noGrp="1"/>
          </p:cNvSpPr>
          <p:nvPr>
            <p:ph type="body" idx="1"/>
          </p:nvPr>
        </p:nvSpPr>
        <p:spPr>
          <a:xfrm>
            <a:off x="0" y="1600200"/>
            <a:ext cx="9017000" cy="5112657"/>
          </a:xfrm>
          <a:prstGeom prst="rect">
            <a:avLst/>
          </a:prstGeom>
        </p:spPr>
        <p:txBody>
          <a:bodyPr/>
          <a:lstStyle/>
          <a:p>
            <a:pPr marL="0" lvl="0" indent="0" defTabSz="869226">
              <a:spcBef>
                <a:spcPts val="1800"/>
              </a:spcBef>
              <a:buSzTx/>
              <a:buFontTx/>
              <a:buNone/>
              <a:defRPr sz="1800">
                <a:solidFill>
                  <a:srgbClr val="000000"/>
                </a:solidFill>
                <a:effectLst/>
              </a:defRPr>
            </a:pPr>
            <a:r>
              <a:rPr sz="2000">
                <a:effectLst>
                  <a:outerShdw blurRad="101600" dist="12072" dir="3600000" rotWithShape="0">
                    <a:srgbClr val="000000">
                      <a:alpha val="30000"/>
                    </a:srgbClr>
                  </a:outerShdw>
                </a:effectLst>
              </a:rPr>
              <a:t>FUNCIONAMENTO –  ESSE DPTO TAMBEM EH RESPONSÁVEL PELA RETIRADA DOS PRODUTOS DO CHAO DE FABRICA E PELA ENTREGA DOS INSUMOS PARA A FABRICAÇÃO. ESSAS ENTREGAS DE INSUMOS SAO CHAMADAS DE “PUXADAS” E ACONTECEM VARIAS VEZES AO DIA. ENTENDAM QUE QUEM ENTREGA AS MATÉRIAS PRIMAS SAO OS FORNECEDORES.</a:t>
            </a:r>
          </a:p>
          <a:p>
            <a:pPr marL="0" lvl="0" indent="0" defTabSz="869226">
              <a:spcBef>
                <a:spcPts val="1800"/>
              </a:spcBef>
              <a:buSzTx/>
              <a:buFontTx/>
              <a:buNone/>
              <a:defRPr sz="1800">
                <a:solidFill>
                  <a:srgbClr val="000000"/>
                </a:solidFill>
                <a:effectLst/>
              </a:defRPr>
            </a:pPr>
            <a:r>
              <a:rPr sz="2000">
                <a:effectLst>
                  <a:outerShdw blurRad="101600" dist="12072" dir="3600000" rotWithShape="0">
                    <a:srgbClr val="000000">
                      <a:alpha val="30000"/>
                    </a:srgbClr>
                  </a:outerShdw>
                </a:effectLst>
              </a:rPr>
              <a:t>A ENTREGA DOS PRODUTOS NOS DEPÓSITOS REGIONAIS DEPENDE DO FATURAMENTO EM CADA REGIAO E ACONTECE DE ACORDO COM O VOLUME FATURADO PARA A REGIAO.</a:t>
            </a:r>
          </a:p>
          <a:p>
            <a:pPr marL="0" lvl="0" indent="0" defTabSz="869226">
              <a:spcBef>
                <a:spcPts val="1800"/>
              </a:spcBef>
              <a:buSzTx/>
              <a:buFontTx/>
              <a:buNone/>
              <a:defRPr sz="1800">
                <a:solidFill>
                  <a:srgbClr val="000000"/>
                </a:solidFill>
                <a:effectLst/>
              </a:defRPr>
            </a:pPr>
            <a:r>
              <a:rPr sz="2000">
                <a:effectLst>
                  <a:outerShdw blurRad="101600" dist="12072" dir="3600000" rotWithShape="0">
                    <a:srgbClr val="000000">
                      <a:alpha val="30000"/>
                    </a:srgbClr>
                  </a:outerShdw>
                </a:effectLst>
              </a:rPr>
              <a:t>CONTROLA TAMBEM OS CAMINHÕES QUE FICAM NESSES DEPÓSITOS PARA EMERGÊNCIAS.</a:t>
            </a:r>
          </a:p>
        </p:txBody>
      </p:sp>
      <p:sp>
        <p:nvSpPr>
          <p:cNvPr id="85" name="Shape 85"/>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88" name="Shape 88"/>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89" name="Shape 89"/>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pic>
        <p:nvPicPr>
          <p:cNvPr id="90" name="image5.png"/>
          <p:cNvPicPr/>
          <p:nvPr/>
        </p:nvPicPr>
        <p:blipFill>
          <a:blip r:embed="rId2"/>
          <a:srcRect t="16546" b="16546"/>
          <a:stretch>
            <a:fillRect/>
          </a:stretch>
        </p:blipFill>
        <p:spPr>
          <a:xfrm>
            <a:off x="0" y="1600200"/>
            <a:ext cx="9017000" cy="5113338"/>
          </a:xfrm>
          <a:prstGeom prst="rect">
            <a:avLst/>
          </a:prstGeom>
          <a:ln w="12700">
            <a:miter lim="400000"/>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92" name="Shape 92"/>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94" name="Shape 94"/>
          <p:cNvSpPr>
            <a:spLocks noGrp="1"/>
          </p:cNvSpPr>
          <p:nvPr>
            <p:ph type="body" idx="1"/>
          </p:nvPr>
        </p:nvSpPr>
        <p:spPr>
          <a:xfrm>
            <a:off x="0" y="1168548"/>
            <a:ext cx="9144000" cy="5689452"/>
          </a:xfrm>
          <a:prstGeom prst="rect">
            <a:avLst/>
          </a:prstGeom>
        </p:spPr>
        <p:txBody>
          <a:bodyPr/>
          <a:lstStyle/>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TEM COMO RESPONSABILIDADE MANTER OS ESTOQUES DISPONÍVEIS PARA FATURAMENTO EM TODOS OS DEPÓSITOS UTILIZADOS PELO SISTEMA.</a:t>
            </a:r>
            <a:endParaRPr sz="2000"/>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DEVE PROVIDENCIAR TAMBEM PARA QUE SEMPRE HAJA ESPACO PARA O ARMAZENAMENTO DOS PRODUTOS FABRICADOS, BEM COMO DOS INSUMOS RECEBIDOS.</a:t>
            </a:r>
            <a:endParaRPr sz="2000"/>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O CARREGAMENTO DOS CAMINHÕES TAMBEM HE DE SUA RESPONSABILIDADE, SENDO O SETOR QUE MANUSEIA O ROMANEIO DE CARGA, DISPONDO A CARGA DE MODO MAIS FACIL PARA ENTREGA.</a:t>
            </a:r>
            <a:endParaRPr sz="2000"/>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AS EMPILHADEIRAS TAMBEM FAZEM PARTE DO DIA A DIA.</a:t>
            </a:r>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Obs: Atualmente já existem empilhadeiras controladas por software, que distribuem os produtos para seus lugares sem utilizar pessoas.</a:t>
            </a:r>
          </a:p>
        </p:txBody>
      </p:sp>
      <p:sp>
        <p:nvSpPr>
          <p:cNvPr id="93" name="Shape 93"/>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96" name="Shape 96"/>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98" name="Shape 98"/>
          <p:cNvSpPr>
            <a:spLocks noGrp="1"/>
          </p:cNvSpPr>
          <p:nvPr>
            <p:ph type="body" idx="1"/>
          </p:nvPr>
        </p:nvSpPr>
        <p:spPr>
          <a:xfrm>
            <a:off x="0" y="1274911"/>
            <a:ext cx="9144000" cy="5583089"/>
          </a:xfrm>
          <a:prstGeom prst="rect">
            <a:avLst/>
          </a:prstGeom>
        </p:spPr>
        <p:txBody>
          <a:bodyPr/>
          <a:lstStyle>
            <a:lvl1pPr marL="1083732" indent="-1083732">
              <a:buClr>
                <a:srgbClr val="000000"/>
              </a:buClr>
              <a:defRPr sz="2100">
                <a:solidFill>
                  <a:srgbClr val="000000"/>
                </a:solidFill>
              </a:defRPr>
            </a:lvl1pPr>
          </a:lstStyle>
          <a:p>
            <a:pPr lvl="0">
              <a:defRPr sz="1800">
                <a:effectLst/>
              </a:defRPr>
            </a:pPr>
            <a:r>
              <a:rPr sz="2100" dirty="0">
                <a:effectLst>
                  <a:outerShdw blurRad="101600" dist="12700" dir="3600000" rotWithShape="0">
                    <a:srgbClr val="000000">
                      <a:alpha val="30000"/>
                    </a:srgbClr>
                  </a:outerShdw>
                </a:effectLst>
              </a:rPr>
              <a:t>FUNCIONAMENTO – OS DEPÓSITOS TRABALHAM 24 HORAS POR DIA</a:t>
            </a:r>
            <a:r>
              <a:rPr lang="pt-BR" sz="2100" dirty="0">
                <a:effectLst>
                  <a:outerShdw blurRad="101600" dist="12700" dir="3600000" rotWithShape="0">
                    <a:srgbClr val="000000">
                      <a:alpha val="30000"/>
                    </a:srgbClr>
                  </a:outerShdw>
                </a:effectLst>
              </a:rPr>
              <a:t>,</a:t>
            </a:r>
            <a:r>
              <a:rPr sz="2100" dirty="0">
                <a:effectLst>
                  <a:outerShdw blurRad="101600" dist="12700" dir="3600000" rotWithShape="0">
                    <a:srgbClr val="000000">
                      <a:alpha val="30000"/>
                    </a:srgbClr>
                  </a:outerShdw>
                </a:effectLst>
              </a:rPr>
              <a:t> EM TRES TURNOS DE OITO HORAS. </a:t>
            </a:r>
            <a:endParaRPr lang="pt-BR" sz="2100" dirty="0">
              <a:effectLst>
                <a:outerShdw blurRad="101600" dist="12700" dir="3600000" rotWithShape="0">
                  <a:srgbClr val="000000">
                    <a:alpha val="30000"/>
                  </a:srgbClr>
                </a:outerShdw>
              </a:effectLst>
            </a:endParaRPr>
          </a:p>
          <a:p>
            <a:pPr lvl="0">
              <a:defRPr sz="1800">
                <a:effectLst/>
              </a:defRPr>
            </a:pPr>
            <a:r>
              <a:rPr sz="2100" dirty="0">
                <a:effectLst>
                  <a:outerShdw blurRad="101600" dist="12700" dir="3600000" rotWithShape="0">
                    <a:srgbClr val="000000">
                      <a:alpha val="30000"/>
                    </a:srgbClr>
                  </a:outerShdw>
                </a:effectLst>
              </a:rPr>
              <a:t>QUANDO AS NOTAS FISCAIS CHEGAM AOS DEPÓSITOS POR VOLTA DAS TRES HORAS DA MADRUGADA, O PESSOAL DO DEPOSITO COM APOIO NO ROMANEIO INICIA O TRABALHO DE SEPARAÇÃO DE CARGA E CARREGAMENTO DOS CAMINHÕES. </a:t>
            </a:r>
            <a:endParaRPr lang="pt-BR" sz="2100" dirty="0">
              <a:effectLst>
                <a:outerShdw blurRad="101600" dist="12700" dir="3600000" rotWithShape="0">
                  <a:srgbClr val="000000">
                    <a:alpha val="30000"/>
                  </a:srgbClr>
                </a:outerShdw>
              </a:effectLst>
            </a:endParaRPr>
          </a:p>
          <a:p>
            <a:pPr lvl="0">
              <a:defRPr sz="1800">
                <a:effectLst/>
              </a:defRPr>
            </a:pPr>
            <a:r>
              <a:rPr sz="2100" dirty="0">
                <a:effectLst>
                  <a:outerShdw blurRad="101600" dist="12700" dir="3600000" rotWithShape="0">
                    <a:srgbClr val="000000">
                      <a:alpha val="30000"/>
                    </a:srgbClr>
                  </a:outerShdw>
                </a:effectLst>
              </a:rPr>
              <a:t>PRIMEIRO DEVEM SER CARREGADOS OS CAMINHÕES QUE FARAO ENTREGAS NO CENTRO DA CIDADE OU EM LUGARES COM RESTRIÇÃO DE HORÁRIOS. DEPOIS OS QUE FARAO AS ENTREGAS ATE O MEIO DIA E DEPOIS OS DEMAIS. PARA ISSO AS EMPILHADEIRAS DEVEM FICAR DISPONÍVEIS E FUNCIONANDO BEM.</a:t>
            </a:r>
          </a:p>
        </p:txBody>
      </p:sp>
      <p:sp>
        <p:nvSpPr>
          <p:cNvPr id="97" name="Shape 97"/>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00" name="Shape 100"/>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102" name="Shape 102"/>
          <p:cNvSpPr>
            <a:spLocks noGrp="1"/>
          </p:cNvSpPr>
          <p:nvPr>
            <p:ph type="body" idx="1"/>
          </p:nvPr>
        </p:nvSpPr>
        <p:spPr>
          <a:xfrm>
            <a:off x="0" y="1182290"/>
            <a:ext cx="9144000" cy="5675710"/>
          </a:xfrm>
          <a:prstGeom prst="rect">
            <a:avLst/>
          </a:prstGeom>
        </p:spPr>
        <p:txBody>
          <a:bodyPr/>
          <a:lstStyle/>
          <a:p>
            <a:pPr marL="0" lvl="0" indent="0">
              <a:buSzTx/>
              <a:buFontTx/>
              <a:buNone/>
              <a:defRPr sz="1800">
                <a:solidFill>
                  <a:srgbClr val="000000"/>
                </a:solidFill>
                <a:effectLst/>
              </a:defRPr>
            </a:pPr>
            <a:r>
              <a:rPr sz="2100">
                <a:effectLst>
                  <a:outerShdw blurRad="101600" dist="12700" dir="3600000" rotWithShape="0">
                    <a:srgbClr val="000000">
                      <a:alpha val="30000"/>
                    </a:srgbClr>
                  </a:outerShdw>
                </a:effectLst>
              </a:rPr>
              <a:t>FUNCIONAMENTO – PREPARA TAMBEM AS CARGAS PARA ABASTECIMENTO INTERNO, OU SEJA, DOS DEPÓSITOS REGIONAIS, QUE EXECUTAM AS MESMAS FUNÇÕES DO DEPOSITO CENTRAL.</a:t>
            </a:r>
            <a:endParaRPr sz="2100"/>
          </a:p>
          <a:p>
            <a:pPr marL="0" lvl="0" indent="0">
              <a:buSzTx/>
              <a:buFontTx/>
              <a:buNone/>
              <a:defRPr sz="1800">
                <a:solidFill>
                  <a:srgbClr val="000000"/>
                </a:solidFill>
                <a:effectLst/>
              </a:defRPr>
            </a:pPr>
            <a:r>
              <a:rPr sz="2100">
                <a:effectLst>
                  <a:outerShdw blurRad="101600" dist="12700" dir="3600000" rotWithShape="0">
                    <a:srgbClr val="000000">
                      <a:alpha val="30000"/>
                    </a:srgbClr>
                  </a:outerShdw>
                </a:effectLst>
              </a:rPr>
              <a:t>ALEM DE RECEBER AS POSIÇÕES DOS ESTOQUES DE CADA PRODUTO, EM CADA REGIAO, PRECISAM CHECAR OS PEDIDOS PENDENTES, PRINCIPALMENTE OS QUE FICARAM POR FALTA DE ESTOQUE NA REGIAO. (Relatório emitido pelo faturamento)</a:t>
            </a:r>
          </a:p>
          <a:p>
            <a:pPr marL="0" lvl="0" indent="0">
              <a:buSzTx/>
              <a:buFontTx/>
              <a:buNone/>
              <a:defRPr sz="1800">
                <a:solidFill>
                  <a:srgbClr val="000000"/>
                </a:solidFill>
                <a:effectLst/>
              </a:defRPr>
            </a:pPr>
            <a:r>
              <a:rPr sz="2100">
                <a:effectLst>
                  <a:outerShdw blurRad="101600" dist="12700" dir="3600000" rotWithShape="0">
                    <a:srgbClr val="000000">
                      <a:alpha val="30000"/>
                    </a:srgbClr>
                  </a:outerShdw>
                </a:effectLst>
              </a:rPr>
              <a:t>ESSES FICAM COM PRIORIDADE ZERO PARA ABASTECIMENTO, POIS A FALTA DE UM OU DOIS PRODUTOS POR UM PERÍODO LONGO, PODE LEVAR AO CANCELAMENTO DO PEDIDO E POR CONSEQÜÊNCIA A PERDA DA VENDA.</a:t>
            </a:r>
          </a:p>
        </p:txBody>
      </p:sp>
      <p:sp>
        <p:nvSpPr>
          <p:cNvPr id="101" name="Shape 101"/>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04" name="Shape 104"/>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106" name="Shape 106"/>
          <p:cNvSpPr>
            <a:spLocks noGrp="1"/>
          </p:cNvSpPr>
          <p:nvPr>
            <p:ph type="body" idx="1"/>
          </p:nvPr>
        </p:nvSpPr>
        <p:spPr>
          <a:xfrm>
            <a:off x="0" y="1600200"/>
            <a:ext cx="9144000" cy="5257800"/>
          </a:xfrm>
          <a:prstGeom prst="rect">
            <a:avLst/>
          </a:prstGeom>
        </p:spPr>
        <p:txBody>
          <a:bodyPr/>
          <a:lstStyle/>
          <a:p>
            <a:pPr marL="0" lvl="0" indent="0">
              <a:buSzTx/>
              <a:buFontTx/>
              <a:buNone/>
              <a:defRPr sz="1800">
                <a:solidFill>
                  <a:srgbClr val="000000"/>
                </a:solidFill>
                <a:effectLst/>
              </a:defRPr>
            </a:pPr>
            <a:r>
              <a:rPr sz="2400" dirty="0">
                <a:effectLst>
                  <a:outerShdw blurRad="101600" dist="12700" dir="3600000" rotWithShape="0">
                    <a:srgbClr val="000000">
                      <a:alpha val="30000"/>
                    </a:srgbClr>
                  </a:outerShdw>
                </a:effectLst>
              </a:rPr>
              <a:t>F</a:t>
            </a:r>
            <a:r>
              <a:rPr sz="2100" dirty="0">
                <a:effectLst>
                  <a:outerShdw blurRad="101600" dist="12700" dir="3600000" rotWithShape="0">
                    <a:srgbClr val="000000">
                      <a:alpha val="30000"/>
                    </a:srgbClr>
                  </a:outerShdw>
                </a:effectLst>
              </a:rPr>
              <a:t>UNCIONAMENTO – DEVE ESTAR PREPARADO PARA RECEBER AS DEVOLUÇÕES DE PRODUTOS, A TAMBEM CONHECIDA COMO LOGÍSTICA REVERSA. ESSES PRODUTOS TEM QUE FICAR ESTOCADOS ATE QUE HAJA UMA DECISÃO DO QUE FAZER COM ELES.</a:t>
            </a:r>
            <a:endParaRPr sz="2100" dirty="0"/>
          </a:p>
          <a:p>
            <a:pPr marL="0" lvl="0" indent="0">
              <a:buSzTx/>
              <a:buFontTx/>
              <a:buNone/>
              <a:defRPr sz="1800">
                <a:solidFill>
                  <a:srgbClr val="000000"/>
                </a:solidFill>
                <a:effectLst/>
              </a:defRPr>
            </a:pPr>
            <a:r>
              <a:rPr sz="2100" dirty="0">
                <a:effectLst>
                  <a:outerShdw blurRad="101600" dist="12700" dir="3600000" rotWithShape="0">
                    <a:srgbClr val="000000">
                      <a:alpha val="30000"/>
                    </a:srgbClr>
                  </a:outerShdw>
                </a:effectLst>
              </a:rPr>
              <a:t>RECEBE VARIOS RELATÓRIOS E ENTRE ELES UM QUE MOSTRA O FATURAMENTO POR REGIAO EM TERMOS DE QUANTIDADES E VALORES. POR ESSE RELATÓRIO E O DE PENDENTES SABEM DEFINIR AS PRIORIDADES DE ABASTECIMENTO.</a:t>
            </a:r>
          </a:p>
          <a:p>
            <a:pPr marL="0" lvl="0" indent="0">
              <a:buSzTx/>
              <a:buFontTx/>
              <a:buNone/>
              <a:defRPr sz="1800">
                <a:solidFill>
                  <a:srgbClr val="000000"/>
                </a:solidFill>
                <a:effectLst/>
              </a:defRPr>
            </a:pPr>
            <a:r>
              <a:rPr sz="2100" dirty="0" err="1">
                <a:effectLst>
                  <a:outerShdw blurRad="101600" dist="12700" dir="3600000" rotWithShape="0">
                    <a:srgbClr val="000000">
                      <a:alpha val="30000"/>
                    </a:srgbClr>
                  </a:outerShdw>
                </a:effectLst>
              </a:rPr>
              <a:t>Obs</a:t>
            </a:r>
            <a:r>
              <a:rPr sz="2100" dirty="0">
                <a:effectLst>
                  <a:outerShdw blurRad="101600" dist="12700" dir="3600000" rotWithShape="0">
                    <a:srgbClr val="000000">
                      <a:alpha val="30000"/>
                    </a:srgbClr>
                  </a:outerShdw>
                </a:effectLst>
              </a:rPr>
              <a:t>: Priori</a:t>
            </a:r>
            <a:r>
              <a:rPr lang="pt-BR" sz="2100" dirty="0" err="1">
                <a:effectLst>
                  <a:outerShdw blurRad="101600" dist="12700" dir="3600000" rotWithShape="0">
                    <a:srgbClr val="000000">
                      <a:alpha val="30000"/>
                    </a:srgbClr>
                  </a:outerShdw>
                </a:effectLst>
              </a:rPr>
              <a:t>tarios</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são</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os</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clientes</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especiais</a:t>
            </a:r>
            <a:r>
              <a:rPr sz="2100" dirty="0">
                <a:effectLst>
                  <a:outerShdw blurRad="101600" dist="12700" dir="3600000" rotWithShape="0">
                    <a:srgbClr val="000000">
                      <a:alpha val="30000"/>
                    </a:srgbClr>
                  </a:outerShdw>
                </a:effectLst>
              </a:rPr>
              <a:t> da </a:t>
            </a:r>
            <a:r>
              <a:rPr sz="2100" dirty="0" err="1">
                <a:effectLst>
                  <a:outerShdw blurRad="101600" dist="12700" dir="3600000" rotWithShape="0">
                    <a:srgbClr val="000000">
                      <a:alpha val="30000"/>
                    </a:srgbClr>
                  </a:outerShdw>
                </a:effectLst>
              </a:rPr>
              <a:t>região</a:t>
            </a:r>
            <a:r>
              <a:rPr sz="2100" dirty="0">
                <a:effectLst>
                  <a:outerShdw blurRad="101600" dist="12700" dir="3600000" rotWithShape="0">
                    <a:srgbClr val="000000">
                      <a:alpha val="30000"/>
                    </a:srgbClr>
                  </a:outerShdw>
                </a:effectLst>
              </a:rPr>
              <a:t> que </a:t>
            </a:r>
            <a:r>
              <a:rPr sz="2100" dirty="0" err="1">
                <a:effectLst>
                  <a:outerShdw blurRad="101600" dist="12700" dir="3600000" rotWithShape="0">
                    <a:srgbClr val="000000">
                      <a:alpha val="30000"/>
                    </a:srgbClr>
                  </a:outerShdw>
                </a:effectLst>
              </a:rPr>
              <a:t>não</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podem</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deixar</a:t>
            </a:r>
            <a:r>
              <a:rPr sz="2100" dirty="0">
                <a:effectLst>
                  <a:outerShdw blurRad="101600" dist="12700" dir="3600000" rotWithShape="0">
                    <a:srgbClr val="000000">
                      <a:alpha val="30000"/>
                    </a:srgbClr>
                  </a:outerShdw>
                </a:effectLst>
              </a:rPr>
              <a:t> de ser </a:t>
            </a:r>
            <a:r>
              <a:rPr sz="2100" dirty="0" err="1">
                <a:effectLst>
                  <a:outerShdw blurRad="101600" dist="12700" dir="3600000" rotWithShape="0">
                    <a:srgbClr val="000000">
                      <a:alpha val="30000"/>
                    </a:srgbClr>
                  </a:outerShdw>
                </a:effectLst>
              </a:rPr>
              <a:t>atendidos</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pelo</a:t>
            </a:r>
            <a:r>
              <a:rPr sz="2100" dirty="0">
                <a:effectLst>
                  <a:outerShdw blurRad="101600" dist="12700" dir="3600000" rotWithShape="0">
                    <a:srgbClr val="000000">
                      <a:alpha val="30000"/>
                    </a:srgbClr>
                  </a:outerShdw>
                </a:effectLst>
              </a:rPr>
              <a:t> volume de </a:t>
            </a:r>
            <a:r>
              <a:rPr sz="2100" dirty="0" err="1">
                <a:effectLst>
                  <a:outerShdw blurRad="101600" dist="12700" dir="3600000" rotWithShape="0">
                    <a:srgbClr val="000000">
                      <a:alpha val="30000"/>
                    </a:srgbClr>
                  </a:outerShdw>
                </a:effectLst>
              </a:rPr>
              <a:t>produtos</a:t>
            </a:r>
            <a:r>
              <a:rPr sz="2100" dirty="0">
                <a:effectLst>
                  <a:outerShdw blurRad="101600" dist="12700" dir="3600000" rotWithShape="0">
                    <a:srgbClr val="000000">
                      <a:alpha val="30000"/>
                    </a:srgbClr>
                  </a:outerShdw>
                </a:effectLst>
              </a:rPr>
              <a:t> </a:t>
            </a:r>
            <a:r>
              <a:rPr sz="2100" dirty="0" err="1">
                <a:effectLst>
                  <a:outerShdw blurRad="101600" dist="12700" dir="3600000" rotWithShape="0">
                    <a:srgbClr val="000000">
                      <a:alpha val="30000"/>
                    </a:srgbClr>
                  </a:outerShdw>
                </a:effectLst>
              </a:rPr>
              <a:t>adquiridos</a:t>
            </a:r>
            <a:r>
              <a:rPr sz="2100" dirty="0">
                <a:effectLst>
                  <a:outerShdw blurRad="101600" dist="12700" dir="3600000" rotWithShape="0">
                    <a:srgbClr val="000000">
                      <a:alpha val="30000"/>
                    </a:srgbClr>
                  </a:outerShdw>
                </a:effectLst>
              </a:rPr>
              <a:t>.</a:t>
            </a:r>
          </a:p>
        </p:txBody>
      </p:sp>
      <p:sp>
        <p:nvSpPr>
          <p:cNvPr id="105" name="Shape 105"/>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08" name="Shape 108"/>
          <p:cNvSpPr>
            <a:spLocks noGrp="1"/>
          </p:cNvSpPr>
          <p:nvPr>
            <p:ph type="title"/>
          </p:nvPr>
        </p:nvSpPr>
        <p:spPr>
          <a:xfrm>
            <a:off x="779462" y="89646"/>
            <a:ext cx="7583490" cy="1143001"/>
          </a:xfrm>
          <a:prstGeom prst="rect">
            <a:avLst/>
          </a:prstGeom>
        </p:spPr>
        <p:txBody>
          <a:bodyPr lIns="0" tIns="0" rIns="0" bIns="0">
            <a:normAutofit/>
          </a:bodyPr>
          <a:lstStyle>
            <a:lvl1pPr defTabSz="722376">
              <a:defRPr sz="3700">
                <a:solidFill>
                  <a:srgbClr val="000000"/>
                </a:solidFill>
                <a:effectLst>
                  <a:outerShdw blurRad="76200" dist="10033" dir="3600000" rotWithShape="0">
                    <a:srgbClr val="000000">
                      <a:alpha val="30000"/>
                    </a:srgbClr>
                  </a:outerShdw>
                </a:effectLst>
              </a:defRPr>
            </a:lvl1pPr>
          </a:lstStyle>
          <a:p>
            <a:pPr lvl="0">
              <a:defRPr sz="1800" b="0">
                <a:effectLst/>
              </a:defRPr>
            </a:pPr>
            <a:r>
              <a:rPr sz="3700" b="1">
                <a:effectLst>
                  <a:outerShdw blurRad="76200" dist="10033" dir="3600000" rotWithShape="0">
                    <a:srgbClr val="000000">
                      <a:alpha val="30000"/>
                    </a:srgbClr>
                  </a:outerShdw>
                </a:effectLst>
              </a:rPr>
              <a:t>GERENCIAMENTO DE DEPÓSITOS</a:t>
            </a:r>
          </a:p>
        </p:txBody>
      </p:sp>
      <p:sp>
        <p:nvSpPr>
          <p:cNvPr id="110" name="Shape 110"/>
          <p:cNvSpPr>
            <a:spLocks noGrp="1"/>
          </p:cNvSpPr>
          <p:nvPr>
            <p:ph type="body" idx="1"/>
          </p:nvPr>
        </p:nvSpPr>
        <p:spPr>
          <a:xfrm>
            <a:off x="0" y="1196082"/>
            <a:ext cx="9144000" cy="5661918"/>
          </a:xfrm>
          <a:prstGeom prst="rect">
            <a:avLst/>
          </a:prstGeom>
        </p:spPr>
        <p:txBody>
          <a:bodyPr/>
          <a:lstStyle/>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ALGUNS DEPÓSITOS, MANTEM UMA PEQUENA FROTA DE CAMINHÕES PEQUENOS, PARA EMERGÊNCIAS DO TIPO, QUEBRA DE CAMINHÕES, BATIDAS, ASSALTOS AO MOTORISTA, ETC. ISSO ACONTECE PORQUE EM CERTAS LOCALIDADES CONSIDERADAS PERIGOSAS O SEGURO DA CARGA FICA MUITO CARO INVIABILIZANDO AS ENTREGAS. LUGARES COMO A BAIXADA FLUMINENSE, PERIFERIA DE BRASILIA, SAO PAULO, ETC. CONVIVEM COM ROUBOS DE CARGA CONSTANTES. ALGUMA VEZES ESSES CAMINHÕES PEQUENOS ALOCADOS AO DEPOSITO, PERTENCEM A ALGUM CHEFAO DA COMUNIDADE E PODEM TRANSITAR LIVREMENTE POR ESSES LOCAIS. O MAIS INTERESSANTE EH QUE NINGUÉM ASSUME ISSO….</a:t>
            </a:r>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Obs: Ha bem pouco tempo, em Paraisopolis, aqui em Sao Paulo era cobrado um pedágio pelos traficantes para garantir que a carga chegasse intacta aos compradores. As transportadoras incluíam essa taxa ao valor do frete.</a:t>
            </a:r>
          </a:p>
        </p:txBody>
      </p:sp>
      <p:sp>
        <p:nvSpPr>
          <p:cNvPr id="109" name="Shape 109"/>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 name="Shape 112"/>
          <p:cNvSpPr>
            <a:spLocks noGrp="1"/>
          </p:cNvSpPr>
          <p:nvPr>
            <p:ph type="title"/>
          </p:nvPr>
        </p:nvSpPr>
        <p:spPr>
          <a:xfrm>
            <a:off x="779462" y="89646"/>
            <a:ext cx="7583490" cy="1143001"/>
          </a:xfrm>
          <a:prstGeom prst="rect">
            <a:avLst/>
          </a:prstGeom>
        </p:spPr>
        <p:txBody>
          <a:bodyPr lIns="0" tIns="0" rIns="0" bIns="0">
            <a:normAutofit/>
          </a:bodyPr>
          <a:lstStyle>
            <a:lvl1pPr defTabSz="649223">
              <a:defRPr sz="3400">
                <a:solidFill>
                  <a:srgbClr val="000000"/>
                </a:solidFill>
                <a:effectLst>
                  <a:outerShdw blurRad="76200" dist="9017" dir="3600000" rotWithShape="0">
                    <a:srgbClr val="000000">
                      <a:alpha val="30000"/>
                    </a:srgbClr>
                  </a:outerShdw>
                </a:effectLst>
              </a:defRPr>
            </a:lvl1pPr>
          </a:lstStyle>
          <a:p>
            <a:pPr lvl="0">
              <a:defRPr sz="1800" b="0">
                <a:effectLst/>
              </a:defRPr>
            </a:pPr>
            <a:r>
              <a:rPr sz="3400" b="1">
                <a:effectLst>
                  <a:outerShdw blurRad="76200" dist="9017" dir="3600000" rotWithShape="0">
                    <a:srgbClr val="000000">
                      <a:alpha val="30000"/>
                    </a:srgbClr>
                  </a:outerShdw>
                </a:effectLst>
              </a:rPr>
              <a:t>GERENCIAMENTO DE TRANSPORTADORAS</a:t>
            </a:r>
          </a:p>
        </p:txBody>
      </p:sp>
      <p:sp>
        <p:nvSpPr>
          <p:cNvPr id="113" name="Shape 113"/>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pic>
        <p:nvPicPr>
          <p:cNvPr id="114" name="image1.jpeg"/>
          <p:cNvPicPr/>
          <p:nvPr/>
        </p:nvPicPr>
        <p:blipFill>
          <a:blip r:embed="rId2"/>
          <a:srcRect t="13451" b="13451"/>
          <a:stretch>
            <a:fillRect/>
          </a:stretch>
        </p:blipFill>
        <p:spPr>
          <a:xfrm>
            <a:off x="0" y="1600199"/>
            <a:ext cx="9144000" cy="5257802"/>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16" name="Shape 116"/>
          <p:cNvSpPr>
            <a:spLocks noGrp="1"/>
          </p:cNvSpPr>
          <p:nvPr>
            <p:ph type="title"/>
          </p:nvPr>
        </p:nvSpPr>
        <p:spPr>
          <a:xfrm>
            <a:off x="779462" y="89646"/>
            <a:ext cx="7583490" cy="1143001"/>
          </a:xfrm>
          <a:prstGeom prst="rect">
            <a:avLst/>
          </a:prstGeom>
        </p:spPr>
        <p:txBody>
          <a:bodyPr lIns="0" tIns="0" rIns="0" bIns="0">
            <a:normAutofit/>
          </a:bodyPr>
          <a:lstStyle>
            <a:lvl1pPr defTabSz="649223">
              <a:defRPr sz="3400">
                <a:solidFill>
                  <a:srgbClr val="000000"/>
                </a:solidFill>
                <a:effectLst>
                  <a:outerShdw blurRad="76200" dist="9017" dir="3600000" rotWithShape="0">
                    <a:srgbClr val="000000">
                      <a:alpha val="30000"/>
                    </a:srgbClr>
                  </a:outerShdw>
                </a:effectLst>
              </a:defRPr>
            </a:lvl1pPr>
          </a:lstStyle>
          <a:p>
            <a:pPr lvl="0">
              <a:defRPr sz="1800" b="0">
                <a:effectLst/>
              </a:defRPr>
            </a:pPr>
            <a:r>
              <a:rPr sz="3400" b="1">
                <a:effectLst>
                  <a:outerShdw blurRad="76200" dist="9017" dir="3600000" rotWithShape="0">
                    <a:srgbClr val="000000">
                      <a:alpha val="30000"/>
                    </a:srgbClr>
                  </a:outerShdw>
                </a:effectLst>
              </a:rPr>
              <a:t>GERENCIAMENTO DE TRANSPORTADORAS</a:t>
            </a:r>
          </a:p>
        </p:txBody>
      </p:sp>
      <p:sp>
        <p:nvSpPr>
          <p:cNvPr id="118" name="Shape 118"/>
          <p:cNvSpPr>
            <a:spLocks noGrp="1"/>
          </p:cNvSpPr>
          <p:nvPr>
            <p:ph type="body" idx="1"/>
          </p:nvPr>
        </p:nvSpPr>
        <p:spPr>
          <a:xfrm>
            <a:off x="72571" y="1336459"/>
            <a:ext cx="8998858" cy="5257801"/>
          </a:xfrm>
          <a:prstGeom prst="rect">
            <a:avLst/>
          </a:prstGeom>
        </p:spPr>
        <p:txBody>
          <a:bodyPr/>
          <a:lstStyle/>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RESPONSABILIDADES : </a:t>
            </a:r>
            <a:endParaRPr sz="2200"/>
          </a:p>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MANTER O CADASTRO DE TRANSPORTADORAS ATUALIZADO</a:t>
            </a:r>
            <a:endParaRPr sz="2200"/>
          </a:p>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RENOVAR OS CONTRATOS E PROCURAR NOVOS PARCEIROS COM MELHORES PRECOS</a:t>
            </a:r>
            <a:endParaRPr sz="2200"/>
          </a:p>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MAPEAR AS AREAS COM MAIOR CONCENTRAÇÃO DE ENTREGAS.</a:t>
            </a:r>
            <a:endParaRPr sz="2200"/>
          </a:p>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CONSEGUIR LIGAÇÕES TERRESTRES E FLUVIAIS.</a:t>
            </a:r>
            <a:endParaRPr sz="2200"/>
          </a:p>
          <a:p>
            <a:pPr marL="0" lvl="0" indent="0">
              <a:buSzTx/>
              <a:buFontTx/>
              <a:buNone/>
              <a:defRPr sz="1800">
                <a:solidFill>
                  <a:srgbClr val="000000"/>
                </a:solidFill>
                <a:effectLst/>
              </a:defRPr>
            </a:pPr>
            <a:r>
              <a:rPr sz="2200">
                <a:effectLst>
                  <a:outerShdw blurRad="101600" dist="12700" dir="3600000" rotWithShape="0">
                    <a:srgbClr val="000000">
                      <a:alpha val="30000"/>
                    </a:srgbClr>
                  </a:outerShdw>
                </a:effectLst>
              </a:rPr>
              <a:t>NEGOCIAR  OS SEGUROS DAS CARGAS E CAMINHÕES</a:t>
            </a:r>
          </a:p>
        </p:txBody>
      </p:sp>
      <p:sp>
        <p:nvSpPr>
          <p:cNvPr id="117" name="Shape 117"/>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20" name="Shape 120"/>
          <p:cNvSpPr>
            <a:spLocks noGrp="1"/>
          </p:cNvSpPr>
          <p:nvPr>
            <p:ph type="title"/>
          </p:nvPr>
        </p:nvSpPr>
        <p:spPr>
          <a:xfrm>
            <a:off x="779462" y="89646"/>
            <a:ext cx="7583490" cy="1143001"/>
          </a:xfrm>
          <a:prstGeom prst="rect">
            <a:avLst/>
          </a:prstGeom>
        </p:spPr>
        <p:txBody>
          <a:bodyPr lIns="0" tIns="0" rIns="0" bIns="0">
            <a:normAutofit/>
          </a:bodyPr>
          <a:lstStyle>
            <a:lvl1pPr defTabSz="649223">
              <a:defRPr sz="3400">
                <a:solidFill>
                  <a:srgbClr val="000000"/>
                </a:solidFill>
                <a:effectLst>
                  <a:outerShdw blurRad="76200" dist="9017" dir="3600000" rotWithShape="0">
                    <a:srgbClr val="000000">
                      <a:alpha val="30000"/>
                    </a:srgbClr>
                  </a:outerShdw>
                </a:effectLst>
              </a:defRPr>
            </a:lvl1pPr>
          </a:lstStyle>
          <a:p>
            <a:pPr lvl="0">
              <a:defRPr sz="1800" b="0">
                <a:effectLst/>
              </a:defRPr>
            </a:pPr>
            <a:r>
              <a:rPr sz="3400" b="1">
                <a:effectLst>
                  <a:outerShdw blurRad="76200" dist="9017" dir="3600000" rotWithShape="0">
                    <a:srgbClr val="000000">
                      <a:alpha val="30000"/>
                    </a:srgbClr>
                  </a:outerShdw>
                </a:effectLst>
              </a:rPr>
              <a:t>GERENCIAMENTO DE TRANSPORTADORAS</a:t>
            </a:r>
          </a:p>
        </p:txBody>
      </p:sp>
      <p:sp>
        <p:nvSpPr>
          <p:cNvPr id="122" name="Shape 122"/>
          <p:cNvSpPr>
            <a:spLocks noGrp="1"/>
          </p:cNvSpPr>
          <p:nvPr>
            <p:ph type="body" idx="1"/>
          </p:nvPr>
        </p:nvSpPr>
        <p:spPr>
          <a:xfrm>
            <a:off x="145142" y="1271091"/>
            <a:ext cx="8998857" cy="5586909"/>
          </a:xfrm>
          <a:prstGeom prst="rect">
            <a:avLst/>
          </a:prstGeom>
        </p:spPr>
        <p:txBody>
          <a:bodyPr/>
          <a:lstStyle/>
          <a:p>
            <a:pPr marL="0" lvl="0" indent="0" defTabSz="896111">
              <a:spcBef>
                <a:spcPts val="1900"/>
              </a:spcBef>
              <a:buSzTx/>
              <a:buNone/>
              <a:defRPr sz="1800">
                <a:solidFill>
                  <a:srgbClr val="000000"/>
                </a:solidFill>
                <a:effectLst/>
              </a:defRPr>
            </a:pPr>
            <a:r>
              <a:rPr sz="2300">
                <a:effectLst>
                  <a:outerShdw blurRad="101600" dist="12446" dir="3600000" rotWithShape="0">
                    <a:srgbClr val="000000">
                      <a:alpha val="30000"/>
                    </a:srgbClr>
                  </a:outerShdw>
                </a:effectLst>
              </a:rPr>
              <a:t>MANTER O CADASTRO DE TRANSPORTADORAS ATUALIZADO</a:t>
            </a:r>
            <a:endParaRPr sz="1700"/>
          </a:p>
          <a:p>
            <a:pPr marL="0" lvl="0" indent="0" defTabSz="896111">
              <a:spcBef>
                <a:spcPts val="1900"/>
              </a:spcBef>
              <a:buSzTx/>
              <a:buFontTx/>
              <a:buNone/>
              <a:defRPr sz="1800">
                <a:solidFill>
                  <a:srgbClr val="000000"/>
                </a:solidFill>
                <a:effectLst/>
              </a:defRPr>
            </a:pPr>
            <a:r>
              <a:rPr sz="2300">
                <a:effectLst>
                  <a:outerShdw blurRad="101600" dist="12446" dir="3600000" rotWithShape="0">
                    <a:srgbClr val="000000">
                      <a:alpha val="30000"/>
                    </a:srgbClr>
                  </a:outerShdw>
                </a:effectLst>
              </a:rPr>
              <a:t>S</a:t>
            </a:r>
            <a:r>
              <a:rPr sz="2000">
                <a:effectLst>
                  <a:outerShdw blurRad="101600" dist="12446" dir="3600000" rotWithShape="0">
                    <a:srgbClr val="000000">
                      <a:alpha val="30000"/>
                    </a:srgbClr>
                  </a:outerShdw>
                </a:effectLst>
              </a:rPr>
              <a:t>OMENTE AS GRANDES TRANSPORTADORAS TEM UMA ESTABILIDADE CONFIAVEL, MAS AO MESMO TEMPO SAO AS MAIS CARAS, NAO PODENDO SER USADAS EM TODAS AS ENTREGAS. ENTAO TODO ANO ACONTECE UMA REUNIÃO PARA REVISÃO DE CONTRATOS E ROTAS, BEM COMO DA FROTA QUE DEVERA SER UTILIZADA E AS CONDIÇÕES EM QUE SERAO USADAS.</a:t>
            </a:r>
            <a:endParaRPr sz="2000"/>
          </a:p>
          <a:p>
            <a:pPr marL="0" lvl="0" indent="0" defTabSz="896111">
              <a:spcBef>
                <a:spcPts val="1900"/>
              </a:spcBef>
              <a:buSzTx/>
              <a:buFontTx/>
              <a:buNone/>
              <a:defRPr sz="1800">
                <a:solidFill>
                  <a:srgbClr val="000000"/>
                </a:solidFill>
                <a:effectLst/>
              </a:defRPr>
            </a:pPr>
            <a:r>
              <a:rPr sz="2000">
                <a:effectLst>
                  <a:outerShdw blurRad="101600" dist="12446" dir="3600000" rotWithShape="0">
                    <a:srgbClr val="000000">
                      <a:alpha val="30000"/>
                    </a:srgbClr>
                  </a:outerShdw>
                </a:effectLst>
              </a:rPr>
              <a:t>AS PEQUENAS  E MEDIAS SAO MUITO MAIS BARATAS, MAS SEM A MESMA CONFIABILIDADE. SE UM CAMINHÃO DE UMA GRANDE QUEBRA, ELA EH RESPONSÁVEL PELA MERCADORIA, PELO SEGURO E PELA ENTREGA, TUDO INCLUSO NO VALOR DO FRETE.</a:t>
            </a:r>
          </a:p>
        </p:txBody>
      </p:sp>
      <p:sp>
        <p:nvSpPr>
          <p:cNvPr id="121" name="Shape 121"/>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24" name="Shape 124"/>
          <p:cNvSpPr>
            <a:spLocks noGrp="1"/>
          </p:cNvSpPr>
          <p:nvPr>
            <p:ph type="title"/>
          </p:nvPr>
        </p:nvSpPr>
        <p:spPr>
          <a:xfrm>
            <a:off x="779462" y="89646"/>
            <a:ext cx="7583490" cy="1143001"/>
          </a:xfrm>
          <a:prstGeom prst="rect">
            <a:avLst/>
          </a:prstGeom>
        </p:spPr>
        <p:txBody>
          <a:bodyPr lIns="0" tIns="0" rIns="0" bIns="0">
            <a:normAutofit/>
          </a:bodyPr>
          <a:lstStyle>
            <a:lvl1pPr defTabSz="649223">
              <a:defRPr sz="3400">
                <a:solidFill>
                  <a:srgbClr val="000000"/>
                </a:solidFill>
                <a:effectLst>
                  <a:outerShdw blurRad="76200" dist="9017" dir="3600000" rotWithShape="0">
                    <a:srgbClr val="000000">
                      <a:alpha val="30000"/>
                    </a:srgbClr>
                  </a:outerShdw>
                </a:effectLst>
              </a:defRPr>
            </a:lvl1pPr>
          </a:lstStyle>
          <a:p>
            <a:pPr lvl="0">
              <a:defRPr sz="1800" b="0">
                <a:effectLst/>
              </a:defRPr>
            </a:pPr>
            <a:r>
              <a:rPr sz="3400" b="1">
                <a:effectLst>
                  <a:outerShdw blurRad="76200" dist="9017" dir="3600000" rotWithShape="0">
                    <a:srgbClr val="000000">
                      <a:alpha val="30000"/>
                    </a:srgbClr>
                  </a:outerShdw>
                </a:effectLst>
              </a:rPr>
              <a:t>GERENCIAMENTO DE TRANSPORTADORAS</a:t>
            </a:r>
          </a:p>
        </p:txBody>
      </p:sp>
      <p:sp>
        <p:nvSpPr>
          <p:cNvPr id="126" name="Shape 126"/>
          <p:cNvSpPr>
            <a:spLocks noGrp="1"/>
          </p:cNvSpPr>
          <p:nvPr>
            <p:ph type="body" idx="1"/>
          </p:nvPr>
        </p:nvSpPr>
        <p:spPr>
          <a:xfrm>
            <a:off x="145142" y="1600200"/>
            <a:ext cx="8998857" cy="5257800"/>
          </a:xfrm>
          <a:prstGeom prst="rect">
            <a:avLst/>
          </a:prstGeom>
        </p:spPr>
        <p:txBody>
          <a:bodyPr/>
          <a:lstStyle/>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MANTER O CADASTRO DE TRANSPORTADORAS ATUALIZADO</a:t>
            </a:r>
            <a:endParaRPr sz="2000"/>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3 -  O CADASTRO DE TRANSPORTADORAS PODE TER MAIS DE 80 MIL EMPRESAS CADASTRADAS, POIS FUNCIONA PARA AS REGIÕES MAIS REMOTAS DO PAIS. A ATUALIZAÇÃO DESSE CADASTRO ACONTECE QUASE QUE DIARIAMENTE, POIS MUITAS DESAPARECEM SEM INCLUSIVE AVISAR, MESMO COM UMA DOCUMENTAÇÃO COMPLETA.</a:t>
            </a:r>
            <a:endParaRPr sz="2000"/>
          </a:p>
          <a:p>
            <a:pPr marL="0" lvl="0" indent="0">
              <a:buSzTx/>
              <a:buFontTx/>
              <a:buNone/>
              <a:defRPr sz="1800">
                <a:solidFill>
                  <a:srgbClr val="000000"/>
                </a:solidFill>
                <a:effectLst/>
              </a:defRPr>
            </a:pPr>
            <a:r>
              <a:rPr sz="2000">
                <a:effectLst>
                  <a:outerShdw blurRad="101600" dist="12700" dir="3600000" rotWithShape="0">
                    <a:srgbClr val="000000">
                      <a:alpha val="30000"/>
                    </a:srgbClr>
                  </a:outerShdw>
                </a:effectLst>
              </a:rPr>
              <a:t>4 – OUTRA ENCRENCA EH A NEGOCIAÇÃO DOS CONTRATOS, POIS NORMALMENTE OS DONOS DAS TRANSPORTADORAS, SOMENTE PENSAM NOS LUCROS E PERDER UM CLIENTE MUITO GRANDE E BOM SIGNIFICA UM PREJUÍZO AS VEZES INSUPORTÁVEL. </a:t>
            </a:r>
          </a:p>
        </p:txBody>
      </p:sp>
      <p:sp>
        <p:nvSpPr>
          <p:cNvPr id="125" name="Shape 125"/>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8D3E1"/>
        </a:solidFill>
        <a:effectLst/>
      </p:bgPr>
    </p:bg>
    <p:spTree>
      <p:nvGrpSpPr>
        <p:cNvPr id="1" name=""/>
        <p:cNvGrpSpPr/>
        <p:nvPr/>
      </p:nvGrpSpPr>
      <p:grpSpPr>
        <a:xfrm>
          <a:off x="0" y="0"/>
          <a:ext cx="0" cy="0"/>
          <a:chOff x="0" y="0"/>
          <a:chExt cx="0" cy="0"/>
        </a:xfrm>
      </p:grpSpPr>
      <p:sp>
        <p:nvSpPr>
          <p:cNvPr id="128" name="Shape 128"/>
          <p:cNvSpPr>
            <a:spLocks noGrp="1"/>
          </p:cNvSpPr>
          <p:nvPr>
            <p:ph type="title"/>
          </p:nvPr>
        </p:nvSpPr>
        <p:spPr>
          <a:xfrm>
            <a:off x="779462" y="89646"/>
            <a:ext cx="7583490" cy="1143001"/>
          </a:xfrm>
          <a:prstGeom prst="rect">
            <a:avLst/>
          </a:prstGeom>
        </p:spPr>
        <p:txBody>
          <a:bodyPr lIns="0" tIns="0" rIns="0" bIns="0">
            <a:normAutofit/>
          </a:bodyPr>
          <a:lstStyle>
            <a:lvl1pPr>
              <a:defRPr>
                <a:solidFill>
                  <a:srgbClr val="000000"/>
                </a:solidFill>
              </a:defRPr>
            </a:lvl1pPr>
          </a:lstStyle>
          <a:p>
            <a:pPr lvl="0">
              <a:defRPr sz="1800" b="0">
                <a:effectLst/>
              </a:defRPr>
            </a:pPr>
            <a:r>
              <a:rPr sz="4800" b="1">
                <a:effectLst>
                  <a:outerShdw blurRad="101600" dist="12700" dir="3600000" rotWithShape="0">
                    <a:srgbClr val="000000">
                      <a:alpha val="30000"/>
                    </a:srgbClr>
                  </a:outerShdw>
                </a:effectLst>
              </a:rPr>
              <a:t>CONCLUSÃO</a:t>
            </a:r>
          </a:p>
        </p:txBody>
      </p:sp>
      <p:sp>
        <p:nvSpPr>
          <p:cNvPr id="130" name="Shape 130"/>
          <p:cNvSpPr>
            <a:spLocks noGrp="1"/>
          </p:cNvSpPr>
          <p:nvPr>
            <p:ph type="body" idx="1"/>
          </p:nvPr>
        </p:nvSpPr>
        <p:spPr>
          <a:xfrm>
            <a:off x="145142" y="1316833"/>
            <a:ext cx="8998857" cy="5097548"/>
          </a:xfrm>
          <a:prstGeom prst="rect">
            <a:avLst/>
          </a:prstGeom>
        </p:spPr>
        <p:txBody>
          <a:bodyPr/>
          <a:lstStyle/>
          <a:p>
            <a:pPr marL="0" lvl="0" indent="0">
              <a:buSzTx/>
              <a:buNone/>
              <a:defRPr sz="1800">
                <a:solidFill>
                  <a:srgbClr val="000000"/>
                </a:solidFill>
                <a:effectLst/>
              </a:defRPr>
            </a:pPr>
            <a:r>
              <a:rPr sz="2100">
                <a:effectLst>
                  <a:outerShdw blurRad="101600" dist="12700" dir="3600000" rotWithShape="0">
                    <a:srgbClr val="000000">
                      <a:alpha val="30000"/>
                    </a:srgbClr>
                  </a:outerShdw>
                </a:effectLst>
              </a:rPr>
              <a:t>PELO EXPOSTO, VOCES DEVEM TER PERCEBIDO, A REAL IMPORTÂNCIA DESSA DIVISÃO, QUE SE RELACIONA COM QUASE TODOS OS DEPARTAMENTOS DA EMPRESA, SENAO COM TODOS. ALEM DISSO A LOGÍSTICA EH UMA DIVISÃO ESTRATÉGICA, UMA AREA DE PLANEJAMENTO QUE TEM QUE SER CONSULTADA PARA VARIAS TOMADAS DE DECISÃO, INCLUSIVE PELA PRODUÇÃO, NA ALOCAÇÃO DE SUAS MAQUINAS DENTRO DAS FABRICAS. </a:t>
            </a:r>
          </a:p>
          <a:p>
            <a:pPr marL="0" lvl="0" indent="0">
              <a:buSzTx/>
              <a:buNone/>
              <a:defRPr sz="1800">
                <a:solidFill>
                  <a:srgbClr val="000000"/>
                </a:solidFill>
                <a:effectLst/>
              </a:defRPr>
            </a:pPr>
            <a:r>
              <a:rPr sz="2100">
                <a:effectLst>
                  <a:outerShdw blurRad="101600" dist="12700" dir="3600000" rotWithShape="0">
                    <a:srgbClr val="000000">
                      <a:alpha val="30000"/>
                    </a:srgbClr>
                  </a:outerShdw>
                </a:effectLst>
              </a:rPr>
              <a:t>TODO ESPACO PODE SER UTILIZADO DE UMA MANEIRA PRODUTIVA E CABE A LOGÍSTICA FAZER COM QUE ISSO TORNE-SE VIAVEL.</a:t>
            </a:r>
          </a:p>
          <a:p>
            <a:pPr marL="0" lvl="0" indent="0">
              <a:buSzTx/>
              <a:buNone/>
              <a:defRPr sz="1800">
                <a:solidFill>
                  <a:srgbClr val="000000"/>
                </a:solidFill>
                <a:effectLst/>
              </a:defRPr>
            </a:pPr>
            <a:r>
              <a:rPr sz="2100">
                <a:effectLst>
                  <a:outerShdw blurRad="101600" dist="12700" dir="3600000" rotWithShape="0">
                    <a:srgbClr val="000000">
                      <a:alpha val="30000"/>
                    </a:srgbClr>
                  </a:outerShdw>
                </a:effectLst>
              </a:rPr>
              <a:t>Obs: Vejam as inovações que estão acontecendo com a Logística 4.0,  que tem desde drones a empilhadeiras automáticas etc.</a:t>
            </a:r>
          </a:p>
        </p:txBody>
      </p:sp>
      <p:sp>
        <p:nvSpPr>
          <p:cNvPr id="129" name="Shape 129"/>
          <p:cNvSpPr/>
          <p:nvPr/>
        </p:nvSpPr>
        <p:spPr>
          <a:xfrm>
            <a:off x="5486400" y="6278560"/>
            <a:ext cx="3200400" cy="15240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r">
              <a:defRPr sz="1000" b="1">
                <a:solidFill>
                  <a:srgbClr val="FFFFFF"/>
                </a:solidFill>
                <a:latin typeface="Century Gothic"/>
                <a:ea typeface="Century Gothic"/>
                <a:cs typeface="Century Gothic"/>
                <a:sym typeface="Century Gothic"/>
              </a:defRPr>
            </a:lvl1pPr>
          </a:lstStyle>
          <a:p>
            <a:pPr lvl="0">
              <a:defRPr sz="1800" b="0">
                <a:solidFill>
                  <a:srgbClr val="000000"/>
                </a:solidFill>
              </a:defRPr>
            </a:pPr>
            <a:r>
              <a:rPr sz="1000" b="1">
                <a:solidFill>
                  <a:srgbClr val="FFFFFF"/>
                </a:solidFill>
              </a:rPr>
              <a:t>3/28/16</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 name="Shape 132"/>
          <p:cNvSpPr>
            <a:spLocks noGrp="1"/>
          </p:cNvSpPr>
          <p:nvPr>
            <p:ph type="body" idx="1"/>
          </p:nvPr>
        </p:nvSpPr>
        <p:spPr>
          <a:xfrm>
            <a:off x="110777" y="0"/>
            <a:ext cx="8922446" cy="6858000"/>
          </a:xfrm>
          <a:prstGeom prst="rect">
            <a:avLst/>
          </a:prstGeom>
        </p:spPr>
        <p:txBody>
          <a:bodyPr/>
          <a:lstStyle>
            <a:lvl1pPr>
              <a:defRPr b="1">
                <a:solidFill>
                  <a:srgbClr val="0A0A0A"/>
                </a:solidFill>
              </a:defRPr>
            </a:lvl1pPr>
          </a:lstStyle>
          <a:p>
            <a:pPr lvl="0">
              <a:defRPr sz="1800" b="0">
                <a:solidFill>
                  <a:srgbClr val="000000"/>
                </a:solidFill>
                <a:effectLst/>
              </a:defRPr>
            </a:pPr>
            <a:r>
              <a:rPr sz="2400" b="1">
                <a:solidFill>
                  <a:srgbClr val="0A0A0A"/>
                </a:solidFill>
                <a:effectLst>
                  <a:outerShdw blurRad="101600" dist="12700" dir="3600000" rotWithShape="0">
                    <a:srgbClr val="000000">
                      <a:alpha val="30000"/>
                    </a:srgbClr>
                  </a:outerShdw>
                </a:effectLst>
              </a:rPr>
              <a:t>WOLKS ALEMANHA</a:t>
            </a:r>
          </a:p>
        </p:txBody>
      </p:sp>
      <p:sp>
        <p:nvSpPr>
          <p:cNvPr id="133" name="Shape 133"/>
          <p:cNvSpPr>
            <a:spLocks noGrp="1"/>
          </p:cNvSpPr>
          <p:nvPr>
            <p:ph type="sldNum" sz="quarter" idx="2"/>
          </p:nvPr>
        </p:nvSpPr>
        <p:spPr>
          <a:prstGeom prst="rect">
            <a:avLst/>
          </a:prstGeom>
          <a:extLst>
            <a:ext uri="{C572A759-6A51-4108-AA02-DFA0A04FC94B}">
              <ma14:wrappingTextBoxFlag xmlns="" xmlns:ma14="http://schemas.microsoft.com/office/mac/drawingml/2011/main" val="1"/>
            </a:ext>
          </a:extLst>
        </p:spPr>
        <p:txBody>
          <a:bodyPr/>
          <a:lstStyle/>
          <a:p>
            <a:pPr lvl="0">
              <a:defRPr sz="1800" b="0">
                <a:solidFill>
                  <a:srgbClr val="000000"/>
                </a:solidFill>
              </a:defRPr>
            </a:pPr>
            <a:fld id="{86CB4B4D-7CA3-9044-876B-883B54F8677D}" type="slidenum">
              <a:rPr sz="1000" b="1">
                <a:solidFill>
                  <a:srgbClr val="FFFFFF"/>
                </a:solidFill>
              </a:rPr>
              <a:t>18</a:t>
            </a:fld>
            <a:endParaRPr sz="1000" b="1">
              <a:solidFill>
                <a:srgbClr val="FFFFFF"/>
              </a:solidFill>
            </a:endParaRPr>
          </a:p>
        </p:txBody>
      </p:sp>
      <p:pic>
        <p:nvPicPr>
          <p:cNvPr id="134" name="image21.jpeg"/>
          <p:cNvPicPr/>
          <p:nvPr/>
        </p:nvPicPr>
        <p:blipFill>
          <a:blip r:embed="rId2"/>
          <a:stretch>
            <a:fillRect/>
          </a:stretch>
        </p:blipFill>
        <p:spPr>
          <a:xfrm>
            <a:off x="4067175" y="0"/>
            <a:ext cx="4846638" cy="7391400"/>
          </a:xfrm>
          <a:prstGeom prst="rect">
            <a:avLst/>
          </a:prstGeom>
          <a:ln>
            <a:solidFill/>
            <a:round/>
          </a:ln>
        </p:spPr>
      </p:pic>
      <p:sp>
        <p:nvSpPr>
          <p:cNvPr id="135" name="Shape 135"/>
          <p:cNvSpPr/>
          <p:nvPr/>
        </p:nvSpPr>
        <p:spPr>
          <a:xfrm>
            <a:off x="51999" y="1253421"/>
            <a:ext cx="3975411" cy="4351159"/>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lvl="0" algn="ctr"/>
            <a:r>
              <a:rPr>
                <a:latin typeface="Arial Bold"/>
                <a:ea typeface="Arial Bold"/>
                <a:cs typeface="Arial Bold"/>
                <a:sym typeface="Arial Bold"/>
              </a:rPr>
              <a:t>Os carros são armazenados</a:t>
            </a:r>
          </a:p>
          <a:p>
            <a:pPr lvl="0" algn="ctr"/>
            <a:r>
              <a:rPr>
                <a:latin typeface="Arial Bold"/>
                <a:ea typeface="Arial Bold"/>
                <a:cs typeface="Arial Bold"/>
                <a:sym typeface="Arial Bold"/>
              </a:rPr>
              <a:t>nesta  torre de autos</a:t>
            </a:r>
          </a:p>
          <a:p>
            <a:pPr lvl="0" algn="ctr"/>
            <a:r>
              <a:rPr>
                <a:latin typeface="Arial Bold"/>
                <a:ea typeface="Arial Bold"/>
                <a:cs typeface="Arial Bold"/>
                <a:sym typeface="Arial Bold"/>
              </a:rPr>
              <a:t>em Wolfsburg, Alemanha.</a:t>
            </a:r>
          </a:p>
          <a:p>
            <a:pPr lvl="0" algn="ctr"/>
            <a:endParaRPr>
              <a:latin typeface="Arial Bold"/>
              <a:ea typeface="Arial Bold"/>
              <a:cs typeface="Arial Bold"/>
              <a:sym typeface="Arial Bold"/>
            </a:endParaRPr>
          </a:p>
          <a:p>
            <a:pPr lvl="0" algn="ctr"/>
            <a:r>
              <a:rPr>
                <a:latin typeface="Arial Bold"/>
                <a:ea typeface="Arial Bold"/>
                <a:cs typeface="Arial Bold"/>
                <a:sym typeface="Arial Bold"/>
              </a:rPr>
              <a:t>Serve também como vitrine</a:t>
            </a:r>
          </a:p>
          <a:p>
            <a:pPr lvl="0" algn="ctr"/>
            <a:r>
              <a:rPr>
                <a:latin typeface="Arial Bold"/>
                <a:ea typeface="Arial Bold"/>
                <a:cs typeface="Arial Bold"/>
                <a:sym typeface="Arial Bold"/>
              </a:rPr>
              <a:t>mostrando a produção aos</a:t>
            </a:r>
          </a:p>
          <a:p>
            <a:pPr lvl="0" algn="ctr"/>
            <a:r>
              <a:rPr>
                <a:latin typeface="Arial Bold"/>
                <a:ea typeface="Arial Bold"/>
                <a:cs typeface="Arial Bold"/>
                <a:sym typeface="Arial Bold"/>
              </a:rPr>
              <a:t>visitantes e passantes.</a:t>
            </a:r>
          </a:p>
          <a:p>
            <a:pPr lvl="0" algn="ctr"/>
            <a:endParaRPr>
              <a:latin typeface="Arial Bold"/>
              <a:ea typeface="Arial Bold"/>
              <a:cs typeface="Arial Bold"/>
              <a:sym typeface="Arial Bold"/>
            </a:endParaRPr>
          </a:p>
          <a:p>
            <a:pPr lvl="0" algn="ctr"/>
            <a:r>
              <a:rPr>
                <a:latin typeface="Arial Bold"/>
                <a:ea typeface="Arial Bold"/>
                <a:cs typeface="Arial Bold"/>
                <a:sym typeface="Arial Bold"/>
              </a:rPr>
              <a:t>A cada quarta-feira</a:t>
            </a:r>
          </a:p>
          <a:p>
            <a:pPr lvl="0" algn="ctr"/>
            <a:r>
              <a:rPr>
                <a:latin typeface="Arial Bold"/>
                <a:ea typeface="Arial Bold"/>
                <a:cs typeface="Arial Bold"/>
                <a:sym typeface="Arial Bold"/>
              </a:rPr>
              <a:t>cerca de 5.500 carros</a:t>
            </a:r>
          </a:p>
          <a:p>
            <a:pPr lvl="0" algn="ctr"/>
            <a:r>
              <a:rPr>
                <a:latin typeface="Arial Bold"/>
                <a:ea typeface="Arial Bold"/>
                <a:cs typeface="Arial Bold"/>
                <a:sym typeface="Arial Bold"/>
              </a:rPr>
              <a:t>preenchem esta vitrine.</a:t>
            </a:r>
          </a:p>
          <a:p>
            <a:pPr lvl="0" algn="ctr"/>
            <a:endParaRPr>
              <a:latin typeface="Arial Bold"/>
              <a:ea typeface="Arial Bold"/>
              <a:cs typeface="Arial Bold"/>
              <a:sym typeface="Arial Bold"/>
            </a:endParaRPr>
          </a:p>
          <a:p>
            <a:pPr lvl="0" algn="ctr"/>
            <a:r>
              <a:rPr>
                <a:latin typeface="Arial Bold"/>
                <a:ea typeface="Arial Bold"/>
                <a:cs typeface="Arial Bold"/>
                <a:sym typeface="Arial Bold"/>
              </a:rPr>
              <a:t>Vale lembrar que este tipo de </a:t>
            </a:r>
          </a:p>
          <a:p>
            <a:pPr lvl="0" algn="ctr"/>
            <a:r>
              <a:rPr>
                <a:latin typeface="Arial Bold"/>
                <a:ea typeface="Arial Bold"/>
                <a:cs typeface="Arial Bold"/>
                <a:sym typeface="Arial Bold"/>
              </a:rPr>
              <a:t>produção se repete nas </a:t>
            </a:r>
          </a:p>
          <a:p>
            <a:pPr lvl="0" algn="ctr"/>
            <a:r>
              <a:rPr>
                <a:latin typeface="Arial Bold"/>
                <a:ea typeface="Arial Bold"/>
                <a:cs typeface="Arial Bold"/>
                <a:sym typeface="Arial Bold"/>
              </a:rPr>
              <a:t>marcas Audi, Bentley e </a:t>
            </a:r>
            <a:br>
              <a:rPr>
                <a:latin typeface="Arial Bold"/>
                <a:ea typeface="Arial Bold"/>
                <a:cs typeface="Arial Bold"/>
                <a:sym typeface="Arial Bold"/>
              </a:rPr>
            </a:br>
            <a:r>
              <a:rPr>
                <a:latin typeface="Arial Bold"/>
                <a:ea typeface="Arial Bold"/>
                <a:cs typeface="Arial Bold"/>
                <a:sym typeface="Arial Bold"/>
              </a:rPr>
              <a:t>Lamborghini.</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51A6C2"/>
      </a:accent1>
      <a:accent2>
        <a:srgbClr val="51C2A9"/>
      </a:accent2>
      <a:accent3>
        <a:srgbClr val="7EC251"/>
      </a:accent3>
      <a:accent4>
        <a:srgbClr val="E1DC53"/>
      </a:accent4>
      <a:accent5>
        <a:srgbClr val="B54721"/>
      </a:accent5>
      <a:accent6>
        <a:srgbClr val="A16BB1"/>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rotWithShape="0">
              <a:srgbClr val="000000">
                <a:alpha val="50000"/>
              </a:srgbClr>
            </a:outerShdw>
            <a:reflection stA="20000" endPos="40000" dir="5400000" sy="-100000" algn="bl" rotWithShape="0"/>
          </a:effectLst>
        </a:effectStyle>
        <a:effectStyle>
          <a:effectLst>
            <a:outerShdw blurRad="76200" rotWithShape="0">
              <a:srgbClr val="000000">
                <a:alpha val="50000"/>
              </a:srgbClr>
            </a:outerShdw>
            <a:reflection stA="20000" endPos="40000" dir="5400000" sy="-100000" algn="bl" rotWithShape="0"/>
          </a:effectLst>
        </a:effectStyle>
        <a:effectStyle>
          <a:effectLst>
            <a:outerShdw blurRad="76200" rotWithShape="0">
              <a:srgbClr val="000000">
                <a:alpha val="50000"/>
              </a:srgbClr>
            </a:outerShdw>
            <a:reflection stA="20000" endPos="40000" dir="5400000" sy="-100000" algn="bl"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51A6C2"/>
          </a:solidFill>
          <a:prstDash val="solid"/>
          <a:bevel/>
        </a:ln>
        <a:effectLst>
          <a:outerShdw blurRad="76200" rotWithShape="0">
            <a:srgbClr val="000000">
              <a:alpha val="50000"/>
            </a:srgbClr>
          </a:outerShdw>
          <a:reflection stA="20000" endPos="40000" dir="5400000" sy="-100000" algn="bl" rotWithShape="0"/>
        </a:effectLst>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51A6C2"/>
          </a:solidFill>
          <a:prstDash val="solid"/>
          <a:bevel/>
        </a:ln>
        <a:effectLst>
          <a:outerShdw blurRad="76200" rotWithShape="0">
            <a:srgbClr val="000000">
              <a:alpha val="50000"/>
            </a:srgbClr>
          </a:outerShdw>
          <a:reflection stA="20000" endPos="40000" dir="5400000" sy="-100000" algn="bl" rotWithShape="0"/>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Avenir Rom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{2F554167-1489-DB4B-BF07-3F0DB63F307D}tf10001122</Template>
  <TotalTime>24</TotalTime>
  <Words>1436</Words>
  <Application>Microsoft Macintosh PowerPoint</Application>
  <PresentationFormat>Apresentação na tela (4:3)</PresentationFormat>
  <Paragraphs>98</Paragraphs>
  <Slides>18</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18</vt:i4>
      </vt:variant>
    </vt:vector>
  </HeadingPairs>
  <TitlesOfParts>
    <vt:vector size="25" baseType="lpstr">
      <vt:lpstr>Arial</vt:lpstr>
      <vt:lpstr>Arial Bold</vt:lpstr>
      <vt:lpstr>Avenir Roman</vt:lpstr>
      <vt:lpstr>Calibri</vt:lpstr>
      <vt:lpstr>Century Gothic</vt:lpstr>
      <vt:lpstr>Tw Cen MT</vt:lpstr>
      <vt:lpstr>Circuito</vt:lpstr>
      <vt:lpstr>LOGISTICA/ DISTRIBUIÇÃO CONCEITOS BASICOS</vt:lpstr>
      <vt:lpstr>LOGÍSTICA</vt:lpstr>
      <vt:lpstr>LOGÍSTICA</vt:lpstr>
      <vt:lpstr>DISTRIBUIÇÃO</vt:lpstr>
      <vt:lpstr>DISTRIBUIÇÃO</vt:lpstr>
      <vt:lpstr>DISTRIBUIÇÃO</vt:lpstr>
      <vt:lpstr>GERENCIAMENTO DE DEPÓSITOS</vt:lpstr>
      <vt:lpstr>GERENCIAMENTO DE DEPÓSITOS</vt:lpstr>
      <vt:lpstr>GERENCIAMENTO DE DEPÓSITOS</vt:lpstr>
      <vt:lpstr>GERENCIAMENTO DE DEPÓSITOS</vt:lpstr>
      <vt:lpstr>GERENCIAMENTO DE DEPÓSITOS</vt:lpstr>
      <vt:lpstr>GERENCIAMENTO DE DEPÓSITOS</vt:lpstr>
      <vt:lpstr>GERENCIAMENTO DE TRANSPORTADORAS</vt:lpstr>
      <vt:lpstr>GERENCIAMENTO DE TRANSPORTADORAS</vt:lpstr>
      <vt:lpstr>GERENCIAMENTO DE TRANSPORTADORAS</vt:lpstr>
      <vt:lpstr>GERENCIAMENTO DE TRANSPORTADORAS</vt:lpstr>
      <vt:lpstr>CONCLUSÃO</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LOGISTICA/ DISTRIBUIÇÃO CONCEITOS BASICOS</dc:title>
  <cp:lastModifiedBy>EDGARD ALEXANDRE ROMANATO</cp:lastModifiedBy>
  <cp:revision>5</cp:revision>
  <dcterms:modified xsi:type="dcterms:W3CDTF">2022-03-14T18:52:33Z</dcterms:modified>
</cp:coreProperties>
</file>