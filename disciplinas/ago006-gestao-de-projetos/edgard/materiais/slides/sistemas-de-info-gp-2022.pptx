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lvl1pPr>
      <a:defRPr sz="2800" u="sng" baseline="-25000">
        <a:latin typeface="+mj-lt"/>
        <a:ea typeface="+mj-ea"/>
        <a:cs typeface="+mj-cs"/>
        <a:sym typeface="Helvetica"/>
      </a:defRPr>
    </a:lvl1pPr>
    <a:lvl2pPr>
      <a:defRPr sz="2800" u="sng" baseline="-25000">
        <a:latin typeface="+mj-lt"/>
        <a:ea typeface="+mj-ea"/>
        <a:cs typeface="+mj-cs"/>
        <a:sym typeface="Helvetica"/>
      </a:defRPr>
    </a:lvl2pPr>
    <a:lvl3pPr>
      <a:defRPr sz="2800" u="sng" baseline="-25000">
        <a:latin typeface="+mj-lt"/>
        <a:ea typeface="+mj-ea"/>
        <a:cs typeface="+mj-cs"/>
        <a:sym typeface="Helvetica"/>
      </a:defRPr>
    </a:lvl3pPr>
    <a:lvl4pPr>
      <a:defRPr sz="2800" u="sng" baseline="-25000">
        <a:latin typeface="+mj-lt"/>
        <a:ea typeface="+mj-ea"/>
        <a:cs typeface="+mj-cs"/>
        <a:sym typeface="Helvetica"/>
      </a:defRPr>
    </a:lvl4pPr>
    <a:lvl5pPr>
      <a:defRPr sz="2800" u="sng" baseline="-25000">
        <a:latin typeface="+mj-lt"/>
        <a:ea typeface="+mj-ea"/>
        <a:cs typeface="+mj-cs"/>
        <a:sym typeface="Helvetica"/>
      </a:defRPr>
    </a:lvl5pPr>
    <a:lvl6pPr>
      <a:defRPr sz="2800" u="sng" baseline="-25000">
        <a:latin typeface="+mj-lt"/>
        <a:ea typeface="+mj-ea"/>
        <a:cs typeface="+mj-cs"/>
        <a:sym typeface="Helvetica"/>
      </a:defRPr>
    </a:lvl6pPr>
    <a:lvl7pPr>
      <a:defRPr sz="2800" u="sng" baseline="-25000">
        <a:latin typeface="+mj-lt"/>
        <a:ea typeface="+mj-ea"/>
        <a:cs typeface="+mj-cs"/>
        <a:sym typeface="Helvetica"/>
      </a:defRPr>
    </a:lvl7pPr>
    <a:lvl8pPr>
      <a:defRPr sz="2800" u="sng" baseline="-25000">
        <a:latin typeface="+mj-lt"/>
        <a:ea typeface="+mj-ea"/>
        <a:cs typeface="+mj-cs"/>
        <a:sym typeface="Helvetica"/>
      </a:defRPr>
    </a:lvl8pPr>
    <a:lvl9pPr>
      <a:defRPr sz="2800" u="sng" baseline="-25000">
        <a:latin typeface="+mj-lt"/>
        <a:ea typeface="+mj-ea"/>
        <a:cs typeface="+mj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1DBFE"/>
          </a:solidFill>
        </a:fill>
      </a:tcStyle>
    </a:wholeTbl>
    <a:band2H>
      <a:tcTxStyle/>
      <a:tcStyle>
        <a:tcBdr/>
        <a:fill>
          <a:solidFill>
            <a:srgbClr val="EAEEFF"/>
          </a:solidFill>
        </a:fill>
      </a:tcStyle>
    </a:band2H>
    <a:firstCol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firstCol>
    <a:la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lastRow>
    <a:fir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618FFD"/>
          </a:solidFill>
        </a:fill>
      </a:tcStyle>
    </a:firstRow>
  </a:tblStyle>
  <a:tblStyle styleId="{C7B018BB-80A7-4F77-B60F-C8B233D01FF8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DBDBDB"/>
          </a:solidFill>
        </a:fill>
      </a:tcStyle>
    </a:wholeTbl>
    <a:band2H>
      <a:tcTxStyle/>
      <a:tcStyle>
        <a:tcBdr/>
        <a:fill>
          <a:solidFill>
            <a:srgbClr val="EEEEEE"/>
          </a:solidFill>
        </a:fill>
      </a:tcStyle>
    </a:band2H>
    <a:firstCol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Col>
    <a:la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lastRow>
    <a:fir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8F8F8F"/>
          </a:solidFill>
        </a:fill>
      </a:tcStyle>
    </a:firstRow>
  </a:tblStyle>
  <a:tblStyle styleId="{EEE7283C-3CF3-47DC-8721-378D4A62B228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DECA"/>
          </a:solidFill>
        </a:fill>
      </a:tcStyle>
    </a:wholeTbl>
    <a:band2H>
      <a:tcTxStyle/>
      <a:tcStyle>
        <a:tcBdr/>
        <a:fill>
          <a:solidFill>
            <a:srgbClr val="E6EFE6"/>
          </a:solidFill>
        </a:fill>
      </a:tcStyle>
    </a:band2H>
    <a:firstCol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firstCol>
    <a:la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lastRow>
    <a:fir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9E00"/>
          </a:solidFill>
        </a:fill>
      </a:tcStyle>
    </a:firstRow>
  </a:tblStyle>
  <a:tblStyle styleId="{CF821DB8-F4EB-4A41-A1BA-3FCAFE7338EE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18FFD"/>
          </a:solidFill>
        </a:fill>
      </a:tcStyle>
    </a:firstCol>
    <a:lastRow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18FFD"/>
          </a:solidFill>
        </a:fill>
      </a:tcStyle>
    </a:firstRow>
  </a:tblStyle>
  <a:tblStyle styleId="{33BA23B1-9221-436E-865A-0063620EA4FD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2"/>
  </p:normalViewPr>
  <p:slideViewPr>
    <p:cSldViewPr snapToGrid="0" snapToObjects="1">
      <p:cViewPr varScale="1">
        <p:scale>
          <a:sx n="106" d="100"/>
          <a:sy n="106" d="100"/>
        </p:scale>
        <p:origin x="1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9" name="Shape 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1pPr>
    <a:lvl2pPr indent="228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2pPr>
    <a:lvl3pPr indent="457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3pPr>
    <a:lvl4pPr indent="685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4pPr>
    <a:lvl5pPr indent="9144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5pPr>
    <a:lvl6pPr indent="11430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6pPr>
    <a:lvl7pPr indent="13716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7pPr>
    <a:lvl8pPr indent="16002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8pPr>
    <a:lvl9pPr indent="1828800" defTabSz="457200">
      <a:lnSpc>
        <a:spcPct val="125000"/>
      </a:lnSpc>
      <a:defRPr sz="2400">
        <a:latin typeface="+mn-lt"/>
        <a:ea typeface="+mn-ea"/>
        <a:cs typeface="+mn-cs"/>
        <a:sym typeface="Avenir Roman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.png" descr="dblue"/>
          <p:cNvPicPr/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2625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image2.png" descr="lblue"/>
          <p:cNvPicPr/>
          <p:nvPr/>
        </p:nvPicPr>
        <p:blipFill>
          <a:blip r:embed="rId5"/>
          <a:stretch>
            <a:fillRect/>
          </a:stretch>
        </p:blipFill>
        <p:spPr>
          <a:xfrm>
            <a:off x="-9525" y="704850"/>
            <a:ext cx="9153525" cy="403225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image2.jpeg" descr="globe"/>
          <p:cNvPicPr/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184275" cy="1047750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Shape 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55376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>
            <a:lvl1pPr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/>
            <a:fld id="{86CB4B4D-7CA3-9044-876B-883B54F8677D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1pPr>
      <a:lvl2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2pPr>
      <a:lvl3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3pPr>
      <a:lvl4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4pPr>
      <a:lvl5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5pPr>
      <a:lvl6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6pPr>
      <a:lvl7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7pPr>
      <a:lvl8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8pPr>
      <a:lvl9pPr algn="ctr">
        <a:defRPr sz="3200">
          <a:latin typeface="Times New Roman Bold"/>
          <a:ea typeface="Times New Roman Bold"/>
          <a:cs typeface="Times New Roman Bold"/>
          <a:sym typeface="Times New Roman Bold"/>
        </a:defRPr>
      </a:lvl9pPr>
    </p:titleStyle>
    <p:bodyStyle>
      <a:lvl1pPr marL="342900" indent="-3429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1pPr>
      <a:lvl2pPr marL="783771" indent="-326571">
        <a:spcBef>
          <a:spcPts val="700"/>
        </a:spcBef>
        <a:buSzPct val="100000"/>
        <a:buChar char="–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2pPr>
      <a:lvl3pPr marL="1162050" indent="-3048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3pPr>
      <a:lvl4pPr marL="1565910" indent="-365760">
        <a:spcBef>
          <a:spcPts val="700"/>
        </a:spcBef>
        <a:buSzPct val="100000"/>
        <a:buChar char="–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4pPr>
      <a:lvl5pPr marL="19494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5pPr>
      <a:lvl6pPr marL="24066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6pPr>
      <a:lvl7pPr marL="28638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7pPr>
      <a:lvl8pPr marL="33210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8pPr>
      <a:lvl9pPr marL="3778250" indent="-406400">
        <a:spcBef>
          <a:spcPts val="700"/>
        </a:spcBef>
        <a:buSzPct val="100000"/>
        <a:buChar char="•"/>
        <a:defRPr sz="3200">
          <a:solidFill>
            <a:srgbClr val="FC0128"/>
          </a:solidFill>
          <a:latin typeface="Arial Bold"/>
          <a:ea typeface="Arial Bold"/>
          <a:cs typeface="Arial Bold"/>
          <a:sym typeface="Arial Bold"/>
        </a:defRPr>
      </a:lvl9pPr>
    </p:bodyStyle>
    <p:otherStyle>
      <a:lvl1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1pPr>
      <a:lvl2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2pPr>
      <a:lvl3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3pPr>
      <a:lvl4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4pPr>
      <a:lvl5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5pPr>
      <a:lvl6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6pPr>
      <a:lvl7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7pPr>
      <a:lvl8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8pPr>
      <a:lvl9pPr>
        <a:defRPr sz="2800" u="sng" baseline="-25000">
          <a:solidFill>
            <a:schemeClr val="tx1"/>
          </a:solidFill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</a:t>
            </a:fld>
            <a:endParaRPr sz="1600"/>
          </a:p>
        </p:txBody>
      </p:sp>
      <p:sp>
        <p:nvSpPr>
          <p:cNvPr id="12" name="Shape 12"/>
          <p:cNvSpPr/>
          <p:nvPr/>
        </p:nvSpPr>
        <p:spPr>
          <a:xfrm>
            <a:off x="4432300" y="-76201"/>
            <a:ext cx="600075" cy="623963"/>
          </a:xfrm>
          <a:prstGeom prst="rect">
            <a:avLst/>
          </a:prstGeom>
          <a:ln w="12700">
            <a:miter lim="400000"/>
          </a:ln>
          <a:effectLst>
            <a:outerShdw blurRad="63500" dist="35921" dir="2700000" rotWithShape="0">
              <a:srgbClr val="FF9900">
                <a:alpha val="74996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spcBef>
                <a:spcPts val="2600"/>
              </a:spcBef>
              <a:defRPr sz="4400" u="none" baseline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Shape 13"/>
          <p:cNvSpPr/>
          <p:nvPr/>
        </p:nvSpPr>
        <p:spPr>
          <a:xfrm>
            <a:off x="1898650" y="2393949"/>
            <a:ext cx="5791200" cy="201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2600"/>
              </a:spcBef>
              <a:defRPr sz="4400" u="none" baseline="0">
                <a:effectLst>
                  <a:outerShdw blurRad="12700" dist="25400" dir="2700000" rotWithShape="0">
                    <a:srgbClr val="FFFFFF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defRPr>
            </a:lvl1pPr>
          </a:lstStyle>
          <a:p>
            <a:pPr lvl="0">
              <a:defRPr sz="1800">
                <a:effectLst/>
              </a:defRPr>
            </a:pPr>
            <a:r>
              <a:rPr sz="4400">
                <a:effectLst>
                  <a:outerShdw blurRad="12700" dist="25400" dir="2700000" rotWithShape="0">
                    <a:srgbClr val="FFFFFF"/>
                  </a:outerShdw>
                </a:effectLst>
              </a:rPr>
              <a:t>SISTEMAS DE INFORMAÇÃO NA EMPRESA</a:t>
            </a:r>
          </a:p>
        </p:txBody>
      </p:sp>
      <p:sp>
        <p:nvSpPr>
          <p:cNvPr id="14" name="Shape 14"/>
          <p:cNvSpPr/>
          <p:nvPr/>
        </p:nvSpPr>
        <p:spPr>
          <a:xfrm>
            <a:off x="1765300" y="-61914"/>
            <a:ext cx="1995496" cy="666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defTabSz="457200">
              <a:defRPr sz="4000" u="none" baseline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000">
                <a:solidFill>
                  <a:srgbClr val="FFFFFF"/>
                </a:solidFill>
              </a:rPr>
              <a:t>Capítulo</a:t>
            </a:r>
          </a:p>
        </p:txBody>
      </p:sp>
    </p:spTree>
  </p:cSld>
  <p:clrMapOvr>
    <a:masterClrMapping/>
  </p:clrMapOvr>
  <p:transition spd="med" advClick="0" advTm="1000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1" animBg="1" advAuto="0"/>
      <p:bldP spid="13" grpId="2" animBg="1" advAuto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</a:t>
            </a:fld>
            <a:endParaRPr sz="1600"/>
          </a:p>
        </p:txBody>
      </p:sp>
      <p:sp>
        <p:nvSpPr>
          <p:cNvPr id="17" name="Shape 17"/>
          <p:cNvSpPr>
            <a:spLocks noGrp="1"/>
          </p:cNvSpPr>
          <p:nvPr>
            <p:ph type="body" idx="4294967295"/>
          </p:nvPr>
        </p:nvSpPr>
        <p:spPr>
          <a:xfrm>
            <a:off x="700087" y="1435100"/>
            <a:ext cx="7772401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Quais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são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as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principais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aplicações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de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sistemas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na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empresa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? Que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papel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eles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desempenham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?</a:t>
            </a:r>
          </a:p>
          <a:p>
            <a:pPr marL="315468" lvl="0" indent="-315468" defTabSz="841247">
              <a:lnSpc>
                <a:spcPct val="90000"/>
              </a:lnSpc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endParaRPr sz="2500" dirty="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Como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sistemas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de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informação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apóiam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as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principais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funções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empresariais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: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vendas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e marketing,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fabricação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produção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,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finanças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contabilidade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recursos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humanos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?</a:t>
            </a:r>
          </a:p>
          <a:p>
            <a:pPr marL="315468" lvl="0" indent="-315468" defTabSz="841247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500" dirty="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Por que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administradores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devem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prestar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atenção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nos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processos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de </a:t>
            </a:r>
            <a:r>
              <a:rPr sz="2500" dirty="0" err="1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negócios</a:t>
            </a:r>
            <a:r>
              <a:rPr sz="2500" dirty="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?</a:t>
            </a:r>
          </a:p>
        </p:txBody>
      </p:sp>
      <p:sp>
        <p:nvSpPr>
          <p:cNvPr id="18" name="Shape 18"/>
          <p:cNvSpPr/>
          <p:nvPr/>
        </p:nvSpPr>
        <p:spPr>
          <a:xfrm>
            <a:off x="2900361" y="723899"/>
            <a:ext cx="3267077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OBJETIVOS</a:t>
            </a:r>
          </a:p>
        </p:txBody>
      </p:sp>
      <p:sp>
        <p:nvSpPr>
          <p:cNvPr id="19" name="Shape 19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1" build="p" bldLvl="5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3</a:t>
            </a:fld>
            <a:endParaRPr sz="1600"/>
          </a:p>
        </p:txBody>
      </p:sp>
      <p:sp>
        <p:nvSpPr>
          <p:cNvPr id="22" name="Shape 22"/>
          <p:cNvSpPr>
            <a:spLocks noGrp="1"/>
          </p:cNvSpPr>
          <p:nvPr>
            <p:ph type="body" idx="4294967295"/>
          </p:nvPr>
        </p:nvSpPr>
        <p:spPr>
          <a:xfrm>
            <a:off x="685800" y="1695449"/>
            <a:ext cx="7600950" cy="44386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466724" lvl="0" indent="-466724"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Quais benefícios traz para a empresa a utilização de comércio colaborativo, redes setoriais privadas e sistemas integrados?</a:t>
            </a:r>
          </a:p>
          <a:p>
            <a:pPr lvl="0"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endParaRPr sz="2800"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Quais tipos de sistemas de informação são usados por empresas que operam internacionalmente?</a:t>
            </a:r>
          </a:p>
        </p:txBody>
      </p:sp>
      <p:sp>
        <p:nvSpPr>
          <p:cNvPr id="23" name="Shape 23"/>
          <p:cNvSpPr/>
          <p:nvPr/>
        </p:nvSpPr>
        <p:spPr>
          <a:xfrm>
            <a:off x="2886075" y="723899"/>
            <a:ext cx="326707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OBJETIVOS</a:t>
            </a:r>
          </a:p>
        </p:txBody>
      </p:sp>
      <p:sp>
        <p:nvSpPr>
          <p:cNvPr id="24" name="Shape 24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1" build="p" bldLvl="5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4</a:t>
            </a:fld>
            <a:endParaRPr sz="1600"/>
          </a:p>
        </p:txBody>
      </p:sp>
      <p:sp>
        <p:nvSpPr>
          <p:cNvPr id="27" name="Shape 27"/>
          <p:cNvSpPr>
            <a:spLocks noGrp="1"/>
          </p:cNvSpPr>
          <p:nvPr>
            <p:ph type="body" idx="4294967295"/>
          </p:nvPr>
        </p:nvSpPr>
        <p:spPr>
          <a:xfrm>
            <a:off x="704850" y="1695450"/>
            <a:ext cx="7772400" cy="3162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600075" lvl="0" indent="-600075" defTabSz="740662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buAutoNum type="arabicPeriod"/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0574" dir="2700000" rotWithShape="0">
                    <a:srgbClr val="000000"/>
                  </a:outerShdw>
                </a:effectLst>
              </a:rPr>
              <a:t>Integração:</a:t>
            </a:r>
            <a:r>
              <a:rPr sz="2200">
                <a:solidFill>
                  <a:srgbClr val="FC0128"/>
                </a:solidFill>
                <a:effectLst>
                  <a:outerShdw blurRad="12700" dist="20574" dir="2700000" rotWithShape="0">
                    <a:srgbClr val="000000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0574" dir="2700000" rotWithShape="0">
                    <a:srgbClr val="000000"/>
                  </a:outerShdw>
                </a:effectLst>
              </a:rPr>
              <a:t>Sistemas diferentes servem a uma variedade de funções, mas a conexão de diferentes níveis organizacionais pode ser difícil e dispendiosa</a:t>
            </a:r>
          </a:p>
          <a:p>
            <a:pPr marL="432054" lvl="0" indent="-432054" defTabSz="740662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AutoNum type="arabicPeriod" startAt="2"/>
              <a:defRPr sz="1800">
                <a:solidFill>
                  <a:srgbClr val="000000"/>
                </a:solidFill>
              </a:defRPr>
            </a:pPr>
            <a:endParaRPr sz="2200">
              <a:solidFill>
                <a:srgbClr val="000099"/>
              </a:solidFill>
              <a:effectLst>
                <a:outerShdw blurRad="12700" dist="20574" dir="2700000" rotWithShape="0">
                  <a:srgbClr val="000000"/>
                </a:outerShdw>
              </a:effectLst>
            </a:endParaRPr>
          </a:p>
          <a:p>
            <a:pPr marL="600075" lvl="0" indent="-600075" defTabSz="740662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buAutoNum type="arabicPeriod" startAt="2"/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0574" dir="2700000" rotWithShape="0">
                    <a:srgbClr val="000000"/>
                  </a:outerShdw>
                </a:effectLst>
              </a:rPr>
              <a:t>Ampliação do escopo da filosofia de administração:</a:t>
            </a:r>
            <a:r>
              <a:rPr sz="2200">
                <a:effectLst>
                  <a:outerShdw blurRad="12700" dist="20574" dir="2700000" rotWithShape="0">
                    <a:srgbClr val="FFFFFF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0574" dir="2700000" rotWithShape="0">
                    <a:srgbClr val="000000"/>
                  </a:outerShdw>
                </a:effectLst>
              </a:rPr>
              <a:t>Grandes investimentos em sistemas e o longo tempo de desenvolvimento exigem que sejam orientados por objetivos comuns</a:t>
            </a:r>
          </a:p>
        </p:txBody>
      </p:sp>
      <p:sp>
        <p:nvSpPr>
          <p:cNvPr id="28" name="Shape 28"/>
          <p:cNvSpPr/>
          <p:nvPr/>
        </p:nvSpPr>
        <p:spPr>
          <a:xfrm>
            <a:off x="2392361" y="723899"/>
            <a:ext cx="3760789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DESAFIOS PARA AS EMPRESAS</a:t>
            </a:r>
          </a:p>
        </p:txBody>
      </p:sp>
      <p:sp>
        <p:nvSpPr>
          <p:cNvPr id="29" name="Shape 29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1" build="p" bldLvl="5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5</a:t>
            </a:fld>
            <a:endParaRPr sz="1600"/>
          </a:p>
        </p:txBody>
      </p:sp>
      <p:sp>
        <p:nvSpPr>
          <p:cNvPr id="32" name="Shape 32"/>
          <p:cNvSpPr/>
          <p:nvPr/>
        </p:nvSpPr>
        <p:spPr>
          <a:xfrm>
            <a:off x="2533650" y="1111249"/>
            <a:ext cx="4221163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Tipos de sistemas de informação</a:t>
            </a:r>
          </a:p>
        </p:txBody>
      </p:sp>
      <p:sp>
        <p:nvSpPr>
          <p:cNvPr id="33" name="Shape 33"/>
          <p:cNvSpPr/>
          <p:nvPr/>
        </p:nvSpPr>
        <p:spPr>
          <a:xfrm>
            <a:off x="3752850" y="65150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2-1</a:t>
            </a:r>
          </a:p>
        </p:txBody>
      </p:sp>
      <p:sp>
        <p:nvSpPr>
          <p:cNvPr id="34" name="Shape 34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sp>
        <p:nvSpPr>
          <p:cNvPr id="35" name="Shape 35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pic>
        <p:nvPicPr>
          <p:cNvPr id="36" name="image3.jpeg" descr="laudon+f02-01"/>
          <p:cNvPicPr/>
          <p:nvPr/>
        </p:nvPicPr>
        <p:blipFill>
          <a:blip r:embed="rId2"/>
          <a:stretch>
            <a:fillRect/>
          </a:stretch>
        </p:blipFill>
        <p:spPr>
          <a:xfrm>
            <a:off x="1173162" y="1679575"/>
            <a:ext cx="6645276" cy="46370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6</a:t>
            </a:fld>
            <a:endParaRPr sz="1600"/>
          </a:p>
        </p:txBody>
      </p:sp>
      <p:sp>
        <p:nvSpPr>
          <p:cNvPr id="39" name="Shape 39"/>
          <p:cNvSpPr/>
          <p:nvPr/>
        </p:nvSpPr>
        <p:spPr>
          <a:xfrm>
            <a:off x="2371725" y="1117599"/>
            <a:ext cx="4232275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Principais tipos de sistemas</a:t>
            </a:r>
          </a:p>
        </p:txBody>
      </p:sp>
      <p:sp>
        <p:nvSpPr>
          <p:cNvPr id="40" name="Shape 40"/>
          <p:cNvSpPr/>
          <p:nvPr/>
        </p:nvSpPr>
        <p:spPr>
          <a:xfrm>
            <a:off x="685800" y="1714499"/>
            <a:ext cx="7772400" cy="2194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>
            <a:spAutoFit/>
          </a:bodyPr>
          <a:lstStyle/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apoio ao executivo (SAE)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apoio à decisão (SAD)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informação gerenciais (SIG)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trabalhadores do conhecimento (STC)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automaçao de escritório</a:t>
            </a:r>
          </a:p>
          <a:p>
            <a:pPr marL="342900" lvl="0" indent="-342900" defTabSz="457200">
              <a:lnSpc>
                <a:spcPct val="12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processamento de transações (SPT)</a:t>
            </a:r>
          </a:p>
        </p:txBody>
      </p:sp>
      <p:sp>
        <p:nvSpPr>
          <p:cNvPr id="41" name="Shape 41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42" name="Shape 42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1" build="p" bldLvl="5" animBg="1" advAuto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7</a:t>
            </a:fld>
            <a:endParaRPr sz="1600"/>
          </a:p>
        </p:txBody>
      </p:sp>
      <p:sp>
        <p:nvSpPr>
          <p:cNvPr id="45" name="Shape 45"/>
          <p:cNvSpPr/>
          <p:nvPr/>
        </p:nvSpPr>
        <p:spPr>
          <a:xfrm>
            <a:off x="2619375" y="723899"/>
            <a:ext cx="423227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TIPOS DE SISTEMAS DE INFORMAÇÃO</a:t>
            </a:r>
          </a:p>
        </p:txBody>
      </p:sp>
      <p:sp>
        <p:nvSpPr>
          <p:cNvPr id="46" name="Shape 46"/>
          <p:cNvSpPr/>
          <p:nvPr/>
        </p:nvSpPr>
        <p:spPr>
          <a:xfrm>
            <a:off x="3752850" y="63626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2-2</a:t>
            </a:r>
          </a:p>
        </p:txBody>
      </p:sp>
      <p:sp>
        <p:nvSpPr>
          <p:cNvPr id="47" name="Shape 47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pic>
        <p:nvPicPr>
          <p:cNvPr id="48" name="image4.jpeg" descr="laudon-fig-02-02"/>
          <p:cNvPicPr/>
          <p:nvPr/>
        </p:nvPicPr>
        <p:blipFill>
          <a:blip r:embed="rId2"/>
          <a:stretch>
            <a:fillRect/>
          </a:stretch>
        </p:blipFill>
        <p:spPr>
          <a:xfrm>
            <a:off x="1636711" y="1279525"/>
            <a:ext cx="5726114" cy="498951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8</a:t>
            </a:fld>
            <a:endParaRPr sz="1600"/>
          </a:p>
        </p:txBody>
      </p:sp>
      <p:sp>
        <p:nvSpPr>
          <p:cNvPr id="51" name="Shape 51"/>
          <p:cNvSpPr/>
          <p:nvPr/>
        </p:nvSpPr>
        <p:spPr>
          <a:xfrm>
            <a:off x="685800" y="1733550"/>
            <a:ext cx="8077200" cy="27611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>
            <a:spAutoFit/>
          </a:bodyPr>
          <a:lstStyle/>
          <a:p>
            <a:pPr marL="342900" lvl="0" indent="-342900" defTabSz="457200">
              <a:spcBef>
                <a:spcPts val="700"/>
              </a:spcBef>
              <a:defRPr sz="1800" u="none" baseline="0"/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de processamento de transações (SPT):</a:t>
            </a:r>
          </a:p>
          <a:p>
            <a:pPr marL="342900" lvl="0" indent="-342900" defTabSz="457200">
              <a:spcBef>
                <a:spcPts val="400"/>
              </a:spcBef>
              <a:defRPr sz="1800" u="none" baseline="0"/>
            </a:pPr>
            <a:endParaRPr sz="3200"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  <a:latin typeface="Arial Bold"/>
              <a:ea typeface="Arial Bold"/>
              <a:cs typeface="Arial Bold"/>
              <a:sym typeface="Arial Bold"/>
            </a:endParaRPr>
          </a:p>
          <a:p>
            <a:pPr marL="342900" lvl="0" indent="-342900" defTabSz="457200"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Sistemas administrativos básicos que atendem ao nível operacional</a:t>
            </a:r>
          </a:p>
          <a:p>
            <a:pPr marL="342900" lvl="0" indent="-342900" defTabSz="457200">
              <a:spcBef>
                <a:spcPts val="400"/>
              </a:spcBef>
              <a:defRPr sz="1800" u="none" baseline="0"/>
            </a:pPr>
            <a:endParaRPr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  <a:latin typeface="Arial Bold"/>
              <a:ea typeface="Arial Bold"/>
              <a:cs typeface="Arial Bold"/>
              <a:sym typeface="Arial Bold"/>
            </a:endParaRPr>
          </a:p>
          <a:p>
            <a:pPr marL="342900" lvl="0" indent="-342900" defTabSz="457200">
              <a:spcBef>
                <a:spcPts val="400"/>
              </a:spcBef>
              <a:buClr>
                <a:srgbClr val="000099"/>
              </a:buClr>
              <a:buSzPct val="100000"/>
              <a:buFont typeface="Arial Bold"/>
              <a:buChar char="•"/>
              <a:defRPr sz="1800" u="none" baseline="0"/>
            </a:pPr>
            <a:r>
              <a:rPr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Arial Bold"/>
                <a:ea typeface="Arial Bold"/>
                <a:cs typeface="Arial Bold"/>
                <a:sym typeface="Arial Bold"/>
              </a:rPr>
              <a:t>Sistema computadorizado que realiza e registra as transações rotineiras necessárias ao funcionamento da empresa</a:t>
            </a:r>
          </a:p>
        </p:txBody>
      </p:sp>
      <p:sp>
        <p:nvSpPr>
          <p:cNvPr id="52" name="Shape 52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53" name="Shape 53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1" build="p" bldLvl="5" animBg="1" advAuto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9</a:t>
            </a:fld>
            <a:endParaRPr sz="1600"/>
          </a:p>
        </p:txBody>
      </p:sp>
      <p:sp>
        <p:nvSpPr>
          <p:cNvPr id="56" name="Shape 56"/>
          <p:cNvSpPr/>
          <p:nvPr/>
        </p:nvSpPr>
        <p:spPr>
          <a:xfrm>
            <a:off x="2562225" y="1117599"/>
            <a:ext cx="4276725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SPT para folha de pagamento</a:t>
            </a:r>
          </a:p>
        </p:txBody>
      </p:sp>
      <p:sp>
        <p:nvSpPr>
          <p:cNvPr id="57" name="Shape 57"/>
          <p:cNvSpPr/>
          <p:nvPr/>
        </p:nvSpPr>
        <p:spPr>
          <a:xfrm>
            <a:off x="3752850" y="62991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2-3</a:t>
            </a:r>
          </a:p>
        </p:txBody>
      </p:sp>
      <p:sp>
        <p:nvSpPr>
          <p:cNvPr id="58" name="Shape 58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59" name="Shape 59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pic>
        <p:nvPicPr>
          <p:cNvPr id="60" name="image5.jpeg" descr="laudon-fig-02-03"/>
          <p:cNvPicPr/>
          <p:nvPr/>
        </p:nvPicPr>
        <p:blipFill>
          <a:blip r:embed="rId2"/>
          <a:stretch>
            <a:fillRect/>
          </a:stretch>
        </p:blipFill>
        <p:spPr>
          <a:xfrm>
            <a:off x="1146175" y="1565275"/>
            <a:ext cx="7023100" cy="46736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10</a:t>
            </a:fld>
            <a:endParaRPr sz="1600"/>
          </a:p>
        </p:txBody>
      </p:sp>
      <p:sp>
        <p:nvSpPr>
          <p:cNvPr id="63" name="Shape 63"/>
          <p:cNvSpPr/>
          <p:nvPr/>
        </p:nvSpPr>
        <p:spPr>
          <a:xfrm>
            <a:off x="3578225" y="1111249"/>
            <a:ext cx="4276725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Tipos de SPT</a:t>
            </a:r>
          </a:p>
        </p:txBody>
      </p:sp>
      <p:sp>
        <p:nvSpPr>
          <p:cNvPr id="64" name="Shape 64"/>
          <p:cNvSpPr/>
          <p:nvPr/>
        </p:nvSpPr>
        <p:spPr>
          <a:xfrm>
            <a:off x="3752850" y="6175374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2-4</a:t>
            </a:r>
          </a:p>
        </p:txBody>
      </p:sp>
      <p:sp>
        <p:nvSpPr>
          <p:cNvPr id="65" name="Shape 65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66" name="Shape 66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pic>
        <p:nvPicPr>
          <p:cNvPr id="67" name="image6.jpeg" descr="laudon-fig-02-04"/>
          <p:cNvPicPr/>
          <p:nvPr/>
        </p:nvPicPr>
        <p:blipFill>
          <a:blip r:embed="rId2"/>
          <a:stretch>
            <a:fillRect/>
          </a:stretch>
        </p:blipFill>
        <p:spPr>
          <a:xfrm>
            <a:off x="823912" y="1577975"/>
            <a:ext cx="7577139" cy="44577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11</a:t>
            </a:fld>
            <a:endParaRPr sz="1600"/>
          </a:p>
        </p:txBody>
      </p:sp>
      <p:sp>
        <p:nvSpPr>
          <p:cNvPr id="70" name="Shape 70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15468" lvl="0" indent="-315468" algn="ctr" defTabSz="841247">
              <a:lnSpc>
                <a:spcPct val="90000"/>
              </a:lnSpc>
              <a:spcBef>
                <a:spcPts val="15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</a:rPr>
              <a:t>Sistemas de trabalhadores do conhecimento (STC)</a:t>
            </a: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15468" lvl="0" indent="-315468" defTabSz="841247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15468" lvl="0" indent="-315468" defTabSz="841247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Nível do conhecimento</a:t>
            </a: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Entrada:</a:t>
            </a:r>
            <a:r>
              <a:rPr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Especificações de projeto</a:t>
            </a: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Processamento:</a:t>
            </a:r>
            <a:r>
              <a:rPr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Modelagem</a:t>
            </a: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Saída:</a:t>
            </a:r>
            <a:r>
              <a:rPr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Projetos, gráficos</a:t>
            </a:r>
          </a:p>
          <a:p>
            <a:pPr marL="383380" lvl="0" indent="-383380" defTabSz="841247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8000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Usuários:</a:t>
            </a:r>
            <a:r>
              <a:rPr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 </a:t>
            </a:r>
            <a:r>
              <a:rPr sz="22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Pessoal técnico</a:t>
            </a:r>
          </a:p>
          <a:p>
            <a:pPr marL="315468" lvl="0" indent="-315468" algn="ctr" defTabSz="841247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2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15468" lvl="0" indent="-315468" defTabSz="841247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Exemplo: Estações de trabalho de engenharia</a:t>
            </a:r>
          </a:p>
        </p:txBody>
      </p:sp>
      <p:sp>
        <p:nvSpPr>
          <p:cNvPr id="71" name="Shape 71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72" name="Shape 72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1" build="p" bldLvl="5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12</a:t>
            </a:fld>
            <a:endParaRPr sz="1600"/>
          </a:p>
        </p:txBody>
      </p:sp>
      <p:sp>
        <p:nvSpPr>
          <p:cNvPr id="75" name="Shape 75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 algn="ctr">
              <a:lnSpc>
                <a:spcPct val="90000"/>
              </a:lnSpc>
              <a:spcBef>
                <a:spcPts val="1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</a:rPr>
              <a:t>Sistemas de informação gerenciais (SIG):</a:t>
            </a:r>
          </a:p>
          <a:p>
            <a:pPr lvl="0" algn="ctr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800"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Nível gerencial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Entrada: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Alto volume de dados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Processamento</a:t>
            </a:r>
            <a:r>
              <a:rPr sz="24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Modelos simples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Saída: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Relatórios/ sumários executivos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Usuários: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Gerentes de nível médio</a:t>
            </a:r>
            <a:endParaRPr sz="2400"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endParaRPr sz="2400"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Exemplo: Orçamento anual</a:t>
            </a:r>
          </a:p>
        </p:txBody>
      </p:sp>
      <p:sp>
        <p:nvSpPr>
          <p:cNvPr id="76" name="Shape 76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77" name="Shape 77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1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13</a:t>
            </a:fld>
            <a:endParaRPr sz="1600"/>
          </a:p>
        </p:txBody>
      </p:sp>
      <p:sp>
        <p:nvSpPr>
          <p:cNvPr id="80" name="Shape 80"/>
          <p:cNvSpPr/>
          <p:nvPr/>
        </p:nvSpPr>
        <p:spPr>
          <a:xfrm>
            <a:off x="3752850" y="6173787"/>
            <a:ext cx="14097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2-5</a:t>
            </a:r>
          </a:p>
        </p:txBody>
      </p:sp>
      <p:sp>
        <p:nvSpPr>
          <p:cNvPr id="81" name="Shape 81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informação gerencial (SIG)</a:t>
            </a:r>
          </a:p>
        </p:txBody>
      </p:sp>
      <p:sp>
        <p:nvSpPr>
          <p:cNvPr id="82" name="Shape 82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83" name="Shape 83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pic>
        <p:nvPicPr>
          <p:cNvPr id="84" name="image7.jpeg" descr="laudon-fig-02-05"/>
          <p:cNvPicPr/>
          <p:nvPr/>
        </p:nvPicPr>
        <p:blipFill>
          <a:blip r:embed="rId2"/>
          <a:stretch>
            <a:fillRect/>
          </a:stretch>
        </p:blipFill>
        <p:spPr>
          <a:xfrm>
            <a:off x="279400" y="1851025"/>
            <a:ext cx="8599489" cy="40322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14</a:t>
            </a:fld>
            <a:endParaRPr sz="1600"/>
          </a:p>
        </p:txBody>
      </p:sp>
      <p:sp>
        <p:nvSpPr>
          <p:cNvPr id="87" name="Shape 87"/>
          <p:cNvSpPr>
            <a:spLocks noGrp="1"/>
          </p:cNvSpPr>
          <p:nvPr>
            <p:ph type="body" idx="4294967295"/>
          </p:nvPr>
        </p:nvSpPr>
        <p:spPr>
          <a:xfrm>
            <a:off x="685800" y="1714498"/>
            <a:ext cx="7772400" cy="2755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240029" lvl="0" indent="-240029" defTabSz="65836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  <a:t>Decisões estruturadas e semi-estruturadas</a:t>
            </a:r>
            <a:b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</a:br>
            <a:endParaRPr sz="2000">
              <a:solidFill>
                <a:srgbClr val="000099"/>
              </a:solidFill>
              <a:effectLst>
                <a:outerShdw blurRad="12700" dist="18288" dir="2700000" rotWithShape="0">
                  <a:srgbClr val="000000"/>
                </a:outerShdw>
              </a:effectLst>
            </a:endParaRPr>
          </a:p>
          <a:p>
            <a:pPr marL="240029" lvl="0" indent="-240029" defTabSz="65836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  <a:t>Orientados para o controle de relatórios</a:t>
            </a:r>
            <a:b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</a:br>
            <a:endParaRPr sz="2000">
              <a:solidFill>
                <a:srgbClr val="000099"/>
              </a:solidFill>
              <a:effectLst>
                <a:outerShdw blurRad="12700" dist="18288" dir="2700000" rotWithShape="0">
                  <a:srgbClr val="000000"/>
                </a:outerShdw>
              </a:effectLst>
            </a:endParaRPr>
          </a:p>
          <a:p>
            <a:pPr marL="240029" lvl="0" indent="-240029" defTabSz="65836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  <a:t>Dados passados e presentes</a:t>
            </a:r>
            <a:b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</a:br>
            <a:endParaRPr sz="2000">
              <a:solidFill>
                <a:srgbClr val="000099"/>
              </a:solidFill>
              <a:effectLst>
                <a:outerShdw blurRad="12700" dist="18288" dir="2700000" rotWithShape="0">
                  <a:srgbClr val="000000"/>
                </a:outerShdw>
              </a:effectLst>
            </a:endParaRPr>
          </a:p>
          <a:p>
            <a:pPr marL="240029" lvl="0" indent="-240029" defTabSz="65836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  <a:t>Orientação interna</a:t>
            </a:r>
            <a:b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</a:br>
            <a:endParaRPr sz="2000">
              <a:solidFill>
                <a:srgbClr val="000099"/>
              </a:solidFill>
              <a:effectLst>
                <a:outerShdw blurRad="12700" dist="18288" dir="2700000" rotWithShape="0">
                  <a:srgbClr val="000000"/>
                </a:outerShdw>
              </a:effectLst>
            </a:endParaRPr>
          </a:p>
          <a:p>
            <a:pPr marL="240029" lvl="0" indent="-240029" defTabSz="658368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000">
                <a:solidFill>
                  <a:srgbClr val="000099"/>
                </a:solidFill>
                <a:effectLst>
                  <a:outerShdw blurRad="12700" dist="18288" dir="2700000" rotWithShape="0">
                    <a:srgbClr val="000000"/>
                  </a:outerShdw>
                </a:effectLst>
              </a:rPr>
              <a:t>Processo de projeto demorado</a:t>
            </a:r>
          </a:p>
        </p:txBody>
      </p:sp>
      <p:sp>
        <p:nvSpPr>
          <p:cNvPr id="88" name="Shape 88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89" name="Shape 89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sp>
        <p:nvSpPr>
          <p:cNvPr id="90" name="Shape 90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informação gerencial (SIG)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1" build="p" bldLvl="5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15</a:t>
            </a:fld>
            <a:endParaRPr sz="1600"/>
          </a:p>
        </p:txBody>
      </p:sp>
      <p:sp>
        <p:nvSpPr>
          <p:cNvPr id="93" name="Shape 93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36041" lvl="0" indent="-336041" algn="ctr" defTabSz="896111">
              <a:lnSpc>
                <a:spcPct val="90000"/>
              </a:lnSpc>
              <a:spcBef>
                <a:spcPts val="1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8000"/>
                </a:solidFill>
              </a:rPr>
              <a:t>Sistemas de apoio à decisão (SAD):</a:t>
            </a:r>
          </a:p>
          <a:p>
            <a:pPr marL="336041" lvl="0" indent="-336041" defTabSz="896111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700">
              <a:solidFill>
                <a:srgbClr val="000099"/>
              </a:solidFill>
              <a:effectLst>
                <a:outerShdw blurRad="12700" dist="24892" dir="2700000" rotWithShape="0">
                  <a:srgbClr val="000000"/>
                </a:outerShdw>
              </a:effectLst>
            </a:endParaRPr>
          </a:p>
          <a:p>
            <a:pPr marL="336041" lvl="0" indent="-336041" defTabSz="896111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Nível gerencial</a:t>
            </a:r>
          </a:p>
          <a:p>
            <a:pPr marL="441054" lvl="0" indent="-441054" defTabSz="896111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8000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Entrada:</a:t>
            </a:r>
            <a:r>
              <a:rPr sz="23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 Pequeno volume de dados</a:t>
            </a:r>
          </a:p>
          <a:p>
            <a:pPr marL="441054" lvl="0" indent="-441054" defTabSz="896111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8000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Processamento: </a:t>
            </a:r>
            <a:r>
              <a:rPr sz="23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Interativo</a:t>
            </a:r>
          </a:p>
          <a:p>
            <a:pPr marL="441054" lvl="0" indent="-441054" defTabSz="896111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8000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Saída:</a:t>
            </a:r>
            <a:r>
              <a:rPr sz="23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 Análise de decisão</a:t>
            </a:r>
          </a:p>
          <a:p>
            <a:pPr marL="441054" lvl="0" indent="-441054" defTabSz="896111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8000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Usuários:</a:t>
            </a:r>
            <a:r>
              <a:rPr sz="23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 Profissionais, equipe interna</a:t>
            </a:r>
          </a:p>
          <a:p>
            <a:pPr marL="336041" lvl="0" indent="-336041" algn="ctr" defTabSz="896111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700">
              <a:solidFill>
                <a:srgbClr val="000099"/>
              </a:solidFill>
              <a:effectLst>
                <a:outerShdw blurRad="12700" dist="24892" dir="2700000" rotWithShape="0">
                  <a:srgbClr val="000000"/>
                </a:outerShdw>
              </a:effectLst>
            </a:endParaRPr>
          </a:p>
          <a:p>
            <a:pPr marL="336041" lvl="0" indent="-336041" defTabSz="896111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700">
                <a:solidFill>
                  <a:srgbClr val="000099"/>
                </a:solidFill>
                <a:effectLst>
                  <a:outerShdw blurRad="12700" dist="24892" dir="2700000" rotWithShape="0">
                    <a:srgbClr val="000000"/>
                  </a:outerShdw>
                </a:effectLst>
              </a:rPr>
              <a:t>Exemplo: Análise de custos de contratação</a:t>
            </a:r>
          </a:p>
        </p:txBody>
      </p:sp>
      <p:sp>
        <p:nvSpPr>
          <p:cNvPr id="94" name="Shape 94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95" name="Shape 95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1" build="p" bldLvl="5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16</a:t>
            </a:fld>
            <a:endParaRPr sz="1600"/>
          </a:p>
        </p:txBody>
      </p:sp>
      <p:sp>
        <p:nvSpPr>
          <p:cNvPr id="98" name="Shape 98"/>
          <p:cNvSpPr/>
          <p:nvPr/>
        </p:nvSpPr>
        <p:spPr>
          <a:xfrm>
            <a:off x="3752850" y="6332537"/>
            <a:ext cx="14097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2-6</a:t>
            </a:r>
          </a:p>
        </p:txBody>
      </p:sp>
      <p:sp>
        <p:nvSpPr>
          <p:cNvPr id="99" name="Shape 99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apoio à decisão (SAD)</a:t>
            </a:r>
          </a:p>
        </p:txBody>
      </p:sp>
      <p:sp>
        <p:nvSpPr>
          <p:cNvPr id="100" name="Shape 100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01" name="Shape 101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pic>
        <p:nvPicPr>
          <p:cNvPr id="102" name="image8.jpeg" descr="laudon-fig-02-06"/>
          <p:cNvPicPr/>
          <p:nvPr/>
        </p:nvPicPr>
        <p:blipFill>
          <a:blip r:embed="rId2"/>
          <a:stretch>
            <a:fillRect/>
          </a:stretch>
        </p:blipFill>
        <p:spPr>
          <a:xfrm>
            <a:off x="995362" y="1801811"/>
            <a:ext cx="7224714" cy="43195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17</a:t>
            </a:fld>
            <a:endParaRPr sz="1600"/>
          </a:p>
        </p:txBody>
      </p:sp>
      <p:sp>
        <p:nvSpPr>
          <p:cNvPr id="105" name="Shape 105"/>
          <p:cNvSpPr/>
          <p:nvPr/>
        </p:nvSpPr>
        <p:spPr>
          <a:xfrm>
            <a:off x="3752850" y="62102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2-7</a:t>
            </a:r>
          </a:p>
        </p:txBody>
      </p:sp>
      <p:sp>
        <p:nvSpPr>
          <p:cNvPr id="106" name="Shape 106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07" name="Shape 107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sp>
        <p:nvSpPr>
          <p:cNvPr id="108" name="Shape 108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apoio à decisão (SAD)</a:t>
            </a:r>
          </a:p>
        </p:txBody>
      </p:sp>
      <p:pic>
        <p:nvPicPr>
          <p:cNvPr id="109" name="image9.jpeg" descr="laudon+f02-07"/>
          <p:cNvPicPr/>
          <p:nvPr/>
        </p:nvPicPr>
        <p:blipFill>
          <a:blip r:embed="rId2"/>
          <a:stretch>
            <a:fillRect/>
          </a:stretch>
        </p:blipFill>
        <p:spPr>
          <a:xfrm>
            <a:off x="400050" y="1984375"/>
            <a:ext cx="8383589" cy="385127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18</a:t>
            </a:fld>
            <a:endParaRPr sz="1600"/>
          </a:p>
        </p:txBody>
      </p:sp>
      <p:sp>
        <p:nvSpPr>
          <p:cNvPr id="112" name="Shape 112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 algn="ctr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</a:rPr>
              <a:t>Sistemas de apoio ao executivo (SAE):</a:t>
            </a:r>
          </a:p>
          <a:p>
            <a:pPr lvl="0" algn="ctr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800"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Nível estratégico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Entrada: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Dados agregados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Processamento: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Interativo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Saída: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Projeções</a:t>
            </a: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8000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Usuários:</a:t>
            </a:r>
            <a:r>
              <a:rPr sz="24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 Gerentes seniores</a:t>
            </a:r>
          </a:p>
          <a:p>
            <a:pPr lvl="0" algn="ctr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 sz="2400">
              <a:solidFill>
                <a:srgbClr val="000099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spcBef>
                <a:spcPts val="600"/>
              </a:spcBef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Exemplo: Plano operacional quinqüenal</a:t>
            </a:r>
          </a:p>
        </p:txBody>
      </p:sp>
      <p:sp>
        <p:nvSpPr>
          <p:cNvPr id="113" name="Shape 113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14" name="Shape 114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1" build="p" bldLvl="5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19</a:t>
            </a:fld>
            <a:endParaRPr sz="1600"/>
          </a:p>
        </p:txBody>
      </p:sp>
      <p:sp>
        <p:nvSpPr>
          <p:cNvPr id="117" name="Shape 117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 de apoio ao executivo (SAE)</a:t>
            </a:r>
          </a:p>
        </p:txBody>
      </p:sp>
      <p:sp>
        <p:nvSpPr>
          <p:cNvPr id="118" name="Shape 118"/>
          <p:cNvSpPr/>
          <p:nvPr/>
        </p:nvSpPr>
        <p:spPr>
          <a:xfrm>
            <a:off x="3752850" y="6402387"/>
            <a:ext cx="1409700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2-8</a:t>
            </a:r>
          </a:p>
        </p:txBody>
      </p:sp>
      <p:sp>
        <p:nvSpPr>
          <p:cNvPr id="119" name="Shape 119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20" name="Shape 120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  <p:pic>
        <p:nvPicPr>
          <p:cNvPr id="121" name="image10.jpeg" descr="laudon-fig-02-08"/>
          <p:cNvPicPr/>
          <p:nvPr/>
        </p:nvPicPr>
        <p:blipFill>
          <a:blip r:embed="rId2"/>
          <a:stretch>
            <a:fillRect/>
          </a:stretch>
        </p:blipFill>
        <p:spPr>
          <a:xfrm>
            <a:off x="1536700" y="1722436"/>
            <a:ext cx="6223000" cy="447833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20</a:t>
            </a:fld>
            <a:endParaRPr sz="1600"/>
          </a:p>
        </p:txBody>
      </p:sp>
      <p:sp>
        <p:nvSpPr>
          <p:cNvPr id="124" name="Shape 124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83380" lvl="0" indent="-383380" defTabSz="841247">
              <a:lnSpc>
                <a:spcPct val="11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Gerencia de alto nível</a:t>
            </a:r>
            <a:b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11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Projetado para o indivíduo</a:t>
            </a:r>
            <a:b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11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Liga o presidente aos demais níveis</a:t>
            </a:r>
            <a:b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11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Manutenção cara</a:t>
            </a:r>
            <a:b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</a:br>
            <a:endParaRPr sz="2500">
              <a:solidFill>
                <a:srgbClr val="000099"/>
              </a:solidFill>
              <a:effectLst>
                <a:outerShdw blurRad="12700" dist="23368" dir="2700000" rotWithShape="0">
                  <a:srgbClr val="000000"/>
                </a:outerShdw>
              </a:effectLst>
            </a:endParaRPr>
          </a:p>
          <a:p>
            <a:pPr marL="383380" lvl="0" indent="-383380" defTabSz="841247">
              <a:lnSpc>
                <a:spcPct val="11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500">
                <a:solidFill>
                  <a:srgbClr val="000099"/>
                </a:solidFill>
                <a:effectLst>
                  <a:outerShdw blurRad="12700" dist="23368" dir="2700000" rotWithShape="0">
                    <a:srgbClr val="000000"/>
                  </a:outerShdw>
                </a:effectLst>
              </a:rPr>
              <a:t>Grande equipe de apoio</a:t>
            </a:r>
          </a:p>
        </p:txBody>
      </p:sp>
      <p:sp>
        <p:nvSpPr>
          <p:cNvPr id="125" name="Shape 125"/>
          <p:cNvSpPr/>
          <p:nvPr/>
        </p:nvSpPr>
        <p:spPr>
          <a:xfrm>
            <a:off x="2538411" y="1112837"/>
            <a:ext cx="4987927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apoio ao executivo (SAE)</a:t>
            </a:r>
          </a:p>
        </p:txBody>
      </p:sp>
      <p:sp>
        <p:nvSpPr>
          <p:cNvPr id="126" name="Shape 126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27" name="Shape 127"/>
          <p:cNvSpPr/>
          <p:nvPr/>
        </p:nvSpPr>
        <p:spPr>
          <a:xfrm>
            <a:off x="1338262" y="730249"/>
            <a:ext cx="7296151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PRINCIPAIS APLICAÇÕES DE SISTEMAS NAS ORGANIZAÇÕES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4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4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1" build="p" bldLvl="5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21</a:t>
            </a:fld>
            <a:endParaRPr sz="1600"/>
          </a:p>
        </p:txBody>
      </p:sp>
      <p:sp>
        <p:nvSpPr>
          <p:cNvPr id="130" name="Shape 130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INTER-RELACIONAMENTOS ENTRE SISTEMAS</a:t>
            </a:r>
          </a:p>
        </p:txBody>
      </p:sp>
      <p:sp>
        <p:nvSpPr>
          <p:cNvPr id="131" name="Shape 131"/>
          <p:cNvSpPr/>
          <p:nvPr/>
        </p:nvSpPr>
        <p:spPr>
          <a:xfrm>
            <a:off x="3752850" y="63245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2-9</a:t>
            </a:r>
          </a:p>
        </p:txBody>
      </p:sp>
      <p:sp>
        <p:nvSpPr>
          <p:cNvPr id="132" name="Shape 132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pic>
        <p:nvPicPr>
          <p:cNvPr id="133" name="image11.jpeg" descr="laudon+f02-09"/>
          <p:cNvPicPr/>
          <p:nvPr/>
        </p:nvPicPr>
        <p:blipFill>
          <a:blip r:embed="rId2"/>
          <a:stretch>
            <a:fillRect/>
          </a:stretch>
        </p:blipFill>
        <p:spPr>
          <a:xfrm>
            <a:off x="2319336" y="1547812"/>
            <a:ext cx="4559303" cy="45989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 advClick="0" advTm="1000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22</a:t>
            </a:fld>
            <a:endParaRPr sz="1600"/>
          </a:p>
        </p:txBody>
      </p:sp>
      <p:sp>
        <p:nvSpPr>
          <p:cNvPr id="136" name="Shape 136"/>
          <p:cNvSpPr>
            <a:spLocks noGrp="1"/>
          </p:cNvSpPr>
          <p:nvPr>
            <p:ph type="body" idx="4294967295"/>
          </p:nvPr>
        </p:nvSpPr>
        <p:spPr>
          <a:xfrm>
            <a:off x="685800" y="2081211"/>
            <a:ext cx="7772400" cy="41148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lvl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Principais funções dos sistemas:</a:t>
            </a: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Gestão de vendas, pesquisa de mercado, promoção, definição de preços, novos produtos</a:t>
            </a:r>
          </a:p>
          <a:p>
            <a:pPr lvl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lvl="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200">
                <a:solidFill>
                  <a:srgbClr val="008000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Principais aplicações dos sistemas:</a:t>
            </a:r>
            <a:endParaRPr>
              <a:solidFill>
                <a:srgbClr val="008000"/>
              </a:solidFill>
              <a:effectLst>
                <a:outerShdw blurRad="12700" dist="25400" dir="2700000" rotWithShape="0">
                  <a:srgbClr val="000000"/>
                </a:outerShdw>
              </a:effectLst>
            </a:endParaRPr>
          </a:p>
          <a:p>
            <a:pPr marL="466724" lvl="0" indent="-466724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800">
                <a:solidFill>
                  <a:srgbClr val="000099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</a:rPr>
              <a:t>Sistemas de acompanhamento de pedidos, sistema de pesquisa de mercado, sistema de estabelecimento de preços</a:t>
            </a:r>
          </a:p>
        </p:txBody>
      </p:sp>
      <p:sp>
        <p:nvSpPr>
          <p:cNvPr id="137" name="Shape 137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  <p:sp>
        <p:nvSpPr>
          <p:cNvPr id="138" name="Shape 138"/>
          <p:cNvSpPr/>
          <p:nvPr/>
        </p:nvSpPr>
        <p:spPr>
          <a:xfrm>
            <a:off x="2373311" y="1108074"/>
            <a:ext cx="4097339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vendas e marketing</a:t>
            </a:r>
          </a:p>
        </p:txBody>
      </p:sp>
      <p:sp>
        <p:nvSpPr>
          <p:cNvPr id="139" name="Shape 139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6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1" build="p" bldLvl="5" animBg="1" advAuto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23</a:t>
            </a:fld>
            <a:endParaRPr sz="1600"/>
          </a:p>
        </p:txBody>
      </p:sp>
      <p:grpSp>
        <p:nvGrpSpPr>
          <p:cNvPr id="144" name="Group 144"/>
          <p:cNvGrpSpPr/>
          <p:nvPr/>
        </p:nvGrpSpPr>
        <p:grpSpPr>
          <a:xfrm>
            <a:off x="381000" y="2124074"/>
            <a:ext cx="8491540" cy="3497265"/>
            <a:chOff x="0" y="0"/>
            <a:chExt cx="8491539" cy="3497264"/>
          </a:xfrm>
        </p:grpSpPr>
        <p:sp>
          <p:nvSpPr>
            <p:cNvPr id="142" name="Shape 142"/>
            <p:cNvSpPr/>
            <p:nvPr/>
          </p:nvSpPr>
          <p:spPr>
            <a:xfrm>
              <a:off x="0" y="-1"/>
              <a:ext cx="8491540" cy="3497265"/>
            </a:xfrm>
            <a:prstGeom prst="rect">
              <a:avLst/>
            </a:prstGeom>
            <a:solidFill>
              <a:srgbClr val="FFFF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43" name="image3.pn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8491540" cy="349726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5" name="Shape 145"/>
          <p:cNvSpPr/>
          <p:nvPr/>
        </p:nvSpPr>
        <p:spPr>
          <a:xfrm>
            <a:off x="2459036" y="1108074"/>
            <a:ext cx="4011614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vendas e marketing</a:t>
            </a:r>
          </a:p>
        </p:txBody>
      </p:sp>
      <p:sp>
        <p:nvSpPr>
          <p:cNvPr id="146" name="Shape 146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47" name="Shape 147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" grpId="1" animBg="1" advAuto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24</a:t>
            </a:fld>
            <a:endParaRPr sz="1600"/>
          </a:p>
        </p:txBody>
      </p:sp>
      <p:sp>
        <p:nvSpPr>
          <p:cNvPr id="150" name="Shape 150"/>
          <p:cNvSpPr>
            <a:spLocks noGrp="1"/>
          </p:cNvSpPr>
          <p:nvPr>
            <p:ph type="body" idx="4294967295"/>
          </p:nvPr>
        </p:nvSpPr>
        <p:spPr>
          <a:xfrm>
            <a:off x="685800" y="1714500"/>
            <a:ext cx="7772400" cy="411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pPr marL="325754" lvl="0" indent="-325754" defTabSz="86868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008000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Principais funções dos sistemas:</a:t>
            </a:r>
          </a:p>
          <a:p>
            <a:pPr marL="411717" lvl="0" indent="-411717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Estabelecimento de metas de produção, compras, expedição, recepção, engenharia, operações</a:t>
            </a:r>
          </a:p>
          <a:p>
            <a:pPr marL="325754" lvl="0" indent="-325754" defTabSz="868680">
              <a:lnSpc>
                <a:spcPct val="90000"/>
              </a:lnSpc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endParaRPr sz="260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325754" lvl="0" indent="-325754" defTabSz="86868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sz="3000">
                <a:solidFill>
                  <a:srgbClr val="008000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Principais aplicações dos sistemas:</a:t>
            </a:r>
            <a:endParaRPr sz="3400">
              <a:solidFill>
                <a:srgbClr val="008000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411717" lvl="0" indent="-411717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defRPr sz="1800">
                <a:solidFill>
                  <a:srgbClr val="000000"/>
                </a:solidFill>
              </a:defRPr>
            </a:pPr>
            <a:r>
              <a:rPr sz="260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Sistemas de planejamento de recursos, Sistemas de controle de pedidos de compra, sistemas de engenharia, sistemas de controle de qualidade</a:t>
            </a:r>
          </a:p>
        </p:txBody>
      </p:sp>
      <p:sp>
        <p:nvSpPr>
          <p:cNvPr id="151" name="Shape 151"/>
          <p:cNvSpPr/>
          <p:nvPr/>
        </p:nvSpPr>
        <p:spPr>
          <a:xfrm>
            <a:off x="2524125" y="1150937"/>
            <a:ext cx="4532313" cy="350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fabricação e produção</a:t>
            </a:r>
          </a:p>
        </p:txBody>
      </p:sp>
      <p:sp>
        <p:nvSpPr>
          <p:cNvPr id="152" name="Shape 152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53" name="Shape 153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1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" presetClass="entr" presetSubtype="1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1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1" build="p" bldLvl="5" animBg="1" advAuto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25</a:t>
            </a:fld>
            <a:endParaRPr sz="1600"/>
          </a:p>
        </p:txBody>
      </p:sp>
      <p:grpSp>
        <p:nvGrpSpPr>
          <p:cNvPr id="158" name="Group 158"/>
          <p:cNvGrpSpPr/>
          <p:nvPr/>
        </p:nvGrpSpPr>
        <p:grpSpPr>
          <a:xfrm>
            <a:off x="323850" y="2290761"/>
            <a:ext cx="8601075" cy="3040066"/>
            <a:chOff x="0" y="0"/>
            <a:chExt cx="8601075" cy="3040064"/>
          </a:xfrm>
        </p:grpSpPr>
        <p:sp>
          <p:nvSpPr>
            <p:cNvPr id="156" name="Shape 156"/>
            <p:cNvSpPr/>
            <p:nvPr/>
          </p:nvSpPr>
          <p:spPr>
            <a:xfrm>
              <a:off x="0" y="-1"/>
              <a:ext cx="8601075" cy="3040065"/>
            </a:xfrm>
            <a:prstGeom prst="rect">
              <a:avLst/>
            </a:prstGeom>
            <a:solidFill>
              <a:srgbClr val="FFFF66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>
                <a:defRPr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157" name="image4.pn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"/>
              <a:ext cx="8601075" cy="30400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9" name="Shape 159"/>
          <p:cNvSpPr/>
          <p:nvPr/>
        </p:nvSpPr>
        <p:spPr>
          <a:xfrm>
            <a:off x="2609850" y="1108074"/>
            <a:ext cx="45466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Sistemas de fabricação e produção</a:t>
            </a:r>
          </a:p>
        </p:txBody>
      </p:sp>
      <p:sp>
        <p:nvSpPr>
          <p:cNvPr id="160" name="Shape 160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61" name="Shape 161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</p:spTree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1" nodeType="afterEffect">
                                  <p:stCondLst>
                                    <p:cond delay="100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1" animBg="1" advAuto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26</a:t>
            </a:fld>
            <a:endParaRPr sz="1600"/>
          </a:p>
        </p:txBody>
      </p:sp>
      <p:sp>
        <p:nvSpPr>
          <p:cNvPr id="164" name="Shape 164"/>
          <p:cNvSpPr/>
          <p:nvPr/>
        </p:nvSpPr>
        <p:spPr>
          <a:xfrm>
            <a:off x="2870200" y="1142999"/>
            <a:ext cx="45974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08000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08000"/>
                </a:solidFill>
              </a:rPr>
              <a:t>Sistema de controle de estoques</a:t>
            </a:r>
          </a:p>
        </p:txBody>
      </p:sp>
      <p:sp>
        <p:nvSpPr>
          <p:cNvPr id="165" name="Shape 165"/>
          <p:cNvSpPr/>
          <p:nvPr/>
        </p:nvSpPr>
        <p:spPr>
          <a:xfrm>
            <a:off x="3752850" y="6210299"/>
            <a:ext cx="1409700" cy="350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defTabSz="457200">
              <a:spcBef>
                <a:spcPts val="1000"/>
              </a:spcBef>
              <a:defRPr sz="1800" u="none" baseline="0">
                <a:solidFill>
                  <a:srgbClr val="0336B7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0336B7"/>
                </a:solidFill>
              </a:rPr>
              <a:t>Figura 2-10</a:t>
            </a:r>
          </a:p>
        </p:txBody>
      </p:sp>
      <p:sp>
        <p:nvSpPr>
          <p:cNvPr id="166" name="Shape 166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67" name="Shape 167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  <p:pic>
        <p:nvPicPr>
          <p:cNvPr id="168" name="image12.jpeg" descr="laudon+f02-10"/>
          <p:cNvPicPr/>
          <p:nvPr/>
        </p:nvPicPr>
        <p:blipFill>
          <a:blip r:embed="rId2"/>
          <a:stretch>
            <a:fillRect/>
          </a:stretch>
        </p:blipFill>
        <p:spPr>
          <a:xfrm>
            <a:off x="388936" y="1965325"/>
            <a:ext cx="8320090" cy="372268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>
            <a:spLocks noGrp="1"/>
          </p:cNvSpPr>
          <p:nvPr>
            <p:ph type="sldNum" sz="quarter" idx="2"/>
          </p:nvPr>
        </p:nvSpPr>
        <p:spPr>
          <a:xfrm>
            <a:off x="57150" y="6534150"/>
            <a:ext cx="695325" cy="336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>
            <a:lvl1pPr defTabSz="457200">
              <a:spcBef>
                <a:spcPts val="900"/>
              </a:spcBef>
              <a:defRPr sz="1600" u="none" baseline="0"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/>
            </a:pPr>
            <a:fld id="{86CB4B4D-7CA3-9044-876B-883B54F8677D}" type="slidenum">
              <a:rPr sz="1600"/>
              <a:t>27</a:t>
            </a:fld>
            <a:endParaRPr sz="1600"/>
          </a:p>
        </p:txBody>
      </p:sp>
      <p:sp>
        <p:nvSpPr>
          <p:cNvPr id="150" name="Shape 150"/>
          <p:cNvSpPr>
            <a:spLocks noGrp="1"/>
          </p:cNvSpPr>
          <p:nvPr>
            <p:ph type="body" idx="4294967295"/>
          </p:nvPr>
        </p:nvSpPr>
        <p:spPr>
          <a:xfrm>
            <a:off x="493295" y="1395663"/>
            <a:ext cx="7964905" cy="5053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normAutofit/>
          </a:bodyPr>
          <a:lstStyle/>
          <a:p>
            <a:pPr marL="325754" lvl="0" indent="-325754" defTabSz="868680">
              <a:lnSpc>
                <a:spcPct val="90000"/>
              </a:lnSpc>
              <a:buSzTx/>
              <a:buNone/>
              <a:defRPr sz="1800">
                <a:solidFill>
                  <a:srgbClr val="000000"/>
                </a:solidFill>
              </a:defRPr>
            </a:pPr>
            <a:r>
              <a:rPr lang="pt-BR" sz="3000" dirty="0">
                <a:solidFill>
                  <a:srgbClr val="008000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CONSIDERACOES FINAIS</a:t>
            </a:r>
            <a:r>
              <a:rPr sz="3000" dirty="0">
                <a:solidFill>
                  <a:srgbClr val="008000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:</a:t>
            </a: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FOI MOSTRADA A SERVENTIA DOS SOFTWARES NAS PRINCIPAIS AREAS DA EMPRESA, DENTRO DOS RESPECTIVOS NIVEIS. (OPERACIONAL, GERENCIAL,ESTARTEGICO)</a:t>
            </a: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A DIFICULDADE DE INTEGRACAO DOS DIVERSOS SISTEMAS</a:t>
            </a: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BASICAMENTE TODOS OS SISTEMAS QUE COMPOE O FATURAMENTO.</a:t>
            </a: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ASPECTOS PRINCIPAIS DE CADA SISTEMA (OBJETIVOS), TIPO COMPRAS, PRODUCAO, VENDAS/MARKETING, FINANCEIROS.</a:t>
            </a: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r>
              <a:rPr lang="pt-BR" sz="2000" dirty="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LAUDON/LAUDON – PARA </a:t>
            </a:r>
            <a:r>
              <a:rPr lang="pt-BR" sz="2000">
                <a:solidFill>
                  <a:srgbClr val="000099"/>
                </a:solidFill>
                <a:effectLst>
                  <a:outerShdw blurRad="12700" dist="24130" dir="2700000" rotWithShape="0">
                    <a:srgbClr val="000000"/>
                  </a:outerShdw>
                </a:effectLst>
              </a:rPr>
              <a:t>DUVIDAS POSTERIORES</a:t>
            </a: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lang="pt-BR"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spcBef>
                <a:spcPts val="600"/>
              </a:spcBef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sz="20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  <a:p>
            <a:pPr marL="0" lvl="0" indent="0" defTabSz="868680">
              <a:lnSpc>
                <a:spcPct val="90000"/>
              </a:lnSpc>
              <a:buClr>
                <a:srgbClr val="000099"/>
              </a:buClr>
              <a:buNone/>
              <a:defRPr sz="1800">
                <a:solidFill>
                  <a:srgbClr val="000000"/>
                </a:solidFill>
              </a:defRPr>
            </a:pPr>
            <a:endParaRPr sz="2600" dirty="0">
              <a:solidFill>
                <a:srgbClr val="000099"/>
              </a:solidFill>
              <a:effectLst>
                <a:outerShdw blurRad="12700" dist="24130" dir="2700000" rotWithShape="0">
                  <a:srgbClr val="000000"/>
                </a:outerShdw>
              </a:effectLst>
            </a:endParaRPr>
          </a:p>
        </p:txBody>
      </p:sp>
      <p:sp>
        <p:nvSpPr>
          <p:cNvPr id="152" name="Shape 152"/>
          <p:cNvSpPr/>
          <p:nvPr/>
        </p:nvSpPr>
        <p:spPr>
          <a:xfrm>
            <a:off x="885825" y="-38547"/>
            <a:ext cx="7772400" cy="6009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4450" tIns="44450" rIns="44450" bIns="44450" anchor="ctr">
            <a:spAutoFit/>
          </a:bodyPr>
          <a:lstStyle/>
          <a:p>
            <a:pPr lvl="0" algn="ctr" defTabSz="457200">
              <a:defRPr sz="1800" u="none" baseline="0"/>
            </a:pPr>
            <a:r>
              <a:rPr sz="20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Sistemas de Informação Gerencial</a:t>
            </a:r>
          </a:p>
          <a:p>
            <a:pPr lvl="0" algn="ctr" defTabSz="457200">
              <a:defRPr sz="1800" u="none" baseline="0"/>
            </a:pPr>
            <a:r>
              <a:rPr sz="1600">
                <a:solidFill>
                  <a:srgbClr val="FFFFFF"/>
                </a:solidFill>
                <a:effectLst>
                  <a:outerShdw blurRad="12700" dist="25400" dir="2700000" rotWithShape="0">
                    <a:srgbClr val="000000"/>
                  </a:outerShdw>
                </a:effectLst>
                <a:latin typeface="Times New Roman Bold"/>
                <a:ea typeface="Times New Roman Bold"/>
                <a:cs typeface="Times New Roman Bold"/>
                <a:sym typeface="Times New Roman Bold"/>
              </a:rPr>
              <a:t>Capítulo 2 Sistemas de Informação na Empresa</a:t>
            </a:r>
          </a:p>
        </p:txBody>
      </p:sp>
      <p:sp>
        <p:nvSpPr>
          <p:cNvPr id="153" name="Shape 153"/>
          <p:cNvSpPr/>
          <p:nvPr/>
        </p:nvSpPr>
        <p:spPr>
          <a:xfrm>
            <a:off x="2206625" y="711199"/>
            <a:ext cx="4987925" cy="313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>
            <a:lvl1pPr algn="ctr" defTabSz="457200">
              <a:spcBef>
                <a:spcPts val="900"/>
              </a:spcBef>
              <a:defRPr sz="1600" u="none" baseline="0">
                <a:solidFill>
                  <a:srgbClr val="CCECFF"/>
                </a:solidFill>
                <a:latin typeface="Arial Bold"/>
                <a:ea typeface="Arial Bold"/>
                <a:cs typeface="Arial Bold"/>
                <a:sym typeface="Arial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600">
                <a:solidFill>
                  <a:srgbClr val="CCECFF"/>
                </a:solidFill>
              </a:rPr>
              <a:t>SISTEMAS NUMA PERSPECTIVA FUNCIONAL</a:t>
            </a:r>
          </a:p>
        </p:txBody>
      </p:sp>
    </p:spTree>
    <p:extLst>
      <p:ext uri="{BB962C8B-B14F-4D97-AF65-F5344CB8AC3E}">
        <p14:creationId xmlns:p14="http://schemas.microsoft.com/office/powerpoint/2010/main" val="3609096179"/>
      </p:ext>
    </p:extLst>
  </p:cSld>
  <p:clrMapOvr>
    <a:masterClrMapping/>
  </p:clrMapOvr>
  <p:transition spd="med" advClick="0" advTm="1000">
    <p:fade thruBlk="1"/>
  </p:transition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" grpId="0" build="p" bldLvl="5" animBg="1" advAuto="0"/>
    </p:bldLst>
  </p:timing>
</p:sld>
</file>

<file path=ppt/theme/theme1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18FFD"/>
      </a:accent1>
      <a:accent2>
        <a:srgbClr val="00AE00"/>
      </a:accent2>
      <a:accent3>
        <a:srgbClr val="8F8F8F"/>
      </a:accent3>
      <a:accent4>
        <a:srgbClr val="707070"/>
      </a:accent4>
      <a:accent5>
        <a:srgbClr val="B6C5FE"/>
      </a:accent5>
      <a:accent6>
        <a:srgbClr val="009E00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sng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sng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618FFD"/>
      </a:accent1>
      <a:accent2>
        <a:srgbClr val="00AE00"/>
      </a:accent2>
      <a:accent3>
        <a:srgbClr val="8F8F8F"/>
      </a:accent3>
      <a:accent4>
        <a:srgbClr val="707070"/>
      </a:accent4>
      <a:accent5>
        <a:srgbClr val="B6C5FE"/>
      </a:accent5>
      <a:accent6>
        <a:srgbClr val="009E00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Avenir Roman"/>
        <a:ea typeface="Avenir Roman"/>
        <a:cs typeface="Avenir Roman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sng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618FFD"/>
          </a:solidFill>
          <a:prstDash val="solid"/>
          <a:bevel/>
        </a:ln>
        <a:effectLst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b="0" i="0" u="sng" strike="noStrike" cap="none" spc="0" normalizeH="0" baseline="-2500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1108</Words>
  <Application>Microsoft Macintosh PowerPoint</Application>
  <PresentationFormat>Apresentação na tela (4:3)</PresentationFormat>
  <Paragraphs>226</Paragraphs>
  <Slides>27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2" baseType="lpstr">
      <vt:lpstr>Arial</vt:lpstr>
      <vt:lpstr>Arial Bold</vt:lpstr>
      <vt:lpstr>Avenir Roman</vt:lpstr>
      <vt:lpstr>Times New Roman Bold</vt:lpstr>
      <vt:lpstr>Default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EDGARD ALEXANDRE ROMANATO</cp:lastModifiedBy>
  <cp:revision>2</cp:revision>
  <dcterms:modified xsi:type="dcterms:W3CDTF">2022-02-21T18:28:29Z</dcterms:modified>
</cp:coreProperties>
</file>