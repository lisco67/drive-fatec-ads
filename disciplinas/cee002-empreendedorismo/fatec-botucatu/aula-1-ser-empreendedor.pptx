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9" r:id="rId4"/>
    <p:sldId id="270" r:id="rId5"/>
    <p:sldId id="271" r:id="rId6"/>
    <p:sldId id="257" r:id="rId7"/>
    <p:sldId id="258" r:id="rId8"/>
    <p:sldId id="263" r:id="rId9"/>
    <p:sldId id="264" r:id="rId10"/>
    <p:sldId id="265" r:id="rId11"/>
    <p:sldId id="266" r:id="rId12"/>
    <p:sldId id="267" r:id="rId13"/>
    <p:sldId id="273" r:id="rId14"/>
    <p:sldId id="275" r:id="rId15"/>
    <p:sldId id="276" r:id="rId16"/>
    <p:sldId id="277" r:id="rId17"/>
    <p:sldId id="278" r:id="rId18"/>
    <p:sldId id="279" r:id="rId19"/>
    <p:sldId id="285" r:id="rId20"/>
    <p:sldId id="280" r:id="rId21"/>
    <p:sldId id="281" r:id="rId22"/>
    <p:sldId id="282" r:id="rId23"/>
    <p:sldId id="283" r:id="rId24"/>
    <p:sldId id="286" r:id="rId25"/>
    <p:sldId id="284" r:id="rId2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1865E093-6565-4A8F-A072-E710479C1F98}" type="datetimeFigureOut">
              <a:rPr lang="pt-BR" smtClean="0"/>
              <a:pPr/>
              <a:t>11/02/2014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A54560CF-C1B0-4CFC-8612-E0B2889C4C37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ucessoempresarial.com/blog/empreendedorismo-no-brasil-analise-historica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 smtClean="0"/>
              <a:t>Inovação</a:t>
            </a:r>
            <a:r>
              <a:rPr lang="en-US" dirty="0" smtClean="0"/>
              <a:t> e Empreendedorismo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428728" y="4500570"/>
            <a:ext cx="7406640" cy="1752600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 smtClean="0"/>
              <a:t>LOGÍSTICA – 5</a:t>
            </a:r>
            <a:r>
              <a:rPr lang="en-US" sz="1200" dirty="0" smtClean="0"/>
              <a:t>O</a:t>
            </a:r>
            <a:r>
              <a:rPr lang="en-US" dirty="0" smtClean="0"/>
              <a:t> </a:t>
            </a:r>
            <a:r>
              <a:rPr lang="en-US" dirty="0" err="1" smtClean="0"/>
              <a:t>Ciclo</a:t>
            </a:r>
            <a:endParaRPr lang="en-US" dirty="0" smtClean="0"/>
          </a:p>
          <a:p>
            <a:pPr algn="r"/>
            <a:r>
              <a:rPr lang="en-US" dirty="0" smtClean="0"/>
              <a:t>FATEC </a:t>
            </a:r>
            <a:r>
              <a:rPr lang="en-US" dirty="0" err="1" smtClean="0"/>
              <a:t>Botucatu</a:t>
            </a:r>
            <a:endParaRPr lang="en-US" dirty="0" smtClean="0"/>
          </a:p>
          <a:p>
            <a:endParaRPr lang="en-US" dirty="0" smtClean="0"/>
          </a:p>
          <a:p>
            <a:pPr algn="r"/>
            <a:r>
              <a:rPr lang="en-US" b="1" dirty="0" smtClean="0"/>
              <a:t>Prof. Ms. Bernadete Rossi B. Fantin</a:t>
            </a:r>
            <a:endParaRPr lang="pt-BR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Empreendedorismo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no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Brasil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(2010)</a:t>
            </a:r>
            <a:endParaRPr lang="pt-B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1538" y="1071546"/>
            <a:ext cx="8072462" cy="5786454"/>
          </a:xfrm>
        </p:spPr>
        <p:txBody>
          <a:bodyPr>
            <a:normAutofit fontScale="55000" lnSpcReduction="20000"/>
          </a:bodyPr>
          <a:lstStyle/>
          <a:p>
            <a:r>
              <a:rPr lang="pt-BR" sz="5800" dirty="0" smtClean="0"/>
              <a:t>O Brasil ocupava a </a:t>
            </a:r>
            <a:r>
              <a:rPr lang="pt-BR" sz="58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13º posição no </a:t>
            </a:r>
            <a:r>
              <a:rPr lang="pt-BR" sz="5800" i="1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ranking </a:t>
            </a:r>
            <a:r>
              <a:rPr lang="pt-BR" sz="5800" i="1" dirty="0" smtClean="0"/>
              <a:t>mundial de empreendedorismo.</a:t>
            </a:r>
          </a:p>
          <a:p>
            <a:pPr>
              <a:buNone/>
            </a:pPr>
            <a:endParaRPr lang="pt-BR" sz="5800" i="1" dirty="0" smtClean="0"/>
          </a:p>
          <a:p>
            <a:r>
              <a:rPr lang="pt-BR" sz="5800" dirty="0" smtClean="0"/>
              <a:t>Taxa de Empreendedores em Estágio Inicial (TEA) brasileira foi de 12,02 o que significa que de </a:t>
            </a:r>
            <a:r>
              <a:rPr lang="pt-BR" sz="58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cada 100 brasileiros 12 realizavam alguma atividade empreendedora .</a:t>
            </a:r>
          </a:p>
          <a:p>
            <a:pPr>
              <a:buNone/>
            </a:pPr>
            <a:endParaRPr lang="pt-BR" sz="5800" dirty="0" smtClean="0"/>
          </a:p>
          <a:p>
            <a:r>
              <a:rPr lang="pt-BR" sz="58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aumento da participação do jovem </a:t>
            </a:r>
            <a:r>
              <a:rPr lang="pt-BR" sz="5800" dirty="0" smtClean="0"/>
              <a:t>(18-24 anos) </a:t>
            </a:r>
            <a:r>
              <a:rPr lang="pt-BR" sz="5800" dirty="0" smtClean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 a redução da participação do adulto de meia idade </a:t>
            </a:r>
            <a:r>
              <a:rPr lang="pt-BR" sz="5800" dirty="0" smtClean="0"/>
              <a:t>(55-64 anos) na atividade empreendedora.</a:t>
            </a:r>
          </a:p>
          <a:p>
            <a:endParaRPr lang="en-US" dirty="0" smtClean="0"/>
          </a:p>
          <a:p>
            <a:pPr algn="r">
              <a:buNone/>
            </a:pPr>
            <a:r>
              <a:rPr lang="pt-BR" sz="3300" b="1" dirty="0" smtClean="0">
                <a:solidFill>
                  <a:schemeClr val="accent1">
                    <a:lumMod val="75000"/>
                  </a:schemeClr>
                </a:solidFill>
              </a:rPr>
              <a:t>Instituto Brasileiro da Qualidade e Produtividade (IBQP) </a:t>
            </a:r>
            <a:endParaRPr lang="pt-BR" sz="33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Empreendedorismo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no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Brasil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(2010)</a:t>
            </a:r>
            <a:endParaRPr lang="pt-B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7224" y="1071546"/>
            <a:ext cx="8286776" cy="5786454"/>
          </a:xfrm>
        </p:spPr>
        <p:txBody>
          <a:bodyPr>
            <a:normAutofit/>
          </a:bodyPr>
          <a:lstStyle/>
          <a:p>
            <a:r>
              <a:rPr lang="pt-BR" sz="4000" dirty="0" smtClean="0"/>
              <a:t>O Brasil ocupava a terceira posição no</a:t>
            </a:r>
            <a:r>
              <a:rPr lang="pt-BR" sz="4000" i="1" dirty="0" smtClean="0"/>
              <a:t> ranking mundial</a:t>
            </a:r>
            <a:r>
              <a:rPr lang="pt-BR" sz="4000" dirty="0" smtClean="0"/>
              <a:t> em termos de participação de jovens empreendedores (25%), sendo superado somente pelo Irã (29%) e pela Jamaica (28%). </a:t>
            </a:r>
          </a:p>
          <a:p>
            <a:pPr>
              <a:buNone/>
            </a:pPr>
            <a:endParaRPr lang="pt-BR" sz="1100" dirty="0" smtClean="0"/>
          </a:p>
          <a:p>
            <a:endParaRPr lang="en-US" dirty="0" smtClean="0"/>
          </a:p>
          <a:p>
            <a:pPr algn="r">
              <a:buNone/>
            </a:pPr>
            <a:r>
              <a:rPr lang="pt-BR" sz="3300" b="1" dirty="0" smtClean="0">
                <a:solidFill>
                  <a:schemeClr val="accent1">
                    <a:lumMod val="75000"/>
                  </a:schemeClr>
                </a:solidFill>
              </a:rPr>
              <a:t>Instituto Brasileiro da Qualidade e Produtividade (IBQP) </a:t>
            </a:r>
            <a:endParaRPr lang="pt-BR" sz="33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Empreendedorismo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no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Brasil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(2010)</a:t>
            </a:r>
            <a:endParaRPr lang="pt-B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7224" y="1071546"/>
            <a:ext cx="8286776" cy="5786454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endParaRPr lang="pt-BR" sz="1100" dirty="0" smtClean="0"/>
          </a:p>
          <a:p>
            <a:r>
              <a:rPr lang="pt-BR" sz="4000" dirty="0" smtClean="0"/>
              <a:t>Observa-se que o jovem empreendedor por necessidade, representava 28% dos empreendedores brasileiros. </a:t>
            </a:r>
          </a:p>
          <a:p>
            <a:pPr lvl="1"/>
            <a:r>
              <a:rPr lang="pt-BR" sz="3700" dirty="0" smtClean="0">
                <a:solidFill>
                  <a:schemeClr val="accent2">
                    <a:lumMod val="50000"/>
                  </a:schemeClr>
                </a:solidFill>
              </a:rPr>
              <a:t>Faixa salarial – de 1 a 3 </a:t>
            </a:r>
            <a:r>
              <a:rPr lang="pt-BR" sz="3700" dirty="0" err="1" smtClean="0">
                <a:solidFill>
                  <a:schemeClr val="accent2">
                    <a:lumMod val="50000"/>
                  </a:schemeClr>
                </a:solidFill>
              </a:rPr>
              <a:t>Salár</a:t>
            </a:r>
            <a:r>
              <a:rPr lang="pt-BR" sz="3700" dirty="0" smtClean="0">
                <a:solidFill>
                  <a:schemeClr val="accent2">
                    <a:lumMod val="50000"/>
                  </a:schemeClr>
                </a:solidFill>
              </a:rPr>
              <a:t>. Mín. </a:t>
            </a:r>
            <a:r>
              <a:rPr lang="pt-BR" sz="2900" dirty="0" smtClean="0">
                <a:solidFill>
                  <a:schemeClr val="accent2">
                    <a:lumMod val="50000"/>
                  </a:schemeClr>
                </a:solidFill>
              </a:rPr>
              <a:t>(R$ 510,00 a R$ 1.530,00);</a:t>
            </a:r>
          </a:p>
          <a:p>
            <a:pPr lvl="1"/>
            <a:r>
              <a:rPr lang="pt-BR" sz="3700" dirty="0" smtClean="0">
                <a:solidFill>
                  <a:schemeClr val="accent2">
                    <a:lumMod val="50000"/>
                  </a:schemeClr>
                </a:solidFill>
              </a:rPr>
              <a:t>Escolaridade –  de  5 a 11 anos; </a:t>
            </a:r>
          </a:p>
          <a:p>
            <a:pPr lvl="1"/>
            <a:r>
              <a:rPr lang="pt-BR" sz="3700" dirty="0" smtClean="0">
                <a:solidFill>
                  <a:schemeClr val="accent2">
                    <a:lumMod val="50000"/>
                  </a:schemeClr>
                </a:solidFill>
              </a:rPr>
              <a:t>Atividades:</a:t>
            </a:r>
          </a:p>
          <a:p>
            <a:pPr lvl="2"/>
            <a:r>
              <a:rPr lang="pt-BR" sz="3400" dirty="0" smtClean="0">
                <a:solidFill>
                  <a:schemeClr val="accent2">
                    <a:lumMod val="75000"/>
                  </a:schemeClr>
                </a:solidFill>
              </a:rPr>
              <a:t>(70%) no setor de serviços orientados ao consumidor;</a:t>
            </a:r>
          </a:p>
          <a:p>
            <a:pPr lvl="2"/>
            <a:r>
              <a:rPr lang="pt-BR" sz="3400" dirty="0" smtClean="0">
                <a:solidFill>
                  <a:schemeClr val="accent2">
                    <a:lumMod val="75000"/>
                  </a:schemeClr>
                </a:solidFill>
              </a:rPr>
              <a:t>(30%) no setor de transformação.</a:t>
            </a:r>
          </a:p>
          <a:p>
            <a:pPr lvl="2"/>
            <a:endParaRPr lang="pt-BR" sz="1100" dirty="0" smtClean="0"/>
          </a:p>
          <a:p>
            <a:r>
              <a:rPr lang="pt-BR" sz="4000" dirty="0" smtClean="0"/>
              <a:t>O jovem empreendedor por oportunidade diferencia se por:</a:t>
            </a:r>
          </a:p>
          <a:p>
            <a:pPr lvl="1"/>
            <a:r>
              <a:rPr lang="pt-BR" sz="3400" dirty="0" smtClean="0">
                <a:solidFill>
                  <a:schemeClr val="accent2">
                    <a:lumMod val="50000"/>
                  </a:schemeClr>
                </a:solidFill>
              </a:rPr>
              <a:t>Faixa salarial – de 3 a 6 </a:t>
            </a:r>
            <a:r>
              <a:rPr lang="pt-BR" sz="3400" dirty="0" err="1" smtClean="0">
                <a:solidFill>
                  <a:schemeClr val="accent2">
                    <a:lumMod val="50000"/>
                  </a:schemeClr>
                </a:solidFill>
              </a:rPr>
              <a:t>Salár</a:t>
            </a:r>
            <a:r>
              <a:rPr lang="pt-BR" sz="3400" dirty="0" smtClean="0">
                <a:solidFill>
                  <a:schemeClr val="accent2">
                    <a:lumMod val="50000"/>
                  </a:schemeClr>
                </a:solidFill>
              </a:rPr>
              <a:t>. Mín. </a:t>
            </a:r>
            <a:r>
              <a:rPr lang="pt-BR" sz="2900" dirty="0" smtClean="0">
                <a:solidFill>
                  <a:schemeClr val="accent2">
                    <a:lumMod val="50000"/>
                  </a:schemeClr>
                </a:solidFill>
              </a:rPr>
              <a:t>(R$ 1.530,00 a R$ 3.060,00);</a:t>
            </a:r>
          </a:p>
          <a:p>
            <a:pPr lvl="1"/>
            <a:r>
              <a:rPr lang="pt-BR" sz="3400" dirty="0" smtClean="0">
                <a:solidFill>
                  <a:schemeClr val="accent2">
                    <a:lumMod val="50000"/>
                  </a:schemeClr>
                </a:solidFill>
              </a:rPr>
              <a:t>Escolaridade –  cursando ou terminando o nível superior; </a:t>
            </a:r>
          </a:p>
          <a:p>
            <a:pPr lvl="1"/>
            <a:endParaRPr lang="pt-BR" dirty="0" smtClean="0"/>
          </a:p>
          <a:p>
            <a:pPr algn="r">
              <a:buNone/>
            </a:pPr>
            <a:r>
              <a:rPr lang="pt-BR" sz="2600" b="1" dirty="0" smtClean="0">
                <a:solidFill>
                  <a:schemeClr val="accent1">
                    <a:lumMod val="75000"/>
                  </a:schemeClr>
                </a:solidFill>
              </a:rPr>
              <a:t>Instituto Brasileiro da Qualidade e Produtividade (IBQP) </a:t>
            </a:r>
            <a:endParaRPr lang="pt-BR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28728" y="0"/>
            <a:ext cx="749808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Empreendedorismo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no </a:t>
            </a:r>
            <a:r>
              <a:rPr lang="en-US" dirty="0" err="1" smtClean="0">
                <a:solidFill>
                  <a:schemeClr val="bg2">
                    <a:lumMod val="50000"/>
                  </a:schemeClr>
                </a:solidFill>
              </a:rPr>
              <a:t>Brasil</a:t>
            </a:r>
            <a:r>
              <a:rPr lang="en-US" dirty="0" smtClean="0">
                <a:solidFill>
                  <a:schemeClr val="bg2">
                    <a:lumMod val="50000"/>
                  </a:schemeClr>
                </a:solidFill>
              </a:rPr>
              <a:t> (2010)</a:t>
            </a:r>
            <a:endParaRPr lang="pt-BR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57224" y="1071546"/>
            <a:ext cx="8286776" cy="5786454"/>
          </a:xfrm>
        </p:spPr>
        <p:txBody>
          <a:bodyPr>
            <a:normAutofit/>
          </a:bodyPr>
          <a:lstStyle/>
          <a:p>
            <a:pPr>
              <a:buNone/>
            </a:pPr>
            <a:endParaRPr lang="pt-BR" sz="1100" dirty="0" smtClean="0"/>
          </a:p>
          <a:p>
            <a:r>
              <a:rPr lang="pt-BR" dirty="0" smtClean="0"/>
              <a:t>Os empreendedores por oportunidade têm uma participação maior em serviços orientados à empresa (19%), uma vez que esse tipo de serviço exige maior nível de qualificação e formação. O jovem </a:t>
            </a:r>
            <a:r>
              <a:rPr lang="pt-BR" dirty="0" smtClean="0">
                <a:hlinkClick r:id="rId2"/>
              </a:rPr>
              <a:t>universitário</a:t>
            </a:r>
            <a:r>
              <a:rPr lang="pt-BR" dirty="0" smtClean="0"/>
              <a:t>, por exemplo, frente à escassez do trabalho formal, abre seu negócio em </a:t>
            </a:r>
            <a:r>
              <a:rPr lang="pt-BR" i="1" dirty="0" smtClean="0"/>
              <a:t>serviços especializados</a:t>
            </a:r>
            <a:r>
              <a:rPr lang="pt-BR" dirty="0" smtClean="0"/>
              <a:t>, tais como contabilidade, apoio jurídico, apoio de informática etc.</a:t>
            </a:r>
          </a:p>
          <a:p>
            <a:pPr lvl="1"/>
            <a:endParaRPr lang="pt-BR" dirty="0" smtClean="0"/>
          </a:p>
          <a:p>
            <a:pPr algn="r">
              <a:buNone/>
            </a:pPr>
            <a:r>
              <a:rPr lang="pt-BR" sz="1800" b="1" dirty="0" smtClean="0">
                <a:solidFill>
                  <a:schemeClr val="accent1">
                    <a:lumMod val="75000"/>
                  </a:schemeClr>
                </a:solidFill>
              </a:rPr>
              <a:t>Instituto Brasileiro da Qualidade e Produtividade (IBQP)</a:t>
            </a:r>
            <a:r>
              <a:rPr lang="pt-BR" sz="2600" b="1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endParaRPr lang="pt-BR" sz="26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</a:t>
            </a:r>
            <a:r>
              <a:rPr lang="en-US" b="1" dirty="0" err="1" smtClean="0"/>
              <a:t>Empreendedorismo</a:t>
            </a:r>
            <a:r>
              <a:rPr lang="en-US" b="1" dirty="0" smtClean="0"/>
              <a:t>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28728" y="1500174"/>
            <a:ext cx="7498080" cy="4800600"/>
          </a:xfrm>
        </p:spPr>
        <p:txBody>
          <a:bodyPr>
            <a:normAutofit lnSpcReduction="10000"/>
          </a:bodyPr>
          <a:lstStyle/>
          <a:p>
            <a:pPr algn="ctr">
              <a:buNone/>
            </a:pPr>
            <a:r>
              <a:rPr lang="pt-BR" sz="3600" dirty="0" smtClean="0">
                <a:solidFill>
                  <a:schemeClr val="accent5">
                    <a:lumMod val="75000"/>
                  </a:schemeClr>
                </a:solidFill>
              </a:rPr>
              <a:t>De acordo com o dicionário eletrônico Wikipédia, empreendedorismo é o movimento de mudança causado pelo empreendedor, cuja origem da palavra vem do verbo francês </a:t>
            </a:r>
            <a:r>
              <a:rPr lang="pt-BR" sz="3600" i="1" dirty="0" smtClean="0">
                <a:solidFill>
                  <a:schemeClr val="accent5">
                    <a:lumMod val="75000"/>
                  </a:schemeClr>
                </a:solidFill>
              </a:rPr>
              <a:t>“</a:t>
            </a:r>
            <a:r>
              <a:rPr lang="pt-BR" sz="3600" i="1" dirty="0" err="1" smtClean="0">
                <a:solidFill>
                  <a:schemeClr val="accent5">
                    <a:lumMod val="75000"/>
                  </a:schemeClr>
                </a:solidFill>
              </a:rPr>
              <a:t>entrepreneur</a:t>
            </a:r>
            <a:r>
              <a:rPr lang="pt-BR" sz="3600" i="1" dirty="0" smtClean="0">
                <a:solidFill>
                  <a:schemeClr val="accent5">
                    <a:lumMod val="75000"/>
                  </a:schemeClr>
                </a:solidFill>
              </a:rPr>
              <a:t>” que significa aquele que assume riscos e começa algo de novo. </a:t>
            </a: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que</a:t>
            </a:r>
            <a:r>
              <a:rPr lang="en-US" dirty="0" smtClean="0"/>
              <a:t> é </a:t>
            </a:r>
            <a:r>
              <a:rPr lang="en-US" b="1" dirty="0" err="1" smtClean="0"/>
              <a:t>Empreendedorismo</a:t>
            </a:r>
            <a:r>
              <a:rPr lang="en-US" b="1" dirty="0" smtClean="0"/>
              <a:t>?</a:t>
            </a:r>
            <a:endParaRPr lang="pt-BR" b="1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28728" y="1500174"/>
            <a:ext cx="7498080" cy="48006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pt-BR" dirty="0" smtClean="0"/>
              <a:t>Robert </a:t>
            </a:r>
            <a:r>
              <a:rPr lang="pt-BR" dirty="0" err="1" smtClean="0"/>
              <a:t>Hirsch</a:t>
            </a:r>
            <a:r>
              <a:rPr lang="pt-BR" dirty="0" smtClean="0"/>
              <a:t>, em seu livro Empreendedorismo, define que: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>
                <a:solidFill>
                  <a:schemeClr val="accent2">
                    <a:lumMod val="75000"/>
                  </a:schemeClr>
                </a:solidFill>
              </a:rPr>
              <a:t>“</a:t>
            </a: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EMPREENDEDORISMO</a:t>
            </a:r>
            <a:endParaRPr lang="pt-BR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buNone/>
            </a:pPr>
            <a:r>
              <a:rPr lang="pt-BR" dirty="0" smtClean="0">
                <a:solidFill>
                  <a:schemeClr val="bg2">
                    <a:lumMod val="50000"/>
                  </a:schemeClr>
                </a:solidFill>
              </a:rPr>
              <a:t>é o processo de criar algo diferente e com valor, dedicando tempo e os esforços necessários, assumindo os riscos financeiros, psicológicos e sociais correspondentes e recebendo as conseqüentes recompensas da satisfação econômica e pessoal”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/>
            </a:r>
            <a:br>
              <a:rPr lang="pt-BR" dirty="0" smtClean="0"/>
            </a:br>
            <a:endParaRPr lang="pt-B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1868" y="285728"/>
            <a:ext cx="5361820" cy="5715040"/>
          </a:xfrm>
        </p:spPr>
        <p:txBody>
          <a:bodyPr/>
          <a:lstStyle/>
          <a:p>
            <a:pPr>
              <a:buNone/>
            </a:pPr>
            <a:r>
              <a:rPr lang="pt-BR" b="1" i="1" dirty="0" smtClean="0"/>
              <a:t>“  Há evidências, sobretudo clínicas, mas também com base em pesquisas, que praticamente todo ser humano possui impulso ao crescimento ou à atualização de suas  potencialidades” </a:t>
            </a:r>
          </a:p>
          <a:p>
            <a:pPr algn="r">
              <a:buNone/>
            </a:pPr>
            <a:r>
              <a:rPr lang="pt-BR" b="1" i="1" dirty="0" smtClean="0"/>
              <a:t>    </a:t>
            </a:r>
            <a:r>
              <a:rPr lang="pt-BR" sz="2000" b="1" i="1" dirty="0" smtClean="0"/>
              <a:t>Rogers(1967</a:t>
            </a:r>
            <a:r>
              <a:rPr lang="pt-BR" sz="2000" i="1" dirty="0" smtClean="0"/>
              <a:t>)</a:t>
            </a:r>
            <a:endParaRPr lang="pt-BR" sz="2000" dirty="0"/>
          </a:p>
        </p:txBody>
      </p:sp>
      <p:pic>
        <p:nvPicPr>
          <p:cNvPr id="4" name="Imagem 3" descr="P61A5C9622109453CA5135AEB2220E5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3286124"/>
            <a:ext cx="2762250" cy="27622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571480"/>
            <a:ext cx="7498080" cy="5676920"/>
          </a:xfrm>
        </p:spPr>
        <p:txBody>
          <a:bodyPr/>
          <a:lstStyle/>
          <a:p>
            <a:pPr algn="ctr">
              <a:buNone/>
            </a:pPr>
            <a:r>
              <a:rPr lang="pt-BR" sz="4000" b="1" i="1" dirty="0" smtClean="0">
                <a:solidFill>
                  <a:schemeClr val="accent3">
                    <a:lumMod val="75000"/>
                  </a:schemeClr>
                </a:solidFill>
              </a:rPr>
              <a:t>Mas, porque tantos indivíduos não usam esta capacidade construtiva?</a:t>
            </a:r>
          </a:p>
          <a:p>
            <a:pPr algn="ctr">
              <a:buNone/>
            </a:pPr>
            <a:endParaRPr lang="en-US" b="1" i="1" dirty="0" smtClean="0"/>
          </a:p>
          <a:p>
            <a:pPr algn="ctr">
              <a:buNone/>
            </a:pPr>
            <a:endParaRPr lang="pt-BR" dirty="0"/>
          </a:p>
        </p:txBody>
      </p:sp>
      <p:pic>
        <p:nvPicPr>
          <p:cNvPr id="5" name="Imagem 4" descr="imagesCA0YG6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6050" y="2714619"/>
            <a:ext cx="4786346" cy="34188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500042"/>
            <a:ext cx="7498080" cy="5748358"/>
          </a:xfrm>
        </p:spPr>
        <p:txBody>
          <a:bodyPr/>
          <a:lstStyle/>
          <a:p>
            <a:pPr algn="ctr">
              <a:buNone/>
            </a:pPr>
            <a:r>
              <a:rPr lang="pt-BR" sz="4000" b="1" i="1" dirty="0" smtClean="0"/>
              <a:t>O cultivo desta capacidade depende  de relações humanas favoráveis.</a:t>
            </a:r>
          </a:p>
          <a:p>
            <a:endParaRPr lang="pt-BR" dirty="0"/>
          </a:p>
        </p:txBody>
      </p:sp>
      <p:pic>
        <p:nvPicPr>
          <p:cNvPr id="4" name="Imagem 3" descr="business-child-kid-computer-inter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736" y="2500306"/>
            <a:ext cx="5072098" cy="380407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i="1" dirty="0" smtClean="0">
                <a:latin typeface="Arial" pitchFamily="34" charset="0"/>
              </a:rPr>
              <a:t>para </a:t>
            </a:r>
            <a:r>
              <a:rPr lang="pt-BR" i="1" dirty="0" err="1" smtClean="0">
                <a:latin typeface="Arial" pitchFamily="34" charset="0"/>
              </a:rPr>
              <a:t>Maslow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i="1" dirty="0" smtClean="0">
                <a:latin typeface="Arial" pitchFamily="34" charset="0"/>
              </a:rPr>
              <a:t/>
            </a:r>
            <a:br>
              <a:rPr lang="pt-BR" i="1" dirty="0" smtClean="0">
                <a:latin typeface="Arial" pitchFamily="34" charset="0"/>
              </a:rPr>
            </a:br>
            <a:r>
              <a:rPr lang="pt-BR" i="1" dirty="0" smtClean="0">
                <a:latin typeface="Arial" pitchFamily="34" charset="0"/>
              </a:rPr>
              <a:t/>
            </a:r>
            <a:br>
              <a:rPr lang="pt-BR" i="1" dirty="0" smtClean="0">
                <a:latin typeface="Arial" pitchFamily="34" charset="0"/>
              </a:rPr>
            </a:br>
            <a:endParaRPr lang="pt-BR" i="1" dirty="0" smtClean="0">
              <a:latin typeface="Arial" pitchFamily="34" charset="0"/>
            </a:endParaRPr>
          </a:p>
          <a:p>
            <a:pPr>
              <a:buNone/>
            </a:pPr>
            <a:endParaRPr lang="pt-BR" i="1" dirty="0" smtClean="0">
              <a:latin typeface="Arial" pitchFamily="34" charset="0"/>
            </a:endParaRPr>
          </a:p>
          <a:p>
            <a:pPr algn="r">
              <a:buNone/>
            </a:pPr>
            <a:r>
              <a:rPr lang="pt-BR" sz="4000" b="1" i="1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</a:rPr>
              <a:t>A busca da auto-realização é o compromisso do ser humano:</a:t>
            </a:r>
            <a:endParaRPr lang="pt-BR" sz="40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2976" y="274638"/>
            <a:ext cx="7790712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Pirâmide das necessidades de </a:t>
            </a:r>
            <a:r>
              <a:rPr lang="pt-BR" dirty="0" err="1" smtClean="0"/>
              <a:t>Maslow</a:t>
            </a:r>
            <a:endParaRPr lang="pt-BR" dirty="0"/>
          </a:p>
        </p:txBody>
      </p:sp>
      <p:pic>
        <p:nvPicPr>
          <p:cNvPr id="4" name="Espaço Reservado para Conteúdo 3" descr="maslow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9810" y="1357298"/>
            <a:ext cx="5489776" cy="4981464"/>
          </a:xfr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Modelo</a:t>
            </a:r>
            <a:r>
              <a:rPr lang="en-US" dirty="0" smtClean="0"/>
              <a:t> </a:t>
            </a:r>
            <a:r>
              <a:rPr lang="en-US" dirty="0" err="1" smtClean="0"/>
              <a:t>Básico</a:t>
            </a:r>
            <a:r>
              <a:rPr lang="en-US" dirty="0" smtClean="0"/>
              <a:t> de </a:t>
            </a:r>
            <a:r>
              <a:rPr lang="en-US" dirty="0" err="1" smtClean="0"/>
              <a:t>Comportamento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00100" y="1142984"/>
            <a:ext cx="8143900" cy="571501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0100" y="274638"/>
            <a:ext cx="7933588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Como </a:t>
            </a:r>
            <a:r>
              <a:rPr lang="en-US" dirty="0" err="1" smtClean="0"/>
              <a:t>são</a:t>
            </a:r>
            <a:r>
              <a:rPr lang="en-US" dirty="0" smtClean="0"/>
              <a:t> as </a:t>
            </a:r>
            <a:r>
              <a:rPr lang="en-US" dirty="0" err="1" smtClean="0"/>
              <a:t>pessoas</a:t>
            </a:r>
            <a:r>
              <a:rPr lang="en-US" dirty="0" smtClean="0"/>
              <a:t> auto-</a:t>
            </a:r>
            <a:r>
              <a:rPr lang="en-US" dirty="0" err="1" smtClean="0"/>
              <a:t>realizadas</a:t>
            </a:r>
            <a:r>
              <a:rPr lang="en-US" dirty="0" smtClean="0"/>
              <a:t> ?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785926"/>
            <a:ext cx="8143900" cy="5072074"/>
          </a:xfrm>
        </p:spPr>
        <p:txBody>
          <a:bodyPr/>
          <a:lstStyle/>
          <a:p>
            <a:pPr lvl="2"/>
            <a:r>
              <a:rPr lang="pt-BR" sz="3500" dirty="0" smtClean="0"/>
              <a:t>se dedicam a sua vocação</a:t>
            </a:r>
          </a:p>
          <a:p>
            <a:pPr lvl="2">
              <a:buNone/>
            </a:pPr>
            <a:endParaRPr lang="pt-BR" sz="1000" dirty="0" smtClean="0"/>
          </a:p>
          <a:p>
            <a:pPr lvl="2"/>
            <a:r>
              <a:rPr lang="pt-BR" sz="3500" dirty="0" smtClean="0"/>
              <a:t>exigências externas coincidem com as internas (o querer e o dever).</a:t>
            </a:r>
          </a:p>
          <a:p>
            <a:pPr lvl="2">
              <a:buNone/>
            </a:pPr>
            <a:endParaRPr lang="pt-BR" sz="1000" dirty="0" smtClean="0"/>
          </a:p>
          <a:p>
            <a:pPr lvl="2"/>
            <a:r>
              <a:rPr lang="pt-BR" sz="3500" dirty="0" smtClean="0"/>
              <a:t>situação de plenitude gera sentimento de boa sorte.</a:t>
            </a:r>
          </a:p>
          <a:p>
            <a:pPr lvl="2">
              <a:buNone/>
            </a:pPr>
            <a:endParaRPr lang="pt-BR" sz="1000" dirty="0" smtClean="0"/>
          </a:p>
          <a:p>
            <a:pPr lvl="2"/>
            <a:r>
              <a:rPr lang="pt-BR" sz="3500" dirty="0" smtClean="0"/>
              <a:t> transcendem o trabalho, 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1447800"/>
            <a:ext cx="8143900" cy="4800600"/>
          </a:xfrm>
        </p:spPr>
        <p:txBody>
          <a:bodyPr/>
          <a:lstStyle/>
          <a:p>
            <a:pPr algn="ctr" eaLnBrk="0" hangingPunct="0">
              <a:spcBef>
                <a:spcPct val="150000"/>
              </a:spcBef>
              <a:buClr>
                <a:srgbClr val="B00000"/>
              </a:buClr>
              <a:buNone/>
            </a:pPr>
            <a:r>
              <a:rPr lang="pt-BR" sz="4000" b="1" i="1" dirty="0" smtClean="0">
                <a:solidFill>
                  <a:srgbClr val="000099"/>
                </a:solidFill>
              </a:rPr>
              <a:t>Um otimista vê uma oportunidade em cada calamidade. Um pessimista vê uma calamidade em cada oportunidade.</a:t>
            </a:r>
          </a:p>
          <a:p>
            <a:pPr algn="r" eaLnBrk="0" hangingPunct="0">
              <a:spcBef>
                <a:spcPct val="150000"/>
              </a:spcBef>
              <a:buClr>
                <a:srgbClr val="B00000"/>
              </a:buClr>
              <a:buNone/>
            </a:pPr>
            <a:r>
              <a:rPr lang="pt-BR" sz="2800" b="1" i="1" dirty="0" smtClean="0">
                <a:solidFill>
                  <a:srgbClr val="000099"/>
                </a:solidFill>
              </a:rPr>
              <a:t>Winston Churchill</a:t>
            </a:r>
            <a:endParaRPr lang="pt-BR" sz="2800" b="1" i="1" dirty="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00100" y="274638"/>
            <a:ext cx="8143900" cy="1143000"/>
          </a:xfrm>
        </p:spPr>
        <p:txBody>
          <a:bodyPr>
            <a:normAutofit/>
          </a:bodyPr>
          <a:lstStyle/>
          <a:p>
            <a:r>
              <a:rPr lang="en-US" dirty="0" err="1" smtClean="0"/>
              <a:t>Características</a:t>
            </a:r>
            <a:r>
              <a:rPr lang="en-US" dirty="0" smtClean="0"/>
              <a:t> das </a:t>
            </a:r>
            <a:r>
              <a:rPr lang="en-US" dirty="0" err="1" smtClean="0"/>
              <a:t>oportunidades</a:t>
            </a:r>
            <a:r>
              <a:rPr lang="en-US" dirty="0" smtClean="0"/>
              <a:t>.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Um empreendedor habilidoso dá forma a uma oportunidade onde os outros nada vêem ou vêem muito cedo ou tarde demais;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boas oportunidades de negócios são, menos numerosas que as idéias;</a:t>
            </a:r>
          </a:p>
          <a:p>
            <a:pPr>
              <a:buNone/>
            </a:pPr>
            <a:endParaRPr lang="pt-BR" dirty="0" smtClean="0"/>
          </a:p>
          <a:p>
            <a:r>
              <a:rPr lang="pt-BR" dirty="0" smtClean="0"/>
              <a:t>identificá-las representa um desafio (não são tão visíveis)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Exemplos</a:t>
            </a:r>
            <a:r>
              <a:rPr lang="en-US" dirty="0" smtClean="0"/>
              <a:t> de </a:t>
            </a:r>
            <a:r>
              <a:rPr lang="en-US" dirty="0" err="1" smtClean="0"/>
              <a:t>sucesso</a:t>
            </a:r>
            <a:endParaRPr lang="pt-BR" dirty="0"/>
          </a:p>
        </p:txBody>
      </p:sp>
      <p:pic>
        <p:nvPicPr>
          <p:cNvPr id="4" name="Espaço Reservado para Conteúdo 3" descr="FAZER ACONTECER.jpg"/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357290" y="1771486"/>
            <a:ext cx="7531806" cy="4086406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4414" y="0"/>
            <a:ext cx="7498080" cy="1143000"/>
          </a:xfrm>
        </p:spPr>
        <p:txBody>
          <a:bodyPr/>
          <a:lstStyle/>
          <a:p>
            <a:r>
              <a:rPr lang="pt-BR" sz="4400" b="1" dirty="0" smtClean="0"/>
              <a:t>Richard </a:t>
            </a:r>
            <a:r>
              <a:rPr lang="pt-BR" sz="4400" b="1" dirty="0" err="1" smtClean="0"/>
              <a:t>Branson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71472" y="1000108"/>
            <a:ext cx="8572528" cy="5857892"/>
          </a:xfrm>
        </p:spPr>
        <p:txBody>
          <a:bodyPr>
            <a:normAutofit fontScale="77500" lnSpcReduction="20000"/>
          </a:bodyPr>
          <a:lstStyle/>
          <a:p>
            <a:pPr algn="ctr">
              <a:buNone/>
            </a:pPr>
            <a:r>
              <a:rPr lang="en-US" sz="4000" b="1" dirty="0" smtClean="0"/>
              <a:t>De </a:t>
            </a:r>
            <a:r>
              <a:rPr lang="en-US" sz="4000" b="1" dirty="0" err="1" smtClean="0"/>
              <a:t>olho</a:t>
            </a:r>
            <a:r>
              <a:rPr lang="en-US" sz="4000" b="1" dirty="0" smtClean="0"/>
              <a:t> no </a:t>
            </a:r>
            <a:r>
              <a:rPr lang="en-US" sz="4000" b="1" dirty="0" err="1" smtClean="0"/>
              <a:t>futuro</a:t>
            </a:r>
            <a:r>
              <a:rPr lang="en-US" sz="4000" b="1" dirty="0" smtClean="0"/>
              <a:t>…</a:t>
            </a:r>
            <a:endParaRPr lang="pt-BR" sz="4000" b="1" dirty="0" smtClean="0"/>
          </a:p>
          <a:p>
            <a:pPr algn="ctr">
              <a:buNone/>
            </a:pPr>
            <a:endParaRPr lang="pt-BR" sz="4000" b="1" dirty="0" smtClean="0"/>
          </a:p>
          <a:p>
            <a:pPr algn="ctr">
              <a:buNone/>
            </a:pPr>
            <a:endParaRPr lang="pt-BR" sz="4000" b="1" dirty="0" smtClean="0"/>
          </a:p>
          <a:p>
            <a:pPr algn="ctr">
              <a:buNone/>
            </a:pPr>
            <a:endParaRPr lang="pt-BR" sz="3600" b="1" dirty="0" smtClean="0"/>
          </a:p>
          <a:p>
            <a:pPr algn="ctr">
              <a:buNone/>
            </a:pPr>
            <a:endParaRPr lang="pt-BR" sz="3600" b="1" dirty="0" smtClean="0"/>
          </a:p>
          <a:p>
            <a:pPr algn="ctr">
              <a:buNone/>
            </a:pPr>
            <a:endParaRPr lang="pt-BR" sz="3600" b="1" dirty="0" smtClean="0"/>
          </a:p>
          <a:p>
            <a:pPr algn="ctr">
              <a:buNone/>
            </a:pPr>
            <a:endParaRPr lang="pt-BR" sz="3600" b="1" dirty="0" smtClean="0"/>
          </a:p>
          <a:p>
            <a:pPr algn="ctr">
              <a:buNone/>
            </a:pPr>
            <a:endParaRPr lang="pt-BR" sz="3000" b="1" dirty="0" smtClean="0"/>
          </a:p>
          <a:p>
            <a:pPr algn="ctr">
              <a:buNone/>
            </a:pPr>
            <a:endParaRPr lang="pt-BR" sz="3000" b="1" dirty="0" smtClean="0"/>
          </a:p>
          <a:p>
            <a:pPr algn="ctr">
              <a:buNone/>
            </a:pPr>
            <a:r>
              <a:rPr lang="pt-BR" sz="3000" b="1" dirty="0" smtClean="0"/>
              <a:t>“Nos negócios, o que importa é conseguir criar algo especial”</a:t>
            </a:r>
          </a:p>
          <a:p>
            <a:pPr algn="ctr">
              <a:buNone/>
            </a:pPr>
            <a:endParaRPr lang="pt-BR" sz="3000" b="1" dirty="0" smtClean="0"/>
          </a:p>
          <a:p>
            <a:pPr algn="ctr">
              <a:buNone/>
            </a:pPr>
            <a:r>
              <a:rPr lang="pt-BR" sz="2100" dirty="0" smtClean="0"/>
              <a:t>http://tvig.ig.com.br/noticias/ciencia/milionario+inaugura+aeroporto+espacial+comercial+nos+</a:t>
            </a:r>
            <a:r>
              <a:rPr lang="pt-BR" sz="2100" dirty="0" err="1" smtClean="0"/>
              <a:t>eua</a:t>
            </a:r>
            <a:r>
              <a:rPr lang="pt-BR" sz="2100" dirty="0" smtClean="0"/>
              <a:t>-8a49802632f3ab5b01331cfbafef0bb0.</a:t>
            </a:r>
            <a:r>
              <a:rPr lang="pt-BR" sz="2100" dirty="0" err="1" smtClean="0"/>
              <a:t>html</a:t>
            </a:r>
            <a:endParaRPr lang="pt-BR" sz="2100" dirty="0" smtClean="0"/>
          </a:p>
          <a:p>
            <a:pPr algn="r">
              <a:buNone/>
            </a:pPr>
            <a:r>
              <a:rPr lang="pt-BR" b="1" dirty="0" smtClean="0"/>
              <a:t>                                                                     </a:t>
            </a:r>
            <a:endParaRPr lang="pt-BR" sz="2400" dirty="0"/>
          </a:p>
        </p:txBody>
      </p:sp>
      <p:pic>
        <p:nvPicPr>
          <p:cNvPr id="4" name="Espaço Reservado para Conteúdo 3" descr="1.b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86050" y="1428736"/>
            <a:ext cx="5000660" cy="32907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Vídeo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Milhionário</a:t>
            </a:r>
            <a:r>
              <a:rPr lang="en-US" dirty="0" smtClean="0"/>
              <a:t> </a:t>
            </a:r>
            <a:r>
              <a:rPr lang="en-US" dirty="0" err="1" smtClean="0"/>
              <a:t>inaugura</a:t>
            </a:r>
            <a:r>
              <a:rPr lang="en-US" dirty="0" smtClean="0"/>
              <a:t> </a:t>
            </a:r>
            <a:r>
              <a:rPr lang="en-US" dirty="0" err="1" smtClean="0"/>
              <a:t>ônibus</a:t>
            </a:r>
            <a:r>
              <a:rPr lang="en-US" dirty="0" smtClean="0"/>
              <a:t> </a:t>
            </a:r>
            <a:r>
              <a:rPr lang="en-US" dirty="0" err="1" smtClean="0"/>
              <a:t>espacial</a:t>
            </a:r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Alexandre Costa (</a:t>
            </a:r>
            <a:r>
              <a:rPr lang="en-US" dirty="0" err="1" smtClean="0"/>
              <a:t>Cacau</a:t>
            </a:r>
            <a:r>
              <a:rPr lang="en-US" dirty="0" smtClean="0"/>
              <a:t> Show)</a:t>
            </a:r>
            <a:br>
              <a:rPr lang="en-US" dirty="0" smtClean="0"/>
            </a:b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1538" y="928670"/>
            <a:ext cx="8072462" cy="5786478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O </a:t>
            </a:r>
            <a:r>
              <a:rPr lang="en-US" dirty="0" err="1" smtClean="0"/>
              <a:t>segredo</a:t>
            </a:r>
            <a:r>
              <a:rPr lang="en-US" dirty="0" smtClean="0"/>
              <a:t> </a:t>
            </a:r>
            <a:r>
              <a:rPr lang="en-US" dirty="0" err="1" smtClean="0"/>
              <a:t>está</a:t>
            </a:r>
            <a:r>
              <a:rPr lang="en-US" dirty="0" smtClean="0"/>
              <a:t> no </a:t>
            </a:r>
            <a:r>
              <a:rPr lang="en-US" dirty="0" err="1" smtClean="0"/>
              <a:t>atendimento</a:t>
            </a:r>
            <a:r>
              <a:rPr lang="en-US" dirty="0" smtClean="0"/>
              <a:t> e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atenção</a:t>
            </a:r>
            <a:r>
              <a:rPr lang="en-US" dirty="0" smtClean="0"/>
              <a:t> </a:t>
            </a:r>
            <a:r>
              <a:rPr lang="en-US" dirty="0" err="1" smtClean="0"/>
              <a:t>aos</a:t>
            </a:r>
            <a:r>
              <a:rPr lang="en-US" dirty="0" smtClean="0"/>
              <a:t> </a:t>
            </a:r>
            <a:r>
              <a:rPr lang="en-US" dirty="0" err="1" smtClean="0"/>
              <a:t>detalhes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endParaRPr lang="pt-BR" sz="2400" dirty="0" smtClean="0"/>
          </a:p>
          <a:p>
            <a:pPr algn="ctr">
              <a:buNone/>
            </a:pPr>
            <a:r>
              <a:rPr lang="pt-BR" sz="2400" dirty="0" smtClean="0"/>
              <a:t>Em 2008, a Cacau Show ultrapassou a norte-americana </a:t>
            </a:r>
            <a:r>
              <a:rPr lang="pt-BR" sz="2400" dirty="0" err="1" smtClean="0"/>
              <a:t>Rocky</a:t>
            </a:r>
            <a:r>
              <a:rPr lang="pt-BR" sz="2400" dirty="0" smtClean="0"/>
              <a:t> </a:t>
            </a:r>
            <a:r>
              <a:rPr lang="pt-BR" sz="2400" dirty="0" err="1" smtClean="0"/>
              <a:t>Mountain</a:t>
            </a:r>
            <a:r>
              <a:rPr lang="pt-BR" sz="2400" dirty="0" smtClean="0"/>
              <a:t> e se tornou a maior rede de lojas de chocolates finos do mundo.</a:t>
            </a:r>
            <a:endParaRPr lang="en-US" sz="24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pt-BR" dirty="0"/>
          </a:p>
        </p:txBody>
      </p:sp>
      <p:pic>
        <p:nvPicPr>
          <p:cNvPr id="5" name="Imagem 4" descr="Especial_Pascoa_AlexandreTadeuCosta_CacauShow_ClienteS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918" y="1857364"/>
            <a:ext cx="6500858" cy="37691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1538" y="274638"/>
            <a:ext cx="7862150" cy="1143000"/>
          </a:xfrm>
        </p:spPr>
        <p:txBody>
          <a:bodyPr>
            <a:normAutofit fontScale="90000"/>
          </a:bodyPr>
          <a:lstStyle/>
          <a:p>
            <a:r>
              <a:rPr lang="en-US" dirty="0" err="1" smtClean="0"/>
              <a:t>Maurício</a:t>
            </a:r>
            <a:r>
              <a:rPr lang="en-US" dirty="0" smtClean="0"/>
              <a:t> de Souza (</a:t>
            </a:r>
            <a:r>
              <a:rPr lang="en-US" dirty="0" err="1" smtClean="0"/>
              <a:t>Turma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Mônica</a:t>
            </a:r>
            <a:r>
              <a:rPr lang="en-US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00034" y="1447800"/>
            <a:ext cx="8433654" cy="5410200"/>
          </a:xfrm>
        </p:spPr>
        <p:txBody>
          <a:bodyPr>
            <a:normAutofit/>
          </a:bodyPr>
          <a:lstStyle/>
          <a:p>
            <a:r>
              <a:rPr lang="en-US" dirty="0" err="1" smtClean="0"/>
              <a:t>Personagens</a:t>
            </a:r>
            <a:r>
              <a:rPr lang="en-US" dirty="0" smtClean="0"/>
              <a:t> </a:t>
            </a:r>
            <a:r>
              <a:rPr lang="en-US" dirty="0" err="1" smtClean="0"/>
              <a:t>inspirados</a:t>
            </a:r>
            <a:r>
              <a:rPr lang="en-US" dirty="0" smtClean="0"/>
              <a:t> </a:t>
            </a:r>
            <a:r>
              <a:rPr lang="en-US" dirty="0" err="1" smtClean="0"/>
              <a:t>em</a:t>
            </a:r>
            <a:r>
              <a:rPr lang="en-US" dirty="0" smtClean="0"/>
              <a:t> </a:t>
            </a:r>
            <a:r>
              <a:rPr lang="en-US" dirty="0" err="1" smtClean="0"/>
              <a:t>seus</a:t>
            </a:r>
            <a:r>
              <a:rPr lang="en-US" dirty="0" smtClean="0"/>
              <a:t> </a:t>
            </a:r>
            <a:r>
              <a:rPr lang="en-US" dirty="0" err="1" smtClean="0"/>
              <a:t>próprios</a:t>
            </a:r>
            <a:r>
              <a:rPr lang="en-US" dirty="0" smtClean="0"/>
              <a:t> </a:t>
            </a:r>
            <a:r>
              <a:rPr lang="en-US" dirty="0" err="1" smtClean="0"/>
              <a:t>filhos</a:t>
            </a:r>
            <a:r>
              <a:rPr lang="en-US" dirty="0" smtClean="0"/>
              <a:t>.</a:t>
            </a:r>
            <a:r>
              <a:rPr lang="pt-BR" b="1" dirty="0" smtClean="0"/>
              <a:t> 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endParaRPr lang="pt-BR" b="1" dirty="0" smtClean="0"/>
          </a:p>
          <a:p>
            <a:pPr algn="ctr">
              <a:buNone/>
            </a:pPr>
            <a:r>
              <a:rPr lang="pt-BR" sz="3000" dirty="0" smtClean="0"/>
              <a:t>Seis dos dez filhos trabalham na Mauricio de Sousa Produções, e nove deles são personagens de quadrinhos</a:t>
            </a:r>
            <a:endParaRPr lang="en-US" sz="3000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pt-BR" dirty="0"/>
          </a:p>
        </p:txBody>
      </p:sp>
      <p:pic>
        <p:nvPicPr>
          <p:cNvPr id="5" name="Imagem 4" descr="41125-mauricio-souza-10-origin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20" y="2285992"/>
            <a:ext cx="4286260" cy="2857507"/>
          </a:xfrm>
          <a:prstGeom prst="rect">
            <a:avLst/>
          </a:prstGeom>
        </p:spPr>
      </p:pic>
      <p:pic>
        <p:nvPicPr>
          <p:cNvPr id="6" name="Imagem 5" descr="41126-mauricio-souza-11-origin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2285992"/>
            <a:ext cx="4429156" cy="295277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2976" y="0"/>
            <a:ext cx="749808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Romero Rodrigues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71538" y="1000108"/>
            <a:ext cx="8072462" cy="5857892"/>
          </a:xfrm>
        </p:spPr>
        <p:txBody>
          <a:bodyPr/>
          <a:lstStyle/>
          <a:p>
            <a:r>
              <a:rPr lang="en-US" dirty="0" err="1" smtClean="0"/>
              <a:t>Maior</a:t>
            </a:r>
            <a:r>
              <a:rPr lang="en-US" dirty="0" smtClean="0"/>
              <a:t> site de </a:t>
            </a:r>
            <a:r>
              <a:rPr lang="en-US" dirty="0" err="1" smtClean="0"/>
              <a:t>comparação</a:t>
            </a:r>
            <a:r>
              <a:rPr lang="en-US" dirty="0" smtClean="0"/>
              <a:t> de </a:t>
            </a:r>
            <a:r>
              <a:rPr lang="en-US" dirty="0" err="1" smtClean="0"/>
              <a:t>preços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América</a:t>
            </a:r>
            <a:r>
              <a:rPr lang="en-US" dirty="0" smtClean="0"/>
              <a:t> Latina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>
              <a:buNone/>
            </a:pPr>
            <a:endParaRPr lang="pt-BR" sz="2400" dirty="0" smtClean="0"/>
          </a:p>
          <a:p>
            <a:pPr algn="ctr">
              <a:buNone/>
            </a:pPr>
            <a:r>
              <a:rPr lang="pt-BR" sz="2400" dirty="0" smtClean="0"/>
              <a:t>O </a:t>
            </a:r>
            <a:r>
              <a:rPr lang="pt-BR" sz="2400" dirty="0" err="1" smtClean="0"/>
              <a:t>BuscaPé</a:t>
            </a:r>
            <a:r>
              <a:rPr lang="pt-BR" sz="2400" dirty="0" smtClean="0"/>
              <a:t> surgiu de uma idéia inusitada, já que um dos sócios estava procurando informações de preço para adquirir uma impressora e encontrava tudo sobre o modelo, menos aquilo que procurava.</a:t>
            </a:r>
            <a:endParaRPr lang="en-US" sz="2400" dirty="0" smtClean="0"/>
          </a:p>
          <a:p>
            <a:pPr>
              <a:buNone/>
            </a:pPr>
            <a:endParaRPr lang="pt-BR" dirty="0"/>
          </a:p>
        </p:txBody>
      </p:sp>
      <p:pic>
        <p:nvPicPr>
          <p:cNvPr id="4" name="Imagem 3" descr="buscap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2" y="1500174"/>
            <a:ext cx="4714908" cy="345057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 </a:t>
            </a:r>
            <a:r>
              <a:rPr lang="en-US" dirty="0" err="1" smtClean="0"/>
              <a:t>Zuckerberg</a:t>
            </a:r>
            <a:r>
              <a:rPr lang="en-US" dirty="0" smtClean="0"/>
              <a:t> (</a:t>
            </a:r>
            <a:r>
              <a:rPr lang="en-US" dirty="0" err="1" smtClean="0"/>
              <a:t>Facebook</a:t>
            </a:r>
            <a:r>
              <a:rPr lang="en-US" dirty="0" smtClean="0"/>
              <a:t>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 </a:t>
            </a:r>
            <a:r>
              <a:rPr lang="en-US" dirty="0" err="1" smtClean="0"/>
              <a:t>facebook</a:t>
            </a:r>
            <a:r>
              <a:rPr lang="en-US" dirty="0" smtClean="0"/>
              <a:t> </a:t>
            </a:r>
            <a:r>
              <a:rPr lang="en-US" dirty="0" err="1" smtClean="0"/>
              <a:t>nasceu</a:t>
            </a:r>
            <a:r>
              <a:rPr lang="en-US" dirty="0" smtClean="0"/>
              <a:t> de </a:t>
            </a:r>
            <a:r>
              <a:rPr lang="en-US" dirty="0" err="1" smtClean="0"/>
              <a:t>uma</a:t>
            </a:r>
            <a:r>
              <a:rPr lang="en-US" dirty="0" smtClean="0"/>
              <a:t> </a:t>
            </a:r>
            <a:r>
              <a:rPr lang="en-US" dirty="0" err="1" smtClean="0"/>
              <a:t>brincadeira</a:t>
            </a:r>
            <a:r>
              <a:rPr lang="en-US" dirty="0" smtClean="0"/>
              <a:t> de </a:t>
            </a:r>
            <a:r>
              <a:rPr lang="en-US" dirty="0" err="1" smtClean="0"/>
              <a:t>universitários</a:t>
            </a:r>
            <a:r>
              <a:rPr lang="en-US" dirty="0" smtClean="0"/>
              <a:t> </a:t>
            </a:r>
            <a:r>
              <a:rPr lang="en-US" dirty="0" err="1" smtClean="0"/>
              <a:t>americanos</a:t>
            </a:r>
            <a:r>
              <a:rPr lang="en-US" dirty="0" smtClean="0"/>
              <a:t>.</a:t>
            </a:r>
          </a:p>
          <a:p>
            <a:endParaRPr lang="pt-BR" dirty="0"/>
          </a:p>
        </p:txBody>
      </p:sp>
      <p:pic>
        <p:nvPicPr>
          <p:cNvPr id="4" name="Imagem 3" descr="facebook-mark-zuckerber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08" y="2571744"/>
            <a:ext cx="5643602" cy="402106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71538" y="0"/>
            <a:ext cx="3707896" cy="1368412"/>
          </a:xfrm>
        </p:spPr>
        <p:txBody>
          <a:bodyPr>
            <a:normAutofit/>
          </a:bodyPr>
          <a:lstStyle/>
          <a:p>
            <a:pPr algn="ctr"/>
            <a:r>
              <a:rPr lang="pt-BR" dirty="0" smtClean="0"/>
              <a:t> </a:t>
            </a:r>
            <a:r>
              <a:rPr lang="pt-BR" sz="3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Amor às camisas e </a:t>
            </a:r>
            <a:r>
              <a:rPr lang="pt-BR" sz="3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às </a:t>
            </a:r>
            <a:r>
              <a:rPr lang="pt-BR" sz="36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pessoas</a:t>
            </a:r>
            <a:endParaRPr lang="pt-BR" sz="36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00100" y="3429000"/>
            <a:ext cx="8143900" cy="3429000"/>
          </a:xfrm>
        </p:spPr>
        <p:txBody>
          <a:bodyPr>
            <a:normAutofit lnSpcReduction="10000"/>
          </a:bodyPr>
          <a:lstStyle/>
          <a:p>
            <a:r>
              <a:rPr lang="pt-BR" dirty="0" smtClean="0"/>
              <a:t> A </a:t>
            </a:r>
            <a:r>
              <a:rPr lang="pt-BR" dirty="0" smtClean="0"/>
              <a:t>história da Dudalina é fruto do amor sincero de um </a:t>
            </a:r>
            <a:r>
              <a:rPr lang="pt-BR" u="sng" dirty="0" smtClean="0"/>
              <a:t>jovem</a:t>
            </a:r>
            <a:r>
              <a:rPr lang="pt-BR" dirty="0" smtClean="0"/>
              <a:t> casal </a:t>
            </a:r>
            <a:r>
              <a:rPr lang="pt-BR" b="1" i="1" dirty="0" smtClean="0"/>
              <a:t>(Seu Duda e Dona Lina)</a:t>
            </a:r>
            <a:r>
              <a:rPr lang="pt-BR" dirty="0" smtClean="0"/>
              <a:t> e </a:t>
            </a:r>
            <a:r>
              <a:rPr lang="pt-BR" dirty="0" smtClean="0"/>
              <a:t>do empreendedorismo vanguardista de uma mulher que, além de mãe zelosa de seus 16 filhos, dedicou-se intensamente no trabalho e deixou sua marca na história da confecção masculina brasileira. </a:t>
            </a:r>
            <a:endParaRPr lang="pt-BR" dirty="0"/>
          </a:p>
        </p:txBody>
      </p:sp>
      <p:pic>
        <p:nvPicPr>
          <p:cNvPr id="4" name="Imagem 3" descr="foto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7752" y="285728"/>
            <a:ext cx="3918391" cy="3233742"/>
          </a:xfrm>
          <a:prstGeom prst="rect">
            <a:avLst/>
          </a:prstGeom>
        </p:spPr>
      </p:pic>
      <p:pic>
        <p:nvPicPr>
          <p:cNvPr id="5" name="Imagem 4" descr="4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6771" y="1447126"/>
            <a:ext cx="2548040" cy="141037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Vídeo: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ctr">
              <a:buNone/>
            </a:pPr>
            <a:r>
              <a:rPr lang="pt-BR" sz="4400" dirty="0" smtClean="0"/>
              <a:t>Empreendedores de Alto Impacto</a:t>
            </a:r>
          </a:p>
          <a:p>
            <a:pPr algn="ctr">
              <a:buNone/>
            </a:pPr>
            <a:endParaRPr lang="pt-BR" sz="4400" dirty="0" smtClean="0"/>
          </a:p>
          <a:p>
            <a:pPr algn="ctr">
              <a:buNone/>
            </a:pPr>
            <a:r>
              <a:rPr lang="pt-BR" sz="4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Marcelo Sales</a:t>
            </a:r>
            <a:endParaRPr lang="pt-BR" sz="44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algn="ctr">
              <a:buNone/>
            </a:pPr>
            <a:r>
              <a:rPr lang="pt-BR" dirty="0" smtClean="0">
                <a:solidFill>
                  <a:schemeClr val="accent2">
                    <a:lumMod val="50000"/>
                  </a:schemeClr>
                </a:solidFill>
              </a:rPr>
              <a:t>As conexões que movem a vida.</a:t>
            </a:r>
          </a:p>
          <a:p>
            <a:pPr algn="ctr">
              <a:buNone/>
            </a:pPr>
            <a:endParaRPr lang="pt-BR" dirty="0" smtClean="0"/>
          </a:p>
          <a:p>
            <a:pPr algn="ctr">
              <a:buNone/>
            </a:pPr>
            <a:endParaRPr lang="pt-BR" dirty="0" smtClean="0"/>
          </a:p>
          <a:p>
            <a:pPr algn="ctr">
              <a:buNone/>
            </a:pPr>
            <a:r>
              <a:rPr lang="pt-BR" dirty="0" smtClean="0"/>
              <a:t>http://www.youtube.com/watch?v=JR7Omeoatek&amp;</a:t>
            </a:r>
            <a:r>
              <a:rPr lang="pt-BR" dirty="0" err="1" smtClean="0"/>
              <a:t>list</a:t>
            </a:r>
            <a:r>
              <a:rPr lang="pt-BR" dirty="0" smtClean="0"/>
              <a:t>=PLF652A7ED85C38D5C</a:t>
            </a:r>
            <a:endParaRPr lang="pt-B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Solstí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498</TotalTime>
  <Words>819</Words>
  <Application>Microsoft Office PowerPoint</Application>
  <PresentationFormat>Apresentação na tela (4:3)</PresentationFormat>
  <Paragraphs>130</Paragraphs>
  <Slides>25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6" baseType="lpstr">
      <vt:lpstr>Solstício</vt:lpstr>
      <vt:lpstr>Inovação e Empreendedorismo</vt:lpstr>
      <vt:lpstr>Empreendedorismo no Brasil (2010)</vt:lpstr>
      <vt:lpstr>Empreendedorismo no Brasil (2010)</vt:lpstr>
      <vt:lpstr>Empreendedorismo no Brasil (2010)</vt:lpstr>
      <vt:lpstr>Empreendedorismo no Brasil (2010)</vt:lpstr>
      <vt:lpstr>O que é Empreendedorismo?</vt:lpstr>
      <vt:lpstr>O que é Empreendedorismo?</vt:lpstr>
      <vt:lpstr>Slide 8</vt:lpstr>
      <vt:lpstr>Slide 9</vt:lpstr>
      <vt:lpstr>Slide 10</vt:lpstr>
      <vt:lpstr>para Maslow</vt:lpstr>
      <vt:lpstr>Pirâmide das necessidades de Maslow</vt:lpstr>
      <vt:lpstr>Modelo Básico de Comportamento</vt:lpstr>
      <vt:lpstr>Como são as pessoas auto-realizadas ?</vt:lpstr>
      <vt:lpstr>Slide 15</vt:lpstr>
      <vt:lpstr>Características das oportunidades.</vt:lpstr>
      <vt:lpstr>Exemplos de sucesso</vt:lpstr>
      <vt:lpstr>Richard Branson</vt:lpstr>
      <vt:lpstr>Vídeo</vt:lpstr>
      <vt:lpstr>Alexandre Costa (Cacau Show) </vt:lpstr>
      <vt:lpstr>Maurício de Souza (Turma da Mônica)</vt:lpstr>
      <vt:lpstr>Romero Rodrigues</vt:lpstr>
      <vt:lpstr>Mark Zuckerberg (Facebook)</vt:lpstr>
      <vt:lpstr> Amor às camisas e às pessoas</vt:lpstr>
      <vt:lpstr>Vídeo: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Bernadete</dc:creator>
  <cp:lastModifiedBy>Bernadete</cp:lastModifiedBy>
  <cp:revision>65</cp:revision>
  <dcterms:created xsi:type="dcterms:W3CDTF">2012-08-28T17:38:55Z</dcterms:created>
  <dcterms:modified xsi:type="dcterms:W3CDTF">2014-02-11T19:26:44Z</dcterms:modified>
</cp:coreProperties>
</file>