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67" r:id="rId14"/>
    <p:sldId id="268" r:id="rId15"/>
    <p:sldId id="269" r:id="rId16"/>
    <p:sldId id="271" r:id="rId17"/>
    <p:sldId id="272" r:id="rId1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09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22" name="Subtítulo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88DEC81-2E98-4878-94A2-EE76ACE2665F}" type="datetimeFigureOut">
              <a:rPr lang="pt-BR" smtClean="0"/>
              <a:pPr/>
              <a:t>04/10/2012</a:t>
            </a:fld>
            <a:endParaRPr lang="pt-BR"/>
          </a:p>
        </p:txBody>
      </p:sp>
      <p:sp>
        <p:nvSpPr>
          <p:cNvPr id="20" name="Espaço Reservado para Rodapé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08740C-1472-4330-A7E2-EABD79E0DF16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Elipse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88DEC81-2E98-4878-94A2-EE76ACE2665F}" type="datetimeFigureOut">
              <a:rPr lang="pt-BR" smtClean="0"/>
              <a:pPr/>
              <a:t>04/10/2012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08740C-1472-4330-A7E2-EABD79E0DF1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88DEC81-2E98-4878-94A2-EE76ACE2665F}" type="datetimeFigureOut">
              <a:rPr lang="pt-BR" smtClean="0"/>
              <a:pPr/>
              <a:t>04/10/2012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08740C-1472-4330-A7E2-EABD79E0DF16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0" name="Retângulo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Elipse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Elipse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88DEC81-2E98-4878-94A2-EE76ACE2665F}" type="datetimeFigureOut">
              <a:rPr lang="pt-BR" smtClean="0"/>
              <a:pPr/>
              <a:t>04/10/2012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08740C-1472-4330-A7E2-EABD79E0DF1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88DEC81-2E98-4878-94A2-EE76ACE2665F}" type="datetimeFigureOut">
              <a:rPr lang="pt-BR" smtClean="0"/>
              <a:pPr/>
              <a:t>04/10/2012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08740C-1472-4330-A7E2-EABD79E0DF1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88DEC81-2E98-4878-94A2-EE76ACE2665F}" type="datetimeFigureOut">
              <a:rPr lang="pt-BR" smtClean="0"/>
              <a:pPr/>
              <a:t>04/10/2012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08740C-1472-4330-A7E2-EABD79E0DF1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88DEC81-2E98-4878-94A2-EE76ACE2665F}" type="datetimeFigureOut">
              <a:rPr lang="pt-BR" smtClean="0"/>
              <a:pPr/>
              <a:t>04/10/2012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08740C-1472-4330-A7E2-EABD79E0DF16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Retângulo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88DEC81-2E98-4878-94A2-EE76ACE2665F}" type="datetimeFigureOut">
              <a:rPr lang="pt-BR" smtClean="0"/>
              <a:pPr/>
              <a:t>04/10/2012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08740C-1472-4330-A7E2-EABD79E0DF1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88DEC81-2E98-4878-94A2-EE76ACE2665F}" type="datetimeFigureOut">
              <a:rPr lang="pt-BR" smtClean="0"/>
              <a:pPr/>
              <a:t>04/10/2012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08740C-1472-4330-A7E2-EABD79E0DF16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9" name="Fluxograma: Processo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uxograma: Processo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88DEC81-2E98-4878-94A2-EE76ACE2665F}" type="datetimeFigureOut">
              <a:rPr lang="pt-BR" smtClean="0"/>
              <a:pPr/>
              <a:t>04/10/2012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08740C-1472-4330-A7E2-EABD79E0DF1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88DEC81-2E98-4878-94A2-EE76ACE2665F}" type="datetimeFigureOut">
              <a:rPr lang="pt-BR" smtClean="0"/>
              <a:pPr/>
              <a:t>04/10/2012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08740C-1472-4330-A7E2-EABD79E0DF1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zza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Elipse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sca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Espaço Reservado para Título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24" name="Espaço Reservado para Data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988DEC81-2E98-4878-94A2-EE76ACE2665F}" type="datetimeFigureOut">
              <a:rPr lang="pt-BR" smtClean="0"/>
              <a:pPr/>
              <a:t>04/10/2012</a:t>
            </a:fld>
            <a:endParaRPr lang="pt-BR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pt-BR"/>
          </a:p>
        </p:txBody>
      </p:sp>
      <p:sp>
        <p:nvSpPr>
          <p:cNvPr id="22" name="Espaço Reservado para Número de Slide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2408740C-1472-4330-A7E2-EABD79E0DF16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5" name="Retângulo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 dirty="0" smtClean="0"/>
              <a:t>Criatividade na Concepção de Empresas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28728" y="4857760"/>
            <a:ext cx="7406640" cy="1752600"/>
          </a:xfrm>
        </p:spPr>
        <p:txBody>
          <a:bodyPr>
            <a:normAutofit fontScale="70000" lnSpcReduction="20000"/>
          </a:bodyPr>
          <a:lstStyle/>
          <a:p>
            <a:pPr algn="r">
              <a:defRPr/>
            </a:pPr>
            <a:r>
              <a:rPr lang="en-US" sz="2400" dirty="0" err="1" smtClean="0"/>
              <a:t>Pós-Graduação</a:t>
            </a:r>
            <a:r>
              <a:rPr lang="en-US" sz="2400" dirty="0" smtClean="0"/>
              <a:t> </a:t>
            </a:r>
            <a:r>
              <a:rPr lang="en-US" sz="2400" dirty="0" err="1" smtClean="0"/>
              <a:t>em</a:t>
            </a:r>
            <a:r>
              <a:rPr lang="en-US" sz="2400" dirty="0" smtClean="0"/>
              <a:t> </a:t>
            </a:r>
            <a:r>
              <a:rPr lang="en-US" sz="2400" dirty="0" err="1" smtClean="0"/>
              <a:t>Gestão</a:t>
            </a:r>
            <a:r>
              <a:rPr lang="en-US" sz="2400" dirty="0" smtClean="0"/>
              <a:t> de </a:t>
            </a:r>
            <a:r>
              <a:rPr lang="en-US" sz="2400" dirty="0" err="1" smtClean="0"/>
              <a:t>Negócios</a:t>
            </a:r>
            <a:endParaRPr lang="en-US" sz="2400" dirty="0" smtClean="0"/>
          </a:p>
          <a:p>
            <a:pPr algn="r">
              <a:defRPr/>
            </a:pPr>
            <a:r>
              <a:rPr lang="en-US" sz="2400" dirty="0" smtClean="0"/>
              <a:t>FATEC Botucatu</a:t>
            </a:r>
          </a:p>
          <a:p>
            <a:pPr algn="r">
              <a:defRPr/>
            </a:pPr>
            <a:endParaRPr lang="en-US" sz="2400" dirty="0" smtClean="0"/>
          </a:p>
          <a:p>
            <a:pPr algn="r">
              <a:defRPr/>
            </a:pPr>
            <a:r>
              <a:rPr lang="en-US" sz="2400" b="1" dirty="0" smtClean="0"/>
              <a:t>Prof. Ms. Bernadete Rossi B. Fantin</a:t>
            </a:r>
            <a:endParaRPr lang="pt-BR" sz="2400" b="1" dirty="0" smtClean="0"/>
          </a:p>
          <a:p>
            <a:pPr algn="r">
              <a:lnSpc>
                <a:spcPct val="90000"/>
              </a:lnSpc>
              <a:defRPr/>
            </a:pPr>
            <a:endParaRPr lang="en-US" sz="2400" dirty="0" smtClean="0"/>
          </a:p>
          <a:p>
            <a:pPr algn="r">
              <a:lnSpc>
                <a:spcPct val="90000"/>
              </a:lnSpc>
              <a:defRPr/>
            </a:pPr>
            <a:r>
              <a:rPr lang="en-US" sz="2400" dirty="0" smtClean="0"/>
              <a:t>AULA 04</a:t>
            </a:r>
            <a:endParaRPr lang="pt-BR" dirty="0"/>
          </a:p>
        </p:txBody>
      </p:sp>
      <p:pic>
        <p:nvPicPr>
          <p:cNvPr id="4" name="Imagem 3" descr="criativida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66" y="1857364"/>
            <a:ext cx="7215210" cy="28631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357290" y="1181080"/>
            <a:ext cx="7498080" cy="567692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pt-BR" sz="4800" dirty="0" smtClean="0"/>
              <a:t>O empreendedor é, ante de tudo um criador de novos produtos, novos mercados, nova maneiras de fabricar ou administrar.</a:t>
            </a:r>
            <a:endParaRPr lang="pt-BR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Crenças</a:t>
            </a:r>
            <a:r>
              <a:rPr lang="en-US" dirty="0" smtClean="0"/>
              <a:t>: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Ter idéias originais é fácil</a:t>
            </a:r>
          </a:p>
          <a:p>
            <a:r>
              <a:rPr lang="en-US" dirty="0" err="1" smtClean="0"/>
              <a:t>Basta</a:t>
            </a:r>
            <a:r>
              <a:rPr lang="en-US" dirty="0" smtClean="0"/>
              <a:t> </a:t>
            </a:r>
            <a:r>
              <a:rPr lang="en-US" dirty="0" err="1" smtClean="0"/>
              <a:t>concentrar</a:t>
            </a:r>
            <a:r>
              <a:rPr lang="en-US" dirty="0" smtClean="0"/>
              <a:t> o </a:t>
            </a:r>
            <a:r>
              <a:rPr lang="en-US" dirty="0" err="1" smtClean="0"/>
              <a:t>pensamento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 a </a:t>
            </a:r>
            <a:r>
              <a:rPr lang="en-US" dirty="0" err="1" smtClean="0"/>
              <a:t>idéia</a:t>
            </a:r>
            <a:r>
              <a:rPr lang="en-US" dirty="0" smtClean="0"/>
              <a:t> surge.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b="1" i="1" dirty="0" smtClean="0">
                <a:solidFill>
                  <a:schemeClr val="accent2">
                    <a:lumMod val="75000"/>
                  </a:schemeClr>
                </a:solidFill>
              </a:rPr>
              <a:t>Baronet e Picher,  </a:t>
            </a:r>
            <a:r>
              <a:rPr lang="en-US" b="1" i="1" dirty="0" err="1" smtClean="0">
                <a:solidFill>
                  <a:schemeClr val="accent2">
                    <a:lumMod val="75000"/>
                  </a:schemeClr>
                </a:solidFill>
              </a:rPr>
              <a:t>que</a:t>
            </a:r>
            <a:r>
              <a:rPr lang="en-US" b="1" i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b="1" i="1" dirty="0" err="1" smtClean="0">
                <a:solidFill>
                  <a:schemeClr val="accent2">
                    <a:lumMod val="75000"/>
                  </a:schemeClr>
                </a:solidFill>
              </a:rPr>
              <a:t>estudam</a:t>
            </a:r>
            <a:r>
              <a:rPr lang="en-US" b="1" i="1" dirty="0" smtClean="0">
                <a:solidFill>
                  <a:schemeClr val="accent2">
                    <a:lumMod val="75000"/>
                  </a:schemeClr>
                </a:solidFill>
              </a:rPr>
              <a:t> a </a:t>
            </a:r>
            <a:r>
              <a:rPr lang="en-US" b="1" i="1" dirty="0" err="1" smtClean="0">
                <a:solidFill>
                  <a:schemeClr val="accent2">
                    <a:lumMod val="75000"/>
                  </a:schemeClr>
                </a:solidFill>
              </a:rPr>
              <a:t>relação</a:t>
            </a:r>
            <a:r>
              <a:rPr lang="en-US" b="1" i="1" dirty="0" smtClean="0">
                <a:solidFill>
                  <a:schemeClr val="accent2">
                    <a:lumMod val="75000"/>
                  </a:schemeClr>
                </a:solidFill>
              </a:rPr>
              <a:t> entre </a:t>
            </a:r>
            <a:r>
              <a:rPr lang="en-US" b="1" i="1" dirty="0" err="1" smtClean="0">
                <a:solidFill>
                  <a:schemeClr val="accent2">
                    <a:lumMod val="75000"/>
                  </a:schemeClr>
                </a:solidFill>
              </a:rPr>
              <a:t>empreendedoriemo</a:t>
            </a:r>
            <a:r>
              <a:rPr lang="en-US" b="1" i="1" dirty="0" smtClean="0">
                <a:solidFill>
                  <a:schemeClr val="accent2">
                    <a:lumMod val="75000"/>
                  </a:schemeClr>
                </a:solidFill>
              </a:rPr>
              <a:t> e </a:t>
            </a:r>
            <a:r>
              <a:rPr lang="en-US" b="1" i="1" dirty="0" err="1" smtClean="0">
                <a:solidFill>
                  <a:schemeClr val="accent2">
                    <a:lumMod val="75000"/>
                  </a:schemeClr>
                </a:solidFill>
              </a:rPr>
              <a:t>criatividade</a:t>
            </a:r>
            <a:r>
              <a:rPr lang="en-US" b="1" i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b="1" i="1" dirty="0" err="1" smtClean="0">
                <a:solidFill>
                  <a:schemeClr val="accent2">
                    <a:lumMod val="75000"/>
                  </a:schemeClr>
                </a:solidFill>
              </a:rPr>
              <a:t>nos</a:t>
            </a:r>
            <a:r>
              <a:rPr lang="en-US" b="1" i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b="1" i="1" dirty="0" err="1" smtClean="0">
                <a:solidFill>
                  <a:schemeClr val="accent2">
                    <a:lumMod val="75000"/>
                  </a:schemeClr>
                </a:solidFill>
              </a:rPr>
              <a:t>útlimo</a:t>
            </a:r>
            <a:r>
              <a:rPr lang="en-US" b="1" i="1" dirty="0" smtClean="0">
                <a:solidFill>
                  <a:schemeClr val="accent2">
                    <a:lumMod val="75000"/>
                  </a:schemeClr>
                </a:solidFill>
              </a:rPr>
              <a:t> 10 </a:t>
            </a:r>
            <a:r>
              <a:rPr lang="en-US" b="1" i="1" dirty="0" err="1" smtClean="0">
                <a:solidFill>
                  <a:schemeClr val="accent2">
                    <a:lumMod val="75000"/>
                  </a:schemeClr>
                </a:solidFill>
              </a:rPr>
              <a:t>anos</a:t>
            </a:r>
            <a:r>
              <a:rPr lang="en-US" b="1" i="1" dirty="0" smtClean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b="1" i="1" dirty="0" err="1" smtClean="0">
                <a:solidFill>
                  <a:schemeClr val="accent2">
                    <a:lumMod val="75000"/>
                  </a:schemeClr>
                </a:solidFill>
              </a:rPr>
              <a:t>afirmam</a:t>
            </a:r>
            <a:r>
              <a:rPr lang="en-US" b="1" i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b="1" i="1" dirty="0" err="1" smtClean="0">
                <a:solidFill>
                  <a:schemeClr val="accent2">
                    <a:lumMod val="75000"/>
                  </a:schemeClr>
                </a:solidFill>
              </a:rPr>
              <a:t>que</a:t>
            </a:r>
            <a:r>
              <a:rPr lang="en-US" b="1" i="1" dirty="0" smtClean="0">
                <a:solidFill>
                  <a:schemeClr val="accent2">
                    <a:lumMod val="75000"/>
                  </a:schemeClr>
                </a:solidFill>
              </a:rPr>
              <a:t> o </a:t>
            </a:r>
            <a:r>
              <a:rPr lang="en-US" b="1" i="1" dirty="0" err="1" smtClean="0">
                <a:solidFill>
                  <a:schemeClr val="accent2">
                    <a:lumMod val="75000"/>
                  </a:schemeClr>
                </a:solidFill>
              </a:rPr>
              <a:t>processo</a:t>
            </a:r>
            <a:r>
              <a:rPr lang="en-US" b="1" i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b="1" i="1" dirty="0" err="1" smtClean="0">
                <a:solidFill>
                  <a:schemeClr val="accent2">
                    <a:lumMod val="75000"/>
                  </a:schemeClr>
                </a:solidFill>
              </a:rPr>
              <a:t>não</a:t>
            </a:r>
            <a:r>
              <a:rPr lang="en-US" b="1" i="1" dirty="0" smtClean="0">
                <a:solidFill>
                  <a:schemeClr val="accent2">
                    <a:lumMod val="75000"/>
                  </a:schemeClr>
                </a:solidFill>
              </a:rPr>
              <a:t> é </a:t>
            </a:r>
            <a:r>
              <a:rPr lang="en-US" b="1" i="1" dirty="0" err="1" smtClean="0">
                <a:solidFill>
                  <a:schemeClr val="accent2">
                    <a:lumMod val="75000"/>
                  </a:schemeClr>
                </a:solidFill>
              </a:rPr>
              <a:t>bem</a:t>
            </a:r>
            <a:r>
              <a:rPr lang="en-US" b="1" i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b="1" i="1" dirty="0" err="1" smtClean="0">
                <a:solidFill>
                  <a:schemeClr val="accent2">
                    <a:lumMod val="75000"/>
                  </a:schemeClr>
                </a:solidFill>
              </a:rPr>
              <a:t>assim</a:t>
            </a:r>
            <a:r>
              <a:rPr lang="en-US" b="1" i="1" dirty="0" smtClean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pt-BR" b="1" i="1" dirty="0" smtClean="0">
              <a:solidFill>
                <a:schemeClr val="accent2">
                  <a:lumMod val="75000"/>
                </a:schemeClr>
              </a:solidFill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Criatividade</a:t>
            </a:r>
            <a:r>
              <a:rPr lang="en-US" dirty="0" smtClean="0"/>
              <a:t> e </a:t>
            </a:r>
            <a:r>
              <a:rPr lang="en-US" dirty="0" err="1" smtClean="0"/>
              <a:t>Processo</a:t>
            </a:r>
            <a:r>
              <a:rPr lang="en-US" dirty="0" smtClean="0"/>
              <a:t> </a:t>
            </a:r>
            <a:r>
              <a:rPr lang="en-US" dirty="0" err="1" smtClean="0"/>
              <a:t>Criativo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3600" dirty="0" smtClean="0"/>
              <a:t>Em sua concepção mais simples disse que criatividade á a capacidade de fazer algo novo.</a:t>
            </a:r>
          </a:p>
          <a:p>
            <a:pPr>
              <a:buNone/>
            </a:pPr>
            <a:endParaRPr lang="pt-BR" dirty="0" smtClean="0"/>
          </a:p>
          <a:p>
            <a:pPr lvl="1"/>
            <a:r>
              <a:rPr lang="en-US" sz="3200" b="1" dirty="0" err="1" smtClean="0">
                <a:solidFill>
                  <a:schemeClr val="bg2">
                    <a:lumMod val="50000"/>
                  </a:schemeClr>
                </a:solidFill>
              </a:rPr>
              <a:t>Novidade</a:t>
            </a:r>
            <a:r>
              <a:rPr lang="en-US" sz="3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3200" b="1" dirty="0" err="1" smtClean="0">
                <a:solidFill>
                  <a:schemeClr val="bg2">
                    <a:lumMod val="50000"/>
                  </a:schemeClr>
                </a:solidFill>
              </a:rPr>
              <a:t>pra</a:t>
            </a:r>
            <a:r>
              <a:rPr lang="en-US" sz="3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3200" b="1" dirty="0" err="1" smtClean="0">
                <a:solidFill>
                  <a:schemeClr val="bg2">
                    <a:lumMod val="50000"/>
                  </a:schemeClr>
                </a:solidFill>
              </a:rPr>
              <a:t>quem</a:t>
            </a:r>
            <a:r>
              <a:rPr lang="en-US" sz="3200" b="1" dirty="0" smtClean="0">
                <a:solidFill>
                  <a:schemeClr val="bg2">
                    <a:lumMod val="50000"/>
                  </a:schemeClr>
                </a:solidFill>
              </a:rPr>
              <a:t>?</a:t>
            </a:r>
          </a:p>
          <a:p>
            <a:pPr lvl="1"/>
            <a:r>
              <a:rPr lang="en-US" sz="3200" b="1" dirty="0" err="1" smtClean="0">
                <a:solidFill>
                  <a:schemeClr val="accent3">
                    <a:lumMod val="75000"/>
                  </a:schemeClr>
                </a:solidFill>
              </a:rPr>
              <a:t>Pra</a:t>
            </a:r>
            <a:r>
              <a:rPr lang="en-US" sz="3200" b="1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dirty="0" err="1" smtClean="0">
                <a:solidFill>
                  <a:schemeClr val="accent3">
                    <a:lumMod val="75000"/>
                  </a:schemeClr>
                </a:solidFill>
              </a:rPr>
              <a:t>que</a:t>
            </a:r>
            <a:r>
              <a:rPr lang="en-US" sz="3200" b="1" dirty="0" smtClean="0">
                <a:solidFill>
                  <a:schemeClr val="accent3">
                    <a:lumMod val="75000"/>
                  </a:schemeClr>
                </a:solidFill>
              </a:rPr>
              <a:t>?</a:t>
            </a:r>
          </a:p>
          <a:p>
            <a:pPr lvl="1"/>
            <a:r>
              <a:rPr lang="en-US" sz="3200" b="1" dirty="0" err="1" smtClean="0">
                <a:solidFill>
                  <a:schemeClr val="accent6">
                    <a:lumMod val="75000"/>
                  </a:schemeClr>
                </a:solidFill>
              </a:rPr>
              <a:t>Novidade</a:t>
            </a:r>
            <a:r>
              <a:rPr lang="en-US" sz="3200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dirty="0" err="1" smtClean="0">
                <a:solidFill>
                  <a:schemeClr val="accent6">
                    <a:lumMod val="75000"/>
                  </a:schemeClr>
                </a:solidFill>
              </a:rPr>
              <a:t>mesmo</a:t>
            </a:r>
            <a:r>
              <a:rPr lang="en-US" sz="3200" b="1" dirty="0" smtClean="0">
                <a:solidFill>
                  <a:schemeClr val="accent6">
                    <a:lumMod val="75000"/>
                  </a:schemeClr>
                </a:solidFill>
              </a:rPr>
              <a:t>?</a:t>
            </a:r>
            <a:endParaRPr lang="pt-BR" sz="32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Criatividade</a:t>
            </a:r>
            <a:r>
              <a:rPr lang="en-US" dirty="0" smtClean="0"/>
              <a:t> e </a:t>
            </a:r>
            <a:r>
              <a:rPr lang="en-US" dirty="0" err="1" smtClean="0"/>
              <a:t>Processo</a:t>
            </a:r>
            <a:r>
              <a:rPr lang="en-US" dirty="0" smtClean="0"/>
              <a:t> </a:t>
            </a:r>
            <a:r>
              <a:rPr lang="en-US" dirty="0" err="1" smtClean="0"/>
              <a:t>Criativo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00100" y="1447800"/>
            <a:ext cx="8143900" cy="5410200"/>
          </a:xfrm>
        </p:spPr>
        <p:txBody>
          <a:bodyPr>
            <a:normAutofit/>
          </a:bodyPr>
          <a:lstStyle/>
          <a:p>
            <a:r>
              <a:rPr lang="pt-BR" dirty="0" smtClean="0"/>
              <a:t>Criatividade não se resume a inventar algo a partir do zero, mas também pode se manifestar pela imitação.</a:t>
            </a:r>
          </a:p>
          <a:p>
            <a:pPr>
              <a:buNone/>
            </a:pPr>
            <a:endParaRPr lang="pt-BR" sz="1000" dirty="0" smtClean="0"/>
          </a:p>
          <a:p>
            <a:pPr lvl="1"/>
            <a:r>
              <a:rPr lang="en-US" b="1" dirty="0" smtClean="0">
                <a:solidFill>
                  <a:schemeClr val="bg2">
                    <a:lumMod val="50000"/>
                  </a:schemeClr>
                </a:solidFill>
              </a:rPr>
              <a:t>Nova </a:t>
            </a:r>
            <a:r>
              <a:rPr lang="en-US" b="1" dirty="0" err="1" smtClean="0">
                <a:solidFill>
                  <a:schemeClr val="bg2">
                    <a:lumMod val="50000"/>
                  </a:schemeClr>
                </a:solidFill>
              </a:rPr>
              <a:t>utilização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bg2">
                    <a:lumMod val="50000"/>
                  </a:schemeClr>
                </a:solidFill>
              </a:rPr>
              <a:t>para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</a:rPr>
              <a:t> um </a:t>
            </a:r>
            <a:r>
              <a:rPr lang="en-US" b="1" dirty="0" err="1" smtClean="0">
                <a:solidFill>
                  <a:schemeClr val="bg2">
                    <a:lumMod val="50000"/>
                  </a:schemeClr>
                </a:solidFill>
              </a:rPr>
              <a:t>produto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bg2">
                    <a:lumMod val="50000"/>
                  </a:schemeClr>
                </a:solidFill>
              </a:rPr>
              <a:t>já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bg2">
                    <a:lumMod val="50000"/>
                  </a:schemeClr>
                </a:solidFill>
              </a:rPr>
              <a:t>existente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</a:rPr>
              <a:t>?</a:t>
            </a:r>
          </a:p>
          <a:p>
            <a:pPr lvl="1">
              <a:buNone/>
            </a:pPr>
            <a:endParaRPr lang="en-US" sz="10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pPr lvl="1"/>
            <a:r>
              <a:rPr lang="en-US" b="1" dirty="0" err="1" smtClean="0">
                <a:solidFill>
                  <a:schemeClr val="accent3">
                    <a:lumMod val="75000"/>
                  </a:schemeClr>
                </a:solidFill>
              </a:rPr>
              <a:t>Encontrar</a:t>
            </a:r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</a:rPr>
              <a:t> um </a:t>
            </a:r>
            <a:r>
              <a:rPr lang="en-US" b="1" dirty="0" err="1" smtClean="0">
                <a:solidFill>
                  <a:schemeClr val="accent3">
                    <a:lumMod val="75000"/>
                  </a:schemeClr>
                </a:solidFill>
              </a:rPr>
              <a:t>mercado</a:t>
            </a:r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accent3">
                    <a:lumMod val="75000"/>
                  </a:schemeClr>
                </a:solidFill>
              </a:rPr>
              <a:t>ainda</a:t>
            </a:r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accent3">
                    <a:lumMod val="75000"/>
                  </a:schemeClr>
                </a:solidFill>
              </a:rPr>
              <a:t>inexplorado</a:t>
            </a:r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accent3">
                    <a:lumMod val="75000"/>
                  </a:schemeClr>
                </a:solidFill>
              </a:rPr>
              <a:t>para</a:t>
            </a:r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</a:rPr>
              <a:t> um </a:t>
            </a:r>
            <a:r>
              <a:rPr lang="en-US" b="1" dirty="0" err="1" smtClean="0">
                <a:solidFill>
                  <a:schemeClr val="accent3">
                    <a:lumMod val="75000"/>
                  </a:schemeClr>
                </a:solidFill>
              </a:rPr>
              <a:t>serviço</a:t>
            </a:r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</a:rPr>
              <a:t>?</a:t>
            </a:r>
          </a:p>
          <a:p>
            <a:pPr lvl="1">
              <a:buNone/>
            </a:pPr>
            <a:endParaRPr lang="en-US" sz="1000" b="1" dirty="0" smtClean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r>
              <a:rPr lang="en-US" b="1" dirty="0" err="1" smtClean="0">
                <a:solidFill>
                  <a:schemeClr val="accent6">
                    <a:lumMod val="75000"/>
                  </a:schemeClr>
                </a:solidFill>
              </a:rPr>
              <a:t>Desenvolver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 um </a:t>
            </a:r>
            <a:r>
              <a:rPr lang="en-US" b="1" dirty="0" err="1" smtClean="0">
                <a:solidFill>
                  <a:schemeClr val="accent6">
                    <a:lumMod val="75000"/>
                  </a:schemeClr>
                </a:solidFill>
              </a:rPr>
              <a:t>modo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accent6">
                    <a:lumMod val="75000"/>
                  </a:schemeClr>
                </a:solidFill>
              </a:rPr>
              <a:t>mais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accent6">
                    <a:lumMod val="75000"/>
                  </a:schemeClr>
                </a:solidFill>
              </a:rPr>
              <a:t>rentável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 de </a:t>
            </a:r>
            <a:r>
              <a:rPr lang="en-US" b="1" dirty="0" err="1" smtClean="0">
                <a:solidFill>
                  <a:schemeClr val="accent6">
                    <a:lumMod val="75000"/>
                  </a:schemeClr>
                </a:solidFill>
              </a:rPr>
              <a:t>produzir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 a </a:t>
            </a:r>
            <a:r>
              <a:rPr lang="en-US" b="1" dirty="0" err="1" smtClean="0">
                <a:solidFill>
                  <a:schemeClr val="accent6">
                    <a:lumMod val="75000"/>
                  </a:schemeClr>
                </a:solidFill>
              </a:rPr>
              <a:t>mesma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accent6">
                    <a:lumMod val="75000"/>
                  </a:schemeClr>
                </a:solidFill>
              </a:rPr>
              <a:t>coisa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?</a:t>
            </a:r>
            <a:endParaRPr lang="pt-BR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Componentes</a:t>
            </a:r>
            <a:r>
              <a:rPr lang="en-US" dirty="0" smtClean="0"/>
              <a:t> </a:t>
            </a:r>
            <a:r>
              <a:rPr lang="en-US" dirty="0" err="1" smtClean="0"/>
              <a:t>ligados</a:t>
            </a:r>
            <a:r>
              <a:rPr lang="en-US" dirty="0" smtClean="0"/>
              <a:t> à </a:t>
            </a:r>
            <a:r>
              <a:rPr lang="en-US" dirty="0" err="1" smtClean="0"/>
              <a:t>criatividade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00100" y="2057400"/>
            <a:ext cx="7926708" cy="4800600"/>
          </a:xfrm>
        </p:spPr>
        <p:txBody>
          <a:bodyPr>
            <a:normAutofit/>
          </a:bodyPr>
          <a:lstStyle/>
          <a:p>
            <a:r>
              <a:rPr lang="en-US" sz="4400" dirty="0" err="1" smtClean="0"/>
              <a:t>Regularidade</a:t>
            </a:r>
            <a:endParaRPr lang="en-US" sz="4400" dirty="0" smtClean="0"/>
          </a:p>
          <a:p>
            <a:pPr>
              <a:buNone/>
            </a:pPr>
            <a:endParaRPr lang="en-US" sz="2000" dirty="0" smtClean="0"/>
          </a:p>
          <a:p>
            <a:r>
              <a:rPr lang="en-US" sz="4400" dirty="0" err="1" smtClean="0"/>
              <a:t>Novidade</a:t>
            </a:r>
            <a:endParaRPr lang="en-US" sz="4400" dirty="0" smtClean="0"/>
          </a:p>
          <a:p>
            <a:pPr>
              <a:buNone/>
            </a:pPr>
            <a:endParaRPr lang="en-US" sz="2000" dirty="0" smtClean="0"/>
          </a:p>
          <a:p>
            <a:r>
              <a:rPr lang="en-US" sz="4400" dirty="0" err="1" smtClean="0"/>
              <a:t>Aceitação</a:t>
            </a:r>
            <a:r>
              <a:rPr lang="en-US" sz="4400" dirty="0" smtClean="0"/>
              <a:t> </a:t>
            </a:r>
            <a:r>
              <a:rPr lang="en-US" sz="4400" dirty="0" err="1" smtClean="0"/>
              <a:t>ou</a:t>
            </a:r>
            <a:r>
              <a:rPr lang="en-US" sz="4400" dirty="0" smtClean="0"/>
              <a:t> </a:t>
            </a:r>
            <a:r>
              <a:rPr lang="en-US" sz="4400" dirty="0" err="1" smtClean="0"/>
              <a:t>reconhecimento</a:t>
            </a:r>
            <a:endParaRPr lang="pt-BR" sz="4400" dirty="0"/>
          </a:p>
        </p:txBody>
      </p:sp>
      <p:pic>
        <p:nvPicPr>
          <p:cNvPr id="4" name="Imagem 3" descr="papo_criativida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322" y="1500174"/>
            <a:ext cx="2857520" cy="27114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err="1" smtClean="0"/>
              <a:t>Criatividade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4400" b="1" i="1" dirty="0" smtClean="0">
                <a:solidFill>
                  <a:schemeClr val="accent3">
                    <a:lumMod val="75000"/>
                  </a:schemeClr>
                </a:solidFill>
              </a:rPr>
              <a:t>Para </a:t>
            </a:r>
            <a:r>
              <a:rPr lang="en-US" sz="4400" b="1" i="1" dirty="0" err="1" smtClean="0">
                <a:solidFill>
                  <a:schemeClr val="accent3">
                    <a:lumMod val="75000"/>
                  </a:schemeClr>
                </a:solidFill>
              </a:rPr>
              <a:t>empreendedores</a:t>
            </a:r>
            <a:r>
              <a:rPr lang="en-US" sz="4400" b="1" i="1" dirty="0" smtClean="0">
                <a:solidFill>
                  <a:schemeClr val="accent3">
                    <a:lumMod val="75000"/>
                  </a:schemeClr>
                </a:solidFill>
              </a:rPr>
              <a:t> e </a:t>
            </a:r>
            <a:r>
              <a:rPr lang="en-US" sz="4400" b="1" i="1" dirty="0" err="1" smtClean="0">
                <a:solidFill>
                  <a:schemeClr val="accent3">
                    <a:lumMod val="75000"/>
                  </a:schemeClr>
                </a:solidFill>
              </a:rPr>
              <a:t>líderes</a:t>
            </a:r>
            <a:r>
              <a:rPr lang="en-US" sz="4400" b="1" i="1" dirty="0" smtClean="0">
                <a:solidFill>
                  <a:schemeClr val="accent3">
                    <a:lumMod val="75000"/>
                  </a:schemeClr>
                </a:solidFill>
              </a:rPr>
              <a:t> a </a:t>
            </a:r>
            <a:r>
              <a:rPr lang="en-US" sz="4400" b="1" i="1" dirty="0" err="1" smtClean="0">
                <a:solidFill>
                  <a:schemeClr val="accent3">
                    <a:lumMod val="75000"/>
                  </a:schemeClr>
                </a:solidFill>
              </a:rPr>
              <a:t>criatividade</a:t>
            </a:r>
            <a:r>
              <a:rPr lang="en-US" sz="4400" b="1" i="1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4400" b="1" i="1" dirty="0" err="1" smtClean="0">
                <a:solidFill>
                  <a:schemeClr val="accent3">
                    <a:lumMod val="75000"/>
                  </a:schemeClr>
                </a:solidFill>
              </a:rPr>
              <a:t>não</a:t>
            </a:r>
            <a:r>
              <a:rPr lang="en-US" sz="4400" b="1" i="1" dirty="0" smtClean="0">
                <a:solidFill>
                  <a:schemeClr val="accent3">
                    <a:lumMod val="75000"/>
                  </a:schemeClr>
                </a:solidFill>
              </a:rPr>
              <a:t> se </a:t>
            </a:r>
            <a:r>
              <a:rPr lang="en-US" sz="4400" b="1" i="1" dirty="0" err="1" smtClean="0">
                <a:solidFill>
                  <a:schemeClr val="accent3">
                    <a:lumMod val="75000"/>
                  </a:schemeClr>
                </a:solidFill>
              </a:rPr>
              <a:t>limita</a:t>
            </a:r>
            <a:r>
              <a:rPr lang="en-US" sz="4400" b="1" i="1" dirty="0" smtClean="0">
                <a:solidFill>
                  <a:schemeClr val="accent3">
                    <a:lumMod val="75000"/>
                  </a:schemeClr>
                </a:solidFill>
              </a:rPr>
              <a:t> a um </a:t>
            </a:r>
            <a:r>
              <a:rPr lang="en-US" sz="4400" b="1" i="1" dirty="0" err="1" smtClean="0">
                <a:solidFill>
                  <a:schemeClr val="accent3">
                    <a:lumMod val="75000"/>
                  </a:schemeClr>
                </a:solidFill>
              </a:rPr>
              <a:t>único</a:t>
            </a:r>
            <a:r>
              <a:rPr lang="en-US" sz="4400" b="1" i="1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4400" b="1" i="1" dirty="0" err="1" smtClean="0">
                <a:solidFill>
                  <a:schemeClr val="accent3">
                    <a:lumMod val="75000"/>
                  </a:schemeClr>
                </a:solidFill>
              </a:rPr>
              <a:t>setor</a:t>
            </a:r>
            <a:r>
              <a:rPr lang="en-US" sz="4400" b="1" i="1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4400" b="1" i="1" dirty="0" err="1" smtClean="0">
                <a:solidFill>
                  <a:schemeClr val="accent3">
                    <a:lumMod val="75000"/>
                  </a:schemeClr>
                </a:solidFill>
              </a:rPr>
              <a:t>na</a:t>
            </a:r>
            <a:r>
              <a:rPr lang="en-US" sz="4400" b="1" i="1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4400" b="1" i="1" dirty="0" err="1" smtClean="0">
                <a:solidFill>
                  <a:schemeClr val="accent3">
                    <a:lumMod val="75000"/>
                  </a:schemeClr>
                </a:solidFill>
              </a:rPr>
              <a:t>vida</a:t>
            </a:r>
            <a:r>
              <a:rPr lang="en-US" sz="4400" dirty="0" smtClean="0"/>
              <a:t>, </a:t>
            </a:r>
            <a:r>
              <a:rPr lang="en-US" sz="4400" dirty="0" err="1" smtClean="0"/>
              <a:t>mas</a:t>
            </a:r>
            <a:r>
              <a:rPr lang="en-US" sz="4400" dirty="0" smtClean="0"/>
              <a:t> </a:t>
            </a:r>
            <a:r>
              <a:rPr lang="en-US" sz="4400" dirty="0" err="1" smtClean="0"/>
              <a:t>representa</a:t>
            </a:r>
            <a:r>
              <a:rPr lang="en-US" sz="4400" dirty="0" smtClean="0"/>
              <a:t> um </a:t>
            </a:r>
            <a:r>
              <a:rPr lang="en-US" sz="4400" dirty="0" err="1" smtClean="0"/>
              <a:t>modo</a:t>
            </a:r>
            <a:r>
              <a:rPr lang="en-US" sz="4400" dirty="0" smtClean="0"/>
              <a:t> </a:t>
            </a:r>
            <a:r>
              <a:rPr lang="en-US" sz="4400" dirty="0" err="1" smtClean="0"/>
              <a:t>constante</a:t>
            </a:r>
            <a:r>
              <a:rPr lang="en-US" sz="4400" dirty="0" smtClean="0"/>
              <a:t> de </a:t>
            </a:r>
            <a:r>
              <a:rPr lang="en-US" sz="4400" dirty="0" err="1" smtClean="0"/>
              <a:t>sentir</a:t>
            </a:r>
            <a:r>
              <a:rPr lang="en-US" sz="4400" dirty="0" smtClean="0"/>
              <a:t>, </a:t>
            </a:r>
            <a:r>
              <a:rPr lang="en-US" sz="4400" dirty="0" err="1" smtClean="0"/>
              <a:t>pensar</a:t>
            </a:r>
            <a:r>
              <a:rPr lang="en-US" sz="4400" dirty="0" smtClean="0"/>
              <a:t>, </a:t>
            </a:r>
            <a:r>
              <a:rPr lang="en-US" sz="4400" dirty="0" err="1" smtClean="0"/>
              <a:t>formular</a:t>
            </a:r>
            <a:r>
              <a:rPr lang="en-US" sz="4400" dirty="0" smtClean="0"/>
              <a:t> </a:t>
            </a:r>
            <a:r>
              <a:rPr lang="en-US" sz="4400" dirty="0" err="1" smtClean="0"/>
              <a:t>problemas</a:t>
            </a:r>
            <a:r>
              <a:rPr lang="en-US" sz="4400" dirty="0" smtClean="0"/>
              <a:t> e </a:t>
            </a:r>
            <a:r>
              <a:rPr lang="en-US" sz="4400" dirty="0" err="1" smtClean="0"/>
              <a:t>encontrar</a:t>
            </a:r>
            <a:r>
              <a:rPr lang="en-US" sz="4400" dirty="0" smtClean="0"/>
              <a:t> </a:t>
            </a:r>
            <a:r>
              <a:rPr lang="en-US" sz="4400" dirty="0" err="1" smtClean="0"/>
              <a:t>soluções</a:t>
            </a:r>
            <a:r>
              <a:rPr lang="en-US" sz="4400" dirty="0" smtClean="0"/>
              <a:t> </a:t>
            </a:r>
            <a:r>
              <a:rPr lang="en-US" sz="4400" dirty="0" err="1" smtClean="0"/>
              <a:t>para</a:t>
            </a:r>
            <a:r>
              <a:rPr lang="en-US" sz="4400" dirty="0" smtClean="0"/>
              <a:t> </a:t>
            </a:r>
            <a:r>
              <a:rPr lang="en-US" sz="4400" dirty="0" err="1" smtClean="0"/>
              <a:t>eles</a:t>
            </a:r>
            <a:r>
              <a:rPr lang="en-US" sz="4400" dirty="0" smtClean="0"/>
              <a:t>.</a:t>
            </a:r>
            <a:endParaRPr lang="pt-BR" sz="4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err="1" smtClean="0"/>
              <a:t>Criatividade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35608" y="1571612"/>
            <a:ext cx="7498080" cy="4676788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5400" i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Seja</a:t>
            </a:r>
            <a:r>
              <a:rPr lang="en-US" sz="5400" i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5400" i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como</a:t>
            </a:r>
            <a:r>
              <a:rPr lang="en-US" sz="5400" i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for a </a:t>
            </a:r>
            <a:r>
              <a:rPr lang="en-US" sz="5400" b="1" i="1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criatividade</a:t>
            </a:r>
            <a:r>
              <a:rPr lang="en-US" sz="5400" b="1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é um </a:t>
            </a:r>
            <a:r>
              <a:rPr lang="en-US" sz="5400" b="1" i="1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modo</a:t>
            </a:r>
            <a:r>
              <a:rPr lang="en-US" sz="5400" b="1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ser</a:t>
            </a:r>
            <a:r>
              <a:rPr lang="en-US" sz="54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5400" i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e, </a:t>
            </a:r>
            <a:r>
              <a:rPr lang="en-US" sz="5400" i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portante</a:t>
            </a:r>
            <a:r>
              <a:rPr lang="en-US" sz="5400" i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um </a:t>
            </a:r>
            <a:r>
              <a:rPr lang="en-US" sz="5400" b="1" i="1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exercício</a:t>
            </a:r>
            <a:r>
              <a:rPr lang="en-US" sz="5400" b="1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5400" b="1" i="1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constante</a:t>
            </a:r>
            <a:r>
              <a:rPr lang="en-US" sz="5400" b="1" i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5400" i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na</a:t>
            </a:r>
            <a:r>
              <a:rPr lang="en-US" sz="5400" i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5400" i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atividade</a:t>
            </a:r>
            <a:r>
              <a:rPr lang="en-US" sz="5400" i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do </a:t>
            </a:r>
            <a:r>
              <a:rPr lang="en-US" sz="5400" i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criativo</a:t>
            </a:r>
            <a:r>
              <a:rPr lang="en-US" sz="5400" i="1" dirty="0" smtClean="0">
                <a:solidFill>
                  <a:schemeClr val="accent5">
                    <a:lumMod val="75000"/>
                  </a:schemeClr>
                </a:solidFill>
              </a:rPr>
              <a:t>.</a:t>
            </a:r>
            <a:endParaRPr lang="pt-BR" sz="5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Criatividade</a:t>
            </a:r>
            <a:r>
              <a:rPr lang="en-US" dirty="0" smtClean="0"/>
              <a:t>: </a:t>
            </a:r>
            <a:r>
              <a:rPr lang="en-US" dirty="0" err="1" smtClean="0"/>
              <a:t>modelo</a:t>
            </a:r>
            <a:r>
              <a:rPr lang="en-US" dirty="0" smtClean="0"/>
              <a:t> e </a:t>
            </a:r>
            <a:r>
              <a:rPr lang="en-US" dirty="0" err="1" smtClean="0"/>
              <a:t>processo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00100" y="1447800"/>
            <a:ext cx="8143900" cy="5410200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pt-BR" b="1" dirty="0" smtClean="0"/>
              <a:t>Elementos fundamentais do modelo de criatividade:</a:t>
            </a:r>
          </a:p>
          <a:p>
            <a:pPr>
              <a:buNone/>
            </a:pPr>
            <a:endParaRPr lang="pt-BR" sz="1400" dirty="0" smtClean="0"/>
          </a:p>
          <a:p>
            <a:pPr lvl="1"/>
            <a:r>
              <a:rPr lang="pt-BR" dirty="0" smtClean="0"/>
              <a:t>Um indivíduo criativo que tem personalidade e características especiais, em grande parte herdadas da família – muito particularmente de seus pais;</a:t>
            </a:r>
          </a:p>
          <a:p>
            <a:pPr lvl="1">
              <a:buNone/>
            </a:pPr>
            <a:endParaRPr lang="pt-BR" sz="1400" dirty="0" smtClean="0"/>
          </a:p>
          <a:p>
            <a:pPr lvl="1"/>
            <a:r>
              <a:rPr lang="pt-BR" dirty="0" smtClean="0"/>
              <a:t>Um processo criativo;</a:t>
            </a:r>
          </a:p>
          <a:p>
            <a:pPr lvl="1"/>
            <a:endParaRPr lang="pt-BR" sz="1400" dirty="0" smtClean="0"/>
          </a:p>
          <a:p>
            <a:pPr lvl="1"/>
            <a:r>
              <a:rPr lang="pt-BR" dirty="0" smtClean="0"/>
              <a:t>A ligação do indivíduo a uma rede social de apoio (</a:t>
            </a:r>
            <a:r>
              <a:rPr lang="pt-BR" i="1" dirty="0" smtClean="0"/>
              <a:t>network</a:t>
            </a:r>
            <a:r>
              <a:rPr lang="pt-BR" dirty="0" smtClean="0"/>
              <a:t>) e a um campo de atividade.</a:t>
            </a:r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Modelo</a:t>
            </a:r>
            <a:r>
              <a:rPr lang="en-US" dirty="0" smtClean="0"/>
              <a:t> </a:t>
            </a:r>
            <a:r>
              <a:rPr lang="en-US" dirty="0" err="1" smtClean="0"/>
              <a:t>Geral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Criatividade</a:t>
            </a:r>
            <a:endParaRPr lang="pt-BR" dirty="0"/>
          </a:p>
        </p:txBody>
      </p:sp>
      <p:pic>
        <p:nvPicPr>
          <p:cNvPr id="4" name="Espaço Reservado para Conteúdo 3" descr="Fig 1.wmf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8728" y="2143116"/>
            <a:ext cx="7344015" cy="2794034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Criatividade</a:t>
            </a:r>
            <a:r>
              <a:rPr lang="en-US" dirty="0" smtClean="0"/>
              <a:t> e </a:t>
            </a:r>
            <a:r>
              <a:rPr lang="en-US" dirty="0" err="1" smtClean="0"/>
              <a:t>Inovação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00100" y="1447800"/>
            <a:ext cx="8143900" cy="4800600"/>
          </a:xfrm>
        </p:spPr>
        <p:txBody>
          <a:bodyPr/>
          <a:lstStyle/>
          <a:p>
            <a:r>
              <a:rPr lang="en-US" b="1" dirty="0" err="1" smtClean="0"/>
              <a:t>Vídeo</a:t>
            </a:r>
            <a:r>
              <a:rPr lang="en-US" b="1" dirty="0" smtClean="0"/>
              <a:t>:</a:t>
            </a:r>
            <a:r>
              <a:rPr lang="en-US" dirty="0" smtClean="0"/>
              <a:t> </a:t>
            </a:r>
            <a:r>
              <a:rPr lang="en-US" dirty="0" smtClean="0"/>
              <a:t> Steven </a:t>
            </a:r>
            <a:r>
              <a:rPr lang="en-US" dirty="0" err="1" smtClean="0"/>
              <a:t>Jonhson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err="1" smtClean="0"/>
              <a:t>Da</a:t>
            </a:r>
            <a:r>
              <a:rPr lang="en-US" b="1" dirty="0" smtClean="0"/>
              <a:t> </a:t>
            </a:r>
            <a:r>
              <a:rPr lang="en-US" b="1" dirty="0" err="1" smtClean="0"/>
              <a:t>onde</a:t>
            </a:r>
            <a:r>
              <a:rPr lang="en-US" b="1" dirty="0" smtClean="0"/>
              <a:t> </a:t>
            </a:r>
            <a:r>
              <a:rPr lang="en-US" b="1" dirty="0" err="1" smtClean="0"/>
              <a:t>vem</a:t>
            </a:r>
            <a:r>
              <a:rPr lang="en-US" b="1" dirty="0" smtClean="0"/>
              <a:t> as boas </a:t>
            </a:r>
            <a:r>
              <a:rPr lang="en-US" b="1" dirty="0" err="1" smtClean="0"/>
              <a:t>ideias</a:t>
            </a:r>
            <a:r>
              <a:rPr lang="en-US" b="1" dirty="0" smtClean="0"/>
              <a:t>?</a:t>
            </a:r>
          </a:p>
          <a:p>
            <a:pPr>
              <a:buNone/>
            </a:pPr>
            <a:r>
              <a:rPr lang="pt-BR" sz="2800" dirty="0" smtClean="0"/>
              <a:t>http://www.youtube.com/watch?v=uH_C5pY_-k8</a:t>
            </a:r>
            <a:endParaRPr lang="pt-BR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Estudos revelaram que: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00100" y="1447800"/>
            <a:ext cx="8143900" cy="5410200"/>
          </a:xfrm>
        </p:spPr>
        <p:txBody>
          <a:bodyPr>
            <a:normAutofit fontScale="92500" lnSpcReduction="10000"/>
          </a:bodyPr>
          <a:lstStyle/>
          <a:p>
            <a:r>
              <a:rPr lang="pt-BR" b="1" dirty="0" smtClean="0">
                <a:solidFill>
                  <a:schemeClr val="bg2">
                    <a:lumMod val="50000"/>
                  </a:schemeClr>
                </a:solidFill>
              </a:rPr>
              <a:t>Há laços de natureza afetiva (ou emocional) entre a personalidade do criador e a sua criação.</a:t>
            </a:r>
          </a:p>
          <a:p>
            <a:pPr>
              <a:buNone/>
            </a:pPr>
            <a:endParaRPr lang="pt-BR" sz="10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pt-BR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São as insatisfações e contrariedades que exigem soluções.</a:t>
            </a:r>
          </a:p>
          <a:p>
            <a:pPr>
              <a:buNone/>
            </a:pPr>
            <a:endParaRPr lang="pt-BR" sz="1100" b="1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pt-BR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Pessoas que estão satisfeitas não criam nada.</a:t>
            </a:r>
          </a:p>
          <a:p>
            <a:pPr>
              <a:buNone/>
            </a:pPr>
            <a:endParaRPr lang="pt-BR" sz="11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pt-BR" b="1" dirty="0" smtClean="0">
                <a:solidFill>
                  <a:schemeClr val="accent2">
                    <a:lumMod val="75000"/>
                  </a:schemeClr>
                </a:solidFill>
              </a:rPr>
              <a:t>O ato de criar funciona como uma panela de pressão, criando uma sobrecarga de energia emocional.</a:t>
            </a:r>
            <a:endParaRPr lang="pt-BR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1143000"/>
          </a:xfrm>
        </p:spPr>
        <p:txBody>
          <a:bodyPr/>
          <a:lstStyle/>
          <a:p>
            <a:r>
              <a:rPr lang="pt-BR" dirty="0" smtClean="0"/>
              <a:t>Criação de uma idéia original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2910" y="1071546"/>
            <a:ext cx="8501090" cy="5786454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pt-BR" sz="2400" dirty="0" smtClean="0">
                <a:solidFill>
                  <a:schemeClr val="tx2">
                    <a:lumMod val="75000"/>
                  </a:schemeClr>
                </a:solidFill>
              </a:rPr>
              <a:t>É na transformação da idéia original em idéia concreta que aparece a necessidade de reconhecer o que é aceitável ou não</a:t>
            </a:r>
            <a:r>
              <a:rPr lang="pt-BR" sz="2400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pt-BR" sz="2800" dirty="0" smtClean="0"/>
          </a:p>
          <a:p>
            <a:pPr algn="ctr">
              <a:buNone/>
            </a:pPr>
            <a:endParaRPr lang="pt-BR" sz="2400" dirty="0" smtClean="0"/>
          </a:p>
          <a:p>
            <a:pPr algn="ctr">
              <a:buNone/>
            </a:pPr>
            <a:endParaRPr lang="pt-BR" sz="2400" dirty="0" smtClean="0"/>
          </a:p>
          <a:p>
            <a:pPr algn="ctr">
              <a:buNone/>
            </a:pPr>
            <a:r>
              <a:rPr lang="pt-BR" sz="2400" dirty="0" smtClean="0">
                <a:solidFill>
                  <a:schemeClr val="accent6">
                    <a:lumMod val="75000"/>
                  </a:schemeClr>
                </a:solidFill>
              </a:rPr>
              <a:t>O criador cria laços entre a idéia e um público ou mercado.</a:t>
            </a:r>
            <a:endParaRPr lang="pt-BR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Imagem 3" descr="Fig 2.w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28" y="2000240"/>
            <a:ext cx="6929486" cy="40466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 smtClean="0"/>
              <a:t>Criatividade na Concepção de Empresas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00100" y="1447800"/>
            <a:ext cx="8143900" cy="5410200"/>
          </a:xfrm>
        </p:spPr>
        <p:txBody>
          <a:bodyPr>
            <a:normAutofit/>
          </a:bodyPr>
          <a:lstStyle/>
          <a:p>
            <a:r>
              <a:rPr lang="pt-BR" dirty="0" smtClean="0">
                <a:solidFill>
                  <a:schemeClr val="accent3">
                    <a:lumMod val="75000"/>
                  </a:schemeClr>
                </a:solidFill>
              </a:rPr>
              <a:t>No contexto dos negócios, a criatividade se concretiza em torno da percepção de uma oportunidade de negócio:</a:t>
            </a:r>
          </a:p>
          <a:p>
            <a:pPr lvl="1"/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Novo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produto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/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serviço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;</a:t>
            </a:r>
          </a:p>
          <a:p>
            <a:pPr lvl="1"/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Melhoramento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de um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produto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/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serviço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preexistente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;</a:t>
            </a:r>
          </a:p>
          <a:p>
            <a:pPr lvl="1"/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Novo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nicho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de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mercado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;</a:t>
            </a:r>
          </a:p>
          <a:p>
            <a:pPr lvl="1"/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Um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mercado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inexplorado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;</a:t>
            </a:r>
          </a:p>
          <a:p>
            <a:pPr lvl="1"/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Novo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processo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de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produção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(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mais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eficaz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e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mais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barato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 smtClean="0"/>
              <a:t>Criatividade na Concepção de Empresas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00100" y="1928802"/>
            <a:ext cx="8143900" cy="4929198"/>
          </a:xfrm>
        </p:spPr>
        <p:txBody>
          <a:bodyPr>
            <a:normAutofit/>
          </a:bodyPr>
          <a:lstStyle/>
          <a:p>
            <a:pPr lvl="1"/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Inovação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na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cultura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ou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na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extrutura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da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empresa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;</a:t>
            </a:r>
          </a:p>
          <a:p>
            <a:pPr lvl="1"/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Inovação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em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pesquisa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e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desenvolvimento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;</a:t>
            </a:r>
          </a:p>
          <a:p>
            <a:pPr lvl="1"/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Nova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fonte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(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mais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barata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) de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matérias-primas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;</a:t>
            </a:r>
          </a:p>
          <a:p>
            <a:pPr lvl="1"/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Novo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tipo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de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financiamento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;</a:t>
            </a:r>
          </a:p>
          <a:p>
            <a:pPr lvl="1"/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Nova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maneira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de se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relacionar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com o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governo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ou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a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comindade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etc.</a:t>
            </a:r>
            <a:endParaRPr lang="pt-BR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00100" y="1447800"/>
            <a:ext cx="8143900" cy="4800600"/>
          </a:xfrm>
        </p:spPr>
        <p:txBody>
          <a:bodyPr/>
          <a:lstStyle/>
          <a:p>
            <a:r>
              <a:rPr lang="en-US" b="1" dirty="0" err="1" smtClean="0"/>
              <a:t>Vídeo</a:t>
            </a:r>
            <a:r>
              <a:rPr lang="en-US" b="1" dirty="0" smtClean="0"/>
              <a:t>: </a:t>
            </a:r>
            <a:r>
              <a:rPr lang="en-US" b="1" dirty="0" smtClean="0"/>
              <a:t> </a:t>
            </a:r>
            <a:r>
              <a:rPr lang="en-US" dirty="0" err="1" smtClean="0"/>
              <a:t>Waldez</a:t>
            </a:r>
            <a:r>
              <a:rPr lang="en-US" dirty="0" smtClean="0"/>
              <a:t> Ludwig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err="1" smtClean="0"/>
              <a:t>Criatividade</a:t>
            </a:r>
            <a:r>
              <a:rPr lang="en-US" b="1" dirty="0" smtClean="0"/>
              <a:t> x </a:t>
            </a:r>
            <a:r>
              <a:rPr lang="en-US" b="1" dirty="0" err="1" smtClean="0"/>
              <a:t>Inovação</a:t>
            </a:r>
            <a:endParaRPr lang="en-US" b="1" dirty="0" smtClean="0"/>
          </a:p>
          <a:p>
            <a:pPr>
              <a:buNone/>
            </a:pPr>
            <a:r>
              <a:rPr lang="pt-BR" sz="2800" dirty="0" smtClean="0"/>
              <a:t>http://www.youtube.com/watch?v=gDJkbsfT55w</a:t>
            </a:r>
            <a:endParaRPr lang="pt-BR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Texto: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35608" y="2000240"/>
            <a:ext cx="7498080" cy="4248160"/>
          </a:xfrm>
        </p:spPr>
        <p:txBody>
          <a:bodyPr/>
          <a:lstStyle/>
          <a:p>
            <a:pPr algn="ctr">
              <a:buNone/>
            </a:pPr>
            <a:r>
              <a:rPr lang="pt-BR" sz="4400" b="1" dirty="0" smtClean="0"/>
              <a:t>Como ser criativo.</a:t>
            </a:r>
          </a:p>
          <a:p>
            <a:endParaRPr lang="en-US" dirty="0" smtClean="0"/>
          </a:p>
          <a:p>
            <a:r>
              <a:rPr lang="pt-BR" dirty="0" smtClean="0"/>
              <a:t>O que eu posso fazer para exercitar </a:t>
            </a:r>
            <a:r>
              <a:rPr lang="pt-BR" smtClean="0"/>
              <a:t>minha criatividade</a:t>
            </a:r>
            <a:r>
              <a:rPr lang="pt-BR" dirty="0" smtClean="0"/>
              <a:t>?</a:t>
            </a:r>
            <a:endParaRPr lang="pt-B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ício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Solstício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íci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478</TotalTime>
  <Words>543</Words>
  <Application>Microsoft Office PowerPoint</Application>
  <PresentationFormat>Apresentação na tela (4:3)</PresentationFormat>
  <Paragraphs>91</Paragraphs>
  <Slides>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18" baseType="lpstr">
      <vt:lpstr>Solstício</vt:lpstr>
      <vt:lpstr>Criatividade na Concepção de Empresas</vt:lpstr>
      <vt:lpstr>Slide 2</vt:lpstr>
      <vt:lpstr>Crenças:</vt:lpstr>
      <vt:lpstr>Criatividade e Processo Criativo</vt:lpstr>
      <vt:lpstr>Criatividade e Processo Criativo</vt:lpstr>
      <vt:lpstr>Componentes ligados à criatividade</vt:lpstr>
      <vt:lpstr>Criatividade</vt:lpstr>
      <vt:lpstr>Criatividade</vt:lpstr>
      <vt:lpstr>Criatividade: modelo e processo</vt:lpstr>
      <vt:lpstr>Modelo Geral da Criatividade</vt:lpstr>
      <vt:lpstr>Criatividade e Inovação</vt:lpstr>
      <vt:lpstr>Estudos revelaram que:</vt:lpstr>
      <vt:lpstr>Criação de uma idéia original</vt:lpstr>
      <vt:lpstr>Criatividade na Concepção de Empresas </vt:lpstr>
      <vt:lpstr>Criatividade na Concepção de Empresas </vt:lpstr>
      <vt:lpstr>Slide 16</vt:lpstr>
      <vt:lpstr>Texto: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Criatividade na Concepção de Empresas</dc:title>
  <dc:creator>Bernadete</dc:creator>
  <cp:lastModifiedBy>Bernadete</cp:lastModifiedBy>
  <cp:revision>27</cp:revision>
  <dcterms:created xsi:type="dcterms:W3CDTF">2012-09-24T17:22:22Z</dcterms:created>
  <dcterms:modified xsi:type="dcterms:W3CDTF">2012-10-04T19:55:57Z</dcterms:modified>
</cp:coreProperties>
</file>