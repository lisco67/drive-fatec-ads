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1"/>
  </p:sldMasterIdLst>
  <p:notesMasterIdLst>
    <p:notesMasterId r:id="rId14"/>
  </p:notesMasterIdLst>
  <p:sldIdLst>
    <p:sldId id="256" r:id="rId2"/>
    <p:sldId id="305" r:id="rId3"/>
    <p:sldId id="306" r:id="rId4"/>
    <p:sldId id="307" r:id="rId5"/>
    <p:sldId id="295" r:id="rId6"/>
    <p:sldId id="313" r:id="rId7"/>
    <p:sldId id="299" r:id="rId8"/>
    <p:sldId id="300" r:id="rId9"/>
    <p:sldId id="297" r:id="rId10"/>
    <p:sldId id="309" r:id="rId11"/>
    <p:sldId id="311" r:id="rId12"/>
    <p:sldId id="308" r:id="rId13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12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12/02/2016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atividadesia@yahoo.com.br" TargetMode="External"/><Relationship Id="rId2" Type="http://schemas.openxmlformats.org/officeDocument/2006/relationships/hyperlink" Target="mailto:graceapborges@fatecsp.b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01 – Apresentação da disciplina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122238"/>
            <a:ext cx="7532687" cy="1074514"/>
          </a:xfrm>
        </p:spPr>
        <p:txBody>
          <a:bodyPr/>
          <a:lstStyle/>
          <a:p>
            <a:r>
              <a:rPr lang="pt-BR" dirty="0" smtClean="0"/>
              <a:t>Apresentação</a:t>
            </a:r>
            <a:endParaRPr lang="pt-BR" dirty="0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95536" y="1484784"/>
            <a:ext cx="7920880" cy="5257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dirty="0" smtClean="0"/>
              <a:t>Grace Borges</a:t>
            </a:r>
          </a:p>
          <a:p>
            <a:pPr>
              <a:lnSpc>
                <a:spcPct val="110000"/>
              </a:lnSpc>
            </a:pPr>
            <a:r>
              <a:rPr lang="pt-BR" dirty="0" smtClean="0"/>
              <a:t>Docente e Pesquisadora</a:t>
            </a:r>
          </a:p>
          <a:p>
            <a:pPr>
              <a:lnSpc>
                <a:spcPct val="110000"/>
              </a:lnSpc>
            </a:pPr>
            <a:endParaRPr lang="pt-BR" dirty="0" smtClean="0"/>
          </a:p>
          <a:p>
            <a:pPr>
              <a:lnSpc>
                <a:spcPct val="110000"/>
              </a:lnSpc>
            </a:pPr>
            <a:r>
              <a:rPr lang="pt-BR" dirty="0" smtClean="0"/>
              <a:t>Áreas:</a:t>
            </a:r>
          </a:p>
          <a:p>
            <a:pPr lvl="1">
              <a:lnSpc>
                <a:spcPct val="110000"/>
              </a:lnSpc>
            </a:pPr>
            <a:r>
              <a:rPr lang="pt-BR" dirty="0" smtClean="0"/>
              <a:t>Linguagens de Programação</a:t>
            </a:r>
          </a:p>
          <a:p>
            <a:pPr lvl="1">
              <a:lnSpc>
                <a:spcPct val="110000"/>
              </a:lnSpc>
            </a:pPr>
            <a:r>
              <a:rPr lang="pt-BR" dirty="0" smtClean="0"/>
              <a:t>Análise de Algoritmos</a:t>
            </a:r>
          </a:p>
          <a:p>
            <a:pPr lvl="1">
              <a:lnSpc>
                <a:spcPct val="110000"/>
              </a:lnSpc>
            </a:pPr>
            <a:r>
              <a:rPr lang="pt-BR" dirty="0" smtClean="0"/>
              <a:t>Inteligência Artificial</a:t>
            </a:r>
          </a:p>
          <a:p>
            <a:pPr lvl="1">
              <a:lnSpc>
                <a:spcPct val="110000"/>
              </a:lnSpc>
            </a:pPr>
            <a:r>
              <a:rPr lang="pt-BR" dirty="0" smtClean="0"/>
              <a:t>Sistemas aplicados a educação</a:t>
            </a:r>
          </a:p>
          <a:p>
            <a:pPr>
              <a:lnSpc>
                <a:spcPct val="110000"/>
              </a:lnSpc>
            </a:pPr>
            <a:endParaRPr lang="pt-BR" dirty="0" smtClean="0"/>
          </a:p>
          <a:p>
            <a:pPr>
              <a:lnSpc>
                <a:spcPct val="110000"/>
              </a:lnSpc>
            </a:pPr>
            <a:r>
              <a:rPr lang="pt-BR" dirty="0" smtClean="0"/>
              <a:t>Treinamento Maratona de Programação</a:t>
            </a:r>
            <a:endParaRPr lang="pt-BR" dirty="0"/>
          </a:p>
        </p:txBody>
      </p:sp>
      <p:pic>
        <p:nvPicPr>
          <p:cNvPr id="3081" name="Picture 9" descr="http://www.adamsilva.com.br/wp-content/uploads/2013/08/C.jpg?d5eb1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3427090"/>
            <a:ext cx="1314450" cy="1143001"/>
          </a:xfrm>
          <a:prstGeom prst="rect">
            <a:avLst/>
          </a:prstGeom>
          <a:noFill/>
        </p:spPr>
      </p:pic>
      <p:pic>
        <p:nvPicPr>
          <p:cNvPr id="3083" name="Picture 11" descr="http://www.dfilitto.com/wp-content/uploads/2015/07/csharp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6336" y="2564904"/>
            <a:ext cx="1296144" cy="1296144"/>
          </a:xfrm>
          <a:prstGeom prst="rect">
            <a:avLst/>
          </a:prstGeom>
          <a:noFill/>
        </p:spPr>
      </p:pic>
      <p:pic>
        <p:nvPicPr>
          <p:cNvPr id="3085" name="Picture 13" descr="http://www.vvision.com.br/newsite/images/icons/java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08304" y="3931146"/>
            <a:ext cx="1802110" cy="1802110"/>
          </a:xfrm>
          <a:prstGeom prst="rect">
            <a:avLst/>
          </a:prstGeom>
          <a:noFill/>
        </p:spPr>
      </p:pic>
      <p:pic>
        <p:nvPicPr>
          <p:cNvPr id="3087" name="Picture 15" descr="http://maratona.ime.usp.br/logomdp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6136" y="5418258"/>
            <a:ext cx="1368152" cy="1323110"/>
          </a:xfrm>
          <a:prstGeom prst="rect">
            <a:avLst/>
          </a:prstGeom>
          <a:noFill/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80112" y="1588021"/>
            <a:ext cx="1779705" cy="832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6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22" name="Picture 14" descr="https://fbcdn-profile-a.akamaihd.net/hprofile-ak-xft1/v/t1.0-1/c4.0.160.160/p160x160/10345751_10152477734684903_8803640741458456397_n.png?oh=58fbdaf80f622a7a6b8ed9de9c86eb4e&amp;oe=5679EAA3&amp;__gda__=1449608632_1caa6a658067c37997d8f8b964c582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5301208"/>
            <a:ext cx="1307976" cy="1307977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122238"/>
            <a:ext cx="7532687" cy="930498"/>
          </a:xfrm>
        </p:spPr>
        <p:txBody>
          <a:bodyPr/>
          <a:lstStyle/>
          <a:p>
            <a:r>
              <a:rPr lang="pt-BR" dirty="0" smtClean="0"/>
              <a:t>Formação Profissional</a:t>
            </a:r>
            <a:endParaRPr lang="pt-BR" dirty="0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412776"/>
            <a:ext cx="8686800" cy="544522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dirty="0" smtClean="0"/>
              <a:t>Técnica em Telecomunicações</a:t>
            </a:r>
          </a:p>
          <a:p>
            <a:pPr>
              <a:lnSpc>
                <a:spcPct val="120000"/>
              </a:lnSpc>
            </a:pPr>
            <a:endParaRPr lang="pt-BR" dirty="0" smtClean="0"/>
          </a:p>
          <a:p>
            <a:pPr>
              <a:lnSpc>
                <a:spcPct val="120000"/>
              </a:lnSpc>
            </a:pPr>
            <a:r>
              <a:rPr lang="pt-BR" dirty="0" err="1" smtClean="0"/>
              <a:t>Tecnóloga</a:t>
            </a:r>
            <a:r>
              <a:rPr lang="pt-BR" dirty="0" smtClean="0"/>
              <a:t> em </a:t>
            </a:r>
            <a:r>
              <a:rPr lang="pt-BR" dirty="0" err="1" smtClean="0"/>
              <a:t>P.D.</a:t>
            </a:r>
            <a:endParaRPr lang="pt-BR" dirty="0" smtClean="0"/>
          </a:p>
          <a:p>
            <a:pPr>
              <a:lnSpc>
                <a:spcPct val="120000"/>
              </a:lnSpc>
            </a:pPr>
            <a:endParaRPr lang="pt-BR" dirty="0" smtClean="0"/>
          </a:p>
          <a:p>
            <a:pPr>
              <a:lnSpc>
                <a:spcPct val="120000"/>
              </a:lnSpc>
            </a:pPr>
            <a:r>
              <a:rPr lang="pt-BR" dirty="0" smtClean="0"/>
              <a:t>Especialista em O. O.</a:t>
            </a:r>
          </a:p>
          <a:p>
            <a:pPr>
              <a:lnSpc>
                <a:spcPct val="120000"/>
              </a:lnSpc>
            </a:pPr>
            <a:endParaRPr lang="pt-BR" dirty="0" smtClean="0"/>
          </a:p>
          <a:p>
            <a:pPr>
              <a:lnSpc>
                <a:spcPct val="120000"/>
              </a:lnSpc>
            </a:pPr>
            <a:r>
              <a:rPr lang="pt-BR" dirty="0" smtClean="0"/>
              <a:t>Mestre em Ciência da Computação</a:t>
            </a:r>
          </a:p>
          <a:p>
            <a:pPr>
              <a:lnSpc>
                <a:spcPct val="120000"/>
              </a:lnSpc>
            </a:pPr>
            <a:endParaRPr lang="pt-BR" dirty="0" smtClean="0"/>
          </a:p>
          <a:p>
            <a:pPr>
              <a:lnSpc>
                <a:spcPct val="120000"/>
              </a:lnSpc>
            </a:pPr>
            <a:r>
              <a:rPr lang="pt-BR" dirty="0" smtClean="0"/>
              <a:t>Mestre em Engenharia da Informação</a:t>
            </a:r>
          </a:p>
          <a:p>
            <a:pPr>
              <a:lnSpc>
                <a:spcPct val="120000"/>
              </a:lnSpc>
            </a:pPr>
            <a:endParaRPr lang="pt-BR" dirty="0"/>
          </a:p>
        </p:txBody>
      </p:sp>
      <p:pic>
        <p:nvPicPr>
          <p:cNvPr id="17410" name="Picture 2" descr="http://www.novaconcursos.com.br/portal/wp-content/uploads/2014/05/IF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2535" y="980728"/>
            <a:ext cx="1547664" cy="1366838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8719" y="2276872"/>
            <a:ext cx="1779705" cy="832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6" name="AutoShape 8" descr="data:image/png;base64,iVBORw0KGgoAAAANSUhEUgAAANQAAADuCAMAAAB24dnhAAAAz1BMVEX///8fGhcAAADaJR0dGBX19PQZFBBBPjsMAAAEAAA3MjAcFhOKiIcjHRqfnp4YEg7Av77s6+sPBgBxb246NzVnZGOAf375+fnHxsbYAADo5+e2tbTf3t6wr66Pjo7w7+9NSUjX1tZJRkQwLClbWFd6eHelpKOWlJNsaWjFxMTR0M9VUlHZHRMoIyDZFgnxubf87+764uHupaPsmpjcMivjaGPohYLePTb31tXmdnLbKiLvsK7rk4/oh4P0xsXhUk3jX1r529rfTknka2ffRD7N6tZpAAAW6ElEQVR4nO1diXbiOBbFigEbEwQKYLaEsBMIqVRXdS3TPdVV3fP/3zS2FluytdmmQs0c7jlzpiuAravlLdJ7T7Xar4B3v3+++fzPu/DS7TgjvnwcP9/c3DyPP367dFNUCCeLw7Sz2T92yL+Xq8fjerPpdA+LiXQo3r3ElG4wrT/esqV26C2mw3VzFQDgIwTa5I8tGAEhH4Bg1TxutodZXfjRl2fGKcLLlws0W4lw8tRet3zgwUbgOjE8RqrhULhBAyIAnObg4TBJfvn9JeV08/yfC7U/j/niYe1EfAKHQ54URUTNA7frdhdPxi88p5ub8a8xVPXRcJUlpCVFRi0i9hR//GEskvpwSS4Uh40DUI6QmVRMaxF//FUcqZdPl2QTY7JbAeTK22wmFWBS/zwLpJ5/vyShWm20Br6iwTakHG8Uf/zvX2mk7lsAqhnZkALT+ONvmTX17pKklkhLyWakhvHHr5+F+Te+qKl0D6qSClb489/4obqU8Jtsevj/fZWEsCXl+HhR1b6mrMaXERP13QkQo67tVSUFH/EXwq/jZ2r6fb3I5IvEQwCb2HibGeafmZQDuuQr7/6+GY/Hz39fREgsjiBuISDTZllR+kWqCs3pk398+/btxyUohW0qxNEe/3uqHyoLUg7sz/Pv2c7ejtPTipFwEbGxA62osCHloOYk+54N8O/fiFK4B2njfNLenV+ZlINaonc1awLHBet69v0/AwfI69oGmTUz7VDZkfIf+NcsNmSGo9Xh53N6AGLLiIVTG+isCitSro+nX296OBy67SZkagKi7U+mNFmDzJDAI/6gqxMVdmuKyJwd8FDsNaevccHwp3IarXIDQn2hsFnFSo9BtEO4knhkP3VhbaFEH9EW7zRDZUOq0cdfkY+4l5eMZ0I4zE49jOAWd+PkJHV6rUkBsnIGcjWOTj9HY9XXirEARJfcqUWFjUUB9AYX/Cms5k2V1QrJxDmo558FKbTB3xgqTWPYklgcFTHz1OYdIJrkqPyGjUGLxc1cM4fR2VktgGY5oDv8na1yqCxcj6XhEfFr+uf1Rg6eugcjkPWg7mYzKaLCw0ettY8ez8op0No3THIpF4TZnb8l7zH5ZZszcrrVu0tOo4W/t1C1yUiKmn170w4O9bTfglPiK64VXzRuZjawvJ7dGvY6ohc9nYfT7GTkxESFylc0kUID/LHOKKEI0HnU1b3UjsgAYDMmhPKvmkj5uP/res8EA67OZC/ZsAI7/NUHuagwkKLyXGvo02+ezqarLFg1Wjorx0CKCk/D7k3M6faM+ndqZkW3uOSiQk8qWOEt0YVh8zB2gs/CadqzZUXXusJz0JIiG+m1jUmeoz5tzaISpwVgfWNk5fpELAUyq0JPiph9ddPeNWpSTvdUgZRDrwWT3jGy8jTbSlpSkIyx1uxzuB20e4SWFYzAgSf0j55VgxjRE5lU15KiOzcnvTxPOE0jM1TcdyqEDu47tGSs9EatbltJR6pBbO+RfqBSTiBI9kVKYOSRPudYaceKbiuNJPNPR8onGk5v9iWroAtwz6JjOU7zPpPO6Qz0dWPlItJ9km0lHSmAHz7RDhRcJZxov9JpURSbtMcR27vXryvqGEhWvIYUtRq129bQmWc4OQEsIysEhZPscmtlYHAinX7KfUdDiu72adz41Dbqcm8vIyvqq4b4XBtW1NzJa1E1Kbppozs1TvYmxHeD4pbtJmOzwJUFK9rCvK+oJkW311SOmMPJiKmonekudQEcck1P1pWOFT2Ozm0rKUm5IJR3Q/peXj8JAEU9K4nBnMjAKVDOf9p7ucmkJMXMPqUtm3LKRT1Ra9MaUg821VfqsSLyuZfd5FeSIr2t3rFWj5OTbDdaInSlL7GwLXx5CIKKFA00UJp9qJ/YEZJ+LDZUHcVLzLZFcMKfZ31FFSnihIUq7zCvczM/LzBUofKoEzVNWpju9mSkmYIUDd5RmX1S/SQ0p8BQaTZ1UL+uZ0Xfk1mUClJ0Y0NxsgoDA6ciQ6X11pBJX1GdeLKIoXVv8Xdn8i0odDLrEPuhUq0oApMWpka3aMvJSVGzT75ZjVoW3imzoc0DZdh9g3o7MCAGVU/oGTkpD0+euuyQl5N7Wi/O1qwwudWptJCzkvmKUlJUnst1olrnCrD0Fg2nKfiNWi0M1/izJ76tUlLU7GtK3mfLyfYcxHSaIrKSyRRqk/EKXEYqIBtVB4kjlc49rVcaw3VtjHXNcTTXSJ0WpvZch2utjBT9m+R9qEUbqpblKWz8Kl3ggMCKaeF8X9IN1znHV0aK7BPW8xPDZEdk3uaYXWBjjC+Fzragi4UTFRJSVMXk9YeFzpW9TQezmGCNailtC7qtxK0WCSm69+5kBzo5A7Dk5ATQxEkf4SayUmthar0k21ESUpDs9uW23pH1Pnf6NtPhot6aEKG2LaipkE7lPCl6eJt141W+u7Ydpj3A7hHodyzFFih61T1h8TVPbIUcKReQPepMH9rrJx7AqIAPm1tD4gbfBgUrOg6Jl54jRYN2MgePZTi5CDxaHIJMOkugOLvNsVLYFixaieUe5UiRVVcX9YfWd5cDgtu7g922Zvi0hnbPVdkW5GQ62VbKkqKHvKL+SOyIrnpnR0A0SM1dkd2/2XBlNQsT22IrsMr4illSVLcIW2nJubslJ9dvrLs2g8QHdc7vm8DCZELMttjyM9AlvuKcssiQcgH+l2BmwlMROyKad/DBbt9vAYbCFw97YLQoo5Ug08LUV6TbShlS9J/89jSEBXSu64GmcOoRdtWkRsADj8Ln9Z1rnIVS24IOBt1WypCiu32cojfusXCAINP3iyHQbKzH+j2SJ+Li665NqkuqhakZFBmAAfRYDPYJIJhoS25/B61sT5Yj4bC851dSOG1G7aMTQwYijQIf7gXJP2s7+uGSefhJuDoI1u0O3fWZ7jaPABC7pp56h5a+e9zjaLMQm3bCTYPqo22mC13kLe/5OIz59lGd7+rItTCZY+FuJIaUh71pO2P2WerceJA6fKvqT+uA9YJ6s4xbuRC02vzEDUd3UJP0msjAdF2xdaTCOj19teHUAMFe6J/JQ5OzEZDSrRdiwhseGgh6YLbrqy2NRAszyR6AtZbTzKcvs5l7LgT9XaaPA59vbcB21HI4ikMRa2xxvKdHpBIaGS3s3d7rFWO0wPEXYcuocwMPHbuCCo1XQ/a0SiXVm7nHQuANhZV52LiKlycefsTKBXeqjuNoPUR9ndgRTyq5B/1TW2zCEErkFlRt1uZJEStYUHTzzkkuCxMtvAWeXX7aYQWY767iFAmHqSBp7h+BdJpSdyePlaKvgPcg/OJJrrqS04Op7b59fa+1jSI1m5XgQKlcVHsViq/HsxocBdU1eZBNgWz+nTVknKIp0t8K63L6qDMDqOVvTwr3WmvLr5Pw/pgvPgHLsZLYEfEgiRbATjHrk06AcgNX95tYU5w2wrxabHLDlczAQpyynYMdJaEHR+vAaFor5p/hV1i2Csu212lmLA2veCTUISNOGz7aCwpy0mnauOKK+Wdh9EdaUBAa9acB5PtQqS7UmD8i8QVZU8Yw79J3S+Vf38Y9izrybiRYGu3USQZlogsXt6xXAg8ep6LRKVm5SlLS+SfTUxLEqmubcZI9RMyDEpySI7FIzYqafjE0uAci5PPPklT8exAIk6Q2GkQGlOuXzDNeRxMQ+X3BM6jdGx25LIAswntpTktIELnUR2H9THYI3JXjVFtETtad0CEzqSI0kZJFNioyN1WIXLaOYOJNS+dhPOwEVVBooziF9AT4rmjfuL6/P3tm+2RXYpBIc4DEM1Ckn2ifg7zmvWwql8UoUhElBolAplA62voLKkCwGp4pBzdSs75u28AET5Jkb6j/oUQQO8nVs9sPG1s1q4ArU5NPpUYKPy7yeyoWWCiiZuUIUKp908VlTvbRAFTL7KxXGyQnllpMor//8M/375/eveJ/9KrM56opkOaUMAPYhmb4aTx+fn5+GX8mtUQtj6VkcIOKyYLlpFQKdkr6+jerkvVMCn9ZZDoqn/lYUVJYZCTq4NK00pCvu4nrzlmFu8ih3k20xKzaSDFrQqjRdvMSxofzjbIo5XQIALD0yxsNSJd0+B+xmt4fkTpvNcuiVblqU+lXYzwSKzRTIPX5e/S3enlULqtQ4d0xyEMyxRxvPldt1a+AdxlS/7p0g86B7Ej9OlWHK+CHyOn566UbdBb8JUo/bFR0O2VR2VmEtxXgLmWS4pnIiREAfilU1lN1ELjlEXhsH+rPlNXzy3vyN+soxqxGr1oEbVHNovCSTv2T1hK9Gd+wMt7GsHQF4LqioirroVIEq8T2/Pb3ePwyHo8/vWd/ySV0WT/UfHaoxa6KM+cIB+fhj9/+/EDdKQJ14Sw9CqcIZiALui8CF2lElammrJKUOujEBvNqs88xlH/RFopUPhGcqpGquKScOMhBk3pukxiRAfL724pLqlRX8oBQm06vySSWIfDBurLmrTz7oKNvQ6GhgsDtVBykGPo6tmaYKzVaD1U0SIPiR4cS1Cts+cTwm8atb8uhgsARQgMX7dJSvUiQvwRgYKH5LXRG4IH1lHtUvbuGoGDidwLLXCAFXGAIWCMwDlUkwYWTzMkDjjDzS9b+GVZZUQGw3PDWClh85ssJh3C0D0gsIFyVMgBHZU7YGCC03RqeqTegG+AkBO33+Dg1v4ytPq9iIaG+/UJWWIAuBC1ROGzEA/QyBWX25Sef668LnPhJi3q6nrfmJXh4nwuthafCnEbWmVL5BtmJiASSvDqAhKD9WdvPHb9AVEIRl3XhohYVnBehONHj4DjhCdI4NQhLGRclWXmtwnrxwLU5GiRBsc4eAtkZGVRFR5pgm94pwErjZjGkb4oluBDlq0pESvNqrGdFJ8moKEoJ2monEaRuFwSBEOWnjlNDbDZ0keXW0vwONEuy8sreTNAF8SB1uCkVHtRxaonC6MKG6x8tEvWf+r7jLZNo4gIy0AWD0rEbd95gJKhZzQE6N06xcYG8neFkcbLB0fLeoyz/Sg8IKxQOnvPCYTHUZWBCxumJLjcXtLY6WlMWtu8dKauOLSuvf57QoXC6loeDM07MRxulsaORPaVJRkvLAHrHehFWAdicJWxospNKcI4TO5ofCfGwkQ957OR4LYhRkoYYeI8FWCHvLF5pdw0MIVDQ7zFOuTx6H/iDzvQw6UWYjKadyOuCmAOncT2W/WTWwuB4jmHqecZQFBhQTvLcBjcilsCHAY115R1DLqNC/6ZyyimPmWMgldgRtnUJGk38dT7PEtnoqwAcz3ZjxCJ/6woPTpZbhyVjJSbUv0PN0MQKuee8M2fS1LBKOUHrcBkSSBIKuctoqZ+BARic9xKWyVLpxvF2hC0ndjGJOCiJDJRqYe909tu15gNVDTTRjrAFERUZR1SjhSHY/4y7cuTX5MAVsyMsc/jZ74ioyOwZqLSw66/OopvykE0KeJvo3IIeOclgzZbKlLOCXvunXZnYlfjulFO+bKgJ9IQ4WzGUsy3Yn84pxyWY9MWOhZ7SjjDC9SWiImbVFG0LF5zK1Tu2RrjhV04y9wquJwJiGoQ5+wsJrFDF40krTNObwlLf3bp2CQ+a7J6/tJRjBW0Sa8+A2ZJOtTI6VwARFTMAYeae8JTV8g3uEsSoP2B/tTInFp56XB4fW56w65F4+G94TeyhD1xYmZPjOnj61uth2Jvdrz3OEksk+xsiHPqJzvXKh0eLXsRikIobF1SNnimDp7zvXpxTVgjcMyGEvP0b3g2bRXGdy3HKn/nMHLwNBQYXpFTltEKeGLKADQQuOUrR0hrYlFWSgxY2rdVe3/3706c/WLTXFNxdlFKM2V5b+EU3UERxh3++jF9eXsbjrzTi6+2lngSLO19T+EUJqqNev7MgypfP7w1velNM2q3iiU8kHTj8zgWGfnw1velNMZ8efc1tlxLQiuIf+BDel98vTCOHRbvpF1DDZPa9fhaDrX+pCYgRjjYt5FsGGJGT2kys//i3S3OQITzsmtAqV5JkBYmJTjcvv2ys/6S7OQFgYubhYJ9PmaSgvy7deB3qo85+FW+bewhmqtq6LkRe9AneG/ogjtT/QlbGrLtt3x1XEPDwb5f74Xa6wDZ4dk19uHST7RGGs8ViMYr+t5iHgkPx+lEk9eNSTTwrRD31/dLNOQ9e/0pFxfO/fj01VQ7vkzTjl49fzF//H8Hrp5vxy/Pz+Pn3/5dxwnj/29e/vn74/xmmK6644oorrrjiiiuuuOKKK6644oorrrjiiiuuuOKKK6644oorzox6GIbVCxqfBWHcllAeVct/Fs7zEH516Me1nzN1qsLNIAKperNtUwjh/51dp9PZ4RjS+Tr+8h17ajjFP04xnGa7bLujNV93Yq71A25LX1bPoD7ANapJlcwuCHJo8VHTozhJBmXu0ak3veivJEB5DzwC/gah0IvLvJJUpx5AEHrswrDeMv4nDwSaYpT2LKkRm8mVGgLyA0lQd4d8RK7G6YJ8/dYG4m74GMXpTEnQeEIqjpAlpJIq8fxdP6ETR8D5lFT0nw16X1i9L4lcTy5hJ0gvSAnE8lhD8luUv0OyR692AnSkZDGFbnpvpz0pp4GSJFUlqZ30fb6QPYDTEFwcWCwWDKKknHy6/J59oiHlwKQzCpByYIt1rJIUrc7gIjpnyT+DEzciOCvRbeGSvlAYFEYqyJb4SW4fEUixd0RvIZGTSbXVIqTSiaEiVSf3NEBnQ6XLEr/fhVz9F/xstCHJscJVr4wUu29b/EmWVMDe0W6vSbRrsuoLkUoya9Sk4qfDZZpT1PbiZcyRSsgQcvz9VQkpxxemZVqIkiPlQm44R3isAJOblqQatK/odNeT4m8PqweRMEQoJYVzsuMbOXCyqDDTUlLBLSdaemmcuECKF5L4pwVJoeGavNAlwdgGUrywm2Eka2qOi9fEfUOqm/JSnZDCDPgR3KdzRUlq6xcn5e16fbrm8bMMpDRprXR84m/gkhuwmdoCmJRLagaApMIjqRHpBlpS+xIj5T3UDgFRFbA/r0AqxOKRpJyT1nJSfUj6rxkLm8aK/bXfwN3QD9SkQpKjXpxUoh28dVieFCVClhgeE5heiEkWxpSUR2Z1/Ej2Odg+NkRSjpsWuQekaUn/2JNKCnyATXlSeJqw24Wn8UJwkwL1lNQ9Ld9JmM+xqkbrejNLykmNJLbi2JMIqaztt5SRqj0wVg+1kqQmWEwETWLqHgNRJjBSE2wUkQoW+PUumoV5Ulmkl7ZjUkGmQiR5ao4UK3XpetuVlhS/hFunGLQPqcYJqK1LnuawPmCk2JTbxfY27UXJSGUQpNdhYVJcOf9aQkRCKlxSwR7cOhpSvPGz8yK/oEGVb70vS7ny2fpOSOH7LrEowMZUI3IBJKQE1wPyXsSBmMz+cfjAMKRNJ3Y+T6rWO/EJbhJSpNVoyZ6190gnkLGTV0hP5klKaoYLPKABsY9jpyJPym31Wyma/C3UM5pGA1PzEDHroZYjVVvwOUUSg5YWBoHJs8jInog6JmWx0zdRg5d5QikpWkeE2DHY4syRcuFh3kshupvKMrfUehVJCbUoJKTkhZ2oIFpge8dLDdF2GwtqJnw5UnxRUmx8S0hpEoRVlbcCKiAzpPjCrhJS4VpSb8mlCgSbfalWTWcS9Rk4UlyFGx8rrGKk4jvjIV1tbrrufI9qsiyppFqolFStvs7W13QhradJrtoQ7xWenfDgDSnp6M3s841P2gM98txm3EjmzhtJ1WYP69wtXOuk8nGOVHqzrIxU9MqBcJ2zexpQM454h1B8OV5mtP5VO954adHODJf0PrIu7az4w5PNSP0X5Q/liUogQds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7418" name="Picture 10" descr="http://www.unicamp.br/unicamp/sites/default/files/logotipo/PRE_VERM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68559" y="2924944"/>
            <a:ext cx="1256928" cy="1407760"/>
          </a:xfrm>
          <a:prstGeom prst="rect">
            <a:avLst/>
          </a:prstGeom>
          <a:noFill/>
        </p:spPr>
      </p:pic>
      <p:pic>
        <p:nvPicPr>
          <p:cNvPr id="17420" name="Picture 12" descr="http://ccsl.ime.usp.br/files/logoIME+Texto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0767" y="3933056"/>
            <a:ext cx="1003614" cy="13769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Contatos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 smtClean="0"/>
              <a:t>Para falar com a </a:t>
            </a:r>
            <a:r>
              <a:rPr lang="pt-BR" dirty="0" err="1" smtClean="0"/>
              <a:t>prof.</a:t>
            </a:r>
            <a:r>
              <a:rPr lang="pt-BR" dirty="0" smtClean="0"/>
              <a:t>a sobre algum assunto que exija resposta urgente, envie mensagem para meu e-mail institucional: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dirty="0" smtClean="0"/>
              <a:t>	</a:t>
            </a:r>
            <a:r>
              <a:rPr lang="pt-BR" dirty="0" smtClean="0">
                <a:hlinkClick r:id="rId2"/>
              </a:rPr>
              <a:t>graceapborges@fatecsp.br</a:t>
            </a:r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Para envio de atividades e trabalhos utilize o e-mail da disciplina: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dirty="0" smtClean="0"/>
              <a:t>	</a:t>
            </a:r>
            <a:r>
              <a:rPr lang="pt-BR" dirty="0" smtClean="0">
                <a:hlinkClick r:id="rId3"/>
              </a:rPr>
              <a:t>atividadesial501@yahoo.com.br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Objetivo da disciplina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8312" y="1844674"/>
            <a:ext cx="8280151" cy="4824685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pt-BR" dirty="0" smtClean="0"/>
              <a:t>Apresentar fundamentação teórica de várias técnicas de criação de algoritmos;</a:t>
            </a:r>
          </a:p>
          <a:p>
            <a:pPr>
              <a:spcBef>
                <a:spcPts val="1800"/>
              </a:spcBef>
            </a:pPr>
            <a:r>
              <a:rPr lang="pt-BR" dirty="0" smtClean="0"/>
              <a:t>Estudo da complexidade computacional de algoritmos;</a:t>
            </a:r>
          </a:p>
          <a:p>
            <a:pPr>
              <a:spcBef>
                <a:spcPts val="1800"/>
              </a:spcBef>
            </a:pPr>
            <a:r>
              <a:rPr lang="pt-BR" dirty="0" smtClean="0"/>
              <a:t>Exemplos de algoritmos para a solução de problemas importantes e comumente encontrados na prática da computação;</a:t>
            </a:r>
          </a:p>
          <a:p>
            <a:pPr>
              <a:spcBef>
                <a:spcPts val="1800"/>
              </a:spcBef>
            </a:pPr>
            <a:r>
              <a:rPr lang="pt-BR" dirty="0" smtClean="0"/>
              <a:t>Linguagem utilizada: C</a:t>
            </a:r>
          </a:p>
          <a:p>
            <a:pPr>
              <a:spcBef>
                <a:spcPts val="1800"/>
              </a:spcBef>
            </a:pPr>
            <a:r>
              <a:rPr lang="pt-BR" dirty="0" smtClean="0"/>
              <a:t>Prevista para 4º semestre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O que é Análise de Algoritmos?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8312" y="1844674"/>
            <a:ext cx="8280151" cy="4824685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pt-BR" dirty="0" smtClean="0"/>
              <a:t>Verificar se um algoritmo está correto: </a:t>
            </a:r>
          </a:p>
          <a:p>
            <a:pPr lvl="1">
              <a:spcBef>
                <a:spcPts val="1800"/>
              </a:spcBef>
            </a:pPr>
            <a:r>
              <a:rPr lang="pt-BR" dirty="0" smtClean="0"/>
              <a:t>Faz o que promete?</a:t>
            </a:r>
          </a:p>
          <a:p>
            <a:pPr>
              <a:spcBef>
                <a:spcPts val="1800"/>
              </a:spcBef>
            </a:pPr>
            <a:r>
              <a:rPr lang="pt-BR" dirty="0" smtClean="0"/>
              <a:t>Prever </a:t>
            </a:r>
            <a:r>
              <a:rPr lang="pt-BR" dirty="0" smtClean="0"/>
              <a:t>os recursos de que o algoritmo necessitará:</a:t>
            </a:r>
          </a:p>
          <a:p>
            <a:pPr lvl="1">
              <a:spcBef>
                <a:spcPts val="1800"/>
              </a:spcBef>
            </a:pPr>
            <a:r>
              <a:rPr lang="pt-BR" dirty="0" smtClean="0"/>
              <a:t>Em geral, tempo de </a:t>
            </a:r>
            <a:r>
              <a:rPr lang="pt-BR" dirty="0" smtClean="0"/>
              <a:t>processamento e/ou </a:t>
            </a:r>
            <a:r>
              <a:rPr lang="pt-BR" dirty="0" smtClean="0"/>
              <a:t>memória</a:t>
            </a:r>
            <a:r>
              <a:rPr lang="pt-BR" dirty="0" smtClean="0"/>
              <a:t>;</a:t>
            </a:r>
            <a:endParaRPr lang="pt-BR" dirty="0" smtClean="0"/>
          </a:p>
          <a:p>
            <a:pPr>
              <a:spcBef>
                <a:spcPts val="1800"/>
              </a:spcBef>
            </a:pPr>
            <a:r>
              <a:rPr lang="pt-BR" dirty="0" smtClean="0"/>
              <a:t>Qual a utilidade dessas análises?</a:t>
            </a:r>
          </a:p>
          <a:p>
            <a:pPr lvl="1">
              <a:spcBef>
                <a:spcPts val="1800"/>
              </a:spcBef>
            </a:pPr>
            <a:r>
              <a:rPr lang="pt-BR" dirty="0" smtClean="0"/>
              <a:t>Otimizar desempenho de um algoritmo;</a:t>
            </a:r>
          </a:p>
          <a:p>
            <a:pPr lvl="1">
              <a:spcBef>
                <a:spcPts val="1800"/>
              </a:spcBef>
            </a:pPr>
            <a:r>
              <a:rPr lang="pt-BR" dirty="0" smtClean="0"/>
              <a:t>Ambientes com restrições de espaço e processamento;</a:t>
            </a:r>
          </a:p>
          <a:p>
            <a:pPr lvl="1">
              <a:spcBef>
                <a:spcPts val="1800"/>
              </a:spcBef>
            </a:pPr>
            <a:r>
              <a:rPr lang="pt-BR" dirty="0" smtClean="0"/>
              <a:t>Aplicações com grande volumes de dados a serem processados;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AutoShape 3"/>
          <p:cNvSpPr>
            <a:spLocks noGrp="1" noChangeArrowheads="1"/>
          </p:cNvSpPr>
          <p:nvPr>
            <p:ph type="title"/>
          </p:nvPr>
        </p:nvSpPr>
        <p:spPr>
          <a:prstGeom prst="roundRect">
            <a:avLst>
              <a:gd name="adj" fmla="val 21667"/>
            </a:avLst>
          </a:prstGeom>
          <a:noFill/>
        </p:spPr>
        <p:txBody>
          <a:bodyPr/>
          <a:lstStyle/>
          <a:p>
            <a:pPr eaLnBrk="1" hangingPunct="1"/>
            <a:r>
              <a:rPr lang="pt-BR" dirty="0" smtClean="0"/>
              <a:t>Assuntos Abordados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39750" y="1628800"/>
            <a:ext cx="8064698" cy="4824536"/>
          </a:xfrm>
        </p:spPr>
        <p:txBody>
          <a:bodyPr>
            <a:normAutofit/>
          </a:bodyPr>
          <a:lstStyle/>
          <a:p>
            <a:r>
              <a:rPr lang="pt-BR" dirty="0" smtClean="0"/>
              <a:t>Fundamentos:</a:t>
            </a:r>
          </a:p>
          <a:p>
            <a:pPr lvl="1"/>
            <a:r>
              <a:rPr lang="pt-BR" dirty="0" smtClean="0"/>
              <a:t>Prova de correção de algoritmos;</a:t>
            </a:r>
            <a:endParaRPr lang="pt-BR" dirty="0" smtClean="0"/>
          </a:p>
          <a:p>
            <a:pPr lvl="1"/>
            <a:r>
              <a:rPr lang="pt-BR" dirty="0" smtClean="0"/>
              <a:t>Análise assintótica e complexidade de </a:t>
            </a:r>
            <a:r>
              <a:rPr lang="pt-BR" dirty="0" smtClean="0"/>
              <a:t>tempo;</a:t>
            </a:r>
          </a:p>
          <a:p>
            <a:pPr lvl="1"/>
            <a:r>
              <a:rPr lang="pt-BR" dirty="0" smtClean="0"/>
              <a:t>Recorrências;</a:t>
            </a:r>
            <a:endParaRPr lang="pt-BR" dirty="0" smtClean="0"/>
          </a:p>
          <a:p>
            <a:r>
              <a:rPr lang="pt-BR" dirty="0" smtClean="0"/>
              <a:t>Algoritmos </a:t>
            </a:r>
            <a:r>
              <a:rPr lang="pt-BR" dirty="0" smtClean="0"/>
              <a:t>de Busca e Ordenação de Vetores</a:t>
            </a:r>
          </a:p>
          <a:p>
            <a:pPr lvl="1"/>
            <a:r>
              <a:rPr lang="pt-BR" dirty="0" smtClean="0"/>
              <a:t>Busca sequencial e busca </a:t>
            </a:r>
            <a:r>
              <a:rPr lang="pt-BR" dirty="0" smtClean="0"/>
              <a:t>binária;</a:t>
            </a:r>
            <a:endParaRPr lang="pt-BR" dirty="0" smtClean="0"/>
          </a:p>
          <a:p>
            <a:pPr lvl="1"/>
            <a:r>
              <a:rPr lang="pt-BR" dirty="0" smtClean="0"/>
              <a:t>Ordenação por </a:t>
            </a:r>
            <a:r>
              <a:rPr lang="pt-BR" dirty="0" smtClean="0"/>
              <a:t>inserção;</a:t>
            </a:r>
            <a:endParaRPr lang="pt-BR" dirty="0" smtClean="0"/>
          </a:p>
          <a:p>
            <a:pPr lvl="1"/>
            <a:r>
              <a:rPr lang="pt-BR" dirty="0" smtClean="0"/>
              <a:t>Ordenação por </a:t>
            </a:r>
            <a:r>
              <a:rPr lang="pt-BR" dirty="0" smtClean="0"/>
              <a:t>seleção;</a:t>
            </a:r>
            <a:endParaRPr lang="pt-BR" dirty="0" smtClean="0"/>
          </a:p>
          <a:p>
            <a:pPr lvl="1"/>
            <a:r>
              <a:rPr lang="pt-BR" dirty="0" smtClean="0"/>
              <a:t>Merge </a:t>
            </a:r>
            <a:r>
              <a:rPr lang="pt-BR" dirty="0" err="1" smtClean="0"/>
              <a:t>sort</a:t>
            </a:r>
            <a:r>
              <a:rPr lang="pt-BR" dirty="0" smtClean="0"/>
              <a:t>;</a:t>
            </a:r>
            <a:endParaRPr lang="pt-BR" dirty="0" smtClean="0"/>
          </a:p>
          <a:p>
            <a:pPr lvl="1"/>
            <a:r>
              <a:rPr lang="pt-BR" dirty="0" err="1" smtClean="0"/>
              <a:t>Quick</a:t>
            </a:r>
            <a:r>
              <a:rPr lang="pt-BR" dirty="0" smtClean="0"/>
              <a:t> </a:t>
            </a:r>
            <a:r>
              <a:rPr lang="pt-BR" dirty="0" err="1" smtClean="0"/>
              <a:t>sort</a:t>
            </a:r>
            <a:r>
              <a:rPr lang="pt-BR" dirty="0" smtClean="0"/>
              <a:t>;</a:t>
            </a:r>
            <a:endParaRPr lang="pt-BR" dirty="0" smtClean="0"/>
          </a:p>
          <a:p>
            <a:pPr lvl="1"/>
            <a:r>
              <a:rPr lang="pt-BR" dirty="0" smtClean="0"/>
              <a:t>Complexidade de algoritmos de busca e ordenação.</a:t>
            </a:r>
            <a:endParaRPr lang="pt-B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Bibliografia básica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627313" y="1700213"/>
            <a:ext cx="6070600" cy="44116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dirty="0" smtClean="0"/>
              <a:t>Algoritmos: Teoria e prática </a:t>
            </a:r>
          </a:p>
          <a:p>
            <a:pPr>
              <a:lnSpc>
                <a:spcPct val="120000"/>
              </a:lnSpc>
              <a:buNone/>
            </a:pPr>
            <a:r>
              <a:rPr lang="pt-BR" dirty="0" smtClean="0"/>
              <a:t>	CORMEN, T. H. </a:t>
            </a:r>
            <a:r>
              <a:rPr lang="pt-BR" dirty="0" err="1" smtClean="0"/>
              <a:t>et</a:t>
            </a:r>
            <a:r>
              <a:rPr lang="pt-BR" dirty="0" smtClean="0"/>
              <a:t> </a:t>
            </a:r>
            <a:r>
              <a:rPr lang="pt-BR" dirty="0" err="1" smtClean="0"/>
              <a:t>all</a:t>
            </a:r>
            <a:r>
              <a:rPr lang="pt-BR" dirty="0" smtClean="0"/>
              <a:t>. </a:t>
            </a:r>
          </a:p>
          <a:p>
            <a:pPr>
              <a:lnSpc>
                <a:spcPct val="120000"/>
              </a:lnSpc>
              <a:buNone/>
            </a:pPr>
            <a:r>
              <a:rPr lang="pt-BR" dirty="0" smtClean="0"/>
              <a:t>	Campus, 2012 (tradução 3ª </a:t>
            </a:r>
            <a:r>
              <a:rPr lang="pt-BR" dirty="0" err="1" smtClean="0"/>
              <a:t>ed</a:t>
            </a:r>
            <a:r>
              <a:rPr lang="pt-BR" dirty="0" smtClean="0"/>
              <a:t>)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pt-BR" dirty="0" smtClean="0"/>
          </a:p>
          <a:p>
            <a:pPr>
              <a:lnSpc>
                <a:spcPct val="120000"/>
              </a:lnSpc>
            </a:pPr>
            <a:r>
              <a:rPr lang="pt-BR" dirty="0" smtClean="0"/>
              <a:t>Estrutura de Dados e Algoritmos</a:t>
            </a:r>
            <a:endParaRPr lang="pt-BR" i="1" dirty="0" smtClean="0"/>
          </a:p>
          <a:p>
            <a:pPr>
              <a:lnSpc>
                <a:spcPct val="120000"/>
              </a:lnSpc>
              <a:buNone/>
            </a:pPr>
            <a:r>
              <a:rPr lang="pt-BR" i="1" dirty="0" smtClean="0"/>
              <a:t>	</a:t>
            </a:r>
            <a:r>
              <a:rPr lang="pt-BR" dirty="0" smtClean="0"/>
              <a:t> PREISS, B. R. </a:t>
            </a:r>
          </a:p>
          <a:p>
            <a:pPr>
              <a:lnSpc>
                <a:spcPct val="120000"/>
              </a:lnSpc>
              <a:buNone/>
            </a:pPr>
            <a:r>
              <a:rPr lang="pt-BR" dirty="0" smtClean="0"/>
              <a:t>	 Campus, 2001</a:t>
            </a:r>
          </a:p>
        </p:txBody>
      </p:sp>
      <p:pic>
        <p:nvPicPr>
          <p:cNvPr id="17410" name="Picture 2" descr="http://isuba1-a.akamaihd.net/produtos/01/00/item/111052/6/111052655_1G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706" y="1484784"/>
            <a:ext cx="2376264" cy="2376264"/>
          </a:xfrm>
          <a:prstGeom prst="rect">
            <a:avLst/>
          </a:prstGeom>
          <a:noFill/>
        </p:spPr>
      </p:pic>
      <p:pic>
        <p:nvPicPr>
          <p:cNvPr id="17412" name="Picture 4" descr="http://ecx.images-amazon.com/images/I/41qEnkJiErL._SX365_BO1,204,203,200_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080" y="4005064"/>
            <a:ext cx="1747672" cy="23762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Metodologia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pt-BR" altLang="zh-CN" sz="2600" dirty="0" smtClean="0">
                <a:ea typeface="宋体" pitchFamily="2" charset="-122"/>
              </a:rPr>
              <a:t>Aulas expositivas dialogadas;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zh-CN" sz="2600" dirty="0" smtClean="0">
                <a:ea typeface="宋体" pitchFamily="2" charset="-122"/>
              </a:rPr>
              <a:t>Exercícios individuais e em grupo;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zh-CN" sz="2600" dirty="0" smtClean="0">
                <a:ea typeface="宋体" pitchFamily="2" charset="-122"/>
              </a:rPr>
              <a:t>Atividades práticas em laboratório;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zh-CN" sz="2600" dirty="0" smtClean="0">
                <a:ea typeface="宋体" pitchFamily="2" charset="-122"/>
              </a:rPr>
              <a:t>Lembre-se: exercícios também compõem sua nota final!</a:t>
            </a:r>
            <a:endParaRPr lang="pt-BR" sz="2600" dirty="0" smtClean="0"/>
          </a:p>
        </p:txBody>
      </p:sp>
      <p:sp>
        <p:nvSpPr>
          <p:cNvPr id="4" name="WordArt 4"/>
          <p:cNvSpPr>
            <a:spLocks noChangeArrowheads="1" noChangeShapeType="1" noTextEdit="1"/>
          </p:cNvSpPr>
          <p:nvPr/>
        </p:nvSpPr>
        <p:spPr bwMode="auto">
          <a:xfrm>
            <a:off x="1144860" y="4293096"/>
            <a:ext cx="6667500" cy="647700"/>
          </a:xfrm>
          <a:prstGeom prst="rect">
            <a:avLst/>
          </a:prstGeom>
        </p:spPr>
        <p:txBody>
          <a:bodyPr wrap="none" fromWordArt="1">
            <a:prstTxWarp prst="textFadeRight">
              <a:avLst>
                <a:gd name="adj" fmla="val 33333"/>
              </a:avLst>
            </a:prstTxWarp>
          </a:bodyPr>
          <a:lstStyle/>
          <a:p>
            <a:pPr algn="ctr"/>
            <a:r>
              <a:rPr lang="pt-BR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Mas eu faltei aula passada...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Avaliação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8209284" cy="4752106"/>
          </a:xfrm>
        </p:spPr>
        <p:txBody>
          <a:bodyPr>
            <a:noAutofit/>
          </a:bodyPr>
          <a:lstStyle/>
          <a:p>
            <a:pPr eaLnBrk="1" hangingPunct="1">
              <a:lnSpc>
                <a:spcPct val="105000"/>
              </a:lnSpc>
            </a:pPr>
            <a:r>
              <a:rPr lang="pt-BR" sz="2800" dirty="0" smtClean="0"/>
              <a:t>Provas: P1, P2 e SUB</a:t>
            </a:r>
          </a:p>
          <a:p>
            <a:pPr eaLnBrk="1" hangingPunct="1">
              <a:lnSpc>
                <a:spcPct val="105000"/>
              </a:lnSpc>
            </a:pPr>
            <a:r>
              <a:rPr lang="pt-BR" sz="2800" dirty="0" smtClean="0"/>
              <a:t>Trabalhos: T</a:t>
            </a:r>
          </a:p>
          <a:p>
            <a:pPr eaLnBrk="1" hangingPunct="1">
              <a:lnSpc>
                <a:spcPct val="105000"/>
              </a:lnSpc>
            </a:pPr>
            <a:r>
              <a:rPr lang="pt-BR" sz="2800" dirty="0" smtClean="0"/>
              <a:t>Média = (P1 + P2 + T) / 3</a:t>
            </a:r>
          </a:p>
          <a:p>
            <a:pPr eaLnBrk="1" hangingPunct="1">
              <a:lnSpc>
                <a:spcPct val="105000"/>
              </a:lnSpc>
            </a:pPr>
            <a:r>
              <a:rPr lang="pt-BR" sz="2800" dirty="0" smtClean="0"/>
              <a:t>SUB: substitui a menor das 3 notas.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800" dirty="0" smtClean="0"/>
              <a:t>		9.0 </a:t>
            </a:r>
            <a:r>
              <a:rPr lang="pt-BR" sz="2800" u="sng" dirty="0" smtClean="0"/>
              <a:t>&lt;</a:t>
            </a:r>
            <a:r>
              <a:rPr lang="pt-BR" sz="2800" dirty="0" smtClean="0"/>
              <a:t>	MF </a:t>
            </a:r>
            <a:r>
              <a:rPr lang="pt-BR" sz="2800" u="sng" dirty="0" smtClean="0"/>
              <a:t>&lt;</a:t>
            </a:r>
            <a:r>
              <a:rPr lang="pt-BR" sz="2800" dirty="0" smtClean="0"/>
              <a:t> 10.0 -  E: Aprovado (excelente)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800" dirty="0" smtClean="0"/>
              <a:t>		7.5 </a:t>
            </a:r>
            <a:r>
              <a:rPr lang="pt-BR" sz="2800" u="sng" dirty="0" smtClean="0"/>
              <a:t>&lt;</a:t>
            </a:r>
            <a:r>
              <a:rPr lang="pt-BR" sz="2800" dirty="0" smtClean="0"/>
              <a:t>	MF &lt; 9.0   -  A: Aprovado (bom)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800" dirty="0" smtClean="0"/>
              <a:t>		6.0 </a:t>
            </a:r>
            <a:r>
              <a:rPr lang="pt-BR" sz="2800" u="sng" dirty="0" smtClean="0"/>
              <a:t>&lt;</a:t>
            </a:r>
            <a:r>
              <a:rPr lang="pt-BR" sz="2800" dirty="0" smtClean="0"/>
              <a:t>	MF &lt; 7.5   -  B: Aprovado (suficiente)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800" dirty="0" smtClean="0"/>
              <a:t>			MF &lt; 6.0   -  C: Reprovado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800" dirty="0" smtClean="0"/>
              <a:t>Frequência &lt; 75% - F: Reprovado por falta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86A673F-EE90-46F4-A651-60CB9B348AC0}" type="slidenum">
              <a:rPr lang="pt-BR" smtClean="0"/>
              <a:pPr/>
              <a:t>11</a:t>
            </a:fld>
            <a:endParaRPr lang="pt-BR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Dúvidas</a:t>
            </a:r>
          </a:p>
        </p:txBody>
      </p:sp>
      <p:pic>
        <p:nvPicPr>
          <p:cNvPr id="13316" name="Picture 3" descr="MCj0404263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113" y="2565400"/>
            <a:ext cx="3384550" cy="312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01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68312" y="1700212"/>
            <a:ext cx="8352159" cy="4897139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pt-BR" dirty="0" smtClean="0"/>
              <a:t>Avaliação de conhecimento prévio da turma</a:t>
            </a:r>
          </a:p>
          <a:p>
            <a:pPr lvl="1">
              <a:spcBef>
                <a:spcPts val="1800"/>
              </a:spcBef>
            </a:pPr>
            <a:r>
              <a:rPr lang="pt-BR" dirty="0" smtClean="0"/>
              <a:t>Linguagem C</a:t>
            </a:r>
          </a:p>
          <a:p>
            <a:pPr lvl="1">
              <a:spcBef>
                <a:spcPts val="1800"/>
              </a:spcBef>
            </a:pPr>
            <a:r>
              <a:rPr lang="pt-BR" smtClean="0"/>
              <a:t>Vetores</a:t>
            </a:r>
            <a:endParaRPr lang="pt-BR" dirty="0" smtClean="0"/>
          </a:p>
          <a:p>
            <a:pPr lvl="1">
              <a:spcBef>
                <a:spcPts val="1800"/>
              </a:spcBef>
            </a:pPr>
            <a:r>
              <a:rPr lang="pt-BR" dirty="0" smtClean="0"/>
              <a:t>Ponteiros</a:t>
            </a:r>
          </a:p>
          <a:p>
            <a:pPr lvl="1">
              <a:spcBef>
                <a:spcPts val="1800"/>
              </a:spcBef>
            </a:pPr>
            <a:r>
              <a:rPr lang="pt-BR" dirty="0" smtClean="0"/>
              <a:t>Funções recursivas</a:t>
            </a:r>
            <a:endParaRPr lang="pt-BR" dirty="0" smtClean="0"/>
          </a:p>
          <a:p>
            <a:pPr lvl="1">
              <a:spcBef>
                <a:spcPts val="1800"/>
              </a:spcBef>
            </a:pPr>
            <a:endParaRPr lang="pt-BR" dirty="0" smtClean="0"/>
          </a:p>
          <a:p>
            <a:pPr lvl="1">
              <a:spcBef>
                <a:spcPts val="1800"/>
              </a:spcBef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1165</TotalTime>
  <Words>335</Words>
  <Application>Microsoft Office PowerPoint</Application>
  <PresentationFormat>Apresentação na tela (4:3)</PresentationFormat>
  <Paragraphs>91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Patrimônio Líquido</vt:lpstr>
      <vt:lpstr>Análise de Algoritmos IAL 501</vt:lpstr>
      <vt:lpstr>Apresentação</vt:lpstr>
      <vt:lpstr>Formação Profissional</vt:lpstr>
      <vt:lpstr>Contatos</vt:lpstr>
      <vt:lpstr>Objetivo da disciplina</vt:lpstr>
      <vt:lpstr>O que é Análise de Algoritmos?</vt:lpstr>
      <vt:lpstr>Assuntos Abordados</vt:lpstr>
      <vt:lpstr>Bibliografia básica</vt:lpstr>
      <vt:lpstr>Metodologia</vt:lpstr>
      <vt:lpstr>Avaliação</vt:lpstr>
      <vt:lpstr>Dúvidas</vt:lpstr>
      <vt:lpstr>ATIVIDADE 01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109</cp:revision>
  <dcterms:created xsi:type="dcterms:W3CDTF">2011-02-25T18:12:46Z</dcterms:created>
  <dcterms:modified xsi:type="dcterms:W3CDTF">2016-02-12T21:15:52Z</dcterms:modified>
</cp:coreProperties>
</file>