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6"/>
  </p:notesMasterIdLst>
  <p:sldIdLst>
    <p:sldId id="256" r:id="rId2"/>
    <p:sldId id="329" r:id="rId3"/>
    <p:sldId id="309" r:id="rId4"/>
    <p:sldId id="311" r:id="rId5"/>
    <p:sldId id="310" r:id="rId6"/>
    <p:sldId id="312" r:id="rId7"/>
    <p:sldId id="313" r:id="rId8"/>
    <p:sldId id="314" r:id="rId9"/>
    <p:sldId id="330" r:id="rId10"/>
    <p:sldId id="315" r:id="rId11"/>
    <p:sldId id="316" r:id="rId12"/>
    <p:sldId id="318" r:id="rId13"/>
    <p:sldId id="317" r:id="rId14"/>
    <p:sldId id="319" r:id="rId15"/>
    <p:sldId id="321" r:id="rId16"/>
    <p:sldId id="322" r:id="rId17"/>
    <p:sldId id="323" r:id="rId18"/>
    <p:sldId id="324" r:id="rId19"/>
    <p:sldId id="325" r:id="rId20"/>
    <p:sldId id="328" r:id="rId21"/>
    <p:sldId id="326" r:id="rId22"/>
    <p:sldId id="327" r:id="rId23"/>
    <p:sldId id="332" r:id="rId24"/>
    <p:sldId id="331" r:id="rId2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12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19/02/2016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atividadesial501@yahoo.com.br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02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da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Conceitos básicos de algoritmos.</a:t>
            </a:r>
          </a:p>
          <a:p>
            <a:r>
              <a:rPr lang="pt-BR" dirty="0" smtClean="0"/>
              <a:t>Invariantes de laço</a:t>
            </a:r>
          </a:p>
          <a:p>
            <a:r>
              <a:rPr lang="pt-BR" dirty="0" smtClean="0"/>
              <a:t>Prova de correção de algoritmos</a:t>
            </a:r>
          </a:p>
          <a:p>
            <a:r>
              <a:rPr lang="pt-BR" dirty="0" smtClean="0"/>
              <a:t>Atividades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221560"/>
          </a:xfrm>
        </p:spPr>
        <p:txBody>
          <a:bodyPr vert="horz">
            <a:noAutofit/>
          </a:bodyPr>
          <a:lstStyle/>
          <a:p>
            <a:pPr>
              <a:spcBef>
                <a:spcPts val="600"/>
              </a:spcBef>
            </a:pPr>
            <a:r>
              <a:rPr lang="pt-BR" sz="2800" b="1" dirty="0" smtClean="0"/>
              <a:t>Procedimento computacional: </a:t>
            </a:r>
            <a:r>
              <a:rPr lang="pt-BR" sz="2800" dirty="0" smtClean="0"/>
              <a:t>a partir de valores de </a:t>
            </a:r>
            <a:r>
              <a:rPr lang="pt-BR" sz="2800" b="1" dirty="0" smtClean="0"/>
              <a:t>entrada </a:t>
            </a:r>
            <a:r>
              <a:rPr lang="pt-BR" sz="2800" dirty="0" smtClean="0"/>
              <a:t>produz algum valor ou valores como </a:t>
            </a:r>
            <a:r>
              <a:rPr lang="pt-BR" sz="2800" b="1" dirty="0" smtClean="0"/>
              <a:t>saída</a:t>
            </a:r>
            <a:r>
              <a:rPr lang="pt-BR" sz="28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pt-BR" sz="2800" dirty="0" smtClean="0"/>
              <a:t>Ferramentas para resolver problemas computacionais: </a:t>
            </a:r>
          </a:p>
          <a:p>
            <a:pPr lvl="1">
              <a:spcBef>
                <a:spcPts val="600"/>
              </a:spcBef>
            </a:pPr>
            <a:r>
              <a:rPr lang="pt-BR" b="1" dirty="0" smtClean="0"/>
              <a:t>Projeto Genoma</a:t>
            </a:r>
            <a:r>
              <a:rPr lang="pt-BR" dirty="0" smtClean="0"/>
              <a:t>: identificação dos 100.000 genes do DNA; determinar sequencias de pares de bases químicas que constituem o DNA;</a:t>
            </a:r>
          </a:p>
          <a:p>
            <a:pPr lvl="1">
              <a:spcBef>
                <a:spcPts val="600"/>
              </a:spcBef>
            </a:pPr>
            <a:r>
              <a:rPr lang="pt-BR" b="1" dirty="0" smtClean="0"/>
              <a:t>Internet</a:t>
            </a:r>
            <a:r>
              <a:rPr lang="pt-BR" dirty="0" smtClean="0"/>
              <a:t>: gerenciamento e acesso rápido ao grande volume de dados; </a:t>
            </a:r>
          </a:p>
          <a:p>
            <a:pPr lvl="1">
              <a:spcBef>
                <a:spcPts val="600"/>
              </a:spcBef>
            </a:pPr>
            <a:r>
              <a:rPr lang="pt-BR" b="1" dirty="0" smtClean="0"/>
              <a:t>Comércio eletrônico</a:t>
            </a:r>
            <a:r>
              <a:rPr lang="pt-BR" dirty="0" smtClean="0"/>
              <a:t>: criptografia e assinatura digital</a:t>
            </a:r>
          </a:p>
          <a:p>
            <a:pPr lvl="1">
              <a:spcBef>
                <a:spcPts val="600"/>
              </a:spcBef>
            </a:pPr>
            <a:r>
              <a:rPr lang="pt-BR" b="1" dirty="0" smtClean="0"/>
              <a:t>Indústria e outras áreas</a:t>
            </a:r>
            <a:r>
              <a:rPr lang="pt-BR" dirty="0" smtClean="0"/>
              <a:t>: otimização de recursos; maximização de lucros; definição de escala de trabalho com mínimo custo possível;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Características  comuns aos problemas apresentados: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772816"/>
            <a:ext cx="7762056" cy="4680520"/>
          </a:xfrm>
        </p:spPr>
        <p:txBody>
          <a:bodyPr vert="horz"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2800" dirty="0" smtClean="0"/>
              <a:t>São aplicações práticas.</a:t>
            </a:r>
          </a:p>
          <a:p>
            <a:pPr>
              <a:spcBef>
                <a:spcPts val="1800"/>
              </a:spcBef>
            </a:pPr>
            <a:r>
              <a:rPr lang="pt-BR" sz="2800" dirty="0" smtClean="0"/>
              <a:t>Têm muitas soluções candidatas, mas que nem sempre resolvem o problema.</a:t>
            </a:r>
          </a:p>
          <a:p>
            <a:pPr>
              <a:spcBef>
                <a:spcPts val="1800"/>
              </a:spcBef>
              <a:buNone/>
            </a:pPr>
            <a:r>
              <a:rPr lang="pt-BR" sz="2800" dirty="0" smtClean="0"/>
              <a:t> </a:t>
            </a:r>
          </a:p>
          <a:p>
            <a:pPr>
              <a:spcBef>
                <a:spcPts val="1800"/>
              </a:spcBef>
            </a:pPr>
            <a:r>
              <a:rPr lang="pt-BR" sz="2800" b="1" dirty="0" smtClean="0"/>
              <a:t>Desafio</a:t>
            </a:r>
            <a:r>
              <a:rPr lang="pt-BR" sz="2800" dirty="0" smtClean="0"/>
              <a:t>: </a:t>
            </a:r>
          </a:p>
          <a:p>
            <a:pPr lvl="1">
              <a:spcBef>
                <a:spcPts val="1800"/>
              </a:spcBef>
            </a:pPr>
            <a:r>
              <a:rPr lang="pt-BR" sz="2800" dirty="0" smtClean="0"/>
              <a:t>Encontrar solução que resolva o problema (correto).</a:t>
            </a:r>
          </a:p>
          <a:p>
            <a:pPr lvl="1">
              <a:spcBef>
                <a:spcPts val="1800"/>
              </a:spcBef>
            </a:pPr>
            <a:r>
              <a:rPr lang="pt-BR" sz="2800" dirty="0" smtClean="0"/>
              <a:t>Que seja “a melhor” (eficiência).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Eficiência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06072" cy="5077544"/>
          </a:xfrm>
        </p:spPr>
        <p:txBody>
          <a:bodyPr vert="horz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sz="2800" dirty="0" smtClean="0"/>
              <a:t>Algoritmos diferentes podem resolver o mesmo problema;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sz="2800" dirty="0" smtClean="0"/>
              <a:t>Mas com muita diferença em termos de eficiência;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sz="2800" dirty="0" smtClean="0"/>
              <a:t>A eficiência </a:t>
            </a:r>
            <a:r>
              <a:rPr lang="pt-BR" sz="2800" dirty="0" smtClean="0"/>
              <a:t>do </a:t>
            </a:r>
            <a:r>
              <a:rPr lang="pt-BR" sz="2800" dirty="0" smtClean="0"/>
              <a:t>algoritmo </a:t>
            </a:r>
            <a:r>
              <a:rPr lang="pt-BR" sz="2800" dirty="0" smtClean="0"/>
              <a:t>pode ser muito mais significativa que diferenças relativas a HW e SW. Ex.: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pt-BR" sz="2600" dirty="0" smtClean="0"/>
              <a:t>Ordenação por inserção: T</a:t>
            </a:r>
            <a:r>
              <a:rPr lang="pt-BR" sz="2600" baseline="-25000" dirty="0" smtClean="0"/>
              <a:t>i</a:t>
            </a:r>
            <a:r>
              <a:rPr lang="pt-BR" sz="2600" dirty="0" smtClean="0"/>
              <a:t>(n) = c</a:t>
            </a:r>
            <a:r>
              <a:rPr lang="pt-BR" sz="2600" baseline="-25000" dirty="0" smtClean="0"/>
              <a:t>1</a:t>
            </a:r>
            <a:r>
              <a:rPr lang="pt-BR" sz="2600" dirty="0" smtClean="0"/>
              <a:t>n</a:t>
            </a:r>
            <a:r>
              <a:rPr lang="pt-BR" sz="2600" baseline="30000" dirty="0" smtClean="0"/>
              <a:t>2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pt-BR" sz="2600" dirty="0" smtClean="0"/>
              <a:t>Ordenação por intercalação: </a:t>
            </a:r>
            <a:r>
              <a:rPr lang="pt-BR" sz="2600" dirty="0" err="1" smtClean="0"/>
              <a:t>T</a:t>
            </a:r>
            <a:r>
              <a:rPr lang="pt-BR" sz="2600" baseline="-25000" dirty="0" err="1" smtClean="0"/>
              <a:t>m</a:t>
            </a:r>
            <a:r>
              <a:rPr lang="pt-BR" sz="2600" dirty="0" smtClean="0"/>
              <a:t>(n) = c</a:t>
            </a:r>
            <a:r>
              <a:rPr lang="pt-BR" sz="2600" baseline="-25000" dirty="0" smtClean="0"/>
              <a:t>2</a:t>
            </a:r>
            <a:r>
              <a:rPr lang="pt-BR" sz="2600" dirty="0" smtClean="0"/>
              <a:t>n </a:t>
            </a:r>
            <a:r>
              <a:rPr lang="pt-BR" sz="2600" dirty="0" err="1" smtClean="0"/>
              <a:t>lg</a:t>
            </a:r>
            <a:r>
              <a:rPr lang="pt-BR" sz="2600" dirty="0" smtClean="0"/>
              <a:t> n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pt-BR" sz="2600" dirty="0" smtClean="0"/>
              <a:t>Sendo: 	c</a:t>
            </a:r>
            <a:r>
              <a:rPr lang="pt-BR" sz="2600" baseline="-25000" dirty="0" smtClean="0"/>
              <a:t>1 </a:t>
            </a:r>
            <a:r>
              <a:rPr lang="pt-BR" sz="2600" dirty="0" smtClean="0"/>
              <a:t> e c</a:t>
            </a:r>
            <a:r>
              <a:rPr lang="pt-BR" sz="2600" baseline="-25000" dirty="0" smtClean="0"/>
              <a:t>2</a:t>
            </a:r>
            <a:r>
              <a:rPr lang="pt-BR" sz="2600" dirty="0" smtClean="0"/>
              <a:t> valores constantes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None/>
            </a:pPr>
            <a:r>
              <a:rPr lang="pt-BR" sz="2600" dirty="0" smtClean="0"/>
              <a:t>			n: quantidade de itens a ordenar (entrada)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None/>
            </a:pPr>
            <a:r>
              <a:rPr lang="pt-BR" sz="2600" dirty="0" smtClean="0"/>
              <a:t>			</a:t>
            </a:r>
            <a:r>
              <a:rPr lang="pt-BR" sz="2600" dirty="0" err="1" smtClean="0"/>
              <a:t>lg</a:t>
            </a:r>
            <a:r>
              <a:rPr lang="pt-BR" sz="2600" dirty="0" smtClean="0"/>
              <a:t> n = log</a:t>
            </a:r>
            <a:r>
              <a:rPr lang="pt-BR" sz="2600" baseline="-25000" dirty="0" smtClean="0"/>
              <a:t>2</a:t>
            </a:r>
            <a:r>
              <a:rPr lang="pt-BR" sz="2600" dirty="0" smtClean="0"/>
              <a:t> n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sz="2800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Qual o mais eficiente?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78080" cy="3133328"/>
          </a:xfrm>
        </p:spPr>
        <p:txBody>
          <a:bodyPr/>
          <a:lstStyle/>
          <a:p>
            <a:r>
              <a:rPr lang="pt-BR" dirty="0" smtClean="0"/>
              <a:t>Considerando que valores constantes tem menos impacto que o tamanho da entrada </a:t>
            </a:r>
            <a:r>
              <a:rPr lang="pt-BR" b="1" dirty="0" smtClean="0"/>
              <a:t>n</a:t>
            </a:r>
            <a:r>
              <a:rPr lang="pt-BR" dirty="0" smtClean="0"/>
              <a:t>, e representando os tempos da seguinte forma:</a:t>
            </a:r>
          </a:p>
          <a:p>
            <a:pPr lvl="1"/>
            <a:r>
              <a:rPr lang="pt-BR" dirty="0" smtClean="0"/>
              <a:t>T</a:t>
            </a:r>
            <a:r>
              <a:rPr lang="pt-BR" baseline="-25000" dirty="0" smtClean="0"/>
              <a:t>i</a:t>
            </a:r>
            <a:r>
              <a:rPr lang="pt-BR" dirty="0" smtClean="0"/>
              <a:t>(n) = c</a:t>
            </a:r>
            <a:r>
              <a:rPr lang="pt-BR" baseline="-25000" dirty="0" smtClean="0"/>
              <a:t>1</a:t>
            </a:r>
            <a:r>
              <a:rPr lang="pt-BR" dirty="0" smtClean="0"/>
              <a:t>* n * n</a:t>
            </a:r>
            <a:endParaRPr lang="pt-BR" baseline="30000" dirty="0" smtClean="0"/>
          </a:p>
          <a:p>
            <a:pPr lvl="1"/>
            <a:r>
              <a:rPr lang="pt-BR" dirty="0" err="1" smtClean="0"/>
              <a:t>T</a:t>
            </a:r>
            <a:r>
              <a:rPr lang="pt-BR" baseline="-25000" dirty="0" err="1" smtClean="0"/>
              <a:t>m</a:t>
            </a:r>
            <a:r>
              <a:rPr lang="pt-BR" dirty="0" smtClean="0"/>
              <a:t>(n) = c</a:t>
            </a:r>
            <a:r>
              <a:rPr lang="pt-BR" baseline="-25000" dirty="0" smtClean="0"/>
              <a:t>2 </a:t>
            </a:r>
            <a:r>
              <a:rPr lang="pt-BR" dirty="0" smtClean="0"/>
              <a:t>* n * </a:t>
            </a:r>
            <a:r>
              <a:rPr lang="pt-BR" dirty="0" err="1" smtClean="0"/>
              <a:t>lg</a:t>
            </a:r>
            <a:r>
              <a:rPr lang="pt-BR" dirty="0" smtClean="0"/>
              <a:t> n</a:t>
            </a:r>
          </a:p>
          <a:p>
            <a:r>
              <a:rPr lang="pt-BR" dirty="0" smtClean="0"/>
              <a:t>Podemos observar que o fator de execução a ser comparado é n (inserção) com </a:t>
            </a:r>
            <a:r>
              <a:rPr lang="pt-BR" dirty="0" err="1" smtClean="0"/>
              <a:t>lg</a:t>
            </a:r>
            <a:r>
              <a:rPr lang="pt-BR" dirty="0" smtClean="0"/>
              <a:t> n (intercalação);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788368" y="4437112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Inserção (n)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Intercalação</a:t>
                      </a:r>
                      <a:r>
                        <a:rPr lang="pt-BR" baseline="0" dirty="0" smtClean="0"/>
                        <a:t> (</a:t>
                      </a:r>
                      <a:r>
                        <a:rPr lang="pt-BR" baseline="0" dirty="0" err="1" smtClean="0"/>
                        <a:t>lg</a:t>
                      </a:r>
                      <a:r>
                        <a:rPr lang="pt-BR" baseline="0" dirty="0" smtClean="0"/>
                        <a:t> n)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1024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em máquinas diferentes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546032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Computador A (mais rápido): ordenação por inserção;</a:t>
            </a:r>
          </a:p>
          <a:p>
            <a:pPr lvl="1"/>
            <a:r>
              <a:rPr lang="pt-BR" dirty="0" smtClean="0"/>
              <a:t>V</a:t>
            </a:r>
            <a:r>
              <a:rPr lang="pt-BR" baseline="-25000" dirty="0" smtClean="0"/>
              <a:t>A</a:t>
            </a:r>
            <a:r>
              <a:rPr lang="pt-BR" dirty="0" smtClean="0"/>
              <a:t> = 10.000 MIPS = 10</a:t>
            </a:r>
            <a:r>
              <a:rPr lang="pt-BR" baseline="30000" dirty="0" smtClean="0"/>
              <a:t>10</a:t>
            </a:r>
            <a:r>
              <a:rPr lang="pt-BR" dirty="0" smtClean="0"/>
              <a:t> instruções por segundo</a:t>
            </a:r>
          </a:p>
          <a:p>
            <a:pPr lvl="1"/>
            <a:r>
              <a:rPr lang="pt-BR" dirty="0" smtClean="0"/>
              <a:t>c</a:t>
            </a:r>
            <a:r>
              <a:rPr lang="pt-BR" baseline="-25000" dirty="0" smtClean="0"/>
              <a:t>1</a:t>
            </a:r>
            <a:r>
              <a:rPr lang="pt-BR" dirty="0" smtClean="0"/>
              <a:t> = 2 (compilador muito eficiente)</a:t>
            </a:r>
            <a:endParaRPr lang="pt-BR" baseline="30000" dirty="0" smtClean="0"/>
          </a:p>
          <a:p>
            <a:r>
              <a:rPr lang="pt-BR" dirty="0" smtClean="0"/>
              <a:t>Computador B (mais lento): ordenação por intercalação;</a:t>
            </a:r>
          </a:p>
          <a:p>
            <a:pPr lvl="1"/>
            <a:r>
              <a:rPr lang="pt-BR" dirty="0" smtClean="0"/>
              <a:t>V</a:t>
            </a:r>
            <a:r>
              <a:rPr lang="pt-BR" baseline="-25000" dirty="0" smtClean="0"/>
              <a:t>B</a:t>
            </a:r>
            <a:r>
              <a:rPr lang="pt-BR" dirty="0" smtClean="0"/>
              <a:t> = 10 MIPS = 10</a:t>
            </a:r>
            <a:r>
              <a:rPr lang="pt-BR" baseline="30000" dirty="0" smtClean="0"/>
              <a:t>7</a:t>
            </a:r>
            <a:r>
              <a:rPr lang="pt-BR" dirty="0" smtClean="0"/>
              <a:t> instruções por segundo</a:t>
            </a:r>
          </a:p>
          <a:p>
            <a:pPr lvl="1"/>
            <a:r>
              <a:rPr lang="pt-BR" dirty="0" smtClean="0"/>
              <a:t>c</a:t>
            </a:r>
            <a:r>
              <a:rPr lang="pt-BR" baseline="-25000" dirty="0" smtClean="0"/>
              <a:t>2</a:t>
            </a:r>
            <a:r>
              <a:rPr lang="pt-BR" dirty="0" smtClean="0"/>
              <a:t> = 50 (compilador pouco eficiente)</a:t>
            </a:r>
            <a:endParaRPr lang="pt-BR" baseline="30000" dirty="0" smtClean="0"/>
          </a:p>
          <a:p>
            <a:r>
              <a:rPr lang="pt-BR" dirty="0" smtClean="0"/>
              <a:t>Entrada n = 10.000.000 números = 10</a:t>
            </a:r>
            <a:r>
              <a:rPr lang="pt-BR" baseline="30000" dirty="0" smtClean="0"/>
              <a:t>7</a:t>
            </a:r>
          </a:p>
          <a:p>
            <a:endParaRPr lang="pt-BR" dirty="0" smtClean="0"/>
          </a:p>
          <a:p>
            <a:r>
              <a:rPr lang="pt-BR" b="1" dirty="0" smtClean="0">
                <a:solidFill>
                  <a:srgbClr val="C00000"/>
                </a:solidFill>
              </a:rPr>
              <a:t>Qual o mais eficiente???</a:t>
            </a:r>
            <a:endParaRPr lang="pt-BR" b="1" dirty="0" smtClean="0">
              <a:solidFill>
                <a:srgbClr val="C00000"/>
              </a:solidFill>
            </a:endParaRPr>
          </a:p>
          <a:p>
            <a:r>
              <a:rPr lang="pt-BR" dirty="0" smtClean="0"/>
              <a:t>T</a:t>
            </a:r>
            <a:r>
              <a:rPr lang="pt-BR" baseline="-25000" dirty="0" smtClean="0"/>
              <a:t>i</a:t>
            </a:r>
            <a:r>
              <a:rPr lang="pt-BR" dirty="0" smtClean="0"/>
              <a:t> = 2*(10</a:t>
            </a:r>
            <a:r>
              <a:rPr lang="pt-BR" baseline="30000" dirty="0" smtClean="0"/>
              <a:t>7</a:t>
            </a:r>
            <a:r>
              <a:rPr lang="pt-BR" dirty="0" smtClean="0"/>
              <a:t>)</a:t>
            </a:r>
            <a:r>
              <a:rPr lang="pt-BR" baseline="30000" dirty="0" smtClean="0"/>
              <a:t> 2</a:t>
            </a:r>
            <a:r>
              <a:rPr lang="pt-BR" dirty="0" smtClean="0"/>
              <a:t> / 10</a:t>
            </a:r>
            <a:r>
              <a:rPr lang="pt-BR" baseline="30000" dirty="0" smtClean="0"/>
              <a:t>10</a:t>
            </a:r>
            <a:r>
              <a:rPr lang="pt-BR" dirty="0" smtClean="0"/>
              <a:t> = 20.000 segundos (&gt; 5h30)</a:t>
            </a:r>
          </a:p>
          <a:p>
            <a:r>
              <a:rPr lang="pt-BR" dirty="0" err="1" smtClean="0"/>
              <a:t>T</a:t>
            </a:r>
            <a:r>
              <a:rPr lang="pt-BR" baseline="-25000" dirty="0" err="1" smtClean="0"/>
              <a:t>m</a:t>
            </a:r>
            <a:r>
              <a:rPr lang="pt-BR" dirty="0" smtClean="0"/>
              <a:t> = 50*(10</a:t>
            </a:r>
            <a:r>
              <a:rPr lang="pt-BR" baseline="30000" dirty="0" smtClean="0"/>
              <a:t>7</a:t>
            </a:r>
            <a:r>
              <a:rPr lang="pt-BR" dirty="0" smtClean="0"/>
              <a:t>) * </a:t>
            </a:r>
            <a:r>
              <a:rPr lang="pt-BR" dirty="0" err="1" smtClean="0"/>
              <a:t>lg</a:t>
            </a:r>
            <a:r>
              <a:rPr lang="pt-BR" dirty="0" smtClean="0"/>
              <a:t> 10</a:t>
            </a:r>
            <a:r>
              <a:rPr lang="pt-BR" baseline="30000" dirty="0" smtClean="0"/>
              <a:t>7</a:t>
            </a:r>
            <a:r>
              <a:rPr lang="pt-BR" dirty="0" smtClean="0"/>
              <a:t> / 10</a:t>
            </a:r>
            <a:r>
              <a:rPr lang="pt-BR" baseline="30000" dirty="0" smtClean="0"/>
              <a:t>7</a:t>
            </a:r>
            <a:r>
              <a:rPr lang="pt-BR" dirty="0" smtClean="0"/>
              <a:t> ≈ 1.163 segundos (&lt; 20min)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Suponha que estamos comparando implementações de ordenação por inserção e ordenação por intercalação na mesma máquina. Para entradas de tamanho </a:t>
            </a:r>
            <a:r>
              <a:rPr lang="pt-BR" b="1" dirty="0" smtClean="0"/>
              <a:t>n</a:t>
            </a:r>
            <a:r>
              <a:rPr lang="pt-BR" dirty="0" smtClean="0"/>
              <a:t>, a ordenação por inserção é executada em </a:t>
            </a:r>
            <a:r>
              <a:rPr lang="pt-BR" b="1" dirty="0" smtClean="0"/>
              <a:t>8n</a:t>
            </a:r>
            <a:r>
              <a:rPr lang="pt-BR" b="1" baseline="30000" dirty="0" smtClean="0"/>
              <a:t>2</a:t>
            </a:r>
            <a:r>
              <a:rPr lang="pt-BR" b="1" dirty="0" smtClean="0"/>
              <a:t> </a:t>
            </a:r>
            <a:r>
              <a:rPr lang="pt-BR" dirty="0" smtClean="0"/>
              <a:t>passos, enquanto a ordenação por intercalação é executada em </a:t>
            </a:r>
            <a:r>
              <a:rPr lang="pt-BR" b="1" dirty="0" smtClean="0"/>
              <a:t>64n </a:t>
            </a:r>
            <a:r>
              <a:rPr lang="pt-BR" b="1" dirty="0" err="1" smtClean="0"/>
              <a:t>lg</a:t>
            </a:r>
            <a:r>
              <a:rPr lang="pt-BR" b="1" dirty="0" smtClean="0"/>
              <a:t> n </a:t>
            </a:r>
            <a:r>
              <a:rPr lang="pt-BR" dirty="0" smtClean="0"/>
              <a:t>passos.</a:t>
            </a:r>
          </a:p>
          <a:p>
            <a:r>
              <a:rPr lang="pt-BR" dirty="0" smtClean="0"/>
              <a:t>Para quais valores de n a ordenação por inserção supera a ordenação por intercalação?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043609" y="4437112"/>
          <a:ext cx="72007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6"/>
                <a:gridCol w="2400266"/>
                <a:gridCol w="24002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8n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b="1" dirty="0" smtClean="0"/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64n </a:t>
                      </a:r>
                      <a:r>
                        <a:rPr lang="pt-BR" sz="2400" b="1" dirty="0" err="1" smtClean="0"/>
                        <a:t>lg</a:t>
                      </a:r>
                      <a:r>
                        <a:rPr lang="pt-BR" sz="2400" b="1" dirty="0" smtClean="0"/>
                        <a:t> n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128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4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128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512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8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...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...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16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Qual o menor valor de </a:t>
            </a:r>
            <a:r>
              <a:rPr lang="pt-BR" b="1" dirty="0" smtClean="0"/>
              <a:t>n </a:t>
            </a:r>
            <a:r>
              <a:rPr lang="pt-BR" dirty="0" smtClean="0"/>
              <a:t>tal que um algoritmo cujo tempo de execução é </a:t>
            </a:r>
            <a:r>
              <a:rPr lang="pt-BR" b="1" dirty="0" smtClean="0"/>
              <a:t>100n</a:t>
            </a:r>
            <a:r>
              <a:rPr lang="pt-BR" b="1" baseline="30000" dirty="0" smtClean="0"/>
              <a:t>2</a:t>
            </a:r>
            <a:r>
              <a:rPr lang="pt-BR" b="1" dirty="0" smtClean="0"/>
              <a:t> </a:t>
            </a:r>
            <a:r>
              <a:rPr lang="pt-BR" dirty="0" smtClean="0"/>
              <a:t>funciona mais rapidamente que um algoritmo cujo tempo de execução é de </a:t>
            </a:r>
            <a:r>
              <a:rPr lang="pt-BR" b="1" dirty="0" smtClean="0"/>
              <a:t>2</a:t>
            </a:r>
            <a:r>
              <a:rPr lang="pt-BR" b="1" baseline="30000" dirty="0" smtClean="0"/>
              <a:t>n</a:t>
            </a:r>
            <a:r>
              <a:rPr lang="pt-BR" b="1" dirty="0" smtClean="0"/>
              <a:t> </a:t>
            </a:r>
            <a:r>
              <a:rPr lang="pt-BR" dirty="0" smtClean="0"/>
              <a:t>na mesma máquina?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115616" y="3284984"/>
          <a:ext cx="72007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6"/>
                <a:gridCol w="2400266"/>
                <a:gridCol w="24002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100n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b="1" dirty="0" smtClean="0"/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2</a:t>
                      </a:r>
                      <a:r>
                        <a:rPr lang="pt-BR" sz="2400" b="1" baseline="300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 </a:t>
                      </a: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4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pt-BR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 </a:t>
                      </a: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5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...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...</a:t>
                      </a:r>
                      <a:endParaRPr lang="pt-BR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Invariantes de laço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Um invariante de laço diz respeito a relação entre os valores das variáveis que vale no início de cada iteração de um laço.</a:t>
            </a:r>
          </a:p>
          <a:p>
            <a:endParaRPr lang="pt-BR" dirty="0" smtClean="0"/>
          </a:p>
          <a:p>
            <a:r>
              <a:rPr lang="pt-BR" dirty="0" smtClean="0"/>
              <a:t>Importância dos invariantes: </a:t>
            </a:r>
          </a:p>
          <a:p>
            <a:pPr lvl="1"/>
            <a:r>
              <a:rPr lang="pt-BR" dirty="0" smtClean="0"/>
              <a:t>Explicam o funcionamento do processo iterativo;</a:t>
            </a:r>
          </a:p>
          <a:p>
            <a:pPr lvl="1"/>
            <a:r>
              <a:rPr lang="pt-BR" dirty="0" smtClean="0"/>
              <a:t>Permitem provar, por indução, que ele tem o efeito desejado.</a:t>
            </a:r>
          </a:p>
          <a:p>
            <a:pPr lvl="1"/>
            <a:endParaRPr lang="pt-BR" dirty="0" smtClean="0"/>
          </a:p>
          <a:p>
            <a:r>
              <a:rPr lang="pt-BR" dirty="0" smtClean="0"/>
              <a:t>Exemplo:</a:t>
            </a:r>
          </a:p>
          <a:p>
            <a:pPr lvl="1"/>
            <a:r>
              <a:rPr lang="pt-BR" dirty="0" smtClean="0"/>
              <a:t>Função </a:t>
            </a:r>
            <a:r>
              <a:rPr lang="pt-BR" b="1" dirty="0" smtClean="0"/>
              <a:t>Max(v[ ], n), </a:t>
            </a:r>
            <a:r>
              <a:rPr lang="pt-BR" dirty="0" smtClean="0"/>
              <a:t>que recebe um inteiro n&gt;=1 e um vetor v e devolve o valor de um elemento máximo de v[0..n-1]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Invariantes de laço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899592" y="3789040"/>
            <a:ext cx="7787208" cy="280831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pt-BR" dirty="0" smtClean="0"/>
              <a:t>A iteração controlada pelo </a:t>
            </a:r>
            <a:r>
              <a:rPr lang="pt-BR" b="1" dirty="0" smtClean="0"/>
              <a:t>for</a:t>
            </a:r>
            <a:r>
              <a:rPr lang="pt-BR" dirty="0" smtClean="0"/>
              <a:t> tem o seguinte invariante: </a:t>
            </a:r>
          </a:p>
          <a:p>
            <a:pPr>
              <a:lnSpc>
                <a:spcPct val="110000"/>
              </a:lnSpc>
              <a:spcBef>
                <a:spcPts val="300"/>
              </a:spcBef>
              <a:buNone/>
            </a:pPr>
            <a:r>
              <a:rPr lang="pt-BR" dirty="0" smtClean="0"/>
              <a:t>	</a:t>
            </a:r>
            <a:r>
              <a:rPr lang="pt-BR" i="1" dirty="0" smtClean="0"/>
              <a:t>“no início de cada iteração (imediatamente antes da comparação de j com n), x é um elemento máximo de v[0..j-1]”. 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pt-BR" dirty="0" smtClean="0"/>
              <a:t>Também vale no início da última iteração, quando j = n.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pt-BR" dirty="0" smtClean="0"/>
              <a:t>Isso mostra que a função de fato devolve o elemento máximo de v[0..n-1].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340768"/>
            <a:ext cx="6840760" cy="252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2534419"/>
            <a:ext cx="5040560" cy="318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pPr algn="ctr"/>
            <a:r>
              <a:rPr lang="pt-BR" dirty="0" smtClean="0"/>
              <a:t>Ordenando cartas</a:t>
            </a:r>
            <a:endParaRPr lang="pt-BR" dirty="0"/>
          </a:p>
        </p:txBody>
      </p:sp>
      <p:pic>
        <p:nvPicPr>
          <p:cNvPr id="3074" name="Picture 2" descr="https://images.tcdn.com.br/img/img_prod/102280/baralho_poker_black_jack_craps_e_poker_dice_playing_cards_cbr_1091_2889_1_2014052611004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700808"/>
            <a:ext cx="4464496" cy="4464496"/>
          </a:xfrm>
          <a:prstGeom prst="rect">
            <a:avLst/>
          </a:prstGeom>
          <a:noFill/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Representação em vetor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"/>
          </p:nvPr>
        </p:nvGraphicFramePr>
        <p:xfrm>
          <a:off x="914400" y="1963688"/>
          <a:ext cx="7772400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5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pt-BR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6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7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3554740" y="3717032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Carta atual</a:t>
            </a:r>
            <a:endParaRPr lang="pt-BR" b="1" dirty="0">
              <a:solidFill>
                <a:srgbClr val="C00000"/>
              </a:solidFill>
            </a:endParaRPr>
          </a:p>
        </p:txBody>
      </p:sp>
      <p:cxnSp>
        <p:nvCxnSpPr>
          <p:cNvPr id="7" name="Conector de seta reta 6"/>
          <p:cNvCxnSpPr/>
          <p:nvPr/>
        </p:nvCxnSpPr>
        <p:spPr>
          <a:xfrm flipV="1">
            <a:off x="4211960" y="2564904"/>
            <a:ext cx="0" cy="115212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21129791">
            <a:off x="1083074" y="3033051"/>
            <a:ext cx="15303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395536" y="2524834"/>
            <a:ext cx="3135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/>
              <a:t>Mão esquerda ordenada</a:t>
            </a:r>
            <a:endParaRPr lang="pt-BR" sz="2000" b="1" dirty="0"/>
          </a:p>
        </p:txBody>
      </p:sp>
      <p:pic>
        <p:nvPicPr>
          <p:cNvPr id="4100" name="Picture 4" descr="https://upload.wikimedia.org/wikipedia/commons/thumb/2/2c/Playing_card_spade_4.svg/60px-Playing_card_spade_4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4095074"/>
            <a:ext cx="1368152" cy="1710190"/>
          </a:xfrm>
          <a:prstGeom prst="rect">
            <a:avLst/>
          </a:prstGeom>
          <a:noFill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2924944"/>
            <a:ext cx="1224136" cy="1877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aixaDeTexto 16"/>
          <p:cNvSpPr txBox="1"/>
          <p:nvPr/>
        </p:nvSpPr>
        <p:spPr>
          <a:xfrm>
            <a:off x="4788024" y="2505090"/>
            <a:ext cx="3960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/>
              <a:t>Pilha de cartas a ordenar</a:t>
            </a:r>
            <a:endParaRPr lang="pt-BR" sz="2000" b="1" dirty="0"/>
          </a:p>
        </p:txBody>
      </p:sp>
      <p:sp>
        <p:nvSpPr>
          <p:cNvPr id="20" name="Espaço Reservado para Número de Slid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12" name="CaixaDeTexto 11"/>
          <p:cNvSpPr txBox="1"/>
          <p:nvPr/>
        </p:nvSpPr>
        <p:spPr>
          <a:xfrm>
            <a:off x="467544" y="198884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 smtClean="0"/>
              <a:t>v</a:t>
            </a:r>
            <a:endParaRPr lang="pt-BR" sz="2400" b="1" i="1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1335492" y="1547500"/>
            <a:ext cx="684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0</a:t>
            </a:r>
            <a:r>
              <a:rPr lang="pt-BR" b="1" i="1" dirty="0" smtClean="0"/>
              <a:t>	 </a:t>
            </a:r>
            <a:r>
              <a:rPr lang="pt-BR" b="1" i="1" dirty="0" smtClean="0"/>
              <a:t>      1		2 	     3 	           4 		5 </a:t>
            </a:r>
            <a:endParaRPr lang="pt-BR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Pergunta: como inserir entre dois valores?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"/>
          </p:nvPr>
        </p:nvGraphicFramePr>
        <p:xfrm>
          <a:off x="914400" y="2109445"/>
          <a:ext cx="7772400" cy="457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5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pt-BR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6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7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</a:t>
                      </a:r>
                      <a:endParaRPr lang="pt-BR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6" name="Grupo 25"/>
          <p:cNvGrpSpPr/>
          <p:nvPr/>
        </p:nvGrpSpPr>
        <p:grpSpPr>
          <a:xfrm>
            <a:off x="2195736" y="2852936"/>
            <a:ext cx="1944216" cy="1152128"/>
            <a:chOff x="2195736" y="3789040"/>
            <a:chExt cx="1944216" cy="1152128"/>
          </a:xfrm>
        </p:grpSpPr>
        <p:cxnSp>
          <p:nvCxnSpPr>
            <p:cNvPr id="7" name="Conector de seta reta 6"/>
            <p:cNvCxnSpPr/>
            <p:nvPr/>
          </p:nvCxnSpPr>
          <p:spPr>
            <a:xfrm flipV="1">
              <a:off x="2195736" y="3789040"/>
              <a:ext cx="0" cy="115212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angulado 21"/>
            <p:cNvCxnSpPr/>
            <p:nvPr/>
          </p:nvCxnSpPr>
          <p:spPr>
            <a:xfrm rot="10800000" flipV="1">
              <a:off x="2195736" y="3933056"/>
              <a:ext cx="1944216" cy="1008112"/>
            </a:xfrm>
            <a:prstGeom prst="bentConnector3">
              <a:avLst>
                <a:gd name="adj1" fmla="val 854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aixaDeTexto 27"/>
          <p:cNvSpPr txBox="1"/>
          <p:nvPr/>
        </p:nvSpPr>
        <p:spPr>
          <a:xfrm>
            <a:off x="2430741" y="2989401"/>
            <a:ext cx="16081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 smtClean="0"/>
              <a:t>x = v[ j ];</a:t>
            </a:r>
          </a:p>
          <a:p>
            <a:pPr algn="ctr"/>
            <a:r>
              <a:rPr lang="pt-BR" sz="2000" b="1" dirty="0" smtClean="0"/>
              <a:t>v[ j ] = v[ i ];</a:t>
            </a:r>
          </a:p>
          <a:p>
            <a:pPr algn="ctr"/>
            <a:r>
              <a:rPr lang="pt-BR" sz="2000" b="1" dirty="0" smtClean="0"/>
              <a:t>v[i] = x;</a:t>
            </a:r>
            <a:endParaRPr lang="pt-BR" sz="2000" b="1" dirty="0"/>
          </a:p>
        </p:txBody>
      </p:sp>
      <p:sp>
        <p:nvSpPr>
          <p:cNvPr id="29" name="Seta em curva para baixo 28"/>
          <p:cNvSpPr/>
          <p:nvPr/>
        </p:nvSpPr>
        <p:spPr>
          <a:xfrm>
            <a:off x="2771800" y="1486525"/>
            <a:ext cx="1368152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139952" y="1630541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 smtClean="0"/>
              <a:t>j</a:t>
            </a:r>
            <a:endParaRPr lang="pt-BR" b="1" i="1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67544" y="206258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 smtClean="0"/>
              <a:t>v</a:t>
            </a:r>
            <a:endParaRPr lang="pt-BR" sz="2400" b="1" i="1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2915816" y="1600924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 smtClean="0"/>
              <a:t>i</a:t>
            </a:r>
            <a:endParaRPr lang="pt-BR" b="1" i="1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683567" y="4221088"/>
            <a:ext cx="8064897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buFont typeface="Arial" pitchFamily="34" charset="0"/>
              <a:buChar char="•"/>
            </a:pPr>
            <a:r>
              <a:rPr lang="pt-BR" sz="2600" dirty="0" smtClean="0">
                <a:latin typeface="+mn-lt"/>
                <a:cs typeface="+mn-cs"/>
              </a:rPr>
              <a:t> E se eu já tiver muitas cartas ordenadas, vou “trocar” de posição?</a:t>
            </a:r>
          </a:p>
          <a:p>
            <a:pPr algn="just">
              <a:spcBef>
                <a:spcPts val="600"/>
              </a:spcBef>
              <a:buFont typeface="Arial" pitchFamily="34" charset="0"/>
              <a:buChar char="•"/>
            </a:pPr>
            <a:r>
              <a:rPr lang="pt-BR" sz="2600" dirty="0" smtClean="0">
                <a:latin typeface="+mn-lt"/>
                <a:cs typeface="+mn-cs"/>
              </a:rPr>
              <a:t> Sendo </a:t>
            </a:r>
            <a:r>
              <a:rPr lang="pt-BR" sz="2600" b="1" i="1" dirty="0" smtClean="0">
                <a:latin typeface="+mn-lt"/>
                <a:cs typeface="+mn-cs"/>
              </a:rPr>
              <a:t>j </a:t>
            </a:r>
            <a:r>
              <a:rPr lang="pt-BR" sz="2600" dirty="0" smtClean="0">
                <a:latin typeface="+mn-lt"/>
                <a:cs typeface="+mn-cs"/>
              </a:rPr>
              <a:t>o índice da carta a ser inserida, onde o índice </a:t>
            </a:r>
            <a:r>
              <a:rPr lang="pt-BR" sz="2600" b="1" i="1" dirty="0" smtClean="0">
                <a:latin typeface="+mn-lt"/>
                <a:cs typeface="+mn-cs"/>
              </a:rPr>
              <a:t>i </a:t>
            </a:r>
            <a:r>
              <a:rPr lang="pt-BR" sz="2600" dirty="0" smtClean="0">
                <a:latin typeface="+mn-lt"/>
                <a:cs typeface="+mn-cs"/>
              </a:rPr>
              <a:t>deveria começar a percorrer o vetor </a:t>
            </a:r>
            <a:r>
              <a:rPr lang="pt-BR" sz="2600" b="1" i="1" dirty="0" smtClean="0">
                <a:latin typeface="+mn-lt"/>
                <a:cs typeface="+mn-cs"/>
              </a:rPr>
              <a:t>v </a:t>
            </a:r>
            <a:r>
              <a:rPr lang="pt-BR" sz="2600" dirty="0" smtClean="0">
                <a:latin typeface="+mn-lt"/>
                <a:cs typeface="+mn-cs"/>
              </a:rPr>
              <a:t>em busca do local de inserção?</a:t>
            </a:r>
          </a:p>
          <a:p>
            <a:pPr lvl="1" algn="just">
              <a:spcBef>
                <a:spcPts val="600"/>
              </a:spcBef>
              <a:buFont typeface="Arial" pitchFamily="34" charset="0"/>
              <a:buChar char="•"/>
            </a:pPr>
            <a:r>
              <a:rPr lang="pt-BR" sz="2600" dirty="0" smtClean="0">
                <a:latin typeface="+mn-lt"/>
                <a:cs typeface="+mn-cs"/>
              </a:rPr>
              <a:t> Da direita para a esquerda (de 0 até j-1)? </a:t>
            </a:r>
          </a:p>
          <a:p>
            <a:pPr lvl="1" algn="just">
              <a:spcBef>
                <a:spcPts val="600"/>
              </a:spcBef>
              <a:buFont typeface="Arial" pitchFamily="34" charset="0"/>
              <a:buChar char="•"/>
            </a:pPr>
            <a:r>
              <a:rPr lang="pt-BR" sz="2600" dirty="0" smtClean="0">
                <a:latin typeface="+mn-lt"/>
                <a:cs typeface="+mn-cs"/>
              </a:rPr>
              <a:t> Ou da esquerda para a direita (de j-1 até 0)?</a:t>
            </a:r>
          </a:p>
        </p:txBody>
      </p:sp>
      <p:sp>
        <p:nvSpPr>
          <p:cNvPr id="34" name="Espaço Reservado para Número de Slide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36" name="Seta em curva para baixo 35"/>
          <p:cNvSpPr/>
          <p:nvPr/>
        </p:nvSpPr>
        <p:spPr>
          <a:xfrm rot="10800000">
            <a:off x="2843808" y="2564904"/>
            <a:ext cx="1368152" cy="36004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/>
      <p:bldP spid="32" grpId="0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 de Ordenação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7931224" cy="5149552"/>
          </a:xfrm>
        </p:spPr>
        <p:txBody>
          <a:bodyPr/>
          <a:lstStyle/>
          <a:p>
            <a:r>
              <a:rPr lang="pt-BR" dirty="0" smtClean="0"/>
              <a:t>v[0..n-1] é </a:t>
            </a:r>
            <a:r>
              <a:rPr lang="pt-BR" b="1" dirty="0" smtClean="0"/>
              <a:t>crescente</a:t>
            </a:r>
            <a:r>
              <a:rPr lang="pt-BR" dirty="0" smtClean="0"/>
              <a:t> se v[0] &lt;= v[1] &lt;= ... &lt;= v[n-1]</a:t>
            </a:r>
          </a:p>
          <a:p>
            <a:r>
              <a:rPr lang="pt-BR" b="1" dirty="0" smtClean="0"/>
              <a:t>Problema</a:t>
            </a:r>
            <a:r>
              <a:rPr lang="pt-BR" dirty="0" smtClean="0"/>
              <a:t>: rearranjar um vetor v[0..n-1] de modo que ele fique crescente.</a:t>
            </a:r>
          </a:p>
          <a:p>
            <a:endParaRPr lang="pt-BR" dirty="0" smtClean="0"/>
          </a:p>
          <a:p>
            <a:r>
              <a:rPr lang="pt-BR" dirty="0" smtClean="0"/>
              <a:t>Entra:</a:t>
            </a:r>
          </a:p>
          <a:p>
            <a:pPr>
              <a:buNone/>
            </a:pPr>
            <a:r>
              <a:rPr lang="pt-BR" dirty="0" smtClean="0"/>
              <a:t>		0					n-1</a:t>
            </a:r>
          </a:p>
          <a:p>
            <a:endParaRPr lang="pt-BR" dirty="0" smtClean="0"/>
          </a:p>
          <a:p>
            <a:r>
              <a:rPr lang="pt-BR" dirty="0" smtClean="0"/>
              <a:t>Sai:</a:t>
            </a:r>
          </a:p>
          <a:p>
            <a:pPr>
              <a:buNone/>
            </a:pPr>
            <a:r>
              <a:rPr lang="pt-BR" dirty="0" smtClean="0"/>
              <a:t>		0					n-1</a:t>
            </a:r>
          </a:p>
          <a:p>
            <a:pPr>
              <a:buNone/>
            </a:pPr>
            <a:endParaRPr lang="pt-BR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149080"/>
            <a:ext cx="550545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5593804"/>
            <a:ext cx="553402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>
            <a:normAutofit/>
          </a:bodyPr>
          <a:lstStyle/>
          <a:p>
            <a:r>
              <a:rPr lang="pt-BR" dirty="0" smtClean="0"/>
              <a:t>Ordenação por inserção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95536" y="1196752"/>
            <a:ext cx="1048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 smtClean="0">
                <a:solidFill>
                  <a:srgbClr val="C00000"/>
                </a:solidFill>
              </a:rPr>
              <a:t>x = 38</a:t>
            </a:r>
            <a:endParaRPr lang="pt-BR" b="1" i="1" dirty="0">
              <a:solidFill>
                <a:srgbClr val="C00000"/>
              </a:solidFill>
            </a:endParaRPr>
          </a:p>
        </p:txBody>
      </p:sp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5986" y="1340768"/>
            <a:ext cx="70961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8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0286" y="2386980"/>
            <a:ext cx="68675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60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6473" y="3418334"/>
            <a:ext cx="69151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61" name="Picture 1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4389884"/>
            <a:ext cx="71056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62" name="Picture 1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13136" y="5397996"/>
            <a:ext cx="69818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Espaço Reservado para Número de Slid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92211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Ordenação por inserção (</a:t>
            </a:r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)</a:t>
            </a:r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50" y="1340768"/>
            <a:ext cx="835106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179512" y="515719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+mn-lt"/>
                <a:cs typeface="+mn-cs"/>
              </a:rPr>
              <a:t>Invariantes</a:t>
            </a:r>
            <a:r>
              <a:rPr lang="pt-BR" sz="2400" dirty="0" smtClean="0">
                <a:latin typeface="+mn-lt"/>
                <a:cs typeface="+mn-cs"/>
              </a:rPr>
              <a:t>: a cada passagem pelo ponto A:</a:t>
            </a:r>
          </a:p>
          <a:p>
            <a:pPr marL="514350" indent="-514350">
              <a:buAutoNum type="arabicPeriod"/>
            </a:pPr>
            <a:r>
              <a:rPr lang="pt-BR" sz="2400" dirty="0" smtClean="0">
                <a:latin typeface="+mn-lt"/>
                <a:cs typeface="+mn-cs"/>
              </a:rPr>
              <a:t>v[0..j-1] consiste nos elementos que estavam originalmente em v[0..j-1]</a:t>
            </a:r>
          </a:p>
          <a:p>
            <a:pPr marL="514350" indent="-514350">
              <a:buAutoNum type="arabicPeriod"/>
            </a:pPr>
            <a:r>
              <a:rPr lang="pt-BR" sz="2400" dirty="0" smtClean="0">
                <a:latin typeface="+mn-lt"/>
                <a:cs typeface="+mn-cs"/>
              </a:rPr>
              <a:t>O vetor v[0..j-1] é crescente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Prova de correção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447800"/>
            <a:ext cx="7931224" cy="45720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sz="2800" dirty="0" smtClean="0"/>
              <a:t>O algoritmo faz o que promete?</a:t>
            </a:r>
          </a:p>
          <a:p>
            <a:pPr>
              <a:spcBef>
                <a:spcPts val="1200"/>
              </a:spcBef>
            </a:pPr>
            <a:r>
              <a:rPr lang="pt-BR" sz="2800" dirty="0" smtClean="0"/>
              <a:t>Devemos mostrar 3 detalhes sobre um invariante de laço:</a:t>
            </a:r>
          </a:p>
          <a:p>
            <a:pPr lvl="1">
              <a:spcBef>
                <a:spcPts val="1200"/>
              </a:spcBef>
            </a:pPr>
            <a:r>
              <a:rPr lang="pt-BR" sz="2800" b="1" dirty="0" smtClean="0"/>
              <a:t>Inicialização</a:t>
            </a:r>
            <a:r>
              <a:rPr lang="pt-BR" sz="2800" dirty="0" smtClean="0"/>
              <a:t>: Ele é verdadeiro antes da primeira iteração;</a:t>
            </a:r>
          </a:p>
          <a:p>
            <a:pPr lvl="1">
              <a:spcBef>
                <a:spcPts val="1200"/>
              </a:spcBef>
            </a:pPr>
            <a:r>
              <a:rPr lang="pt-BR" sz="2800" b="1" dirty="0" smtClean="0"/>
              <a:t>Manutenção</a:t>
            </a:r>
            <a:r>
              <a:rPr lang="pt-BR" sz="2800" dirty="0" smtClean="0"/>
              <a:t>: Permanece verdadeiro antes da próxima iteração;</a:t>
            </a:r>
          </a:p>
          <a:p>
            <a:pPr lvl="1">
              <a:spcBef>
                <a:spcPts val="1200"/>
              </a:spcBef>
            </a:pPr>
            <a:r>
              <a:rPr lang="pt-BR" sz="2800" b="1" dirty="0" smtClean="0"/>
              <a:t>Término</a:t>
            </a:r>
            <a:r>
              <a:rPr lang="pt-BR" sz="2800" dirty="0" smtClean="0"/>
              <a:t>: Quando o laço termina, o invariante nos ajuda a mostrar que o algoritmo é correto.</a:t>
            </a: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 (parte 1)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772816"/>
            <a:ext cx="8064896" cy="4824536"/>
          </a:xfrm>
        </p:spPr>
        <p:txBody>
          <a:bodyPr>
            <a:noAutofit/>
          </a:bodyPr>
          <a:lstStyle/>
          <a:p>
            <a:r>
              <a:rPr lang="pt-BR" sz="2800" b="1" dirty="0" smtClean="0"/>
              <a:t>Inicialização</a:t>
            </a:r>
            <a:r>
              <a:rPr lang="pt-BR" sz="2800" dirty="0" smtClean="0"/>
              <a:t>: </a:t>
            </a:r>
          </a:p>
          <a:p>
            <a:pPr>
              <a:buNone/>
            </a:pPr>
            <a:r>
              <a:rPr lang="pt-BR" sz="2800" dirty="0" smtClean="0"/>
              <a:t>	Quando </a:t>
            </a:r>
            <a:r>
              <a:rPr lang="pt-BR" sz="2800" b="1" dirty="0" smtClean="0"/>
              <a:t>j=1</a:t>
            </a:r>
            <a:r>
              <a:rPr lang="pt-BR" sz="2800" dirty="0" smtClean="0"/>
              <a:t>, o vetor </a:t>
            </a:r>
            <a:r>
              <a:rPr lang="pt-BR" sz="2800" b="1" dirty="0" smtClean="0"/>
              <a:t>v[0..j-1] </a:t>
            </a:r>
            <a:r>
              <a:rPr lang="pt-BR" sz="2800" dirty="0" smtClean="0"/>
              <a:t>consiste apenas no único elemento </a:t>
            </a:r>
            <a:r>
              <a:rPr lang="pt-BR" sz="2800" b="1" dirty="0" smtClean="0"/>
              <a:t>v[0]</a:t>
            </a:r>
            <a:r>
              <a:rPr lang="pt-BR" sz="2800" dirty="0" smtClean="0"/>
              <a:t>, que é de fato elemento original de </a:t>
            </a:r>
            <a:r>
              <a:rPr lang="pt-BR" sz="2800" b="1" dirty="0" smtClean="0"/>
              <a:t>v[0]</a:t>
            </a:r>
            <a:r>
              <a:rPr lang="pt-BR" sz="2800" dirty="0" smtClean="0"/>
              <a:t>. </a:t>
            </a:r>
          </a:p>
          <a:p>
            <a:pPr>
              <a:buNone/>
            </a:pPr>
            <a:r>
              <a:rPr lang="pt-BR" sz="2800" dirty="0" smtClean="0"/>
              <a:t>	Além disso, está ordenado (trivialmente) e isso mostra que os invariantes são válidos antes da primeira iteração.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 (parte 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700808"/>
            <a:ext cx="7992888" cy="4896544"/>
          </a:xfrm>
        </p:spPr>
        <p:txBody>
          <a:bodyPr>
            <a:noAutofit/>
          </a:bodyPr>
          <a:lstStyle/>
          <a:p>
            <a:r>
              <a:rPr lang="pt-BR" b="1" dirty="0" smtClean="0"/>
              <a:t>Manutenção</a:t>
            </a:r>
            <a:r>
              <a:rPr lang="pt-BR" dirty="0" smtClean="0"/>
              <a:t>: </a:t>
            </a:r>
          </a:p>
          <a:p>
            <a:pPr>
              <a:buNone/>
            </a:pPr>
            <a:r>
              <a:rPr lang="pt-BR" dirty="0" smtClean="0"/>
              <a:t>	Seja </a:t>
            </a:r>
            <a:r>
              <a:rPr lang="pt-BR" b="1" dirty="0" smtClean="0"/>
              <a:t>j </a:t>
            </a:r>
            <a:r>
              <a:rPr lang="pt-BR" dirty="0" smtClean="0"/>
              <a:t>um valor qualquer dado por </a:t>
            </a:r>
            <a:r>
              <a:rPr lang="pt-BR" b="1" dirty="0" smtClean="0"/>
              <a:t>1 &lt; j &lt; n</a:t>
            </a:r>
            <a:r>
              <a:rPr lang="pt-BR" dirty="0" smtClean="0"/>
              <a:t>. </a:t>
            </a:r>
          </a:p>
          <a:p>
            <a:pPr>
              <a:buNone/>
            </a:pPr>
            <a:r>
              <a:rPr lang="pt-BR" dirty="0" smtClean="0"/>
              <a:t>	O laço </a:t>
            </a:r>
            <a:r>
              <a:rPr lang="pt-BR" b="1" dirty="0" smtClean="0"/>
              <a:t>for </a:t>
            </a:r>
            <a:r>
              <a:rPr lang="pt-BR" dirty="0" smtClean="0"/>
              <a:t>funciona deslocando os elementos </a:t>
            </a:r>
            <a:r>
              <a:rPr lang="pt-BR" b="1" dirty="0" smtClean="0"/>
              <a:t>v[j-1], v[j-2], v[j-3], </a:t>
            </a:r>
            <a:r>
              <a:rPr lang="pt-BR" dirty="0" smtClean="0"/>
              <a:t>e assim por diante, uma posição para direita até encontrar a posição adequada para </a:t>
            </a:r>
            <a:r>
              <a:rPr lang="pt-BR" b="1" dirty="0" smtClean="0"/>
              <a:t>v[j]; </a:t>
            </a:r>
            <a:r>
              <a:rPr lang="pt-BR" dirty="0" smtClean="0"/>
              <a:t>neste ponto ele insere o valor </a:t>
            </a:r>
            <a:r>
              <a:rPr lang="pt-BR" b="1" dirty="0" smtClean="0"/>
              <a:t>v[j]</a:t>
            </a:r>
            <a:r>
              <a:rPr lang="pt-BR" dirty="0" smtClean="0"/>
              <a:t>.	</a:t>
            </a:r>
          </a:p>
          <a:p>
            <a:pPr>
              <a:buNone/>
            </a:pPr>
            <a:r>
              <a:rPr lang="pt-BR" dirty="0" smtClean="0"/>
              <a:t>	 Assim o vetor </a:t>
            </a:r>
            <a:r>
              <a:rPr lang="pt-BR" b="1" dirty="0" smtClean="0"/>
              <a:t>v[0..j]</a:t>
            </a:r>
            <a:r>
              <a:rPr lang="pt-BR" dirty="0" smtClean="0"/>
              <a:t> consiste nos elementos presentes originalmente em </a:t>
            </a:r>
            <a:r>
              <a:rPr lang="pt-BR" b="1" dirty="0" smtClean="0"/>
              <a:t>v[0..j]</a:t>
            </a:r>
            <a:r>
              <a:rPr lang="pt-BR" dirty="0" smtClean="0"/>
              <a:t>, mas em sequência ordenada. Portanto, ao incrementar </a:t>
            </a:r>
            <a:r>
              <a:rPr lang="pt-BR" b="1" dirty="0" smtClean="0"/>
              <a:t>j </a:t>
            </a:r>
            <a:r>
              <a:rPr lang="pt-BR" dirty="0" smtClean="0"/>
              <a:t>para a próxima iteração do laço, preserva-se os invariantes.</a:t>
            </a:r>
          </a:p>
          <a:p>
            <a:pPr>
              <a:buNone/>
            </a:pPr>
            <a:r>
              <a:rPr lang="pt-BR" dirty="0" smtClean="0"/>
              <a:t> 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 (parte 3)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772816"/>
            <a:ext cx="7834064" cy="4824536"/>
          </a:xfrm>
        </p:spPr>
        <p:txBody>
          <a:bodyPr>
            <a:normAutofit/>
          </a:bodyPr>
          <a:lstStyle/>
          <a:p>
            <a:pPr algn="just"/>
            <a:r>
              <a:rPr lang="pt-BR" b="1" dirty="0" smtClean="0"/>
              <a:t>Término</a:t>
            </a:r>
            <a:r>
              <a:rPr lang="pt-BR" dirty="0" smtClean="0"/>
              <a:t>: A condição que provoca o término do laço </a:t>
            </a:r>
            <a:r>
              <a:rPr lang="pt-BR" b="1" dirty="0" smtClean="0"/>
              <a:t>for </a:t>
            </a:r>
            <a:r>
              <a:rPr lang="pt-BR" dirty="0" smtClean="0"/>
              <a:t>é que </a:t>
            </a:r>
            <a:r>
              <a:rPr lang="pt-BR" b="1" dirty="0" smtClean="0"/>
              <a:t>j = n</a:t>
            </a:r>
            <a:r>
              <a:rPr lang="pt-BR" dirty="0" smtClean="0"/>
              <a:t>. Substituindo </a:t>
            </a:r>
            <a:r>
              <a:rPr lang="pt-BR" b="1" dirty="0" smtClean="0"/>
              <a:t>j </a:t>
            </a:r>
            <a:r>
              <a:rPr lang="pt-BR" dirty="0" smtClean="0"/>
              <a:t>por </a:t>
            </a:r>
            <a:r>
              <a:rPr lang="pt-BR" b="1" dirty="0" smtClean="0"/>
              <a:t>n </a:t>
            </a:r>
            <a:r>
              <a:rPr lang="pt-BR" dirty="0" smtClean="0"/>
              <a:t>no enunciado dos invariantes de laço, temos que:</a:t>
            </a:r>
          </a:p>
          <a:p>
            <a:pPr marL="788670" lvl="1" indent="-514350" algn="just">
              <a:buAutoNum type="arabicPeriod"/>
            </a:pPr>
            <a:r>
              <a:rPr lang="pt-BR" sz="2600" b="1" dirty="0" smtClean="0"/>
              <a:t>v[0..n-1] </a:t>
            </a:r>
            <a:r>
              <a:rPr lang="pt-BR" sz="2600" dirty="0" smtClean="0"/>
              <a:t>consiste nos elementos que estavam originalmente em </a:t>
            </a:r>
            <a:r>
              <a:rPr lang="pt-BR" sz="2600" b="1" dirty="0" smtClean="0"/>
              <a:t>v[0..n-1]</a:t>
            </a:r>
            <a:r>
              <a:rPr lang="pt-BR" sz="2600" dirty="0" smtClean="0"/>
              <a:t>;</a:t>
            </a:r>
          </a:p>
          <a:p>
            <a:pPr marL="788670" lvl="1" indent="-514350" algn="just">
              <a:buAutoNum type="arabicPeriod"/>
            </a:pPr>
            <a:r>
              <a:rPr lang="pt-BR" sz="2600" dirty="0" smtClean="0"/>
              <a:t>O vetor </a:t>
            </a:r>
            <a:r>
              <a:rPr lang="pt-BR" sz="2600" b="1" dirty="0" smtClean="0"/>
              <a:t>v[0..n-1] </a:t>
            </a:r>
            <a:r>
              <a:rPr lang="pt-BR" sz="2600" dirty="0" smtClean="0"/>
              <a:t>é crescente;</a:t>
            </a:r>
          </a:p>
          <a:p>
            <a:pPr marL="788670" lvl="1" indent="-514350" algn="just">
              <a:buAutoNum type="arabicPeriod"/>
            </a:pPr>
            <a:endParaRPr lang="pt-BR" dirty="0" smtClean="0"/>
          </a:p>
          <a:p>
            <a:pPr algn="just">
              <a:buNone/>
            </a:pPr>
            <a:r>
              <a:rPr lang="pt-BR" dirty="0" smtClean="0"/>
              <a:t>	Observando que </a:t>
            </a:r>
            <a:r>
              <a:rPr lang="pt-BR" b="1" dirty="0" smtClean="0"/>
              <a:t>v[0..n-1] </a:t>
            </a:r>
            <a:r>
              <a:rPr lang="pt-BR" dirty="0" smtClean="0"/>
              <a:t>é o vetor inteiro dado no início do problema, concluímos que o vetor inteiro está ordenado. Portanto o algoritmo está correto.</a:t>
            </a:r>
          </a:p>
          <a:p>
            <a:pPr algn="just"/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500553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pt-BR" sz="2800" dirty="0" smtClean="0"/>
              <a:t>Usando o slide 16 como modelo, ilustre a operação </a:t>
            </a:r>
            <a:r>
              <a:rPr lang="pt-BR" sz="2800" b="1" dirty="0" err="1" smtClean="0"/>
              <a:t>Insertion</a:t>
            </a:r>
            <a:r>
              <a:rPr lang="pt-BR" sz="2800" b="1" dirty="0" smtClean="0"/>
              <a:t> </a:t>
            </a:r>
            <a:r>
              <a:rPr lang="pt-BR" sz="2800" b="1" dirty="0" err="1" smtClean="0"/>
              <a:t>Sort</a:t>
            </a:r>
            <a:r>
              <a:rPr lang="pt-BR" sz="2800" b="1" dirty="0" smtClean="0"/>
              <a:t> </a:t>
            </a:r>
            <a:r>
              <a:rPr lang="pt-BR" sz="2800" dirty="0" smtClean="0"/>
              <a:t>no vetor </a:t>
            </a:r>
            <a:r>
              <a:rPr lang="pt-BR" sz="2800" b="1" dirty="0" smtClean="0"/>
              <a:t>v = {31, 41, 59, 26, 41, 58}.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pt-BR" sz="2800" dirty="0" smtClean="0"/>
              <a:t>Reescreva a função </a:t>
            </a:r>
            <a:r>
              <a:rPr lang="pt-BR" sz="2800" b="1" dirty="0" err="1" smtClean="0"/>
              <a:t>Insertion</a:t>
            </a:r>
            <a:r>
              <a:rPr lang="pt-BR" sz="2800" b="1" dirty="0" smtClean="0"/>
              <a:t> </a:t>
            </a:r>
            <a:r>
              <a:rPr lang="pt-BR" sz="2800" b="1" dirty="0" err="1" smtClean="0"/>
              <a:t>Sort</a:t>
            </a:r>
            <a:r>
              <a:rPr lang="pt-BR" sz="2800" b="1" dirty="0" smtClean="0"/>
              <a:t> </a:t>
            </a:r>
            <a:r>
              <a:rPr lang="pt-BR" sz="2800" dirty="0" smtClean="0"/>
              <a:t>para ordenar em ordem </a:t>
            </a:r>
            <a:r>
              <a:rPr lang="pt-BR" sz="2800" b="1" dirty="0" smtClean="0"/>
              <a:t>decrescente</a:t>
            </a:r>
            <a:r>
              <a:rPr lang="pt-BR" sz="2800" dirty="0" smtClean="0"/>
              <a:t>;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pt-BR" sz="2800" dirty="0" smtClean="0"/>
              <a:t>Escreva a função </a:t>
            </a:r>
            <a:r>
              <a:rPr lang="pt-BR" sz="2800" b="1" dirty="0" err="1" smtClean="0"/>
              <a:t>minimax</a:t>
            </a:r>
            <a:r>
              <a:rPr lang="pt-BR" sz="2800" b="1" dirty="0" smtClean="0"/>
              <a:t>(), </a:t>
            </a:r>
            <a:r>
              <a:rPr lang="pt-BR" sz="2800" dirty="0" smtClean="0"/>
              <a:t>cuja chamada </a:t>
            </a:r>
            <a:r>
              <a:rPr lang="pt-BR" sz="2800" b="1" dirty="0" err="1" smtClean="0"/>
              <a:t>minimax</a:t>
            </a:r>
            <a:r>
              <a:rPr lang="pt-BR" sz="2800" b="1" dirty="0" smtClean="0"/>
              <a:t> (v[ ], n, &amp;a, &amp;b)</a:t>
            </a:r>
            <a:r>
              <a:rPr lang="pt-BR" sz="2800" dirty="0" smtClean="0"/>
              <a:t>, recebe um vetor </a:t>
            </a:r>
            <a:r>
              <a:rPr lang="pt-BR" sz="2800" b="1" dirty="0" smtClean="0"/>
              <a:t>v</a:t>
            </a:r>
            <a:r>
              <a:rPr lang="pt-BR" sz="2800" dirty="0" smtClean="0"/>
              <a:t>, com </a:t>
            </a:r>
            <a:r>
              <a:rPr lang="pt-BR" sz="2800" b="1" dirty="0" smtClean="0"/>
              <a:t>n</a:t>
            </a:r>
            <a:r>
              <a:rPr lang="pt-BR" sz="2800" dirty="0" smtClean="0"/>
              <a:t> valores reais, devolve em </a:t>
            </a:r>
            <a:r>
              <a:rPr lang="pt-BR" sz="2800" b="1" i="1" dirty="0" smtClean="0"/>
              <a:t>a</a:t>
            </a:r>
            <a:r>
              <a:rPr lang="pt-BR" sz="2800" i="1" dirty="0" smtClean="0"/>
              <a:t> </a:t>
            </a:r>
            <a:r>
              <a:rPr lang="pt-BR" sz="2800" dirty="0" smtClean="0"/>
              <a:t>o menor valor dentre aqueles armazenados no vetor e devolve em </a:t>
            </a:r>
            <a:r>
              <a:rPr lang="pt-BR" sz="2800" b="1" i="1" dirty="0" smtClean="0"/>
              <a:t>b</a:t>
            </a:r>
            <a:r>
              <a:rPr lang="pt-BR" sz="2800" i="1" dirty="0" smtClean="0"/>
              <a:t> </a:t>
            </a:r>
            <a:r>
              <a:rPr lang="pt-BR" sz="2800" dirty="0" smtClean="0"/>
              <a:t>o maior deles. Enuncie os </a:t>
            </a:r>
            <a:r>
              <a:rPr lang="pt-BR" sz="2800" b="1" dirty="0" smtClean="0"/>
              <a:t>invariantes de laço </a:t>
            </a:r>
            <a:r>
              <a:rPr lang="pt-BR" sz="2800" dirty="0" smtClean="0"/>
              <a:t>e prove que sua solução está </a:t>
            </a:r>
            <a:r>
              <a:rPr lang="pt-BR" sz="2800" b="1" dirty="0" smtClean="0"/>
              <a:t>correta</a:t>
            </a:r>
            <a:r>
              <a:rPr lang="pt-BR" sz="2800" dirty="0" smtClean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Envio de atividades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Até dia 26/02 para o e-mail da disciplina: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pt-BR" dirty="0" smtClean="0">
                <a:hlinkClick r:id="rId2"/>
              </a:rPr>
              <a:t>atividadesial501@yahoo.com.br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>
              <a:lnSpc>
                <a:spcPct val="110000"/>
              </a:lnSpc>
            </a:pPr>
            <a:r>
              <a:rPr lang="pt-BR" sz="2800" dirty="0" smtClean="0"/>
              <a:t>Assunto/ </a:t>
            </a:r>
            <a:r>
              <a:rPr lang="pt-BR" sz="2800" dirty="0" err="1" smtClean="0"/>
              <a:t>Subject</a:t>
            </a:r>
            <a:r>
              <a:rPr lang="pt-BR" sz="2800" dirty="0" smtClean="0"/>
              <a:t>: Atividades 2 a 6</a:t>
            </a:r>
          </a:p>
          <a:p>
            <a:pPr>
              <a:lnSpc>
                <a:spcPct val="110000"/>
              </a:lnSpc>
            </a:pPr>
            <a:r>
              <a:rPr lang="pt-BR" sz="2800" dirty="0" smtClean="0"/>
              <a:t>Identifique-se: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Nome: Fulano de Tal </a:t>
            </a:r>
          </a:p>
          <a:p>
            <a:pPr lvl="1">
              <a:lnSpc>
                <a:spcPct val="110000"/>
              </a:lnSpc>
            </a:pPr>
            <a:r>
              <a:rPr lang="pt-BR" dirty="0" smtClean="0"/>
              <a:t>Matrícula: </a:t>
            </a:r>
            <a:r>
              <a:rPr lang="pt-BR" dirty="0" err="1" smtClean="0"/>
              <a:t>xxxxx</a:t>
            </a:r>
            <a:r>
              <a:rPr lang="pt-BR" dirty="0" smtClean="0"/>
              <a:t>-x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pt-BR" dirty="0" smtClean="0"/>
              <a:t>Algoritmos: Teoria e prática. CLRS. 1.2 e 2.2</a:t>
            </a:r>
          </a:p>
          <a:p>
            <a:pPr>
              <a:lnSpc>
                <a:spcPct val="120000"/>
              </a:lnSpc>
            </a:pPr>
            <a:r>
              <a:rPr lang="pt-BR" dirty="0" smtClean="0"/>
              <a:t>Algoritmos em linguagem C. </a:t>
            </a:r>
            <a:r>
              <a:rPr lang="pt-BR" dirty="0" err="1" smtClean="0"/>
              <a:t>Feofillof</a:t>
            </a:r>
            <a:r>
              <a:rPr lang="pt-BR" dirty="0" smtClean="0"/>
              <a:t>. 1.2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1638</TotalTime>
  <Words>1136</Words>
  <Application>Microsoft Office PowerPoint</Application>
  <PresentationFormat>Apresentação na tela (4:3)</PresentationFormat>
  <Paragraphs>212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Patrimônio Líquido</vt:lpstr>
      <vt:lpstr>Análise de Algoritmos IAL 501</vt:lpstr>
      <vt:lpstr>Objetivo da Aula</vt:lpstr>
      <vt:lpstr>Algoritmos</vt:lpstr>
      <vt:lpstr>Características  comuns aos problemas apresentados:</vt:lpstr>
      <vt:lpstr>Eficiência</vt:lpstr>
      <vt:lpstr>Qual o mais eficiente?</vt:lpstr>
      <vt:lpstr>Exemplo em máquinas diferentes</vt:lpstr>
      <vt:lpstr>Atividade 02</vt:lpstr>
      <vt:lpstr>Atividade 03</vt:lpstr>
      <vt:lpstr>Invariantes de laço</vt:lpstr>
      <vt:lpstr>Invariantes de laço</vt:lpstr>
      <vt:lpstr>Ordenando cartas</vt:lpstr>
      <vt:lpstr>Representação em vetor</vt:lpstr>
      <vt:lpstr>Pergunta: como inserir entre dois valores?</vt:lpstr>
      <vt:lpstr>Problema de Ordenação</vt:lpstr>
      <vt:lpstr>Ordenação por inserção</vt:lpstr>
      <vt:lpstr>Ordenação por inserção (Insertion Sort)</vt:lpstr>
      <vt:lpstr>Prova de correção</vt:lpstr>
      <vt:lpstr>Correção: Insertion Sort (parte 1)</vt:lpstr>
      <vt:lpstr>Correção: Insertion Sort (parte 2)</vt:lpstr>
      <vt:lpstr>Correção: Insertion Sort (parte 3)</vt:lpstr>
      <vt:lpstr>Atividades</vt:lpstr>
      <vt:lpstr>Envio de atividades</vt:lpstr>
      <vt:lpstr>Referências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143</cp:revision>
  <dcterms:created xsi:type="dcterms:W3CDTF">2011-02-25T18:12:46Z</dcterms:created>
  <dcterms:modified xsi:type="dcterms:W3CDTF">2016-02-19T19:44:20Z</dcterms:modified>
</cp:coreProperties>
</file>