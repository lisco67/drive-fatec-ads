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23"/>
  </p:notesMasterIdLst>
  <p:sldIdLst>
    <p:sldId id="256" r:id="rId2"/>
    <p:sldId id="329" r:id="rId3"/>
    <p:sldId id="338" r:id="rId4"/>
    <p:sldId id="339" r:id="rId5"/>
    <p:sldId id="340" r:id="rId6"/>
    <p:sldId id="341" r:id="rId7"/>
    <p:sldId id="342" r:id="rId8"/>
    <p:sldId id="314" r:id="rId9"/>
    <p:sldId id="333" r:id="rId10"/>
    <p:sldId id="330" r:id="rId11"/>
    <p:sldId id="337" r:id="rId12"/>
    <p:sldId id="343" r:id="rId13"/>
    <p:sldId id="323" r:id="rId14"/>
    <p:sldId id="344" r:id="rId15"/>
    <p:sldId id="346" r:id="rId16"/>
    <p:sldId id="345" r:id="rId17"/>
    <p:sldId id="335" r:id="rId18"/>
    <p:sldId id="347" r:id="rId19"/>
    <p:sldId id="350" r:id="rId20"/>
    <p:sldId id="349" r:id="rId21"/>
    <p:sldId id="348" r:id="rId22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26/02/2016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20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smtClean="0">
                <a:solidFill>
                  <a:schemeClr val="tx2">
                    <a:lumMod val="75000"/>
                  </a:schemeClr>
                </a:solidFill>
              </a:rPr>
              <a:t>Aula 03 </a:t>
            </a:r>
            <a:endParaRPr lang="pt-BR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 da Aula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Correção de atividades</a:t>
            </a:r>
          </a:p>
          <a:p>
            <a:r>
              <a:rPr lang="pt-BR" dirty="0" smtClean="0"/>
              <a:t>Análise da ordenação por inserção</a:t>
            </a:r>
          </a:p>
          <a:p>
            <a:r>
              <a:rPr lang="pt-BR" dirty="0" smtClean="0"/>
              <a:t>Ordem de Crescimento </a:t>
            </a:r>
          </a:p>
          <a:p>
            <a:r>
              <a:rPr lang="pt-BR" dirty="0" smtClean="0"/>
              <a:t>Notação Teta</a:t>
            </a:r>
          </a:p>
          <a:p>
            <a:r>
              <a:rPr lang="pt-BR" dirty="0" smtClean="0"/>
              <a:t>Atividades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6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83568" y="1447800"/>
            <a:ext cx="8003232" cy="5005536"/>
          </a:xfrm>
        </p:spPr>
        <p:txBody>
          <a:bodyPr>
            <a:normAutofit/>
          </a:bodyPr>
          <a:lstStyle/>
          <a:p>
            <a:pPr marL="514350" indent="-514350"/>
            <a:r>
              <a:rPr lang="pt-BR" sz="2800" dirty="0" smtClean="0"/>
              <a:t>Escreva a função </a:t>
            </a:r>
            <a:r>
              <a:rPr lang="pt-BR" sz="2800" b="1" dirty="0" err="1" smtClean="0"/>
              <a:t>minimax</a:t>
            </a:r>
            <a:r>
              <a:rPr lang="pt-BR" sz="2800" b="1" dirty="0" smtClean="0"/>
              <a:t>(), </a:t>
            </a:r>
            <a:r>
              <a:rPr lang="pt-BR" sz="2800" dirty="0" smtClean="0"/>
              <a:t>cuja chamada </a:t>
            </a:r>
            <a:r>
              <a:rPr lang="pt-BR" sz="2800" b="1" dirty="0" err="1" smtClean="0"/>
              <a:t>minimax</a:t>
            </a:r>
            <a:r>
              <a:rPr lang="pt-BR" sz="2800" b="1" dirty="0" smtClean="0"/>
              <a:t> (v[ ], n, &amp;a, &amp;b)</a:t>
            </a:r>
            <a:r>
              <a:rPr lang="pt-BR" sz="2800" dirty="0" smtClean="0"/>
              <a:t>, recebe um vetor </a:t>
            </a:r>
            <a:r>
              <a:rPr lang="pt-BR" sz="2800" b="1" dirty="0" smtClean="0"/>
              <a:t>v</a:t>
            </a:r>
            <a:r>
              <a:rPr lang="pt-BR" sz="2800" dirty="0" smtClean="0"/>
              <a:t>, com </a:t>
            </a:r>
            <a:r>
              <a:rPr lang="pt-BR" sz="2800" b="1" dirty="0" smtClean="0"/>
              <a:t>n</a:t>
            </a:r>
            <a:r>
              <a:rPr lang="pt-BR" sz="2800" dirty="0" smtClean="0"/>
              <a:t> valores reais, devolve em </a:t>
            </a:r>
            <a:r>
              <a:rPr lang="pt-BR" sz="2800" b="1" i="1" dirty="0" smtClean="0"/>
              <a:t>a</a:t>
            </a:r>
            <a:r>
              <a:rPr lang="pt-BR" sz="2800" i="1" dirty="0" smtClean="0"/>
              <a:t> </a:t>
            </a:r>
            <a:r>
              <a:rPr lang="pt-BR" sz="2800" dirty="0" smtClean="0"/>
              <a:t>o menor valor dentre aqueles armazenados no vetor e devolve em </a:t>
            </a:r>
            <a:r>
              <a:rPr lang="pt-BR" sz="2800" b="1" i="1" dirty="0" smtClean="0"/>
              <a:t>b</a:t>
            </a:r>
            <a:r>
              <a:rPr lang="pt-BR" sz="2800" i="1" dirty="0" smtClean="0"/>
              <a:t> </a:t>
            </a:r>
            <a:r>
              <a:rPr lang="pt-BR" sz="2800" dirty="0" smtClean="0"/>
              <a:t>o maior deles. </a:t>
            </a:r>
          </a:p>
          <a:p>
            <a:pPr marL="514350" indent="-514350"/>
            <a:endParaRPr lang="pt-BR" sz="2800" dirty="0" smtClean="0"/>
          </a:p>
          <a:p>
            <a:pPr marL="514350" indent="-514350"/>
            <a:r>
              <a:rPr lang="pt-BR" sz="2800" dirty="0" smtClean="0"/>
              <a:t>Enuncie os </a:t>
            </a:r>
            <a:r>
              <a:rPr lang="pt-BR" sz="2800" b="1" dirty="0" smtClean="0"/>
              <a:t>invariantes de laço </a:t>
            </a:r>
            <a:r>
              <a:rPr lang="pt-BR" sz="2800" dirty="0" smtClean="0"/>
              <a:t>e prove que sua solução está </a:t>
            </a:r>
            <a:r>
              <a:rPr lang="pt-BR" sz="2800" b="1" dirty="0" smtClean="0"/>
              <a:t>correta</a:t>
            </a:r>
            <a:r>
              <a:rPr lang="pt-BR" sz="2800" dirty="0" smtClean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 </a:t>
            </a:r>
            <a:r>
              <a:rPr lang="pt-BR" dirty="0" err="1" smtClean="0"/>
              <a:t>Minimax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899592" y="1447800"/>
            <a:ext cx="7787208" cy="2269232"/>
          </a:xfrm>
          <a:solidFill>
            <a:srgbClr val="FFFFCC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buNone/>
            </a:pP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Minimax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float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v[],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n,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float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*a,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float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*b){</a:t>
            </a:r>
          </a:p>
          <a:p>
            <a:pPr algn="just">
              <a:spcBef>
                <a:spcPts val="0"/>
              </a:spcBef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j;</a:t>
            </a:r>
          </a:p>
          <a:p>
            <a:pPr algn="just">
              <a:spcBef>
                <a:spcPts val="0"/>
              </a:spcBef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*a = *b = v[0];</a:t>
            </a:r>
          </a:p>
          <a:p>
            <a:pPr algn="just">
              <a:spcBef>
                <a:spcPts val="0"/>
              </a:spcBef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for (j = 1; j &lt; n; j++){</a:t>
            </a:r>
          </a:p>
          <a:p>
            <a:pPr algn="just">
              <a:spcBef>
                <a:spcPts val="0"/>
              </a:spcBef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(v[j] &lt; *a) 	*a = v[j];</a:t>
            </a:r>
          </a:p>
          <a:p>
            <a:pPr algn="just">
              <a:spcBef>
                <a:spcPts val="0"/>
              </a:spcBef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(v[j] &gt; *b) 	*b = v[j];</a:t>
            </a:r>
          </a:p>
          <a:p>
            <a:pPr algn="just">
              <a:spcBef>
                <a:spcPts val="0"/>
              </a:spcBef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algn="just">
              <a:spcBef>
                <a:spcPts val="0"/>
              </a:spcBef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683568" y="4077072"/>
            <a:ext cx="8280920" cy="172819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pt-B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iteração controlada pelo </a:t>
            </a:r>
            <a:r>
              <a:rPr kumimoji="0" lang="pt-BR" sz="2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pt-BR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tem os seguintes invariantes:</a:t>
            </a:r>
          </a:p>
          <a:p>
            <a:pPr marL="731520" lvl="1" indent="-274320" fontAlgn="auto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kumimoji="0" lang="pt-BR" sz="26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início de cada iteração, *a é um elemento mínimo de v[0..j-1];</a:t>
            </a:r>
          </a:p>
          <a:p>
            <a:pPr marL="731520" lvl="1" indent="-274320" fontAlgn="auto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</a:pPr>
            <a:r>
              <a:rPr lang="pt-BR" sz="2600" i="1" dirty="0" smtClean="0">
                <a:latin typeface="+mn-lt"/>
              </a:rPr>
              <a:t>no início de cada iteração, *b é um elemento máximo de v[0..j-1]; </a:t>
            </a:r>
          </a:p>
          <a:p>
            <a:pPr marL="731520" lvl="1" indent="-274320" fontAlgn="auto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</a:pPr>
            <a:endParaRPr kumimoji="0" lang="pt-BR" sz="26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</a:t>
            </a:r>
            <a:r>
              <a:rPr lang="pt-BR" dirty="0" err="1" smtClean="0"/>
              <a:t>Minimax</a:t>
            </a:r>
            <a:r>
              <a:rPr lang="pt-BR" dirty="0" smtClean="0"/>
              <a:t> (parte 1)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755576" y="1772816"/>
            <a:ext cx="8064896" cy="4824536"/>
          </a:xfrm>
        </p:spPr>
        <p:txBody>
          <a:bodyPr>
            <a:noAutofit/>
          </a:bodyPr>
          <a:lstStyle/>
          <a:p>
            <a:r>
              <a:rPr lang="pt-BR" sz="2800" b="1" dirty="0" smtClean="0"/>
              <a:t>Inicialização</a:t>
            </a:r>
            <a:r>
              <a:rPr lang="pt-BR" sz="2800" dirty="0" smtClean="0"/>
              <a:t>: </a:t>
            </a:r>
          </a:p>
          <a:p>
            <a:pPr>
              <a:buNone/>
            </a:pPr>
            <a:r>
              <a:rPr lang="pt-BR" sz="2800" dirty="0" smtClean="0"/>
              <a:t>	Quando </a:t>
            </a:r>
            <a:r>
              <a:rPr lang="pt-BR" sz="2800" b="1" dirty="0" smtClean="0"/>
              <a:t>j=1</a:t>
            </a:r>
            <a:r>
              <a:rPr lang="pt-BR" sz="2800" dirty="0" smtClean="0"/>
              <a:t>, o vetor </a:t>
            </a:r>
            <a:r>
              <a:rPr lang="pt-BR" sz="2800" b="1" dirty="0" smtClean="0"/>
              <a:t>v[0..j-1] </a:t>
            </a:r>
            <a:r>
              <a:rPr lang="pt-BR" sz="2800" dirty="0" smtClean="0"/>
              <a:t>consiste apenas no único elemento </a:t>
            </a:r>
            <a:r>
              <a:rPr lang="pt-BR" sz="2800" b="1" dirty="0" smtClean="0"/>
              <a:t>v[0]</a:t>
            </a:r>
            <a:r>
              <a:rPr lang="pt-BR" sz="2800" dirty="0" smtClean="0"/>
              <a:t>. </a:t>
            </a:r>
          </a:p>
          <a:p>
            <a:pPr>
              <a:buNone/>
            </a:pPr>
            <a:r>
              <a:rPr lang="pt-BR" sz="2800" dirty="0" smtClean="0"/>
              <a:t>	Assim, *a contém o </a:t>
            </a:r>
            <a:r>
              <a:rPr lang="pt-BR" sz="2800" b="1" dirty="0" smtClean="0"/>
              <a:t>menor valor </a:t>
            </a:r>
            <a:r>
              <a:rPr lang="pt-BR" sz="2800" dirty="0" smtClean="0"/>
              <a:t>armazenado em v[0], que é ele mesmo e *b contém o </a:t>
            </a:r>
            <a:r>
              <a:rPr lang="pt-BR" sz="2800" b="1" dirty="0" smtClean="0"/>
              <a:t>maior valor </a:t>
            </a:r>
            <a:r>
              <a:rPr lang="pt-BR" sz="2800" dirty="0" smtClean="0"/>
              <a:t>armazenado em v[0], que é ele mesmo;</a:t>
            </a:r>
          </a:p>
          <a:p>
            <a:pPr>
              <a:buNone/>
            </a:pPr>
            <a:r>
              <a:rPr lang="pt-BR" sz="2800" dirty="0" smtClean="0"/>
              <a:t>	</a:t>
            </a:r>
          </a:p>
          <a:p>
            <a:pPr>
              <a:buNone/>
            </a:pPr>
            <a:r>
              <a:rPr lang="pt-BR" sz="2800" dirty="0" smtClean="0"/>
              <a:t>	Isso mostra que os invariantes são válidos antes da primeira iteração.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</a:t>
            </a:r>
            <a:r>
              <a:rPr lang="pt-BR" dirty="0" err="1" smtClean="0"/>
              <a:t>Minimax</a:t>
            </a:r>
            <a:r>
              <a:rPr lang="pt-BR" dirty="0" smtClean="0"/>
              <a:t> (parte 2)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1560" y="1700808"/>
            <a:ext cx="8136904" cy="4896544"/>
          </a:xfrm>
        </p:spPr>
        <p:txBody>
          <a:bodyPr>
            <a:noAutofit/>
          </a:bodyPr>
          <a:lstStyle/>
          <a:p>
            <a:r>
              <a:rPr lang="pt-BR" b="1" dirty="0" smtClean="0"/>
              <a:t>Manutenção</a:t>
            </a:r>
            <a:r>
              <a:rPr lang="pt-BR" dirty="0" smtClean="0"/>
              <a:t>: </a:t>
            </a:r>
          </a:p>
          <a:p>
            <a:pPr>
              <a:buNone/>
            </a:pPr>
            <a:r>
              <a:rPr lang="pt-BR" dirty="0" smtClean="0"/>
              <a:t>	Seja </a:t>
            </a:r>
            <a:r>
              <a:rPr lang="pt-BR" b="1" dirty="0" smtClean="0"/>
              <a:t>j </a:t>
            </a:r>
            <a:r>
              <a:rPr lang="pt-BR" dirty="0" smtClean="0"/>
              <a:t>um valor qualquer dado por </a:t>
            </a:r>
            <a:r>
              <a:rPr lang="pt-BR" b="1" dirty="0" smtClean="0"/>
              <a:t>1 &lt; j &lt; n</a:t>
            </a:r>
            <a:r>
              <a:rPr lang="pt-BR" dirty="0" smtClean="0"/>
              <a:t>. </a:t>
            </a:r>
          </a:p>
          <a:p>
            <a:pPr>
              <a:buNone/>
            </a:pPr>
            <a:r>
              <a:rPr lang="pt-BR" dirty="0" smtClean="0"/>
              <a:t>	Dentro do laço </a:t>
            </a:r>
            <a:r>
              <a:rPr lang="pt-BR" b="1" dirty="0" smtClean="0"/>
              <a:t>for </a:t>
            </a:r>
            <a:r>
              <a:rPr lang="pt-BR" dirty="0" smtClean="0"/>
              <a:t>o valor de </a:t>
            </a:r>
            <a:r>
              <a:rPr lang="pt-BR" b="1" dirty="0" smtClean="0"/>
              <a:t>*a </a:t>
            </a:r>
            <a:r>
              <a:rPr lang="pt-BR" dirty="0" smtClean="0"/>
              <a:t>é atualizado para </a:t>
            </a:r>
            <a:r>
              <a:rPr lang="pt-BR" b="1" dirty="0" smtClean="0"/>
              <a:t>v[ j ]</a:t>
            </a:r>
            <a:r>
              <a:rPr lang="pt-BR" dirty="0" smtClean="0"/>
              <a:t> sempre que </a:t>
            </a:r>
            <a:r>
              <a:rPr lang="pt-BR" b="1" dirty="0" smtClean="0"/>
              <a:t>v[ j ] </a:t>
            </a:r>
            <a:r>
              <a:rPr lang="pt-BR" dirty="0" smtClean="0"/>
              <a:t>contém valor menor do que o armazenado em </a:t>
            </a:r>
            <a:r>
              <a:rPr lang="pt-BR" b="1" dirty="0" smtClean="0"/>
              <a:t>*a</a:t>
            </a:r>
            <a:r>
              <a:rPr lang="pt-BR" dirty="0" smtClean="0"/>
              <a:t>. Isso garante que, ao incrementar </a:t>
            </a:r>
            <a:r>
              <a:rPr lang="pt-BR" b="1" dirty="0" smtClean="0"/>
              <a:t>j </a:t>
            </a:r>
            <a:r>
              <a:rPr lang="pt-BR" dirty="0" smtClean="0"/>
              <a:t>para a próxima iteração do laço temos em </a:t>
            </a:r>
            <a:r>
              <a:rPr lang="pt-BR" b="1" dirty="0" smtClean="0"/>
              <a:t>*a </a:t>
            </a:r>
            <a:r>
              <a:rPr lang="pt-BR" dirty="0" smtClean="0"/>
              <a:t>o menor valor do vetor </a:t>
            </a:r>
            <a:r>
              <a:rPr lang="pt-BR" b="1" dirty="0" smtClean="0"/>
              <a:t>v[0..j-1]</a:t>
            </a:r>
            <a:r>
              <a:rPr lang="pt-BR" dirty="0" smtClean="0"/>
              <a:t>;</a:t>
            </a:r>
          </a:p>
          <a:p>
            <a:pPr>
              <a:buNone/>
            </a:pPr>
            <a:r>
              <a:rPr lang="pt-BR" dirty="0" smtClean="0"/>
              <a:t>	O mesmo raciocínio pode ser utilizado para garantir que em </a:t>
            </a:r>
            <a:r>
              <a:rPr lang="pt-BR" b="1" dirty="0" smtClean="0"/>
              <a:t>*b </a:t>
            </a:r>
            <a:r>
              <a:rPr lang="pt-BR" dirty="0" smtClean="0"/>
              <a:t>temos o maior valor do vetor </a:t>
            </a:r>
            <a:r>
              <a:rPr lang="pt-BR" b="1" dirty="0" smtClean="0"/>
              <a:t>v[0..j-1]</a:t>
            </a:r>
            <a:r>
              <a:rPr lang="pt-BR" dirty="0" smtClean="0"/>
              <a:t>;</a:t>
            </a:r>
          </a:p>
          <a:p>
            <a:pPr>
              <a:buNone/>
            </a:pPr>
            <a:r>
              <a:rPr lang="pt-BR" dirty="0" smtClean="0"/>
              <a:t>	Assim, a cada iteração do laço, preserva-se os invariantes.</a:t>
            </a:r>
          </a:p>
          <a:p>
            <a:pPr>
              <a:buNone/>
            </a:pPr>
            <a:r>
              <a:rPr lang="pt-BR" dirty="0" smtClean="0"/>
              <a:t> 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Correção: </a:t>
            </a:r>
            <a:r>
              <a:rPr lang="pt-BR" dirty="0" err="1" smtClean="0"/>
              <a:t>Minimax</a:t>
            </a:r>
            <a:r>
              <a:rPr lang="pt-BR" dirty="0" smtClean="0"/>
              <a:t> (parte 3)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772816"/>
            <a:ext cx="7834064" cy="4824536"/>
          </a:xfrm>
        </p:spPr>
        <p:txBody>
          <a:bodyPr>
            <a:normAutofit/>
          </a:bodyPr>
          <a:lstStyle/>
          <a:p>
            <a:pPr algn="just"/>
            <a:r>
              <a:rPr lang="pt-BR" b="1" dirty="0" smtClean="0"/>
              <a:t>Término</a:t>
            </a:r>
            <a:r>
              <a:rPr lang="pt-BR" dirty="0" smtClean="0"/>
              <a:t>: A condição que provoca o término do laço </a:t>
            </a:r>
            <a:r>
              <a:rPr lang="pt-BR" b="1" dirty="0" smtClean="0"/>
              <a:t>for </a:t>
            </a:r>
            <a:r>
              <a:rPr lang="pt-BR" dirty="0" smtClean="0"/>
              <a:t>é que </a:t>
            </a:r>
            <a:r>
              <a:rPr lang="pt-BR" b="1" dirty="0" smtClean="0"/>
              <a:t>j = n</a:t>
            </a:r>
            <a:r>
              <a:rPr lang="pt-BR" dirty="0" smtClean="0"/>
              <a:t>. Substituindo </a:t>
            </a:r>
            <a:r>
              <a:rPr lang="pt-BR" b="1" dirty="0" smtClean="0"/>
              <a:t>j </a:t>
            </a:r>
            <a:r>
              <a:rPr lang="pt-BR" dirty="0" smtClean="0"/>
              <a:t>por </a:t>
            </a:r>
            <a:r>
              <a:rPr lang="pt-BR" b="1" dirty="0" smtClean="0"/>
              <a:t>n </a:t>
            </a:r>
            <a:r>
              <a:rPr lang="pt-BR" dirty="0" smtClean="0"/>
              <a:t>no enunciado dos invariantes de laço, temos que:</a:t>
            </a:r>
          </a:p>
          <a:p>
            <a:pPr marL="788670" lvl="1" indent="-514350" algn="just">
              <a:buAutoNum type="arabicPeriod"/>
            </a:pPr>
            <a:r>
              <a:rPr lang="pt-BR" sz="2600" b="1" dirty="0" smtClean="0"/>
              <a:t>*a é um elemento mínimo de v[0..n-1]</a:t>
            </a:r>
            <a:r>
              <a:rPr lang="pt-BR" sz="2600" dirty="0" smtClean="0"/>
              <a:t>;</a:t>
            </a:r>
          </a:p>
          <a:p>
            <a:pPr marL="788670" lvl="1" indent="-514350" algn="just">
              <a:buFont typeface="Wingdings 2"/>
              <a:buAutoNum type="arabicPeriod"/>
            </a:pPr>
            <a:r>
              <a:rPr lang="pt-BR" sz="2600" b="1" dirty="0" smtClean="0"/>
              <a:t>*b é um elemento máximo de v[0..n-1]</a:t>
            </a:r>
            <a:r>
              <a:rPr lang="pt-BR" sz="2600" dirty="0" smtClean="0"/>
              <a:t>;</a:t>
            </a:r>
          </a:p>
          <a:p>
            <a:pPr algn="just">
              <a:buNone/>
            </a:pPr>
            <a:endParaRPr lang="pt-BR" dirty="0" smtClean="0"/>
          </a:p>
          <a:p>
            <a:pPr algn="just">
              <a:buNone/>
            </a:pPr>
            <a:r>
              <a:rPr lang="pt-BR" dirty="0" smtClean="0"/>
              <a:t>	Observando que </a:t>
            </a:r>
            <a:r>
              <a:rPr lang="pt-BR" b="1" dirty="0" smtClean="0"/>
              <a:t>v[0..n-1] </a:t>
            </a:r>
            <a:r>
              <a:rPr lang="pt-BR" dirty="0" smtClean="0"/>
              <a:t>é o vetor inteiro dado no início do problema, concluímos que </a:t>
            </a:r>
            <a:r>
              <a:rPr lang="pt-BR" b="1" dirty="0" smtClean="0"/>
              <a:t>*a </a:t>
            </a:r>
            <a:r>
              <a:rPr lang="pt-BR" dirty="0" smtClean="0"/>
              <a:t>possui o elemento mínimo do vetor </a:t>
            </a:r>
            <a:r>
              <a:rPr lang="pt-BR" b="1" dirty="0" smtClean="0"/>
              <a:t>v </a:t>
            </a:r>
            <a:r>
              <a:rPr lang="pt-BR" dirty="0" smtClean="0"/>
              <a:t>e </a:t>
            </a:r>
            <a:r>
              <a:rPr lang="pt-BR" b="1" dirty="0" smtClean="0"/>
              <a:t>*b </a:t>
            </a:r>
            <a:r>
              <a:rPr lang="pt-BR" dirty="0" smtClean="0"/>
              <a:t>possui o elemento máximo. Portanto o algoritmo está correto.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02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62056" cy="5149552"/>
          </a:xfrm>
        </p:spPr>
        <p:txBody>
          <a:bodyPr>
            <a:normAutofit/>
          </a:bodyPr>
          <a:lstStyle/>
          <a:p>
            <a:r>
              <a:rPr lang="pt-BR" sz="2800" dirty="0" smtClean="0"/>
              <a:t>Suponha que estamos comparando implementações de ordenação por </a:t>
            </a:r>
            <a:r>
              <a:rPr lang="pt-BR" sz="2800" b="1" dirty="0" smtClean="0"/>
              <a:t>inserção</a:t>
            </a:r>
            <a:r>
              <a:rPr lang="pt-BR" sz="2800" dirty="0" smtClean="0"/>
              <a:t> e ordenação por </a:t>
            </a:r>
            <a:r>
              <a:rPr lang="pt-BR" sz="2800" b="1" dirty="0" smtClean="0"/>
              <a:t>intercalação </a:t>
            </a:r>
            <a:r>
              <a:rPr lang="pt-BR" sz="2800" dirty="0" smtClean="0"/>
              <a:t>na mesma máquina. </a:t>
            </a:r>
          </a:p>
          <a:p>
            <a:endParaRPr lang="pt-BR" sz="2800" dirty="0" smtClean="0"/>
          </a:p>
          <a:p>
            <a:r>
              <a:rPr lang="pt-BR" sz="2800" dirty="0" smtClean="0"/>
              <a:t>Para entradas de tamanho </a:t>
            </a:r>
            <a:r>
              <a:rPr lang="pt-BR" sz="2800" b="1" dirty="0" smtClean="0"/>
              <a:t>n</a:t>
            </a:r>
            <a:r>
              <a:rPr lang="pt-BR" sz="2800" dirty="0" smtClean="0"/>
              <a:t>, a ordenação por inserção é executada em </a:t>
            </a:r>
            <a:r>
              <a:rPr lang="pt-BR" sz="2800" b="1" dirty="0" smtClean="0"/>
              <a:t>8n</a:t>
            </a:r>
            <a:r>
              <a:rPr lang="pt-BR" sz="2800" b="1" baseline="30000" dirty="0" smtClean="0"/>
              <a:t>2</a:t>
            </a:r>
            <a:r>
              <a:rPr lang="pt-BR" sz="2800" b="1" dirty="0" smtClean="0"/>
              <a:t> </a:t>
            </a:r>
            <a:r>
              <a:rPr lang="pt-BR" sz="2800" dirty="0" smtClean="0"/>
              <a:t>passos, enquanto a ordenação por intercalação é executada em </a:t>
            </a:r>
            <a:r>
              <a:rPr lang="pt-BR" sz="2800" b="1" dirty="0" smtClean="0"/>
              <a:t>64n </a:t>
            </a:r>
            <a:r>
              <a:rPr lang="pt-BR" sz="2800" b="1" dirty="0" err="1" smtClean="0"/>
              <a:t>lg</a:t>
            </a:r>
            <a:r>
              <a:rPr lang="pt-BR" sz="2800" b="1" dirty="0" smtClean="0"/>
              <a:t> n </a:t>
            </a:r>
            <a:r>
              <a:rPr lang="pt-BR" sz="2800" dirty="0" smtClean="0"/>
              <a:t>passos.</a:t>
            </a:r>
          </a:p>
          <a:p>
            <a:endParaRPr lang="pt-BR" sz="2800" dirty="0" smtClean="0"/>
          </a:p>
          <a:p>
            <a:r>
              <a:rPr lang="pt-BR" sz="2800" dirty="0" smtClean="0"/>
              <a:t>Para quais valores de </a:t>
            </a:r>
            <a:r>
              <a:rPr lang="pt-BR" sz="2800" b="1" dirty="0" smtClean="0"/>
              <a:t>n</a:t>
            </a:r>
            <a:r>
              <a:rPr lang="pt-BR" sz="2800" dirty="0" smtClean="0"/>
              <a:t> a ordenação por inserção supera a ordenação por intercalação?</a:t>
            </a:r>
            <a:endParaRPr lang="pt-BR" sz="28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02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043608" y="1412776"/>
          <a:ext cx="7056783" cy="4592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283"/>
                <a:gridCol w="3177250"/>
                <a:gridCol w="3177250"/>
              </a:tblGrid>
              <a:tr h="55592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/>
                        <a:t>Inserção</a:t>
                      </a:r>
                      <a:r>
                        <a:rPr lang="pt-BR" sz="2400" b="1" baseline="0" dirty="0" smtClean="0"/>
                        <a:t> = </a:t>
                      </a:r>
                      <a:r>
                        <a:rPr lang="pt-BR" sz="2400" b="1" dirty="0" smtClean="0"/>
                        <a:t>8n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b="1" dirty="0" smtClean="0"/>
                        <a:t> 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/>
                        <a:t>Intercalação = 64n </a:t>
                      </a:r>
                      <a:r>
                        <a:rPr lang="pt-BR" sz="2400" b="1" dirty="0" err="1" smtClean="0"/>
                        <a:t>lg</a:t>
                      </a:r>
                      <a:r>
                        <a:rPr lang="pt-BR" sz="2400" b="1" dirty="0" smtClean="0"/>
                        <a:t> n</a:t>
                      </a:r>
                      <a:endParaRPr lang="pt-BR" sz="2400" dirty="0"/>
                    </a:p>
                  </a:txBody>
                  <a:tcPr/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    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32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       128,00 </a:t>
                      </a:r>
                    </a:p>
                  </a:txBody>
                  <a:tcPr marL="6350" marR="6350" marT="6350" marB="0" anchor="b"/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 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128 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   512,00 </a:t>
                      </a:r>
                    </a:p>
                  </a:txBody>
                  <a:tcPr marL="6350" marR="6350" marT="6350" marB="0" anchor="b"/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 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512 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1.536,00 </a:t>
                      </a:r>
                    </a:p>
                  </a:txBody>
                  <a:tcPr marL="6350" marR="6350" marT="6350" marB="0" anchor="b"/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2.048 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4.096,00 </a:t>
                      </a:r>
                    </a:p>
                  </a:txBody>
                  <a:tcPr marL="6350" marR="6350" marT="6350" marB="0" anchor="b"/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32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8.192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10.240,00 </a:t>
                      </a:r>
                    </a:p>
                  </a:txBody>
                  <a:tcPr marL="6350" marR="6350" marT="6350" marB="0" anchor="b"/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40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12.800 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13.624,14 </a:t>
                      </a:r>
                    </a:p>
                  </a:txBody>
                  <a:tcPr marL="6350" marR="6350" marT="6350" marB="0" anchor="b"/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43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pt-BR" sz="24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14.792 </a:t>
                      </a:r>
                      <a:endParaRPr lang="pt-BR" sz="24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14.933,08 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44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15.488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15.373,76 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</a:tr>
              <a:tr h="4484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32.768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24.576,00 </a:t>
                      </a: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sp>
        <p:nvSpPr>
          <p:cNvPr id="8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1043608" y="6021288"/>
            <a:ext cx="7632848" cy="648072"/>
          </a:xfrm>
        </p:spPr>
        <p:txBody>
          <a:bodyPr>
            <a:normAutofit/>
          </a:bodyPr>
          <a:lstStyle/>
          <a:p>
            <a:r>
              <a:rPr lang="pt-BR" sz="2800" dirty="0" smtClean="0"/>
              <a:t>O que isso quer dizer??? Em que é útil?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03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Qual o menor valor de </a:t>
            </a:r>
            <a:r>
              <a:rPr lang="pt-BR" b="1" dirty="0" smtClean="0"/>
              <a:t>n </a:t>
            </a:r>
            <a:r>
              <a:rPr lang="pt-BR" dirty="0" smtClean="0"/>
              <a:t>tal que um algoritmo cujo tempo de execução é </a:t>
            </a:r>
            <a:r>
              <a:rPr lang="pt-BR" b="1" dirty="0" smtClean="0"/>
              <a:t>100n</a:t>
            </a:r>
            <a:r>
              <a:rPr lang="pt-BR" b="1" baseline="30000" dirty="0" smtClean="0"/>
              <a:t>2</a:t>
            </a:r>
            <a:r>
              <a:rPr lang="pt-BR" b="1" dirty="0" smtClean="0"/>
              <a:t> </a:t>
            </a:r>
            <a:r>
              <a:rPr lang="pt-BR" dirty="0" smtClean="0"/>
              <a:t>funciona mais rapidamente que um algoritmo cujo tempo de execução é de </a:t>
            </a:r>
            <a:r>
              <a:rPr lang="pt-BR" b="1" dirty="0" smtClean="0"/>
              <a:t>2</a:t>
            </a:r>
            <a:r>
              <a:rPr lang="pt-BR" b="1" baseline="30000" dirty="0" smtClean="0"/>
              <a:t>n</a:t>
            </a:r>
            <a:r>
              <a:rPr lang="pt-BR" b="1" dirty="0" smtClean="0"/>
              <a:t> </a:t>
            </a:r>
            <a:r>
              <a:rPr lang="pt-BR" dirty="0" smtClean="0"/>
              <a:t>na mesma máquina?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/>
        </p:nvGraphicFramePr>
        <p:xfrm>
          <a:off x="1115616" y="3212976"/>
          <a:ext cx="7200798" cy="268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6"/>
                <a:gridCol w="2400266"/>
                <a:gridCol w="240026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/>
                        <a:t>100n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b="1" dirty="0" smtClean="0"/>
                        <a:t> 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 smtClean="0"/>
                        <a:t>2</a:t>
                      </a:r>
                      <a:r>
                        <a:rPr lang="pt-BR" sz="2400" b="1" baseline="30000" dirty="0" smtClean="0"/>
                        <a:t>n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2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           </a:t>
                      </a:r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400 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          1.600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16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              6.400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256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14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        19.600 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16.384 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           22.500 </a:t>
                      </a: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1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32.768 </a:t>
                      </a:r>
                      <a:endParaRPr lang="pt-BR" sz="2400" b="1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>
                          <a:solidFill>
                            <a:srgbClr val="000000"/>
                          </a:solidFill>
                          <a:latin typeface="+mn-lt"/>
                        </a:rPr>
                        <a:t>            25.600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65.536 </a:t>
                      </a:r>
                      <a:endParaRPr lang="pt-BR" sz="24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6350" marR="6350" marT="6350" marB="0" anchor="b"/>
                </a:tc>
              </a:tr>
            </a:tbl>
          </a:graphicData>
        </a:graphic>
      </p:graphicFrame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043608" y="6021288"/>
            <a:ext cx="7632848" cy="6480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pt-B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valores</a:t>
            </a:r>
            <a:r>
              <a:rPr kumimoji="0" lang="pt-BR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muito grandes, qual o melhor algoritmo?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Comportamento de funções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sp>
        <p:nvSpPr>
          <p:cNvPr id="1028" name="AutoShape 4" descr="data:image/png;base64,iVBORw0KGgoAAAANSUhEUgAAAKUAAACGCAMAAACLzbpwAAAAe1BMVEX///82NjYAAADa2tqIiIj7+/vx8fHX19fq6uqOjo7u7u7n5+dwcHDT09OUlJTj4+Ourq56enqfn59nZ2dsbGzGxsa9vb1ZWVn29vYlJSWBgYGzs7N1dXU6OjqoqKjDw8MYGBhGRkZTU1MqKioSEhKamppCQkJhYWFXV1cdM5dzAAAE0ElEQVR4nO2c6ZKiMBRG45WA7Jsg4L61/f5POFxRG5SwTAm5PzhVXTh0V88x+chikmZsYqKd4Fx8MWYGsl3E7EDlG7Q0AHayZcScjntQGZtfgLLmdmWDyWyUBCBb6Qmc8yJMTCPK1MVCto0QgPh+nSuSRRqB4/x+pWy53sDDrqflqO9JNRdq8aqf5UodwqadPpZJZgwn0kgPS+7MBxRppIflRppkD8ubpEwiXS2TTGbb39FSYiaRjpaWVMmOljIziXSxlJtJpIOl5EwiHSwtdwSPZtotQ8mZRNosE8UcR6SRNkv5mURaLAlkEmm2pJBJpMmSRiaRJktdG8+jmQZLIplExJahrOlDDSLLRKdTkmJLOplEBJZLSiUpslwSyiRSZ9knk4uIf9FGRJ1ln0zuYIzuqcayVyY9SL4nI+TT0npkMpwVX0xFCpfbNl0zFyIGDn6Do6UL19Et/zIZHEzjJ8tfLC3LWnp4a5doVzCNmWPjp59om1suTbyOa1nKJPgB4PUaBMG1EIkhA5MZJ7Bz5Qw2Tm7JNPzXqJblTILi3S1t5H7fA2OfW2oHrGRtDYGNlvOxLa1yO6kCvD3sV8itFm5e3ZhLF+08+LHHtUycytOdfFiya2hZqhFqLIwfd6KQrwaPZcVSqUpxsIgM1cuWYbWdVI7gjW1TJXnl789yQ6zvzssJnq+elgmNKW0F/cNSaem7XV0fvf514NtC62EZtswW1dRxR19W1WGDzTN7WtZn0sQVyqIDX2AbOfYyW17j8Z+l4KO/2MryHjpzsM2WbOnqjGX1mYyT6yxlmgf6XJZlFhWW29RdijJ50Fc4clvs8nGQDMsgVS/3fm0LAKJ2EnwcXyYqzGI5ZfmiydI/RtuUKScc5KrHvPBjwQ8OTgSQCadXnreOmf14yD1vP5rVO1a0kfZ/d4X7BuW9BgXYTtK3xHaSvOUNV8SIW+aZxAttS+5UxkRE8R99N2nL23OVlrAl919LyXQtn5lE6Fr6pfEkWctbeecAUUte3d5A07KcSYSmpf82xyFpGb7vZiFoybOPiRhBS+dzSkvP0q/5cICc5UcmEWKWvH57AzHLmkwitCzrMomQslyKdv0RsuSKcAGUkKUjXjaiYynKJELGUphJhIglb97eQMSyIZMIDcu2YwUkLK22XX8ELFsyiRCwbMkkIt+yy1EX6ZabLjtRJVtyvdNSsmRLvduWD7mWXY9fSbXslElkUMvm7YQ9TpEMajkTaqhB0DWTyKCWK+F+qBNA41DtDVwfH4wbpI85oZnOyuAiLfzMOnM+bLv/cE+2eDy9/gFZAVg93u5IZfnOddfraL2cXD6PFfDfYs09cZp/kZRn3H/GgD/+WoHZUv0S2stSO8nBc7G4U8a0KBJvYZPQ95TaSQ63HezRMrp62a9Qc1DLtceij8SVj7pwyNghxHGwyTbHj+2eLwa13M6YA2/3HplMDONuuWMXi53yaNyONgi7qmFr/AyX6pzmtUSyvy3vlj47LFWF47uRZrmHtwpXqk1TnssAbJz4zFPdklTja4hPfvnGx7ECW3XnbIGbgVxb04THCIbN5bm00xOXkv/3tN2YLVH03zvGpc8hOzFZfo/J8ntMlt9jsvwek+X3mCy/h5bJNugCJ3dCamJiLP4BkRYvdnCfj4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0" name="AutoShape 6" descr="data:image/png;base64,iVBORw0KGgoAAAANSUhEUgAAAKUAAACGCAMAAACLzbpwAAAAe1BMVEX///82NjYAAADa2tqIiIj7+/vx8fHX19fq6uqOjo7u7u7n5+dwcHDT09OUlJTj4+Ourq56enqfn59nZ2dsbGzGxsa9vb1ZWVn29vYlJSWBgYGzs7N1dXU6OjqoqKjDw8MYGBhGRkZTU1MqKioSEhKamppCQkJhYWFXV1cdM5dzAAAE0ElEQVR4nO2c6ZKiMBRG45WA7Jsg4L61/f5POFxRG5SwTAm5PzhVXTh0V88x+chikmZsYqKd4Fx8MWYGsl3E7EDlG7Q0AHayZcScjntQGZtfgLLmdmWDyWyUBCBb6Qmc8yJMTCPK1MVCto0QgPh+nSuSRRqB4/x+pWy53sDDrqflqO9JNRdq8aqf5UodwqadPpZJZgwn0kgPS+7MBxRppIflRppkD8ubpEwiXS2TTGbb39FSYiaRjpaWVMmOljIziXSxlJtJpIOl5EwiHSwtdwSPZtotQ8mZRNosE8UcR6SRNkv5mURaLAlkEmm2pJBJpMmSRiaRJktdG8+jmQZLIplExJahrOlDDSLLRKdTkmJLOplEBJZLSiUpslwSyiRSZ9knk4uIf9FGRJ1ln0zuYIzuqcayVyY9SL4nI+TT0npkMpwVX0xFCpfbNl0zFyIGDn6Do6UL19Et/zIZHEzjJ8tfLC3LWnp4a5doVzCNmWPjp59om1suTbyOa1nKJPgB4PUaBMG1EIkhA5MZJ7Bz5Qw2Tm7JNPzXqJblTILi3S1t5H7fA2OfW2oHrGRtDYGNlvOxLa1yO6kCvD3sV8itFm5e3ZhLF+08+LHHtUycytOdfFiya2hZqhFqLIwfd6KQrwaPZcVSqUpxsIgM1cuWYbWdVI7gjW1TJXnl789yQ6zvzssJnq+elgmNKW0F/cNSaem7XV0fvf514NtC62EZtswW1dRxR19W1WGDzTN7WtZn0sQVyqIDX2AbOfYyW17j8Z+l4KO/2MryHjpzsM2WbOnqjGX1mYyT6yxlmgf6XJZlFhWW29RdijJ50Fc4clvs8nGQDMsgVS/3fm0LAKJ2EnwcXyYqzGI5ZfmiydI/RtuUKScc5KrHvPBjwQ8OTgSQCadXnreOmf14yD1vP5rVO1a0kfZ/d4X7BuW9BgXYTtK3xHaSvOUNV8SIW+aZxAttS+5UxkRE8R99N2nL23OVlrAl919LyXQtn5lE6Fr6pfEkWctbeecAUUte3d5A07KcSYSmpf82xyFpGb7vZiFoybOPiRhBS+dzSkvP0q/5cICc5UcmEWKWvH57AzHLmkwitCzrMomQslyKdv0RsuSKcAGUkKUjXjaiYynKJELGUphJhIglb97eQMSyIZMIDcu2YwUkLK22XX8ELFsyiRCwbMkkIt+yy1EX6ZabLjtRJVtyvdNSsmRLvduWD7mWXY9fSbXslElkUMvm7YQ9TpEMajkTaqhB0DWTyKCWK+F+qBNA41DtDVwfH4wbpI85oZnOyuAiLfzMOnM+bLv/cE+2eDy9/gFZAVg93u5IZfnOddfraL2cXD6PFfDfYs09cZp/kZRn3H/GgD/+WoHZUv0S2stSO8nBc7G4U8a0KBJvYZPQ95TaSQ63HezRMrp62a9Qc1DLtceij8SVj7pwyNghxHGwyTbHj+2eLwa13M6YA2/3HplMDONuuWMXi53yaNyONgi7qmFr/AyX6pzmtUSyvy3vlj47LFWF47uRZrmHtwpXqk1TnssAbJz4zFPdklTja4hPfvnGx7ECW3XnbIGbgVxb04THCIbN5bm00xOXkv/3tN2YLVH03zvGpc8hOzFZfo/J8ntMlt9jsvwek+X3mCy/h5bJNugCJ3dCamJiLP4BkRYvdnCfj4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2" name="AutoShape 8" descr="data:image/png;base64,iVBORw0KGgoAAAANSUhEUgAAAKUAAACGCAMAAACLzbpwAAAAe1BMVEX///82NjYAAADa2tqIiIj7+/vx8fHX19fq6uqOjo7u7u7n5+dwcHDT09OUlJTj4+Ourq56enqfn59nZ2dsbGzGxsa9vb1ZWVn29vYlJSWBgYGzs7N1dXU6OjqoqKjDw8MYGBhGRkZTU1MqKioSEhKamppCQkJhYWFXV1cdM5dzAAAE0ElEQVR4nO2c6ZKiMBRG45WA7Jsg4L61/f5POFxRG5SwTAm5PzhVXTh0V88x+chikmZsYqKd4Fx8MWYGsl3E7EDlG7Q0AHayZcScjntQGZtfgLLmdmWDyWyUBCBb6Qmc8yJMTCPK1MVCto0QgPh+nSuSRRqB4/x+pWy53sDDrqflqO9JNRdq8aqf5UodwqadPpZJZgwn0kgPS+7MBxRppIflRppkD8ubpEwiXS2TTGbb39FSYiaRjpaWVMmOljIziXSxlJtJpIOl5EwiHSwtdwSPZtotQ8mZRNosE8UcR6SRNkv5mURaLAlkEmm2pJBJpMmSRiaRJktdG8+jmQZLIplExJahrOlDDSLLRKdTkmJLOplEBJZLSiUpslwSyiRSZ9knk4uIf9FGRJ1ln0zuYIzuqcayVyY9SL4nI+TT0npkMpwVX0xFCpfbNl0zFyIGDn6Do6UL19Et/zIZHEzjJ8tfLC3LWnp4a5doVzCNmWPjp59om1suTbyOa1nKJPgB4PUaBMG1EIkhA5MZJ7Bz5Qw2Tm7JNPzXqJblTILi3S1t5H7fA2OfW2oHrGRtDYGNlvOxLa1yO6kCvD3sV8itFm5e3ZhLF+08+LHHtUycytOdfFiya2hZqhFqLIwfd6KQrwaPZcVSqUpxsIgM1cuWYbWdVI7gjW1TJXnl789yQ6zvzssJnq+elgmNKW0F/cNSaem7XV0fvf514NtC62EZtswW1dRxR19W1WGDzTN7WtZn0sQVyqIDX2AbOfYyW17j8Z+l4KO/2MryHjpzsM2WbOnqjGX1mYyT6yxlmgf6XJZlFhWW29RdijJ50Fc4clvs8nGQDMsgVS/3fm0LAKJ2EnwcXyYqzGI5ZfmiydI/RtuUKScc5KrHvPBjwQ8OTgSQCadXnreOmf14yD1vP5rVO1a0kfZ/d4X7BuW9BgXYTtK3xHaSvOUNV8SIW+aZxAttS+5UxkRE8R99N2nL23OVlrAl919LyXQtn5lE6Fr6pfEkWctbeecAUUte3d5A07KcSYSmpf82xyFpGb7vZiFoybOPiRhBS+dzSkvP0q/5cICc5UcmEWKWvH57AzHLmkwitCzrMomQslyKdv0RsuSKcAGUkKUjXjaiYynKJELGUphJhIglb97eQMSyIZMIDcu2YwUkLK22XX8ELFsyiRCwbMkkIt+yy1EX6ZabLjtRJVtyvdNSsmRLvduWD7mWXY9fSbXslElkUMvm7YQ9TpEMajkTaqhB0DWTyKCWK+F+qBNA41DtDVwfH4wbpI85oZnOyuAiLfzMOnM+bLv/cE+2eDy9/gFZAVg93u5IZfnOddfraL2cXD6PFfDfYs09cZp/kZRn3H/GgD/+WoHZUv0S2stSO8nBc7G4U8a0KBJvYZPQ95TaSQ63HezRMrp62a9Qc1DLtceij8SVj7pwyNghxHGwyTbHj+2eLwa13M6YA2/3HplMDONuuWMXi53yaNyONgi7qmFr/AyX6pzmtUSyvy3vlj47LFWF47uRZrmHtwpXqk1TnssAbJz4zFPdklTja4hPfvnGx7ECW3XnbIGbgVxb04THCIbN5bm00xOXkv/3tN2YLVH03zvGpc8hOzFZfo/J8ntMlt9jsvwek+X3mCy/h5bJNugCJ3dCamJiLP4BkRYvdnCfj4E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4" name="Picture 10" descr="funcoes_14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1484784"/>
            <a:ext cx="2448272" cy="1987003"/>
          </a:xfrm>
          <a:prstGeom prst="rect">
            <a:avLst/>
          </a:prstGeom>
          <a:noFill/>
        </p:spPr>
      </p:pic>
      <p:pic>
        <p:nvPicPr>
          <p:cNvPr id="1036" name="Picture 12" descr="funcoes_1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484784"/>
            <a:ext cx="3173383" cy="2078733"/>
          </a:xfrm>
          <a:prstGeom prst="rect">
            <a:avLst/>
          </a:prstGeom>
          <a:noFill/>
        </p:spPr>
      </p:pic>
      <p:sp>
        <p:nvSpPr>
          <p:cNvPr id="11" name="CaixaDeTexto 10"/>
          <p:cNvSpPr txBox="1"/>
          <p:nvPr/>
        </p:nvSpPr>
        <p:spPr>
          <a:xfrm>
            <a:off x="6660232" y="3356992"/>
            <a:ext cx="17732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Função quadrática</a:t>
            </a:r>
            <a:endParaRPr lang="pt-BR" sz="1400" b="1" dirty="0"/>
          </a:p>
        </p:txBody>
      </p:sp>
      <p:pic>
        <p:nvPicPr>
          <p:cNvPr id="1038" name="Picture 14" descr="https://upload.wikimedia.org/wikipedia/commons/thumb/7/70/Qfunction.png/300px-Qfunction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1412776"/>
            <a:ext cx="2857500" cy="1819276"/>
          </a:xfrm>
          <a:prstGeom prst="rect">
            <a:avLst/>
          </a:prstGeom>
          <a:noFill/>
        </p:spPr>
      </p:pic>
      <p:sp>
        <p:nvSpPr>
          <p:cNvPr id="13" name="CaixaDeTexto 12"/>
          <p:cNvSpPr txBox="1"/>
          <p:nvPr/>
        </p:nvSpPr>
        <p:spPr>
          <a:xfrm>
            <a:off x="3923928" y="3429000"/>
            <a:ext cx="1346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Função linear</a:t>
            </a:r>
            <a:endParaRPr lang="pt-BR" sz="1400" b="1" dirty="0"/>
          </a:p>
        </p:txBody>
      </p:sp>
      <p:pic>
        <p:nvPicPr>
          <p:cNvPr id="1040" name="Picture 16" descr="http://www.calculo.iq.unesp.br/Calculo1/figuras/funcao-exponencial/graf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75656" y="4077072"/>
            <a:ext cx="2771775" cy="2286001"/>
          </a:xfrm>
          <a:prstGeom prst="rect">
            <a:avLst/>
          </a:prstGeom>
          <a:noFill/>
        </p:spPr>
      </p:pic>
      <p:sp>
        <p:nvSpPr>
          <p:cNvPr id="15" name="CaixaDeTexto 14"/>
          <p:cNvSpPr txBox="1"/>
          <p:nvPr/>
        </p:nvSpPr>
        <p:spPr>
          <a:xfrm>
            <a:off x="1518389" y="6361583"/>
            <a:ext cx="190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Função exponencial</a:t>
            </a:r>
            <a:endParaRPr lang="pt-BR" sz="1400" b="1" dirty="0"/>
          </a:p>
        </p:txBody>
      </p:sp>
      <p:pic>
        <p:nvPicPr>
          <p:cNvPr id="1042" name="Picture 18" descr="http://www.tutorbrasil.com.br/estudo_matematica_online/logaritmos/images/bases.gi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36096" y="4221088"/>
            <a:ext cx="3124200" cy="2152650"/>
          </a:xfrm>
          <a:prstGeom prst="rect">
            <a:avLst/>
          </a:prstGeom>
          <a:noFill/>
        </p:spPr>
      </p:pic>
      <p:sp>
        <p:nvSpPr>
          <p:cNvPr id="17" name="CaixaDeTexto 16"/>
          <p:cNvSpPr txBox="1"/>
          <p:nvPr/>
        </p:nvSpPr>
        <p:spPr>
          <a:xfrm>
            <a:off x="5940152" y="6381328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Função </a:t>
            </a:r>
            <a:r>
              <a:rPr lang="pt-BR" sz="1400" b="1" dirty="0" err="1" smtClean="0"/>
              <a:t>Logaritmica</a:t>
            </a:r>
            <a:endParaRPr lang="pt-BR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Análise de algoritmos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Por que o “tamanho da entrada” de um algoritmo é tão importante?</a:t>
            </a:r>
          </a:p>
          <a:p>
            <a:pPr lvl="1"/>
            <a:r>
              <a:rPr lang="pt-BR" dirty="0" smtClean="0"/>
              <a:t>Em geral, o tempo de execução cresce com o tamanho da entrada;</a:t>
            </a:r>
          </a:p>
          <a:p>
            <a:pPr lvl="1"/>
            <a:r>
              <a:rPr lang="pt-BR" dirty="0" smtClean="0"/>
              <a:t>Por isso tradicionalmente descrevemos tempo de execução de um programa em função da sua entrada;</a:t>
            </a:r>
          </a:p>
          <a:p>
            <a:pPr lvl="1"/>
            <a:r>
              <a:rPr lang="pt-BR" dirty="0" smtClean="0"/>
              <a:t>Tempo de execução: é o número de operações “básicas” ou passos executados;</a:t>
            </a:r>
          </a:p>
          <a:p>
            <a:pPr lvl="1"/>
            <a:r>
              <a:rPr lang="pt-BR" dirty="0" smtClean="0"/>
              <a:t>Para o exemplo a seguir, vamos considerar que cada linha do código leva um tempo constante para executar;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92211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Ordenação por inserção (</a:t>
            </a:r>
            <a:r>
              <a:rPr lang="pt-BR" dirty="0" err="1" smtClean="0"/>
              <a:t>Insertion</a:t>
            </a:r>
            <a:r>
              <a:rPr lang="pt-BR" dirty="0" smtClean="0"/>
              <a:t> </a:t>
            </a:r>
            <a:r>
              <a:rPr lang="pt-BR" dirty="0" err="1" smtClean="0"/>
              <a:t>Sort</a:t>
            </a:r>
            <a:r>
              <a:rPr lang="pt-BR" dirty="0" smtClean="0"/>
              <a:t>)</a:t>
            </a:r>
            <a:endParaRPr lang="pt-BR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250" y="1124744"/>
            <a:ext cx="8351068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sp>
        <p:nvSpPr>
          <p:cNvPr id="7" name="CaixaDeTexto 6"/>
          <p:cNvSpPr txBox="1"/>
          <p:nvPr/>
        </p:nvSpPr>
        <p:spPr>
          <a:xfrm>
            <a:off x="6478136" y="2204864"/>
            <a:ext cx="413896" cy="1769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dirty="0" smtClean="0"/>
              <a:t>C1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C2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C3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C4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C5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C6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342232" y="2225749"/>
            <a:ext cx="542136" cy="1769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dirty="0" smtClean="0"/>
              <a:t>  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n - 1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n - 1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 (*)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 (*)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n - 1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39553" y="5013176"/>
            <a:ext cx="828092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dirty="0" smtClean="0"/>
              <a:t> No pior caso, ou seja o vetor está ordenado decrescente, temos que o 2º for percorre sempre de j-1 até 0, assim, essas linhas ocorrem:</a:t>
            </a:r>
          </a:p>
          <a:p>
            <a:pPr>
              <a:lnSpc>
                <a:spcPct val="150000"/>
              </a:lnSpc>
            </a:pPr>
            <a:r>
              <a:rPr lang="pt-BR" dirty="0" smtClean="0"/>
              <a:t>	1 + 2 + 3 + 4 + 5 +...+ (n – 1) + n </a:t>
            </a:r>
            <a:r>
              <a:rPr lang="pt-BR" i="1" dirty="0" smtClean="0"/>
              <a:t>vezes </a:t>
            </a:r>
            <a:r>
              <a:rPr lang="pt-BR" b="1" dirty="0" smtClean="0"/>
              <a:t>= n * (n + 1) / 2 (*)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Cálculo do tempo de execução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323528" y="1593304"/>
            <a:ext cx="8532440" cy="4572000"/>
          </a:xfrm>
        </p:spPr>
        <p:txBody>
          <a:bodyPr>
            <a:normAutofit/>
          </a:bodyPr>
          <a:lstStyle/>
          <a:p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T(n) = c1*1 + c2*(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-1) + c3*(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-1) + c6*(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-1) + c4*(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*(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 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+ 1)/2) + c5*(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*(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+1)/2)</a:t>
            </a:r>
          </a:p>
          <a:p>
            <a:endParaRPr lang="pt-BR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T(n) = c1 + c2*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– c2 + c3*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- c3 + c6*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– c6 + (c4/2)*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b="1" baseline="30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+ (c4/2)*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+ (c5/2)*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b="1" baseline="30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+ (c5/2)*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endParaRPr lang="pt-BR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T(n) = (c4/2+c5/2)*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b="1" baseline="30000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+ (c2+c3+c4/2+c5/2)*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 + (c1-c2-c3-c6)</a:t>
            </a:r>
          </a:p>
          <a:p>
            <a:endParaRPr lang="pt-BR" sz="24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T(n) = a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b="1" baseline="30000" dirty="0" smtClean="0">
                <a:latin typeface="Courier New" pitchFamily="49" charset="0"/>
                <a:cs typeface="Courier New" pitchFamily="49" charset="0"/>
              </a:rPr>
              <a:t>2 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+ </a:t>
            </a:r>
            <a:r>
              <a:rPr lang="pt-BR" sz="2400" dirty="0" err="1" smtClean="0">
                <a:latin typeface="Courier New" pitchFamily="49" charset="0"/>
                <a:cs typeface="Courier New" pitchFamily="49" charset="0"/>
              </a:rPr>
              <a:t>b</a:t>
            </a:r>
            <a:r>
              <a:rPr lang="pt-BR" sz="2400" b="1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pt-BR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</a:rPr>
              <a:t>+ c </a:t>
            </a:r>
            <a:r>
              <a:rPr lang="pt-BR" sz="2400" dirty="0" smtClean="0">
                <a:latin typeface="Courier New" pitchFamily="49" charset="0"/>
                <a:cs typeface="Courier New" pitchFamily="49" charset="0"/>
                <a:sym typeface="Wingdings" pitchFamily="2" charset="2"/>
              </a:rPr>
              <a:t> função quadrática</a:t>
            </a:r>
            <a:endParaRPr lang="pt-BR" sz="2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922114"/>
          </a:xfrm>
        </p:spPr>
        <p:txBody>
          <a:bodyPr>
            <a:normAutofit/>
          </a:bodyPr>
          <a:lstStyle/>
          <a:p>
            <a:r>
              <a:rPr lang="pt-BR" dirty="0" smtClean="0"/>
              <a:t>E no melhor caso?</a:t>
            </a:r>
            <a:endParaRPr lang="pt-BR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5250" y="1124744"/>
            <a:ext cx="8351068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  <p:sp>
        <p:nvSpPr>
          <p:cNvPr id="7" name="CaixaDeTexto 6"/>
          <p:cNvSpPr txBox="1"/>
          <p:nvPr/>
        </p:nvSpPr>
        <p:spPr>
          <a:xfrm>
            <a:off x="6478136" y="2204864"/>
            <a:ext cx="413896" cy="1769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dirty="0" smtClean="0"/>
              <a:t>C1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C2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C3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C4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C5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C6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7342232" y="2225749"/>
            <a:ext cx="542136" cy="17697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400" dirty="0" smtClean="0"/>
              <a:t>  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n - 1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n - 1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n - 1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  0</a:t>
            </a:r>
          </a:p>
          <a:p>
            <a:pPr>
              <a:spcAft>
                <a:spcPts val="600"/>
              </a:spcAft>
            </a:pPr>
            <a:r>
              <a:rPr lang="pt-BR" sz="1400" dirty="0" smtClean="0"/>
              <a:t>n - 1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539553" y="5013176"/>
            <a:ext cx="828092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dirty="0" smtClean="0"/>
              <a:t> No melhor caso, não ocorre troca de posição: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dirty="0" smtClean="0"/>
              <a:t> T(n) = c1*1 + c2*(n-1) + c3*(n-1) + c4*(n-1) + c5+0 + c6*(n-1) = 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dirty="0" smtClean="0"/>
              <a:t> T(n) = (c2 + c3 + c4 + c6) *</a:t>
            </a:r>
            <a:r>
              <a:rPr lang="pt-BR" b="1" dirty="0" smtClean="0"/>
              <a:t>n </a:t>
            </a:r>
            <a:r>
              <a:rPr lang="pt-BR" dirty="0" smtClean="0"/>
              <a:t>+ (c1 - c2 - c3 – c4 – c6)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pt-BR" dirty="0" smtClean="0"/>
              <a:t> T(n) = </a:t>
            </a:r>
            <a:r>
              <a:rPr lang="pt-BR" dirty="0" err="1" smtClean="0"/>
              <a:t>a</a:t>
            </a:r>
            <a:r>
              <a:rPr lang="pt-BR" b="1" dirty="0" err="1" smtClean="0"/>
              <a:t>n</a:t>
            </a:r>
            <a:r>
              <a:rPr lang="pt-BR" dirty="0" smtClean="0"/>
              <a:t> +b  </a:t>
            </a:r>
            <a:r>
              <a:rPr lang="pt-BR" dirty="0" smtClean="0">
                <a:sym typeface="Wingdings" pitchFamily="2" charset="2"/>
              </a:rPr>
              <a:t> linear</a:t>
            </a:r>
            <a:endParaRPr lang="pt-BR" dirty="0" smtClean="0"/>
          </a:p>
          <a:p>
            <a:pPr>
              <a:lnSpc>
                <a:spcPct val="150000"/>
              </a:lnSpc>
            </a:pPr>
            <a:r>
              <a:rPr lang="pt-BR" dirty="0" smtClean="0"/>
              <a:t>	</a:t>
            </a:r>
            <a:endParaRPr lang="pt-BR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Qual o foco da análise de Algoritmos?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Em geral, queremos identificar o comportamento do algoritmos no pior caso;</a:t>
            </a:r>
          </a:p>
          <a:p>
            <a:endParaRPr lang="pt-BR" dirty="0" smtClean="0"/>
          </a:p>
          <a:p>
            <a:r>
              <a:rPr lang="pt-BR" dirty="0" smtClean="0"/>
              <a:t>Por quê? </a:t>
            </a:r>
          </a:p>
          <a:p>
            <a:pPr lvl="1"/>
            <a:r>
              <a:rPr lang="pt-BR" dirty="0" smtClean="0"/>
              <a:t>1. Garantia de que o algoritmo não vai demorar mais que esse tempo;</a:t>
            </a:r>
          </a:p>
          <a:p>
            <a:pPr lvl="1"/>
            <a:r>
              <a:rPr lang="pt-BR" dirty="0" smtClean="0"/>
              <a:t>2. Para alguns algoritmos o pior caso acontece com frequência. Ex.: Busca no BD que não contém a informação.</a:t>
            </a:r>
          </a:p>
          <a:p>
            <a:pPr lvl="1"/>
            <a:r>
              <a:rPr lang="pt-BR" dirty="0" smtClean="0"/>
              <a:t>3. O caso médio é quase tão ruim quanto o pior caso;</a:t>
            </a:r>
          </a:p>
          <a:p>
            <a:pPr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Ordem de Crescimento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11560" y="1484784"/>
            <a:ext cx="8280920" cy="4968552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pt-BR" sz="2800" dirty="0" smtClean="0"/>
              <a:t>Para facilitar a análise de nossos algoritmos usamos algumas abstrações:</a:t>
            </a:r>
          </a:p>
          <a:p>
            <a:pPr lvl="1">
              <a:spcBef>
                <a:spcPts val="600"/>
              </a:spcBef>
            </a:pPr>
            <a:r>
              <a:rPr lang="pt-BR" dirty="0" smtClean="0"/>
              <a:t>Ignoramos custo real de cada instrução usando </a:t>
            </a:r>
            <a:r>
              <a:rPr lang="pt-BR" b="1" dirty="0" smtClean="0"/>
              <a:t>constantes</a:t>
            </a:r>
            <a:r>
              <a:rPr lang="pt-BR" dirty="0" smtClean="0"/>
              <a:t> (c</a:t>
            </a:r>
            <a:r>
              <a:rPr lang="pt-BR" baseline="-25000" dirty="0" smtClean="0"/>
              <a:t>i</a:t>
            </a:r>
            <a:r>
              <a:rPr lang="pt-BR" dirty="0" smtClean="0"/>
              <a:t>);</a:t>
            </a:r>
          </a:p>
          <a:p>
            <a:pPr lvl="1">
              <a:spcBef>
                <a:spcPts val="600"/>
              </a:spcBef>
            </a:pPr>
            <a:r>
              <a:rPr lang="pt-BR" dirty="0" smtClean="0"/>
              <a:t>Observamos a </a:t>
            </a:r>
            <a:r>
              <a:rPr lang="pt-BR" b="1" dirty="0" smtClean="0"/>
              <a:t>taxa de crescimento</a:t>
            </a:r>
            <a:r>
              <a:rPr lang="pt-BR" dirty="0" smtClean="0"/>
              <a:t> ou </a:t>
            </a:r>
            <a:r>
              <a:rPr lang="pt-BR" b="1" dirty="0" smtClean="0"/>
              <a:t>ordem de crescimento</a:t>
            </a:r>
            <a:r>
              <a:rPr lang="pt-BR" dirty="0" smtClean="0"/>
              <a:t> do tempo de execução do algoritmo. Ou seja, importa identificarmos o comportamento  da função que representa o tempo de execução;</a:t>
            </a:r>
          </a:p>
          <a:p>
            <a:pPr lvl="1">
              <a:spcBef>
                <a:spcPts val="600"/>
              </a:spcBef>
            </a:pPr>
            <a:r>
              <a:rPr lang="pt-BR" dirty="0" smtClean="0"/>
              <a:t>Para isso, normalmente observamos o comportamento dos termos de </a:t>
            </a:r>
            <a:r>
              <a:rPr lang="pt-BR" b="1" dirty="0" smtClean="0"/>
              <a:t>maior ordem </a:t>
            </a:r>
            <a:r>
              <a:rPr lang="pt-BR" dirty="0" smtClean="0"/>
              <a:t>e descartamos os de ordem mais baixas e ignoramos o coeficiente constante do termo inicial. Ex.:</a:t>
            </a:r>
          </a:p>
          <a:p>
            <a:pPr lvl="2">
              <a:spcBef>
                <a:spcPts val="600"/>
              </a:spcBef>
            </a:pPr>
            <a:r>
              <a:rPr lang="pt-BR" dirty="0" smtClean="0"/>
              <a:t>T(n) = a</a:t>
            </a:r>
            <a:r>
              <a:rPr lang="pt-BR" b="1" dirty="0" smtClean="0"/>
              <a:t>n</a:t>
            </a:r>
            <a:r>
              <a:rPr lang="pt-BR" b="1" baseline="30000" dirty="0" smtClean="0"/>
              <a:t>2</a:t>
            </a:r>
            <a:r>
              <a:rPr lang="pt-BR" b="1" dirty="0" smtClean="0"/>
              <a:t> </a:t>
            </a:r>
            <a:r>
              <a:rPr lang="pt-BR" dirty="0" smtClean="0"/>
              <a:t>+ </a:t>
            </a:r>
            <a:r>
              <a:rPr lang="pt-BR" dirty="0" err="1" smtClean="0"/>
              <a:t>b</a:t>
            </a:r>
            <a:r>
              <a:rPr lang="pt-BR" b="1" dirty="0" err="1" smtClean="0"/>
              <a:t>n</a:t>
            </a:r>
            <a:r>
              <a:rPr lang="pt-BR" b="1" dirty="0" smtClean="0"/>
              <a:t> </a:t>
            </a:r>
            <a:r>
              <a:rPr lang="pt-BR" dirty="0" smtClean="0"/>
              <a:t>+ c </a:t>
            </a:r>
            <a:r>
              <a:rPr lang="pt-BR" dirty="0" smtClean="0">
                <a:sym typeface="Wingdings" pitchFamily="2" charset="2"/>
              </a:rPr>
              <a:t> T(n) = </a:t>
            </a:r>
            <a:r>
              <a:rPr lang="pt-BR" dirty="0" smtClean="0"/>
              <a:t>Θ </a:t>
            </a:r>
            <a:r>
              <a:rPr lang="pt-BR" dirty="0" smtClean="0">
                <a:sym typeface="Wingdings" pitchFamily="2" charset="2"/>
              </a:rPr>
              <a:t>( </a:t>
            </a:r>
            <a:r>
              <a:rPr lang="pt-BR" b="1" dirty="0" smtClean="0"/>
              <a:t>n</a:t>
            </a:r>
            <a:r>
              <a:rPr lang="pt-BR" b="1" baseline="30000" dirty="0" smtClean="0"/>
              <a:t>2</a:t>
            </a:r>
            <a:r>
              <a:rPr lang="pt-BR" dirty="0" smtClean="0"/>
              <a:t> </a:t>
            </a:r>
            <a:r>
              <a:rPr lang="pt-BR" dirty="0" smtClean="0">
                <a:sym typeface="Wingdings" pitchFamily="2" charset="2"/>
              </a:rPr>
              <a:t>) “teta de n ao quadrado”</a:t>
            </a:r>
          </a:p>
          <a:p>
            <a:pPr lvl="2">
              <a:spcBef>
                <a:spcPts val="600"/>
              </a:spcBef>
            </a:pPr>
            <a:r>
              <a:rPr lang="pt-BR" dirty="0" smtClean="0">
                <a:sym typeface="Wingdings" pitchFamily="2" charset="2"/>
              </a:rPr>
              <a:t>T(n) = na+b  T(n) = </a:t>
            </a:r>
            <a:r>
              <a:rPr lang="pt-BR" dirty="0" smtClean="0"/>
              <a:t>Θ </a:t>
            </a:r>
            <a:r>
              <a:rPr lang="pt-BR" dirty="0" smtClean="0">
                <a:sym typeface="Wingdings" pitchFamily="2" charset="2"/>
              </a:rPr>
              <a:t>( </a:t>
            </a:r>
            <a:r>
              <a:rPr lang="pt-BR" b="1" dirty="0" smtClean="0"/>
              <a:t>n</a:t>
            </a:r>
            <a:r>
              <a:rPr lang="pt-BR" dirty="0" smtClean="0">
                <a:sym typeface="Wingdings" pitchFamily="2" charset="2"/>
              </a:rPr>
              <a:t>)  “teta de n ” </a:t>
            </a:r>
          </a:p>
          <a:p>
            <a:pPr lvl="2">
              <a:spcBef>
                <a:spcPts val="600"/>
              </a:spcBef>
            </a:pPr>
            <a:endParaRPr lang="pt-BR" dirty="0" smtClean="0"/>
          </a:p>
          <a:p>
            <a:pPr lvl="1">
              <a:spcBef>
                <a:spcPts val="600"/>
              </a:spcBef>
            </a:pPr>
            <a:endParaRPr lang="pt-B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Atividades (em duplas)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899592" y="1340768"/>
            <a:ext cx="7834064" cy="514955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pt-BR" dirty="0" smtClean="0"/>
              <a:t>07. Expresse as seguintes funções em termos da notação Θ </a:t>
            </a:r>
          </a:p>
          <a:p>
            <a:pPr lvl="1">
              <a:spcBef>
                <a:spcPts val="1200"/>
              </a:spcBef>
            </a:pPr>
            <a:r>
              <a:rPr lang="pt-BR" dirty="0" smtClean="0"/>
              <a:t>n</a:t>
            </a:r>
            <a:r>
              <a:rPr lang="pt-BR" baseline="30000" dirty="0" smtClean="0"/>
              <a:t>3</a:t>
            </a:r>
            <a:r>
              <a:rPr lang="pt-BR" dirty="0" smtClean="0"/>
              <a:t>/1000 -100n</a:t>
            </a:r>
            <a:r>
              <a:rPr lang="pt-BR" baseline="30000" dirty="0" smtClean="0"/>
              <a:t>2</a:t>
            </a:r>
            <a:r>
              <a:rPr lang="pt-BR" dirty="0" smtClean="0"/>
              <a:t> – 10n + 3</a:t>
            </a:r>
          </a:p>
          <a:p>
            <a:pPr lvl="1">
              <a:spcBef>
                <a:spcPts val="1200"/>
              </a:spcBef>
            </a:pPr>
            <a:r>
              <a:rPr lang="pt-BR" dirty="0" smtClean="0"/>
              <a:t>100 n  + n * (n – 2) + 50</a:t>
            </a:r>
          </a:p>
          <a:p>
            <a:pPr lvl="1">
              <a:spcBef>
                <a:spcPts val="1200"/>
              </a:spcBef>
            </a:pPr>
            <a:r>
              <a:rPr lang="pt-BR" dirty="0" smtClean="0"/>
              <a:t>30n + 10n * (2 </a:t>
            </a:r>
            <a:r>
              <a:rPr lang="pt-BR" dirty="0" err="1" smtClean="0"/>
              <a:t>lg</a:t>
            </a:r>
            <a:r>
              <a:rPr lang="pt-BR" dirty="0" smtClean="0"/>
              <a:t> n + 1024)</a:t>
            </a:r>
          </a:p>
          <a:p>
            <a:pPr>
              <a:spcBef>
                <a:spcPts val="1200"/>
              </a:spcBef>
            </a:pPr>
            <a:r>
              <a:rPr lang="pt-BR" dirty="0" smtClean="0"/>
              <a:t>08. Faça a análise de tempo de execução do algoritmo </a:t>
            </a:r>
            <a:r>
              <a:rPr lang="pt-BR" dirty="0" err="1" smtClean="0"/>
              <a:t>Minimax</a:t>
            </a:r>
            <a:r>
              <a:rPr lang="pt-BR" dirty="0" smtClean="0"/>
              <a:t>. Existe melhor caso e pior caso? Justifique</a:t>
            </a:r>
            <a:r>
              <a:rPr lang="pt-BR" dirty="0" smtClean="0"/>
              <a:t>.</a:t>
            </a:r>
            <a:endParaRPr lang="pt-BR" dirty="0" smtClean="0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899592" y="4328120"/>
            <a:ext cx="7787208" cy="2269232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Minimax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float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v[],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n,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float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*a,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float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*b){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j;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*a = *b = v[0];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for (j = 1; j &lt; n; j++){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(v[j] &lt; *a) 	*a = v[j];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(v[j] &gt; *b) 	*b = v[j];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Atividades (em duplas)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19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899592" y="1340768"/>
            <a:ext cx="7834064" cy="514955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pt-BR" dirty="0" smtClean="0"/>
              <a:t>09</a:t>
            </a:r>
            <a:r>
              <a:rPr lang="pt-BR" dirty="0" smtClean="0"/>
              <a:t>. </a:t>
            </a:r>
            <a:r>
              <a:rPr lang="pt-BR" dirty="0" smtClean="0"/>
              <a:t>Considere a função abaixo que verifica se um vetor está em ordem crescente. Faça a análise de tempo para o </a:t>
            </a:r>
            <a:r>
              <a:rPr lang="pt-BR" b="1" dirty="0" smtClean="0"/>
              <a:t>pior </a:t>
            </a:r>
            <a:r>
              <a:rPr lang="pt-BR" dirty="0" smtClean="0"/>
              <a:t>e </a:t>
            </a:r>
            <a:r>
              <a:rPr lang="pt-BR" b="1" dirty="0" smtClean="0"/>
              <a:t>melhor </a:t>
            </a:r>
            <a:r>
              <a:rPr lang="pt-BR" dirty="0" smtClean="0"/>
              <a:t>caso. Qual seria o melhor caso? E o pior?</a:t>
            </a:r>
            <a:endParaRPr lang="pt-BR" dirty="0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899592" y="3140968"/>
            <a:ext cx="7787208" cy="2880320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crescente(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v[], 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n){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i = 0;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(i &lt; n-1) {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(v[i] &gt; v[i+1])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i++;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8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 1;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</a:pPr>
            <a:r>
              <a:rPr lang="pt-BR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pt-BR" sz="1800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16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Atividades (em duplas)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20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899592" y="1628800"/>
            <a:ext cx="7560840" cy="486152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pt-BR" dirty="0" smtClean="0"/>
              <a:t>10. </a:t>
            </a:r>
            <a:r>
              <a:rPr lang="pt-BR" dirty="0" smtClean="0"/>
              <a:t>Suponhamos que você queira resolver um jogo de </a:t>
            </a:r>
            <a:r>
              <a:rPr lang="pt-BR" b="1" dirty="0" err="1" smtClean="0"/>
              <a:t>sudoku</a:t>
            </a:r>
            <a:r>
              <a:rPr lang="pt-BR" dirty="0" smtClean="0"/>
              <a:t> usando a estratégia mais simples: tentativa e erro. Para cada quadrado em branco, você tentaria uma possibilidade e se não desse certo, voltaria atrás e tentaria outra. Essa lógica teria tempo de execução de que ordem no pior caso? E no melhor caso? Explique seu raciocínio.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815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Sudoku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21</a:t>
            </a:fld>
            <a:endParaRPr lang="pt-BR" altLang="en-US"/>
          </a:p>
        </p:txBody>
      </p:sp>
      <p:pic>
        <p:nvPicPr>
          <p:cNvPr id="38914" name="Picture 2" descr="https://planetatosco.files.wordpress.com/2008/06/sudoku_07-21-0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1556792"/>
            <a:ext cx="4392488" cy="43924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1880</TotalTime>
  <Words>1219</Words>
  <Application>Microsoft Office PowerPoint</Application>
  <PresentationFormat>Apresentação na tela (4:3)</PresentationFormat>
  <Paragraphs>220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Courier New</vt:lpstr>
      <vt:lpstr>Franklin Gothic Book</vt:lpstr>
      <vt:lpstr>Perpetua</vt:lpstr>
      <vt:lpstr>Wingdings</vt:lpstr>
      <vt:lpstr>Wingdings 2</vt:lpstr>
      <vt:lpstr>Patrimônio Líquido</vt:lpstr>
      <vt:lpstr>Análise de Algoritmos IAL 501</vt:lpstr>
      <vt:lpstr>Objetivo da Aula</vt:lpstr>
      <vt:lpstr>Atividade 6</vt:lpstr>
      <vt:lpstr>Algoritmo Minimax</vt:lpstr>
      <vt:lpstr>Correção: Minimax (parte 1)</vt:lpstr>
      <vt:lpstr>Correção: Minimax (parte 2)</vt:lpstr>
      <vt:lpstr>Correção: Minimax (parte 3)</vt:lpstr>
      <vt:lpstr>Atividade 02</vt:lpstr>
      <vt:lpstr>Atividade 02</vt:lpstr>
      <vt:lpstr>Atividade 03</vt:lpstr>
      <vt:lpstr>Comportamento de funções</vt:lpstr>
      <vt:lpstr>Análise de algoritmos</vt:lpstr>
      <vt:lpstr>Ordenação por inserção (Insertion Sort)</vt:lpstr>
      <vt:lpstr>Cálculo do tempo de execução</vt:lpstr>
      <vt:lpstr>E no melhor caso?</vt:lpstr>
      <vt:lpstr>Qual o foco da análise de Algoritmos?</vt:lpstr>
      <vt:lpstr>Ordem de Crescimento</vt:lpstr>
      <vt:lpstr>Atividades (em duplas)</vt:lpstr>
      <vt:lpstr>Atividades (em duplas)</vt:lpstr>
      <vt:lpstr>Atividades (em duplas)</vt:lpstr>
      <vt:lpstr>Sudoku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161</cp:revision>
  <dcterms:created xsi:type="dcterms:W3CDTF">2011-02-25T18:12:46Z</dcterms:created>
  <dcterms:modified xsi:type="dcterms:W3CDTF">2016-02-26T23:50:19Z</dcterms:modified>
</cp:coreProperties>
</file>