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29"/>
  </p:notesMasterIdLst>
  <p:sldIdLst>
    <p:sldId id="256" r:id="rId2"/>
    <p:sldId id="352" r:id="rId3"/>
    <p:sldId id="347" r:id="rId4"/>
    <p:sldId id="351" r:id="rId5"/>
    <p:sldId id="348" r:id="rId6"/>
    <p:sldId id="349" r:id="rId7"/>
    <p:sldId id="350" r:id="rId8"/>
    <p:sldId id="329" r:id="rId9"/>
    <p:sldId id="353" r:id="rId10"/>
    <p:sldId id="354" r:id="rId11"/>
    <p:sldId id="356" r:id="rId12"/>
    <p:sldId id="357" r:id="rId13"/>
    <p:sldId id="358" r:id="rId14"/>
    <p:sldId id="360" r:id="rId15"/>
    <p:sldId id="361" r:id="rId16"/>
    <p:sldId id="363" r:id="rId17"/>
    <p:sldId id="365" r:id="rId18"/>
    <p:sldId id="362" r:id="rId19"/>
    <p:sldId id="364" r:id="rId20"/>
    <p:sldId id="359" r:id="rId21"/>
    <p:sldId id="366" r:id="rId22"/>
    <p:sldId id="369" r:id="rId23"/>
    <p:sldId id="367" r:id="rId24"/>
    <p:sldId id="370" r:id="rId25"/>
    <p:sldId id="371" r:id="rId26"/>
    <p:sldId id="372" r:id="rId27"/>
    <p:sldId id="373" r:id="rId2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FFFF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04/03/2016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549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04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Aula anterior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Análise da ordenação por inserção</a:t>
            </a:r>
          </a:p>
          <a:p>
            <a:r>
              <a:rPr lang="pt-BR" dirty="0" smtClean="0"/>
              <a:t>Ordem de Crescimento </a:t>
            </a:r>
          </a:p>
          <a:p>
            <a:r>
              <a:rPr lang="pt-BR" dirty="0" smtClean="0"/>
              <a:t>Notação Teta</a:t>
            </a:r>
          </a:p>
          <a:p>
            <a:r>
              <a:rPr lang="pt-BR" dirty="0" smtClean="0"/>
              <a:t>Atividades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700808"/>
            <a:ext cx="7834064" cy="4789512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pt-BR" dirty="0" smtClean="0"/>
              <a:t>07. Expresse as seguintes funções em termos da notação Θ </a:t>
            </a:r>
          </a:p>
          <a:p>
            <a:pPr lvl="1">
              <a:spcBef>
                <a:spcPts val="600"/>
              </a:spcBef>
            </a:pPr>
            <a:r>
              <a:rPr lang="pt-BR" dirty="0" smtClean="0"/>
              <a:t>n</a:t>
            </a:r>
            <a:r>
              <a:rPr lang="pt-BR" baseline="30000" dirty="0" smtClean="0"/>
              <a:t>3</a:t>
            </a:r>
            <a:r>
              <a:rPr lang="pt-BR" dirty="0" smtClean="0"/>
              <a:t>/1000 -100n</a:t>
            </a:r>
            <a:r>
              <a:rPr lang="pt-BR" baseline="30000" dirty="0" smtClean="0"/>
              <a:t>2</a:t>
            </a:r>
            <a:r>
              <a:rPr lang="pt-BR" dirty="0" smtClean="0"/>
              <a:t> – 10n + 3</a:t>
            </a:r>
          </a:p>
          <a:p>
            <a:pPr lvl="1">
              <a:spcBef>
                <a:spcPts val="600"/>
              </a:spcBef>
              <a:buNone/>
            </a:pPr>
            <a:r>
              <a:rPr lang="pt-BR" dirty="0" smtClean="0"/>
              <a:t>Maior termo = n</a:t>
            </a:r>
            <a:r>
              <a:rPr lang="pt-BR" baseline="30000" dirty="0" smtClean="0"/>
              <a:t>3</a:t>
            </a:r>
            <a:r>
              <a:rPr lang="pt-BR" dirty="0" smtClean="0"/>
              <a:t>/1000 =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/>
              <a:t>n</a:t>
            </a:r>
            <a:r>
              <a:rPr lang="pt-BR" b="1" baseline="30000" dirty="0" smtClean="0"/>
              <a:t>3</a:t>
            </a:r>
            <a:r>
              <a:rPr lang="pt-BR" dirty="0" smtClean="0">
                <a:sym typeface="Wingdings" pitchFamily="2" charset="2"/>
              </a:rPr>
              <a:t>)</a:t>
            </a:r>
            <a:endParaRPr lang="pt-BR" dirty="0" smtClean="0"/>
          </a:p>
          <a:p>
            <a:pPr lvl="1">
              <a:spcBef>
                <a:spcPts val="600"/>
              </a:spcBef>
              <a:buNone/>
            </a:pPr>
            <a:endParaRPr lang="pt-BR" dirty="0" smtClean="0"/>
          </a:p>
          <a:p>
            <a:pPr lvl="1">
              <a:spcBef>
                <a:spcPts val="600"/>
              </a:spcBef>
            </a:pPr>
            <a:r>
              <a:rPr lang="pt-BR" dirty="0" smtClean="0"/>
              <a:t>100 n  + n * (n – 2) + 50 = 100n + n</a:t>
            </a:r>
            <a:r>
              <a:rPr lang="pt-BR" baseline="30000" dirty="0" smtClean="0"/>
              <a:t>2</a:t>
            </a:r>
            <a:r>
              <a:rPr lang="pt-BR" dirty="0" smtClean="0"/>
              <a:t> – 2n + 50 = </a:t>
            </a:r>
          </a:p>
          <a:p>
            <a:pPr lvl="1">
              <a:spcBef>
                <a:spcPts val="600"/>
              </a:spcBef>
              <a:buNone/>
            </a:pPr>
            <a:r>
              <a:rPr lang="pt-BR" dirty="0" smtClean="0"/>
              <a:t>= n</a:t>
            </a:r>
            <a:r>
              <a:rPr lang="pt-BR" baseline="30000" dirty="0" smtClean="0"/>
              <a:t>2 </a:t>
            </a:r>
            <a:r>
              <a:rPr lang="pt-BR" dirty="0" smtClean="0"/>
              <a:t> + 98n + 50 =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/>
              <a:t>n</a:t>
            </a:r>
            <a:r>
              <a:rPr lang="pt-BR" b="1" baseline="30000" dirty="0" smtClean="0"/>
              <a:t>2</a:t>
            </a:r>
            <a:r>
              <a:rPr lang="pt-BR" dirty="0" smtClean="0">
                <a:sym typeface="Wingdings" pitchFamily="2" charset="2"/>
              </a:rPr>
              <a:t>)</a:t>
            </a:r>
            <a:endParaRPr lang="pt-BR" dirty="0" smtClean="0"/>
          </a:p>
          <a:p>
            <a:pPr lvl="1">
              <a:spcBef>
                <a:spcPts val="600"/>
              </a:spcBef>
            </a:pPr>
            <a:endParaRPr lang="pt-BR" dirty="0" smtClean="0"/>
          </a:p>
          <a:p>
            <a:pPr lvl="1">
              <a:spcBef>
                <a:spcPts val="600"/>
              </a:spcBef>
            </a:pPr>
            <a:r>
              <a:rPr lang="pt-BR" dirty="0" smtClean="0"/>
              <a:t>30n + 10n * (2 </a:t>
            </a:r>
            <a:r>
              <a:rPr lang="pt-BR" dirty="0" err="1" smtClean="0"/>
              <a:t>lg</a:t>
            </a:r>
            <a:r>
              <a:rPr lang="pt-BR" dirty="0" smtClean="0"/>
              <a:t> n + 1024) = 30n + 20n </a:t>
            </a:r>
            <a:r>
              <a:rPr lang="pt-BR" dirty="0" err="1" smtClean="0"/>
              <a:t>lg</a:t>
            </a:r>
            <a:r>
              <a:rPr lang="pt-BR" dirty="0" smtClean="0"/>
              <a:t> n + 10240n = </a:t>
            </a:r>
          </a:p>
          <a:p>
            <a:pPr lvl="1">
              <a:spcBef>
                <a:spcPts val="600"/>
              </a:spcBef>
              <a:buNone/>
            </a:pPr>
            <a:r>
              <a:rPr lang="pt-BR" dirty="0" smtClean="0"/>
              <a:t>= 20n </a:t>
            </a:r>
            <a:r>
              <a:rPr lang="pt-BR" dirty="0" err="1" smtClean="0"/>
              <a:t>lg</a:t>
            </a:r>
            <a:r>
              <a:rPr lang="pt-BR" dirty="0" smtClean="0"/>
              <a:t> n + 10270n =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/>
              <a:t>n </a:t>
            </a:r>
            <a:r>
              <a:rPr lang="pt-BR" b="1" dirty="0" err="1" smtClean="0"/>
              <a:t>lg</a:t>
            </a:r>
            <a:r>
              <a:rPr lang="pt-BR" b="1" dirty="0" smtClean="0"/>
              <a:t> n</a:t>
            </a:r>
            <a:r>
              <a:rPr lang="pt-BR" b="1" baseline="30000" dirty="0" smtClean="0"/>
              <a:t> </a:t>
            </a:r>
            <a:r>
              <a:rPr lang="pt-BR" dirty="0" smtClean="0">
                <a:sym typeface="Wingdings" pitchFamily="2" charset="2"/>
              </a:rPr>
              <a:t>)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22114"/>
          </a:xfrm>
        </p:spPr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8820472" cy="5328592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dirty="0" smtClean="0"/>
              <a:t>08. Faça a análise de tempo de execução do algoritmo </a:t>
            </a:r>
            <a:r>
              <a:rPr lang="pt-BR" b="1" dirty="0" err="1" smtClean="0"/>
              <a:t>Minimax</a:t>
            </a:r>
            <a:r>
              <a:rPr lang="pt-BR" dirty="0" smtClean="0"/>
              <a:t>. Existe melhor caso e pior caso? Justifique.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b="1" dirty="0" smtClean="0"/>
              <a:t>Melhor caso</a:t>
            </a:r>
            <a:r>
              <a:rPr lang="pt-BR" dirty="0" smtClean="0"/>
              <a:t>: todos os elementos iguais (não faz as trocas das linhas 4 e 5)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b="1" dirty="0" smtClean="0"/>
              <a:t>Pior caso</a:t>
            </a:r>
            <a:r>
              <a:rPr lang="pt-BR" dirty="0" smtClean="0"/>
              <a:t>: realiza as trocas (em conjunto) n-1 vezes. Ex: Vetor crescente ou decrescente ou valores alternados {5; 4; 6; 3; 7; 2; 8; 1; 9}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b="1" dirty="0" smtClean="0"/>
              <a:t>Tempo de execução:</a:t>
            </a:r>
            <a:r>
              <a:rPr lang="pt-BR" dirty="0" smtClean="0"/>
              <a:t> Linear = 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/>
              <a:t>n</a:t>
            </a:r>
            <a:r>
              <a:rPr lang="pt-BR" dirty="0" smtClean="0">
                <a:sym typeface="Wingdings" pitchFamily="2" charset="2"/>
              </a:rPr>
              <a:t>) em ambos os casos.</a:t>
            </a:r>
            <a:endParaRPr lang="pt-BR" dirty="0" smtClean="0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899592" y="2204864"/>
            <a:ext cx="7560840" cy="2269232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Minimax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float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v[], 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n, 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float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*a, 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float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*b){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1.	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j;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2.		*a = *b = v[0];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3.		for (j = 1; j &lt; n; j++){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4.		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(v[j] &lt; *a) 	*a = v[j];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5.		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(v[j] &gt; *b) 	*b = v[j];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10344" y="1340768"/>
            <a:ext cx="8410128" cy="5149552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0"/>
              </a:spcBef>
            </a:pPr>
            <a:r>
              <a:rPr lang="pt-BR" dirty="0" smtClean="0"/>
              <a:t>09. Considere a função abaixo que verifica se um vetor está em ordem crescente. Faça a análise de tempo de execução. Qual melhor caso e pior caso? Justifique.</a:t>
            </a:r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b="1" dirty="0" smtClean="0"/>
              <a:t>Melhor caso</a:t>
            </a:r>
            <a:r>
              <a:rPr lang="pt-BR" dirty="0" smtClean="0"/>
              <a:t>: o primeiro par de itens está fora de ordem. Função constante = 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>
                <a:sym typeface="Wingdings" pitchFamily="2" charset="2"/>
              </a:rPr>
              <a:t>1</a:t>
            </a:r>
            <a:r>
              <a:rPr lang="pt-BR" dirty="0" smtClean="0">
                <a:sym typeface="Wingdings" pitchFamily="2" charset="2"/>
              </a:rPr>
              <a:t>)</a:t>
            </a:r>
            <a:r>
              <a:rPr lang="pt-BR" dirty="0" smtClean="0"/>
              <a:t>. 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pt-BR" b="1" dirty="0" smtClean="0"/>
              <a:t>Pior caso</a:t>
            </a:r>
            <a:r>
              <a:rPr lang="pt-BR" dirty="0" smtClean="0"/>
              <a:t>: vetor crescente: Função Linear =  Θ </a:t>
            </a:r>
            <a:r>
              <a:rPr lang="pt-BR" dirty="0" smtClean="0">
                <a:sym typeface="Wingdings" pitchFamily="2" charset="2"/>
              </a:rPr>
              <a:t>(</a:t>
            </a:r>
            <a:r>
              <a:rPr lang="pt-BR" b="1" dirty="0" smtClean="0"/>
              <a:t>n</a:t>
            </a:r>
            <a:r>
              <a:rPr lang="pt-BR" dirty="0" smtClean="0">
                <a:sym typeface="Wingdings" pitchFamily="2" charset="2"/>
              </a:rPr>
              <a:t>).</a:t>
            </a: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  <a:p>
            <a:pPr>
              <a:spcBef>
                <a:spcPts val="0"/>
              </a:spcBef>
            </a:pPr>
            <a:endParaRPr lang="pt-BR" dirty="0" smtClean="0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2915816" y="2311896"/>
            <a:ext cx="4464496" cy="2629272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crescente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v[], 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i = 0;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while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(i &lt; n-1){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</a:t>
            </a:r>
            <a:r>
              <a:rPr kumimoji="0" lang="pt-BR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(v[i] &gt; v[i+1])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	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i++;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1;</a:t>
            </a:r>
            <a:endParaRPr kumimoji="0" lang="pt-BR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Atividades (em duplas)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899592" y="1340768"/>
            <a:ext cx="7834064" cy="5149552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pt-BR" dirty="0" smtClean="0"/>
              <a:t>10. Suponhamos que você queira resolver um jogo de </a:t>
            </a:r>
            <a:r>
              <a:rPr lang="pt-BR" b="1" dirty="0" err="1" smtClean="0"/>
              <a:t>sudoku</a:t>
            </a:r>
            <a:r>
              <a:rPr lang="pt-BR" dirty="0" smtClean="0"/>
              <a:t> usando a estratégia mais simples: tentativa e erro. </a:t>
            </a:r>
          </a:p>
          <a:p>
            <a:pPr>
              <a:spcBef>
                <a:spcPts val="1200"/>
              </a:spcBef>
            </a:pPr>
            <a:r>
              <a:rPr lang="pt-BR" dirty="0" smtClean="0"/>
              <a:t>Para cada quadrado em branco, você tentaria uma possibilidade e se não desse certo, voltaria atrás e tentaria outra. </a:t>
            </a:r>
          </a:p>
          <a:p>
            <a:pPr>
              <a:spcBef>
                <a:spcPts val="1200"/>
              </a:spcBef>
            </a:pPr>
            <a:r>
              <a:rPr lang="pt-BR" dirty="0" smtClean="0"/>
              <a:t>Essa lógica teria tempo de execução de que ordem no pior caso? E no melhor caso? Explique seu raciocínio.</a:t>
            </a:r>
          </a:p>
          <a:p>
            <a:pPr>
              <a:spcBef>
                <a:spcPts val="1200"/>
              </a:spcBef>
            </a:pPr>
            <a:r>
              <a:rPr lang="pt-BR" dirty="0" smtClean="0"/>
              <a:t>Tabuleiro: 9 x 9 = 81 posições (entrada)</a:t>
            </a:r>
          </a:p>
          <a:p>
            <a:pPr lvl="1">
              <a:spcBef>
                <a:spcPts val="1200"/>
              </a:spcBef>
            </a:pPr>
            <a:r>
              <a:rPr lang="pt-BR" b="1" dirty="0" smtClean="0"/>
              <a:t>Melhor caso</a:t>
            </a:r>
            <a:r>
              <a:rPr lang="pt-BR" dirty="0" smtClean="0"/>
              <a:t>: poucas posições em branco = poucas possibilidade de preenchimento (</a:t>
            </a:r>
            <a:r>
              <a:rPr lang="pt-BR" b="1" dirty="0" smtClean="0"/>
              <a:t>menor que</a:t>
            </a:r>
            <a:r>
              <a:rPr lang="pt-BR" dirty="0" smtClean="0"/>
              <a:t>: 9 x 9)</a:t>
            </a:r>
          </a:p>
          <a:p>
            <a:pPr lvl="1">
              <a:spcBef>
                <a:spcPts val="1200"/>
              </a:spcBef>
            </a:pPr>
            <a:r>
              <a:rPr lang="pt-BR" b="1" dirty="0" smtClean="0"/>
              <a:t>Pior caso</a:t>
            </a:r>
            <a:r>
              <a:rPr lang="pt-BR" dirty="0" smtClean="0"/>
              <a:t>: muitas posições em branco = muitas possibilidades de preenchimento (</a:t>
            </a:r>
            <a:r>
              <a:rPr lang="pt-BR" b="1" dirty="0" smtClean="0"/>
              <a:t>menor que</a:t>
            </a:r>
            <a:r>
              <a:rPr lang="pt-BR" dirty="0" smtClean="0"/>
              <a:t>: 9 x 9 x 9 x ... x 9 = 9</a:t>
            </a:r>
            <a:r>
              <a:rPr lang="pt-BR" baseline="30000" dirty="0" smtClean="0"/>
              <a:t>81</a:t>
            </a:r>
            <a:r>
              <a:rPr lang="pt-BR" dirty="0" smtClean="0"/>
              <a:t>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197768"/>
            <a:ext cx="8147248" cy="1143000"/>
          </a:xfrm>
        </p:spPr>
        <p:txBody>
          <a:bodyPr>
            <a:normAutofit fontScale="90000"/>
          </a:bodyPr>
          <a:lstStyle/>
          <a:p>
            <a:r>
              <a:rPr lang="pt-BR" dirty="0" err="1" smtClean="0"/>
              <a:t>Sudoku</a:t>
            </a:r>
            <a:r>
              <a:rPr lang="pt-BR" dirty="0" smtClean="0"/>
              <a:t> – Exemplo de Análise informal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764" y="1340768"/>
            <a:ext cx="826770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5373216"/>
            <a:ext cx="810260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da Aula 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smtClean="0"/>
              <a:t>Notação assintótica</a:t>
            </a:r>
          </a:p>
          <a:p>
            <a:r>
              <a:rPr lang="pt-BR" sz="2800" dirty="0" smtClean="0"/>
              <a:t>Ordenação por trocas</a:t>
            </a:r>
          </a:p>
          <a:p>
            <a:r>
              <a:rPr lang="pt-BR" sz="2800" dirty="0" smtClean="0"/>
              <a:t>Ordenação por seleção</a:t>
            </a:r>
          </a:p>
          <a:p>
            <a:r>
              <a:rPr lang="pt-BR" sz="2800" dirty="0" smtClean="0"/>
              <a:t>Atividades</a:t>
            </a: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Notação assintótica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Análise de algoritmos tem foco para grandes valores de entrada de um problema (n). </a:t>
            </a:r>
          </a:p>
          <a:p>
            <a:endParaRPr lang="pt-BR" dirty="0" smtClean="0"/>
          </a:p>
          <a:p>
            <a:r>
              <a:rPr lang="pt-BR" dirty="0" smtClean="0"/>
              <a:t>Dadas as seguintes funções, podemos observar que todas apresentam comportamentos semelhantes para valores de </a:t>
            </a:r>
            <a:r>
              <a:rPr lang="pt-BR" b="1" i="1" dirty="0" smtClean="0"/>
              <a:t>n </a:t>
            </a:r>
            <a:r>
              <a:rPr lang="pt-BR" dirty="0" smtClean="0"/>
              <a:t>muito grandes, portanto são equivalentes, pertencem à mesma ordem.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4581128"/>
            <a:ext cx="533400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Notação O (ordem O)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4861520"/>
          </a:xfrm>
        </p:spPr>
        <p:txBody>
          <a:bodyPr/>
          <a:lstStyle/>
          <a:p>
            <a:r>
              <a:rPr lang="pt-BR" cap="small" dirty="0" smtClean="0"/>
              <a:t>Definição:</a:t>
            </a:r>
            <a:r>
              <a:rPr lang="pt-BR" dirty="0" smtClean="0"/>
              <a:t> Uma função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 </a:t>
            </a:r>
            <a:r>
              <a:rPr lang="pt-BR" b="1" dirty="0" smtClean="0"/>
              <a:t>é</a:t>
            </a:r>
            <a:r>
              <a:rPr lang="pt-BR" dirty="0" smtClean="0"/>
              <a:t>  </a:t>
            </a:r>
            <a:r>
              <a:rPr lang="pt-BR" i="1" dirty="0" smtClean="0"/>
              <a:t> Ο(g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)) se existe um número positivo </a:t>
            </a:r>
            <a:r>
              <a:rPr lang="pt-BR" i="1" dirty="0" smtClean="0"/>
              <a:t>c</a:t>
            </a:r>
            <a:r>
              <a:rPr lang="pt-BR" dirty="0" smtClean="0"/>
              <a:t> e um número </a:t>
            </a:r>
            <a:r>
              <a:rPr lang="pt-BR" i="1" dirty="0" smtClean="0"/>
              <a:t>n</a:t>
            </a:r>
            <a:r>
              <a:rPr lang="pt-BR" baseline="-25000" dirty="0" smtClean="0"/>
              <a:t>0</a:t>
            </a:r>
            <a:r>
              <a:rPr lang="pt-BR" dirty="0" smtClean="0"/>
              <a:t> tais que 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≤ </a:t>
            </a:r>
            <a:r>
              <a:rPr lang="pt-BR" i="1" dirty="0" smtClean="0"/>
              <a:t>c</a:t>
            </a:r>
            <a:r>
              <a:rPr lang="pt-BR" dirty="0" smtClean="0"/>
              <a:t> · </a:t>
            </a:r>
            <a:r>
              <a:rPr lang="pt-BR" i="1" dirty="0" smtClean="0"/>
              <a:t>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 para todo </a:t>
            </a:r>
            <a:r>
              <a:rPr lang="pt-BR" i="1" dirty="0" smtClean="0"/>
              <a:t>n</a:t>
            </a:r>
            <a:r>
              <a:rPr lang="pt-BR" dirty="0" smtClean="0"/>
              <a:t> maior ou igual a </a:t>
            </a:r>
            <a:r>
              <a:rPr lang="pt-BR" i="1" dirty="0" smtClean="0"/>
              <a:t>n</a:t>
            </a:r>
            <a:r>
              <a:rPr lang="pt-BR" baseline="-25000" dirty="0" smtClean="0"/>
              <a:t>0</a:t>
            </a:r>
            <a:r>
              <a:rPr lang="pt-BR" dirty="0" smtClean="0"/>
              <a:t>.</a:t>
            </a:r>
          </a:p>
          <a:p>
            <a:r>
              <a:rPr lang="pt-BR" dirty="0" smtClean="0"/>
              <a:t>Intuitivamente: </a:t>
            </a:r>
            <a:r>
              <a:rPr lang="pt-BR" i="1" dirty="0" smtClean="0"/>
              <a:t>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 é um </a:t>
            </a:r>
            <a:r>
              <a:rPr lang="pt-BR" b="1" dirty="0" smtClean="0"/>
              <a:t>limite superior </a:t>
            </a:r>
            <a:r>
              <a:rPr lang="pt-BR" dirty="0" smtClean="0"/>
              <a:t>para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), ou então, que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 não cresce mais rapidamente que </a:t>
            </a:r>
            <a:r>
              <a:rPr lang="pt-BR" i="1" dirty="0" smtClean="0"/>
              <a:t>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).</a:t>
            </a:r>
            <a:endParaRPr lang="pt-BR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994" y="3933056"/>
            <a:ext cx="5472286" cy="2785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sz="quarter" idx="1"/>
          </p:nvPr>
        </p:nvGraphicFramePr>
        <p:xfrm>
          <a:off x="827584" y="2132856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328"/>
                <a:gridCol w="1728192"/>
                <a:gridCol w="48348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T(n)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 smtClean="0"/>
                        <a:t> Notação O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Prova (</a:t>
                      </a:r>
                      <a:r>
                        <a:rPr lang="pt-BR" sz="2400" i="1" dirty="0" smtClean="0"/>
                        <a:t>f(n) &lt;= c. g(n)</a:t>
                      </a:r>
                      <a:r>
                        <a:rPr lang="pt-BR" sz="2400" dirty="0" smtClean="0"/>
                        <a:t>)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100 n</a:t>
                      </a:r>
                      <a:r>
                        <a:rPr lang="pt-BR" sz="2400" baseline="300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O (n</a:t>
                      </a:r>
                      <a:r>
                        <a:rPr lang="pt-BR" sz="2400" baseline="30000" dirty="0" smtClean="0"/>
                        <a:t>2</a:t>
                      </a:r>
                      <a:r>
                        <a:rPr lang="pt-BR" sz="2400" dirty="0" smtClean="0"/>
                        <a:t>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100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dirty="0" smtClean="0"/>
                        <a:t>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150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baseline="0" dirty="0" smtClean="0"/>
                        <a:t>, para n&gt;= 0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3n + 4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O 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smtClean="0"/>
                        <a:t>0 &lt;= 3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dirty="0" smtClean="0"/>
                        <a:t> + 4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aseline="0" dirty="0" smtClean="0"/>
                        <a:t>,      para n&gt;= 4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10 n</a:t>
                      </a:r>
                      <a:r>
                        <a:rPr lang="pt-BR" sz="2400" baseline="300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O (n</a:t>
                      </a:r>
                      <a:r>
                        <a:rPr lang="pt-BR" sz="2400" baseline="30000" dirty="0" smtClean="0"/>
                        <a:t>3</a:t>
                      </a:r>
                      <a:r>
                        <a:rPr lang="pt-BR" sz="2400" dirty="0" smtClean="0"/>
                        <a:t>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10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dirty="0" smtClean="0"/>
                        <a:t> 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="1" baseline="30000" dirty="0" smtClean="0"/>
                        <a:t>3</a:t>
                      </a:r>
                      <a:r>
                        <a:rPr lang="pt-BR" sz="2400" baseline="0" dirty="0" smtClean="0"/>
                        <a:t>,      para n&gt;= 10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err="1" smtClean="0"/>
                        <a:t>lg</a:t>
                      </a:r>
                      <a:r>
                        <a:rPr lang="pt-BR" sz="2400" dirty="0" smtClean="0"/>
                        <a:t> 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O(n)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 </a:t>
                      </a:r>
                      <a:r>
                        <a:rPr lang="pt-BR" sz="2400" dirty="0" err="1" smtClean="0"/>
                        <a:t>lg</a:t>
                      </a:r>
                      <a:r>
                        <a:rPr lang="pt-BR" sz="2400" dirty="0" smtClean="0"/>
                        <a:t>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dirty="0" smtClean="0"/>
                        <a:t>  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aseline="0" dirty="0" smtClean="0"/>
                        <a:t>,        para n&gt;= 1</a:t>
                      </a:r>
                      <a:endParaRPr lang="pt-BR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Nomes das classes 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617925"/>
            <a:ext cx="4357662" cy="476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usar Notação 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737320"/>
            <a:ext cx="7772400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800" dirty="0" smtClean="0"/>
              <a:t>Exemplo: Algoritmo de ordenação por inserção</a:t>
            </a:r>
          </a:p>
          <a:p>
            <a:endParaRPr lang="pt-BR" sz="2800" dirty="0" smtClean="0"/>
          </a:p>
          <a:p>
            <a:r>
              <a:rPr lang="pt-BR" sz="2400" dirty="0" smtClean="0"/>
              <a:t>A ordenação por inserção consome </a:t>
            </a:r>
            <a:r>
              <a:rPr lang="pt-BR" sz="2400" b="1" dirty="0" smtClean="0"/>
              <a:t>O(n</a:t>
            </a:r>
            <a:r>
              <a:rPr lang="pt-BR" sz="2400" b="1" baseline="30000" dirty="0" smtClean="0"/>
              <a:t>2</a:t>
            </a:r>
            <a:r>
              <a:rPr lang="pt-BR" sz="2400" b="1" dirty="0" smtClean="0"/>
              <a:t>) </a:t>
            </a:r>
            <a:r>
              <a:rPr lang="pt-BR" sz="2400" dirty="0" smtClean="0"/>
              <a:t>unidades de tempo.</a:t>
            </a:r>
          </a:p>
          <a:p>
            <a:pPr>
              <a:buNone/>
            </a:pPr>
            <a:endParaRPr lang="pt-BR" sz="2400" dirty="0" smtClean="0"/>
          </a:p>
          <a:p>
            <a:pPr algn="ctr">
              <a:buNone/>
            </a:pPr>
            <a:r>
              <a:rPr lang="pt-BR" sz="2400" dirty="0" smtClean="0"/>
              <a:t>Ou</a:t>
            </a:r>
          </a:p>
          <a:p>
            <a:pPr>
              <a:buNone/>
            </a:pPr>
            <a:endParaRPr lang="pt-BR" sz="2400" dirty="0" smtClean="0"/>
          </a:p>
          <a:p>
            <a:r>
              <a:rPr lang="pt-BR" sz="2400" dirty="0" smtClean="0"/>
              <a:t>A ordenação por inserção consome tempo </a:t>
            </a:r>
            <a:r>
              <a:rPr lang="pt-BR" sz="2400" b="1" dirty="0" smtClean="0"/>
              <a:t>O(n</a:t>
            </a:r>
            <a:r>
              <a:rPr lang="pt-BR" sz="2400" b="1" baseline="30000" dirty="0" smtClean="0"/>
              <a:t>2</a:t>
            </a:r>
            <a:r>
              <a:rPr lang="pt-BR" sz="2400" b="1" dirty="0" smtClean="0"/>
              <a:t>)</a:t>
            </a:r>
            <a:r>
              <a:rPr lang="pt-BR" sz="2400" dirty="0" smtClean="0"/>
              <a:t>.</a:t>
            </a:r>
            <a:endParaRPr lang="pt-BR" sz="2800" dirty="0" smtClean="0"/>
          </a:p>
          <a:p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Notação Ômega (ordem </a:t>
            </a:r>
            <a:r>
              <a:rPr lang="el-GR" dirty="0" smtClean="0"/>
              <a:t>Ω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4861520"/>
          </a:xfrm>
        </p:spPr>
        <p:txBody>
          <a:bodyPr/>
          <a:lstStyle/>
          <a:p>
            <a:r>
              <a:rPr lang="pt-BR" cap="small" dirty="0" smtClean="0"/>
              <a:t>Definição:</a:t>
            </a:r>
            <a:r>
              <a:rPr lang="pt-BR" dirty="0" smtClean="0"/>
              <a:t> Uma função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 </a:t>
            </a:r>
            <a:r>
              <a:rPr lang="pt-BR" b="1" dirty="0" smtClean="0"/>
              <a:t>é</a:t>
            </a:r>
            <a:r>
              <a:rPr lang="pt-BR" dirty="0" smtClean="0"/>
              <a:t>  </a:t>
            </a:r>
            <a:r>
              <a:rPr lang="pt-BR" i="1" dirty="0" smtClean="0"/>
              <a:t> </a:t>
            </a:r>
            <a:r>
              <a:rPr lang="el-GR" i="1" dirty="0" smtClean="0"/>
              <a:t>Ω</a:t>
            </a:r>
            <a:r>
              <a:rPr lang="pt-BR" i="1" dirty="0" smtClean="0"/>
              <a:t>(g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)) se existe um número positivo </a:t>
            </a:r>
            <a:r>
              <a:rPr lang="pt-BR" i="1" dirty="0" smtClean="0"/>
              <a:t>c</a:t>
            </a:r>
            <a:r>
              <a:rPr lang="pt-BR" dirty="0" smtClean="0"/>
              <a:t> e um número </a:t>
            </a:r>
            <a:r>
              <a:rPr lang="pt-BR" i="1" dirty="0" smtClean="0"/>
              <a:t>n</a:t>
            </a:r>
            <a:r>
              <a:rPr lang="pt-BR" baseline="-25000" dirty="0" smtClean="0"/>
              <a:t>0</a:t>
            </a:r>
            <a:r>
              <a:rPr lang="pt-BR" dirty="0" smtClean="0"/>
              <a:t> tais que  </a:t>
            </a:r>
            <a:r>
              <a:rPr lang="pt-BR" i="1" dirty="0" smtClean="0"/>
              <a:t>c</a:t>
            </a:r>
            <a:r>
              <a:rPr lang="pt-BR" dirty="0" smtClean="0"/>
              <a:t> · </a:t>
            </a:r>
            <a:r>
              <a:rPr lang="pt-BR" i="1" dirty="0" smtClean="0"/>
              <a:t>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 ≤ 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para todo </a:t>
            </a:r>
            <a:r>
              <a:rPr lang="pt-BR" i="1" dirty="0" smtClean="0"/>
              <a:t>n</a:t>
            </a:r>
            <a:r>
              <a:rPr lang="pt-BR" dirty="0" smtClean="0"/>
              <a:t> maior ou igual a </a:t>
            </a:r>
            <a:r>
              <a:rPr lang="pt-BR" i="1" dirty="0" smtClean="0"/>
              <a:t>n</a:t>
            </a:r>
            <a:r>
              <a:rPr lang="pt-BR" baseline="-25000" dirty="0" smtClean="0"/>
              <a:t>0</a:t>
            </a:r>
            <a:r>
              <a:rPr lang="pt-BR" dirty="0" smtClean="0"/>
              <a:t>.</a:t>
            </a:r>
          </a:p>
          <a:p>
            <a:r>
              <a:rPr lang="pt-BR" dirty="0" smtClean="0"/>
              <a:t>Intuitivamente: </a:t>
            </a:r>
            <a:r>
              <a:rPr lang="pt-BR" i="1" dirty="0" smtClean="0"/>
              <a:t>g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 é um </a:t>
            </a:r>
            <a:r>
              <a:rPr lang="pt-BR" b="1" dirty="0" smtClean="0"/>
              <a:t>limite inferior </a:t>
            </a:r>
            <a:r>
              <a:rPr lang="pt-BR" dirty="0" smtClean="0"/>
              <a:t>para </a:t>
            </a:r>
            <a:r>
              <a:rPr lang="pt-BR" i="1" dirty="0" smtClean="0"/>
              <a:t>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).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3429000"/>
            <a:ext cx="5724525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15</a:t>
            </a:fld>
            <a:endParaRPr lang="pt-BR" altLang="en-US"/>
          </a:p>
        </p:txBody>
      </p:sp>
      <p:graphicFrame>
        <p:nvGraphicFramePr>
          <p:cNvPr id="5" name="Espaço Reservado para Conteúdo 4"/>
          <p:cNvGraphicFramePr>
            <a:graphicFrameLocks noGrp="1"/>
          </p:cNvGraphicFramePr>
          <p:nvPr>
            <p:ph sz="quarter" idx="1"/>
          </p:nvPr>
        </p:nvGraphicFramePr>
        <p:xfrm>
          <a:off x="827584" y="2132856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328"/>
                <a:gridCol w="1728192"/>
                <a:gridCol w="48348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T(n)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aseline="0" dirty="0" smtClean="0"/>
                        <a:t> Notação </a:t>
                      </a:r>
                      <a:r>
                        <a:rPr lang="el-GR" sz="2400" baseline="0" dirty="0" smtClean="0"/>
                        <a:t>Ω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Prova (</a:t>
                      </a:r>
                      <a:r>
                        <a:rPr lang="pt-BR" sz="2400" i="1" dirty="0" smtClean="0"/>
                        <a:t>c. g(n)&lt;= f(n)</a:t>
                      </a:r>
                      <a:r>
                        <a:rPr lang="pt-BR" sz="2400" dirty="0" smtClean="0"/>
                        <a:t>)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100 n</a:t>
                      </a:r>
                      <a:r>
                        <a:rPr lang="pt-BR" sz="2400" baseline="300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baseline="0" dirty="0" smtClean="0"/>
                        <a:t>Ω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dirty="0" smtClean="0"/>
                        <a:t>(n</a:t>
                      </a:r>
                      <a:r>
                        <a:rPr lang="pt-BR" sz="2400" baseline="30000" dirty="0" smtClean="0"/>
                        <a:t>2</a:t>
                      </a:r>
                      <a:r>
                        <a:rPr lang="pt-BR" sz="2400" dirty="0" smtClean="0"/>
                        <a:t>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="1" baseline="30000" dirty="0" smtClean="0"/>
                        <a:t>2 </a:t>
                      </a:r>
                      <a:r>
                        <a:rPr lang="pt-BR" sz="2400" dirty="0" smtClean="0"/>
                        <a:t>&lt;= 100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dirty="0" smtClean="0"/>
                        <a:t> </a:t>
                      </a:r>
                      <a:r>
                        <a:rPr lang="pt-BR" sz="2400" baseline="0" dirty="0" smtClean="0"/>
                        <a:t>,     para n &gt;= 0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3n + 4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baseline="0" dirty="0" smtClean="0"/>
                        <a:t>Ω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dirty="0" smtClean="0"/>
                        <a:t>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smtClean="0"/>
                        <a:t>0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 </a:t>
                      </a:r>
                      <a:r>
                        <a:rPr lang="pt-BR" sz="2400" dirty="0" smtClean="0"/>
                        <a:t>&lt;= 3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dirty="0" smtClean="0"/>
                        <a:t> + 4 </a:t>
                      </a:r>
                      <a:r>
                        <a:rPr lang="pt-BR" sz="2400" baseline="0" dirty="0" smtClean="0"/>
                        <a:t>,      para n&gt;= 0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10 n</a:t>
                      </a:r>
                      <a:r>
                        <a:rPr lang="pt-BR" sz="2400" baseline="30000" dirty="0" smtClean="0"/>
                        <a:t>2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baseline="0" dirty="0" smtClean="0"/>
                        <a:t>Ω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dirty="0" smtClean="0"/>
                        <a:t>(n)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="1" baseline="30000" dirty="0" smtClean="0"/>
                        <a:t> </a:t>
                      </a:r>
                      <a:r>
                        <a:rPr lang="pt-BR" sz="2400" dirty="0" smtClean="0"/>
                        <a:t>&lt;= 10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b="1" baseline="30000" dirty="0" smtClean="0"/>
                        <a:t>2</a:t>
                      </a:r>
                      <a:r>
                        <a:rPr lang="pt-BR" sz="2400" dirty="0" smtClean="0"/>
                        <a:t> </a:t>
                      </a:r>
                      <a:r>
                        <a:rPr lang="pt-BR" sz="2400" baseline="0" dirty="0" smtClean="0"/>
                        <a:t>,         para n&gt;= 0</a:t>
                      </a:r>
                      <a:endParaRPr lang="pt-BR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 smtClean="0"/>
                        <a:t>n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400" baseline="0" dirty="0" smtClean="0"/>
                        <a:t>Ω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dirty="0" smtClean="0"/>
                        <a:t>(</a:t>
                      </a:r>
                      <a:r>
                        <a:rPr lang="pt-BR" sz="2400" dirty="0" err="1" smtClean="0"/>
                        <a:t>lg</a:t>
                      </a:r>
                      <a:r>
                        <a:rPr lang="pt-BR" sz="2400" dirty="0" smtClean="0"/>
                        <a:t> n)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 smtClean="0"/>
                        <a:t>0 &lt;=  </a:t>
                      </a:r>
                      <a:r>
                        <a:rPr lang="pt-BR" sz="2400" dirty="0" err="1" smtClean="0"/>
                        <a:t>lg</a:t>
                      </a:r>
                      <a:r>
                        <a:rPr lang="pt-BR" sz="2400" dirty="0" smtClean="0"/>
                        <a:t> </a:t>
                      </a:r>
                      <a:r>
                        <a:rPr lang="pt-BR" sz="2400" b="1" dirty="0" smtClean="0"/>
                        <a:t>n</a:t>
                      </a:r>
                      <a:r>
                        <a:rPr lang="pt-BR" sz="2400" dirty="0" smtClean="0"/>
                        <a:t>   &lt;= </a:t>
                      </a:r>
                      <a:r>
                        <a:rPr lang="pt-BR" sz="2400" b="1" dirty="0" smtClean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pt-BR" sz="2400" baseline="0" dirty="0" smtClean="0"/>
                        <a:t> </a:t>
                      </a:r>
                      <a:r>
                        <a:rPr lang="pt-BR" sz="2400" b="1" baseline="0" dirty="0" smtClean="0"/>
                        <a:t>n</a:t>
                      </a:r>
                      <a:r>
                        <a:rPr lang="pt-BR" sz="2400" baseline="0" dirty="0" smtClean="0"/>
                        <a:t>,         para n&gt;= 1</a:t>
                      </a:r>
                      <a:endParaRPr lang="pt-BR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Notação </a:t>
            </a:r>
            <a:r>
              <a:rPr lang="pt-BR" dirty="0" err="1" smtClean="0"/>
              <a:t>Theta</a:t>
            </a:r>
            <a:r>
              <a:rPr lang="pt-BR" dirty="0" smtClean="0"/>
              <a:t> (ordem </a:t>
            </a:r>
            <a:r>
              <a:rPr lang="pt-BR" i="1" dirty="0" smtClean="0"/>
              <a:t>Θ</a:t>
            </a:r>
            <a:r>
              <a:rPr lang="pt-BR" dirty="0" smtClean="0"/>
              <a:t> )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700808"/>
            <a:ext cx="8003232" cy="4608512"/>
          </a:xfrm>
        </p:spPr>
        <p:txBody>
          <a:bodyPr/>
          <a:lstStyle/>
          <a:p>
            <a:r>
              <a:rPr lang="pt-BR" cap="small" dirty="0" smtClean="0"/>
              <a:t>Definição:</a:t>
            </a:r>
            <a:r>
              <a:rPr lang="pt-BR" dirty="0" smtClean="0"/>
              <a:t> Uma função </a:t>
            </a:r>
            <a:r>
              <a:rPr lang="pt-BR" i="1" dirty="0" smtClean="0"/>
              <a:t>T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 </a:t>
            </a:r>
            <a:r>
              <a:rPr lang="pt-BR" b="1" dirty="0" smtClean="0"/>
              <a:t>é</a:t>
            </a:r>
            <a:r>
              <a:rPr lang="pt-BR" dirty="0" smtClean="0"/>
              <a:t> </a:t>
            </a:r>
            <a:r>
              <a:rPr lang="pt-BR" i="1" dirty="0" smtClean="0"/>
              <a:t>Θ (f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)) se:</a:t>
            </a:r>
          </a:p>
          <a:p>
            <a:pPr>
              <a:buNone/>
            </a:pPr>
            <a:r>
              <a:rPr lang="pt-BR" dirty="0" smtClean="0"/>
              <a:t> 		</a:t>
            </a:r>
            <a:r>
              <a:rPr lang="pt-BR" i="1" dirty="0" smtClean="0"/>
              <a:t>T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</a:t>
            </a:r>
            <a:r>
              <a:rPr lang="pt-BR" b="1" dirty="0" smtClean="0"/>
              <a:t>é</a:t>
            </a:r>
            <a:r>
              <a:rPr lang="pt-BR" dirty="0" smtClean="0"/>
              <a:t> </a:t>
            </a:r>
            <a:r>
              <a:rPr lang="pt-BR" i="1" dirty="0" smtClean="0"/>
              <a:t>Ο(f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))  e </a:t>
            </a:r>
            <a:r>
              <a:rPr lang="pt-BR" i="1" dirty="0" smtClean="0"/>
              <a:t>T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 </a:t>
            </a:r>
            <a:r>
              <a:rPr lang="pt-BR" b="1" dirty="0" smtClean="0"/>
              <a:t>é</a:t>
            </a:r>
            <a:r>
              <a:rPr lang="pt-BR" i="1" dirty="0" smtClean="0"/>
              <a:t> </a:t>
            </a:r>
            <a:r>
              <a:rPr lang="el-GR" i="1" dirty="0" smtClean="0"/>
              <a:t>Ω</a:t>
            </a:r>
            <a:r>
              <a:rPr lang="pt-BR" i="1" dirty="0" smtClean="0"/>
              <a:t>(f</a:t>
            </a:r>
            <a:r>
              <a:rPr lang="pt-BR" dirty="0" smtClean="0"/>
              <a:t>(</a:t>
            </a:r>
            <a:r>
              <a:rPr lang="pt-BR" i="1" dirty="0" smtClean="0"/>
              <a:t>n</a:t>
            </a:r>
            <a:r>
              <a:rPr lang="pt-BR" dirty="0" smtClean="0"/>
              <a:t>)) 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687" y="2636912"/>
            <a:ext cx="6065617" cy="339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Intuitivamente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17</a:t>
            </a:fld>
            <a:endParaRPr lang="pt-BR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2076450"/>
            <a:ext cx="66389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Nomes das classes </a:t>
            </a:r>
            <a:r>
              <a:rPr lang="pt-BR" i="1" dirty="0" smtClean="0"/>
              <a:t>Θ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18</a:t>
            </a:fld>
            <a:endParaRPr lang="pt-BR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8841" y="1484783"/>
            <a:ext cx="4635287" cy="5089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Alguns cuidados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19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Em geral, algoritmo que consome tempo </a:t>
            </a:r>
            <a:r>
              <a:rPr lang="pt-BR" i="1" dirty="0" smtClean="0"/>
              <a:t>Θ (n </a:t>
            </a:r>
            <a:r>
              <a:rPr lang="pt-BR" i="1" dirty="0" err="1" smtClean="0"/>
              <a:t>lg</a:t>
            </a:r>
            <a:r>
              <a:rPr lang="pt-BR" i="1" dirty="0" smtClean="0"/>
              <a:t> n)</a:t>
            </a:r>
            <a:r>
              <a:rPr lang="pt-BR" dirty="0" smtClean="0"/>
              <a:t>, com constantes razoáveis é bem eficiente;</a:t>
            </a:r>
          </a:p>
          <a:p>
            <a:r>
              <a:rPr lang="pt-BR" dirty="0" smtClean="0"/>
              <a:t>Um algoritmo </a:t>
            </a:r>
            <a:r>
              <a:rPr lang="pt-BR" i="1" dirty="0" smtClean="0"/>
              <a:t>Θ(n</a:t>
            </a:r>
            <a:r>
              <a:rPr lang="pt-BR" i="1" baseline="30000" dirty="0" smtClean="0"/>
              <a:t>2</a:t>
            </a:r>
            <a:r>
              <a:rPr lang="pt-BR" i="1" dirty="0" smtClean="0"/>
              <a:t>) </a:t>
            </a:r>
            <a:r>
              <a:rPr lang="pt-BR" dirty="0" smtClean="0"/>
              <a:t>pode ser, em alguns casos, satisfatórios</a:t>
            </a:r>
          </a:p>
          <a:p>
            <a:r>
              <a:rPr lang="pt-BR" dirty="0" smtClean="0"/>
              <a:t>Algoritmo de </a:t>
            </a:r>
            <a:r>
              <a:rPr lang="pt-BR" i="1" dirty="0" smtClean="0"/>
              <a:t>Θ(2</a:t>
            </a:r>
            <a:r>
              <a:rPr lang="pt-BR" i="1" baseline="30000" dirty="0" smtClean="0"/>
              <a:t>n</a:t>
            </a:r>
            <a:r>
              <a:rPr lang="pt-BR" i="1" dirty="0" smtClean="0"/>
              <a:t>)</a:t>
            </a:r>
            <a:r>
              <a:rPr lang="pt-BR" dirty="0" smtClean="0"/>
              <a:t> dificilmente é aceitável.</a:t>
            </a:r>
          </a:p>
          <a:p>
            <a:endParaRPr lang="pt-BR" dirty="0" smtClean="0"/>
          </a:p>
          <a:p>
            <a:r>
              <a:rPr lang="pt-BR" dirty="0" smtClean="0"/>
              <a:t>Do ponto de vista de Análise de Algoritmos:</a:t>
            </a:r>
          </a:p>
          <a:p>
            <a:endParaRPr lang="pt-BR" dirty="0" smtClean="0"/>
          </a:p>
          <a:p>
            <a:pPr algn="ctr">
              <a:buNone/>
            </a:pPr>
            <a:r>
              <a:rPr lang="pt-BR" sz="3200" b="1" dirty="0" smtClean="0">
                <a:solidFill>
                  <a:srgbClr val="FF0000"/>
                </a:solidFill>
              </a:rPr>
              <a:t>Eficiente = polinomial</a:t>
            </a:r>
            <a:endParaRPr lang="pt-B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11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20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Suponha que </a:t>
            </a:r>
            <a:r>
              <a:rPr lang="pt-BR" i="1" dirty="0" smtClean="0"/>
              <a:t>A </a:t>
            </a:r>
            <a:r>
              <a:rPr lang="pt-BR" dirty="0" smtClean="0"/>
              <a:t>e </a:t>
            </a:r>
            <a:r>
              <a:rPr lang="pt-BR" i="1" dirty="0" smtClean="0"/>
              <a:t>B </a:t>
            </a:r>
            <a:r>
              <a:rPr lang="pt-BR" dirty="0" smtClean="0"/>
              <a:t>são algoritmos para resolver o mesmo problema. Sendo o consumo de tempo de </a:t>
            </a:r>
            <a:r>
              <a:rPr lang="pt-BR" i="1" dirty="0" smtClean="0"/>
              <a:t>A </a:t>
            </a:r>
            <a:r>
              <a:rPr lang="pt-BR" dirty="0" smtClean="0"/>
              <a:t>= 100n e o consumo de </a:t>
            </a:r>
            <a:r>
              <a:rPr lang="pt-BR" i="1" dirty="0" smtClean="0"/>
              <a:t>B = </a:t>
            </a:r>
            <a:r>
              <a:rPr lang="pt-BR" dirty="0" smtClean="0"/>
              <a:t>n log</a:t>
            </a:r>
            <a:r>
              <a:rPr lang="pt-BR" baseline="-25000" dirty="0" smtClean="0"/>
              <a:t>10</a:t>
            </a:r>
            <a:r>
              <a:rPr lang="pt-BR" dirty="0" smtClean="0"/>
              <a:t>n, qual o algoritmo mais eficiente? Justifique.</a:t>
            </a:r>
          </a:p>
          <a:p>
            <a:endParaRPr lang="pt-BR" dirty="0" smtClean="0"/>
          </a:p>
          <a:p>
            <a:r>
              <a:rPr lang="pt-BR" dirty="0" smtClean="0"/>
              <a:t>Para </a:t>
            </a:r>
            <a:r>
              <a:rPr lang="pt-BR" b="1" i="1" dirty="0" smtClean="0"/>
              <a:t>n </a:t>
            </a:r>
            <a:r>
              <a:rPr lang="pt-BR" dirty="0" smtClean="0"/>
              <a:t>a partir de quanto o algoritmo escolhido passa a ser </a:t>
            </a:r>
            <a:r>
              <a:rPr lang="pt-BR" smtClean="0"/>
              <a:t>mais eficiente?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trocas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21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2269232"/>
          </a:xfrm>
        </p:spPr>
        <p:txBody>
          <a:bodyPr>
            <a:normAutofit/>
          </a:bodyPr>
          <a:lstStyle/>
          <a:p>
            <a:r>
              <a:rPr lang="pt-BR" dirty="0" smtClean="0"/>
              <a:t>Um modo simples de ordenar um vetor com </a:t>
            </a:r>
            <a:r>
              <a:rPr lang="pt-BR" b="1" i="1" dirty="0" smtClean="0"/>
              <a:t>n</a:t>
            </a:r>
            <a:r>
              <a:rPr lang="pt-BR" dirty="0" smtClean="0"/>
              <a:t> itens é comparar itens adjacentes em </a:t>
            </a:r>
            <a:r>
              <a:rPr lang="pt-BR" b="1" i="1" dirty="0" smtClean="0"/>
              <a:t>v</a:t>
            </a:r>
            <a:r>
              <a:rPr lang="pt-BR" dirty="0" smtClean="0"/>
              <a:t> e, se eles estiverem fora de ordem, trocá-los de posição. Assim, após a primeira varredura de </a:t>
            </a:r>
            <a:r>
              <a:rPr lang="pt-BR" b="1" i="1" dirty="0" smtClean="0"/>
              <a:t>v</a:t>
            </a:r>
            <a:r>
              <a:rPr lang="pt-BR" dirty="0" smtClean="0"/>
              <a:t>, seu maior item estará na posição </a:t>
            </a:r>
            <a:r>
              <a:rPr lang="pt-BR" b="1" i="1" dirty="0" smtClean="0"/>
              <a:t>n-1</a:t>
            </a:r>
            <a:r>
              <a:rPr lang="pt-BR" dirty="0" smtClean="0"/>
              <a:t>.</a:t>
            </a:r>
          </a:p>
          <a:p>
            <a:r>
              <a:rPr lang="pt-BR" dirty="0" smtClean="0"/>
              <a:t>Primeira varredura:</a:t>
            </a:r>
          </a:p>
          <a:p>
            <a:pPr>
              <a:buNone/>
            </a:pPr>
            <a:endParaRPr lang="pt-BR" dirty="0" smtClean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259632" y="364502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259632" y="418488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1259632" y="479715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1259632" y="540902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259632" y="598508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trocas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22</a:t>
            </a:fld>
            <a:endParaRPr lang="pt-BR" altLang="en-US"/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115616" y="220486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914400" y="1556792"/>
            <a:ext cx="7772400" cy="574576"/>
          </a:xfrm>
        </p:spPr>
        <p:txBody>
          <a:bodyPr/>
          <a:lstStyle/>
          <a:p>
            <a:r>
              <a:rPr lang="pt-BR" dirty="0" smtClean="0"/>
              <a:t>Segunda Varredura: </a:t>
            </a:r>
            <a:endParaRPr lang="pt-BR" dirty="0"/>
          </a:p>
        </p:txBody>
      </p:sp>
      <p:graphicFrame>
        <p:nvGraphicFramePr>
          <p:cNvPr id="13" name="Tabela 12"/>
          <p:cNvGraphicFramePr>
            <a:graphicFrameLocks noGrp="1"/>
          </p:cNvGraphicFramePr>
          <p:nvPr/>
        </p:nvGraphicFramePr>
        <p:xfrm>
          <a:off x="1115616" y="274472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1115616" y="324878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ela 14"/>
          <p:cNvGraphicFramePr>
            <a:graphicFrameLocks noGrp="1"/>
          </p:cNvGraphicFramePr>
          <p:nvPr/>
        </p:nvGraphicFramePr>
        <p:xfrm>
          <a:off x="1115616" y="3752840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Espaço Reservado para Conteúdo 10"/>
          <p:cNvSpPr txBox="1">
            <a:spLocks/>
          </p:cNvSpPr>
          <p:nvPr/>
        </p:nvSpPr>
        <p:spPr>
          <a:xfrm>
            <a:off x="899592" y="4365104"/>
            <a:ext cx="7772400" cy="5745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pt-BR" sz="26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TerceiraVarredura</a:t>
            </a:r>
            <a:r>
              <a:rPr lang="pt-BR" sz="2600" dirty="0" smtClean="0">
                <a:latin typeface="+mn-lt"/>
                <a:cs typeface="+mn-cs"/>
              </a:rPr>
              <a:t>:</a:t>
            </a:r>
            <a:endParaRPr kumimoji="0" lang="pt-BR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1115616" y="490496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ela 17"/>
          <p:cNvGraphicFramePr>
            <a:graphicFrameLocks noGrp="1"/>
          </p:cNvGraphicFramePr>
          <p:nvPr/>
        </p:nvGraphicFramePr>
        <p:xfrm>
          <a:off x="1115616" y="5409024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ela 18"/>
          <p:cNvGraphicFramePr>
            <a:graphicFrameLocks noGrp="1"/>
          </p:cNvGraphicFramePr>
          <p:nvPr/>
        </p:nvGraphicFramePr>
        <p:xfrm>
          <a:off x="1115616" y="598508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trocas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447800"/>
            <a:ext cx="8003232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Para colocar todos os itens em ordem, quantas varreduras são necessárias?</a:t>
            </a:r>
          </a:p>
          <a:p>
            <a:r>
              <a:rPr lang="pt-BR" dirty="0" smtClean="0"/>
              <a:t>n-1 varreduras (laço mais externo)</a:t>
            </a:r>
          </a:p>
          <a:p>
            <a:r>
              <a:rPr lang="pt-BR" dirty="0" smtClean="0"/>
              <a:t>Laço mais interno: para na penúltima posição do vetor que ainda está por ordenar</a:t>
            </a:r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755576" y="3717032"/>
            <a:ext cx="7560840" cy="2736304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#define troca(a, b) {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x=a; a=b; b=x; 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bubble_sort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v[],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i=1; i&lt;=n-1; i++)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for 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j=0; j&lt;n-i; j++)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(v[j] &gt; v[j+1]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		troca(v[j], v[j+1])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12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467544" y="1447800"/>
            <a:ext cx="8219256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Faça a análise assintótica da Ordenação por Trocas (</a:t>
            </a:r>
            <a:r>
              <a:rPr lang="pt-BR" dirty="0" err="1" smtClean="0"/>
              <a:t>bubble_sort</a:t>
            </a:r>
            <a:r>
              <a:rPr lang="pt-BR" dirty="0" smtClean="0"/>
              <a:t>) para o pior caso, usando notação O.</a:t>
            </a:r>
            <a:endParaRPr lang="pt-BR" dirty="0"/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>
          <a:xfrm>
            <a:off x="1043608" y="2636912"/>
            <a:ext cx="7560840" cy="2736304"/>
          </a:xfrm>
          <a:prstGeom prst="rect">
            <a:avLst/>
          </a:prstGeom>
          <a:solidFill>
            <a:srgbClr val="FFFFCC"/>
          </a:solidFill>
        </p:spPr>
        <p:txBody>
          <a:bodyPr vert="horz">
            <a:noAutofit/>
          </a:bodyPr>
          <a:lstStyle/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#define troca(a, b) {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x=a; a=b; b=x; }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bubble_sort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v[], 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n){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for (</a:t>
            </a:r>
            <a:r>
              <a:rPr lang="pt-BR" sz="2000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 i=1; i&lt;=n-1; i++)</a:t>
            </a:r>
            <a:endParaRPr kumimoji="0" lang="pt-BR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for (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int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j=0; j&lt;n-i; j++)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			</a:t>
            </a:r>
            <a:r>
              <a:rPr kumimoji="0" lang="pt-BR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(v[j] &gt; v[j+1]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pt-BR" sz="2000" b="1" dirty="0" smtClean="0">
                <a:latin typeface="Courier New" pitchFamily="49" charset="0"/>
                <a:cs typeface="Courier New" pitchFamily="49" charset="0"/>
              </a:rPr>
              <a:t>				troca(v[j], v[j+1])</a:t>
            </a: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;</a:t>
            </a:r>
          </a:p>
          <a:p>
            <a:pPr marL="27432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}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13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Para ordenar um vetor por seleção, o algoritmo deve escolher o valor máximo armazenado no vetor e então trocar com a posição v[n-1]. A partir daí teremos o maior item armazenado em sua posição definitiva.</a:t>
            </a:r>
          </a:p>
          <a:p>
            <a:r>
              <a:rPr lang="pt-BR" dirty="0" smtClean="0"/>
              <a:t>Essa lógica deve ser repetida considerando um item a menos (que já está na posição definitiva). </a:t>
            </a:r>
          </a:p>
          <a:p>
            <a:r>
              <a:rPr lang="pt-BR" dirty="0" smtClean="0"/>
              <a:t>A cada repetição, um item é movido para sua posição definitiva, de maneira que após n-1 repetições, o vetor estará completamente ordenado.</a:t>
            </a:r>
          </a:p>
          <a:p>
            <a:r>
              <a:rPr lang="pt-BR" dirty="0" smtClean="0"/>
              <a:t>Implemente o código e faça a análise da complexidade de tempo do seu algoritmo. 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Simulação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/>
          </a:bodyPr>
          <a:lstStyle/>
          <a:p>
            <a:r>
              <a:rPr lang="pt-BR" dirty="0" smtClean="0"/>
              <a:t>Primeira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Segunda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Terceira varredura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...</a:t>
            </a:r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259632" y="191683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259632" y="245669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259632" y="332079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1259632" y="3824848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1259632" y="4797152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rgbClr val="FF0000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1259632" y="5337016"/>
          <a:ext cx="6096000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38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pt-BR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Avisos importantes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27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200" dirty="0" smtClean="0"/>
              <a:t>Preparação para Maratona de Programação</a:t>
            </a:r>
          </a:p>
          <a:p>
            <a:r>
              <a:rPr lang="pt-BR" sz="3200" dirty="0" smtClean="0"/>
              <a:t>Às terças-feiras – das </a:t>
            </a:r>
            <a:r>
              <a:rPr lang="pt-BR" sz="3200" smtClean="0"/>
              <a:t>18h as 19h - LAB 8</a:t>
            </a:r>
          </a:p>
          <a:p>
            <a:endParaRPr lang="pt-BR" sz="3200" dirty="0" smtClean="0"/>
          </a:p>
          <a:p>
            <a:r>
              <a:rPr lang="pt-BR" sz="3200" dirty="0" smtClean="0"/>
              <a:t>Não </a:t>
            </a:r>
            <a:r>
              <a:rPr lang="pt-BR" sz="3200" dirty="0" smtClean="0"/>
              <a:t>haverá aula dia 18/03</a:t>
            </a:r>
          </a:p>
          <a:p>
            <a:r>
              <a:rPr lang="pt-BR" sz="3200" dirty="0" smtClean="0"/>
              <a:t>Prof. estará em visita técnica no BHTEC</a:t>
            </a:r>
          </a:p>
          <a:p>
            <a:r>
              <a:rPr lang="pt-BR" sz="3200" dirty="0" smtClean="0"/>
              <a:t>Dia 11/03 – Aula normal</a:t>
            </a:r>
            <a:endParaRPr lang="pt-BR" sz="3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2202</TotalTime>
  <Words>1261</Words>
  <Application>Microsoft Office PowerPoint</Application>
  <PresentationFormat>Apresentação na tela (4:3)</PresentationFormat>
  <Paragraphs>306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Cambria</vt:lpstr>
      <vt:lpstr>Courier New</vt:lpstr>
      <vt:lpstr>Franklin Gothic Book</vt:lpstr>
      <vt:lpstr>Perpetua</vt:lpstr>
      <vt:lpstr>Wingdings</vt:lpstr>
      <vt:lpstr>Wingdings 2</vt:lpstr>
      <vt:lpstr>Patrimônio Líquido</vt:lpstr>
      <vt:lpstr>Análise de Algoritmos IAL 501</vt:lpstr>
      <vt:lpstr>Aula anterior</vt:lpstr>
      <vt:lpstr>Atividades (em duplas)</vt:lpstr>
      <vt:lpstr>Atividades (em duplas)</vt:lpstr>
      <vt:lpstr>Atividades (em duplas)</vt:lpstr>
      <vt:lpstr>Atividades (em duplas)</vt:lpstr>
      <vt:lpstr>Sudoku – Exemplo de Análise informal</vt:lpstr>
      <vt:lpstr>Objetivo da Aula 4</vt:lpstr>
      <vt:lpstr>Notação assintótica</vt:lpstr>
      <vt:lpstr>Notação O (ordem O)</vt:lpstr>
      <vt:lpstr>Exemplos</vt:lpstr>
      <vt:lpstr>Nomes das classes O</vt:lpstr>
      <vt:lpstr>Como usar Notação O</vt:lpstr>
      <vt:lpstr>Notação Ômega (ordem Ω)</vt:lpstr>
      <vt:lpstr>Exemplos</vt:lpstr>
      <vt:lpstr>Notação Theta (ordem Θ )</vt:lpstr>
      <vt:lpstr>Intuitivamente</vt:lpstr>
      <vt:lpstr>Nomes das classes Θ</vt:lpstr>
      <vt:lpstr>Alguns cuidados</vt:lpstr>
      <vt:lpstr>Atividade 11</vt:lpstr>
      <vt:lpstr>Ordenação por trocas</vt:lpstr>
      <vt:lpstr>Ordenação por trocas</vt:lpstr>
      <vt:lpstr>Ordenação por trocas</vt:lpstr>
      <vt:lpstr>Atividade 12</vt:lpstr>
      <vt:lpstr>Atividade 13</vt:lpstr>
      <vt:lpstr>Simulação</vt:lpstr>
      <vt:lpstr>Avisos importantes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180</cp:revision>
  <dcterms:created xsi:type="dcterms:W3CDTF">2011-02-25T18:12:46Z</dcterms:created>
  <dcterms:modified xsi:type="dcterms:W3CDTF">2016-03-04T22:24:41Z</dcterms:modified>
</cp:coreProperties>
</file>