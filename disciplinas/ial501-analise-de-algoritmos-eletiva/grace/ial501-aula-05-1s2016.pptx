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53" r:id="rId1"/>
  </p:sldMasterIdLst>
  <p:notesMasterIdLst>
    <p:notesMasterId r:id="rId24"/>
  </p:notesMasterIdLst>
  <p:sldIdLst>
    <p:sldId id="256" r:id="rId2"/>
    <p:sldId id="329" r:id="rId3"/>
    <p:sldId id="367" r:id="rId4"/>
    <p:sldId id="372" r:id="rId5"/>
    <p:sldId id="374" r:id="rId6"/>
    <p:sldId id="391" r:id="rId7"/>
    <p:sldId id="383" r:id="rId8"/>
    <p:sldId id="375" r:id="rId9"/>
    <p:sldId id="376" r:id="rId10"/>
    <p:sldId id="377" r:id="rId11"/>
    <p:sldId id="378" r:id="rId12"/>
    <p:sldId id="380" r:id="rId13"/>
    <p:sldId id="381" r:id="rId14"/>
    <p:sldId id="382" r:id="rId15"/>
    <p:sldId id="384" r:id="rId16"/>
    <p:sldId id="385" r:id="rId17"/>
    <p:sldId id="386" r:id="rId18"/>
    <p:sldId id="387" r:id="rId19"/>
    <p:sldId id="388" r:id="rId20"/>
    <p:sldId id="389" r:id="rId21"/>
    <p:sldId id="390" r:id="rId22"/>
    <p:sldId id="373" r:id="rId23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CCECFF"/>
    <a:srgbClr val="99CCFF"/>
    <a:srgbClr val="F2F2F2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2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A6320F-141A-46AE-8126-341904F1DA0F}" type="datetimeFigureOut">
              <a:rPr lang="pt-BR" smtClean="0"/>
              <a:pPr/>
              <a:t>11/03/2016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676384-1A77-499B-BCFA-1110740A63C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806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etângulo de cantos arredondados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C75EB2C-B4B3-46F1-800B-C03E60F0855B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7" name="Retângulo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etângulo de cantos arredondados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7" name="Retângulo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C7DDA84F-88F9-43CD-B0D1-51757FA09CDA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8BF960-11F1-48D5-B890-5F8A51F3F6E2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CE3E87-951E-4C83-B656-2861251D95DA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D8F0A-0135-4488-AEFF-ACE671CBCE1A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CF8199-9CBA-4AF3-9536-9885347AFD85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etângulo de cantos arredondados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C886E6-453B-4D2F-9E7C-86BC71910629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14D24FA8-B6CD-410D-B3E2-A90294CAFD21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11" name="Retângulo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tângulo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tângulo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009AE5-E3CB-4DB1-BF75-5ED1789E49B5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4F7AAF-3EFB-4D85-B248-B4A55AAE39D3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etângulo de cantos arredondados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2A2DFB1C-B4BE-49DA-ADAE-D8991734F765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4" r:id="rId1"/>
    <p:sldLayoutId id="2147483955" r:id="rId2"/>
    <p:sldLayoutId id="2147483956" r:id="rId3"/>
    <p:sldLayoutId id="2147483957" r:id="rId4"/>
    <p:sldLayoutId id="2147483958" r:id="rId5"/>
    <p:sldLayoutId id="2147483959" r:id="rId6"/>
    <p:sldLayoutId id="2147483960" r:id="rId7"/>
    <p:sldLayoutId id="2147483961" r:id="rId8"/>
    <p:sldLayoutId id="2147483962" r:id="rId9"/>
    <p:sldLayoutId id="2147483963" r:id="rId10"/>
    <p:sldLayoutId id="2147483964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ime.usp.br/~pf/algoritmos/aulas/aloca.htm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mailto:atividadesial501@yahoo.com.br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25438" y="3227040"/>
            <a:ext cx="8495034" cy="2362200"/>
          </a:xfrm>
        </p:spPr>
        <p:txBody>
          <a:bodyPr/>
          <a:lstStyle/>
          <a:p>
            <a:pPr eaLnBrk="1" hangingPunct="1"/>
            <a:r>
              <a:rPr lang="pt-BR" b="1" dirty="0" smtClean="0">
                <a:solidFill>
                  <a:schemeClr val="tx2">
                    <a:lumMod val="75000"/>
                  </a:schemeClr>
                </a:solidFill>
              </a:rPr>
              <a:t>Aula 05 </a:t>
            </a:r>
          </a:p>
          <a:p>
            <a:pPr eaLnBrk="1" hangingPunct="1"/>
            <a:r>
              <a:rPr lang="pt-BR" b="1" dirty="0" smtClean="0">
                <a:solidFill>
                  <a:schemeClr val="tx2">
                    <a:lumMod val="75000"/>
                  </a:schemeClr>
                </a:solidFill>
              </a:rPr>
              <a:t>Grace Borges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pt-BR" b="1" dirty="0" smtClean="0"/>
              <a:t>Análise de Algoritmos</a:t>
            </a:r>
            <a:br>
              <a:rPr lang="pt-BR" b="1" dirty="0" smtClean="0"/>
            </a:br>
            <a:r>
              <a:rPr lang="pt-BR" b="1" dirty="0" smtClean="0"/>
              <a:t>IAL 501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Aula anterior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2800" dirty="0" smtClean="0"/>
              <a:t>Notação assintótica</a:t>
            </a:r>
          </a:p>
          <a:p>
            <a:r>
              <a:rPr lang="pt-BR" sz="2800" dirty="0" smtClean="0"/>
              <a:t>Ordenação por trocas</a:t>
            </a:r>
          </a:p>
          <a:p>
            <a:r>
              <a:rPr lang="pt-BR" sz="2800" dirty="0" smtClean="0"/>
              <a:t>Ordenação por seleção</a:t>
            </a:r>
          </a:p>
          <a:p>
            <a:r>
              <a:rPr lang="pt-BR" sz="2800" dirty="0" smtClean="0"/>
              <a:t>Atividades</a:t>
            </a:r>
            <a:endParaRPr lang="pt-BR" sz="280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2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3568" y="274638"/>
            <a:ext cx="8003232" cy="1143000"/>
          </a:xfrm>
        </p:spPr>
        <p:txBody>
          <a:bodyPr>
            <a:normAutofit/>
          </a:bodyPr>
          <a:lstStyle/>
          <a:p>
            <a:r>
              <a:rPr lang="pt-BR" dirty="0" smtClean="0"/>
              <a:t>Atividade 12 - Ordenação por trocas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3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539552" y="4293096"/>
            <a:ext cx="8424936" cy="2232248"/>
          </a:xfrm>
        </p:spPr>
        <p:txBody>
          <a:bodyPr>
            <a:normAutofit fontScale="92500"/>
          </a:bodyPr>
          <a:lstStyle/>
          <a:p>
            <a:r>
              <a:rPr lang="pt-BR" dirty="0" smtClean="0"/>
              <a:t>T</a:t>
            </a:r>
            <a:r>
              <a:rPr lang="pt-BR" baseline="-25000" dirty="0" smtClean="0"/>
              <a:t>1</a:t>
            </a:r>
            <a:r>
              <a:rPr lang="pt-BR" dirty="0" smtClean="0"/>
              <a:t>(n) = n -1 vezes (entra no 1º laço)</a:t>
            </a:r>
          </a:p>
          <a:p>
            <a:r>
              <a:rPr lang="pt-BR" dirty="0" smtClean="0"/>
              <a:t>T</a:t>
            </a:r>
            <a:r>
              <a:rPr lang="pt-BR" baseline="-25000" dirty="0" smtClean="0"/>
              <a:t>2</a:t>
            </a:r>
            <a:r>
              <a:rPr lang="pt-BR" dirty="0" smtClean="0"/>
              <a:t>(n) = (n-1) + (n-2) + (n-3)...+ 2 + 1 = (n</a:t>
            </a:r>
            <a:r>
              <a:rPr lang="pt-BR" baseline="30000" dirty="0" smtClean="0"/>
              <a:t>2</a:t>
            </a:r>
            <a:r>
              <a:rPr lang="pt-BR" dirty="0" smtClean="0"/>
              <a:t>-n)/2 (entra no 2º laço)</a:t>
            </a:r>
          </a:p>
          <a:p>
            <a:r>
              <a:rPr lang="pt-BR" dirty="0" smtClean="0"/>
              <a:t>T</a:t>
            </a:r>
            <a:r>
              <a:rPr lang="pt-BR" baseline="-25000" dirty="0" smtClean="0"/>
              <a:t>3</a:t>
            </a:r>
            <a:r>
              <a:rPr lang="pt-BR" dirty="0" smtClean="0"/>
              <a:t>(n) = (n</a:t>
            </a:r>
            <a:r>
              <a:rPr lang="pt-BR" baseline="30000" dirty="0" smtClean="0"/>
              <a:t>2</a:t>
            </a:r>
            <a:r>
              <a:rPr lang="pt-BR" dirty="0" smtClean="0"/>
              <a:t>-n)/2 comparações</a:t>
            </a:r>
          </a:p>
          <a:p>
            <a:r>
              <a:rPr lang="pt-BR" dirty="0" smtClean="0"/>
              <a:t>T</a:t>
            </a:r>
            <a:r>
              <a:rPr lang="pt-BR" baseline="-25000" dirty="0" smtClean="0"/>
              <a:t>4</a:t>
            </a:r>
            <a:r>
              <a:rPr lang="pt-BR" dirty="0" smtClean="0"/>
              <a:t>(n) = (n</a:t>
            </a:r>
            <a:r>
              <a:rPr lang="pt-BR" baseline="30000" dirty="0" smtClean="0"/>
              <a:t>2</a:t>
            </a:r>
            <a:r>
              <a:rPr lang="pt-BR" dirty="0" smtClean="0"/>
              <a:t>-n)/2, no pior caso ou 0 no melhor caso (vetor ordenado)</a:t>
            </a:r>
          </a:p>
          <a:p>
            <a:r>
              <a:rPr lang="pt-BR" dirty="0" smtClean="0"/>
              <a:t>T(n) = O(n</a:t>
            </a:r>
            <a:r>
              <a:rPr lang="pt-BR" baseline="30000" dirty="0" smtClean="0"/>
              <a:t>2</a:t>
            </a:r>
            <a:r>
              <a:rPr lang="pt-BR" dirty="0" smtClean="0"/>
              <a:t>)</a:t>
            </a:r>
          </a:p>
        </p:txBody>
      </p:sp>
      <p:sp>
        <p:nvSpPr>
          <p:cNvPr id="5" name="Espaço Reservado para Conteúdo 3"/>
          <p:cNvSpPr txBox="1">
            <a:spLocks/>
          </p:cNvSpPr>
          <p:nvPr/>
        </p:nvSpPr>
        <p:spPr>
          <a:xfrm>
            <a:off x="683568" y="1412776"/>
            <a:ext cx="7560840" cy="2736304"/>
          </a:xfrm>
          <a:prstGeom prst="rect">
            <a:avLst/>
          </a:prstGeom>
          <a:solidFill>
            <a:srgbClr val="FFFFCC"/>
          </a:solidFill>
        </p:spPr>
        <p:txBody>
          <a:bodyPr vert="horz">
            <a:noAutofit/>
          </a:bodyPr>
          <a:lstStyle/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#define troca(a, b) {</a:t>
            </a:r>
            <a:r>
              <a:rPr kumimoji="0" lang="pt-BR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pt-B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x=a; a=b; b=x; }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endParaRPr kumimoji="0" lang="pt-BR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void</a:t>
            </a:r>
            <a:r>
              <a:rPr kumimoji="0" lang="pt-B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pt-BR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bubble_sort</a:t>
            </a:r>
            <a:r>
              <a:rPr kumimoji="0" lang="pt-B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</a:t>
            </a:r>
            <a:r>
              <a:rPr kumimoji="0" lang="pt-BR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pt-B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v[], </a:t>
            </a:r>
            <a:r>
              <a:rPr kumimoji="0" lang="pt-BR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pt-B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n){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1.	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for (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i=1; i&lt;=n-1; i++)</a:t>
            </a:r>
            <a:endParaRPr kumimoji="0" lang="pt-BR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2.		for (</a:t>
            </a:r>
            <a:r>
              <a:rPr kumimoji="0" lang="pt-BR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pt-B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j=0; j&lt;n-i; j++)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3.			</a:t>
            </a:r>
            <a:r>
              <a:rPr kumimoji="0" lang="pt-BR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if</a:t>
            </a:r>
            <a:r>
              <a:rPr kumimoji="0" lang="pt-B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(v[j] &gt; v[j+1])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4.				troca(v[j], v[j+1])</a:t>
            </a:r>
            <a:r>
              <a:rPr kumimoji="0" lang="pt-B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;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}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3568" y="274638"/>
            <a:ext cx="8003232" cy="114300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Atividade 13 – Ordenação por </a:t>
            </a:r>
            <a:r>
              <a:rPr lang="pt-BR" dirty="0" smtClean="0"/>
              <a:t>Seleção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4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05536"/>
          </a:xfrm>
        </p:spPr>
        <p:txBody>
          <a:bodyPr>
            <a:normAutofit/>
          </a:bodyPr>
          <a:lstStyle/>
          <a:p>
            <a:r>
              <a:rPr lang="pt-BR" dirty="0" smtClean="0"/>
              <a:t>Primeira varredura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Segunda varredura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Terceira varredura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...</a:t>
            </a:r>
            <a:endParaRPr lang="pt-BR" dirty="0"/>
          </a:p>
        </p:txBody>
      </p:sp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1259632" y="1916832"/>
          <a:ext cx="6096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ela 5"/>
          <p:cNvGraphicFramePr>
            <a:graphicFrameLocks noGrp="1"/>
          </p:cNvGraphicFramePr>
          <p:nvPr/>
        </p:nvGraphicFramePr>
        <p:xfrm>
          <a:off x="1259632" y="2456696"/>
          <a:ext cx="6096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ela 6"/>
          <p:cNvGraphicFramePr>
            <a:graphicFrameLocks noGrp="1"/>
          </p:cNvGraphicFramePr>
          <p:nvPr/>
        </p:nvGraphicFramePr>
        <p:xfrm>
          <a:off x="1259632" y="3320792"/>
          <a:ext cx="6096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ela 7"/>
          <p:cNvGraphicFramePr>
            <a:graphicFrameLocks noGrp="1"/>
          </p:cNvGraphicFramePr>
          <p:nvPr/>
        </p:nvGraphicFramePr>
        <p:xfrm>
          <a:off x="1259632" y="3824848"/>
          <a:ext cx="6096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ela 9"/>
          <p:cNvGraphicFramePr>
            <a:graphicFrameLocks noGrp="1"/>
          </p:cNvGraphicFramePr>
          <p:nvPr/>
        </p:nvGraphicFramePr>
        <p:xfrm>
          <a:off x="1259632" y="4797152"/>
          <a:ext cx="6096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ela 10"/>
          <p:cNvGraphicFramePr>
            <a:graphicFrameLocks noGrp="1"/>
          </p:cNvGraphicFramePr>
          <p:nvPr/>
        </p:nvGraphicFramePr>
        <p:xfrm>
          <a:off x="1259632" y="5337016"/>
          <a:ext cx="6096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3568" y="274638"/>
            <a:ext cx="8003232" cy="850106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Atividade 13 - Ordenação por </a:t>
            </a:r>
            <a:r>
              <a:rPr lang="pt-BR" dirty="0" smtClean="0"/>
              <a:t>Seleção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5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755576" y="4437112"/>
            <a:ext cx="8208912" cy="2232248"/>
          </a:xfrm>
        </p:spPr>
        <p:txBody>
          <a:bodyPr>
            <a:normAutofit fontScale="92500"/>
          </a:bodyPr>
          <a:lstStyle/>
          <a:p>
            <a:r>
              <a:rPr lang="pt-BR" dirty="0" smtClean="0"/>
              <a:t>T</a:t>
            </a:r>
            <a:r>
              <a:rPr lang="pt-BR" baseline="-25000" dirty="0" smtClean="0"/>
              <a:t>1</a:t>
            </a:r>
            <a:r>
              <a:rPr lang="pt-BR" dirty="0" smtClean="0"/>
              <a:t>(n) = 1 vez</a:t>
            </a:r>
          </a:p>
          <a:p>
            <a:r>
              <a:rPr lang="pt-BR" dirty="0" smtClean="0"/>
              <a:t>T</a:t>
            </a:r>
            <a:r>
              <a:rPr lang="pt-BR" baseline="-25000" dirty="0" smtClean="0"/>
              <a:t>2+3</a:t>
            </a:r>
            <a:r>
              <a:rPr lang="pt-BR" dirty="0" smtClean="0"/>
              <a:t>(n) = n-1 vezes (entra no 1º laço)</a:t>
            </a:r>
          </a:p>
          <a:p>
            <a:r>
              <a:rPr lang="pt-BR" dirty="0" smtClean="0"/>
              <a:t>T</a:t>
            </a:r>
            <a:r>
              <a:rPr lang="pt-BR" baseline="-25000" dirty="0" smtClean="0"/>
              <a:t>4+5</a:t>
            </a:r>
            <a:r>
              <a:rPr lang="pt-BR" dirty="0" smtClean="0"/>
              <a:t>(n) = (n-1) + (n-2) + (n-3)...+ 2 + 1 = (n</a:t>
            </a:r>
            <a:r>
              <a:rPr lang="pt-BR" baseline="30000" dirty="0" smtClean="0"/>
              <a:t>2</a:t>
            </a:r>
            <a:r>
              <a:rPr lang="pt-BR" dirty="0" smtClean="0"/>
              <a:t>-n)/2 comparações</a:t>
            </a:r>
          </a:p>
          <a:p>
            <a:r>
              <a:rPr lang="pt-BR" dirty="0" smtClean="0"/>
              <a:t>T</a:t>
            </a:r>
            <a:r>
              <a:rPr lang="pt-BR" baseline="-25000" dirty="0" smtClean="0"/>
              <a:t>6</a:t>
            </a:r>
            <a:r>
              <a:rPr lang="pt-BR" dirty="0" smtClean="0"/>
              <a:t>(n) = (n</a:t>
            </a:r>
            <a:r>
              <a:rPr lang="pt-BR" baseline="30000" dirty="0" smtClean="0"/>
              <a:t>2</a:t>
            </a:r>
            <a:r>
              <a:rPr lang="pt-BR" dirty="0" smtClean="0"/>
              <a:t>-n)/2, no pior caso ou 0 no melhor caso </a:t>
            </a:r>
          </a:p>
          <a:p>
            <a:r>
              <a:rPr lang="pt-BR" dirty="0" smtClean="0"/>
              <a:t>T</a:t>
            </a:r>
            <a:r>
              <a:rPr lang="pt-BR" baseline="-25000" dirty="0" smtClean="0"/>
              <a:t>7</a:t>
            </a:r>
            <a:r>
              <a:rPr lang="pt-BR" dirty="0" smtClean="0"/>
              <a:t>(n) = n-1 vezes trocas </a:t>
            </a:r>
            <a:r>
              <a:rPr lang="pt-BR" b="1" dirty="0" smtClean="0"/>
              <a:t>(vantagem para itens grandes)</a:t>
            </a:r>
          </a:p>
        </p:txBody>
      </p:sp>
      <p:sp>
        <p:nvSpPr>
          <p:cNvPr id="5" name="Espaço Reservado para Conteúdo 3"/>
          <p:cNvSpPr txBox="1">
            <a:spLocks/>
          </p:cNvSpPr>
          <p:nvPr/>
        </p:nvSpPr>
        <p:spPr>
          <a:xfrm>
            <a:off x="683568" y="1052736"/>
            <a:ext cx="7560840" cy="3384376"/>
          </a:xfrm>
          <a:prstGeom prst="rect">
            <a:avLst/>
          </a:prstGeom>
          <a:solidFill>
            <a:srgbClr val="FFFFCC"/>
          </a:solidFill>
        </p:spPr>
        <p:txBody>
          <a:bodyPr vert="horz">
            <a:noAutofit/>
          </a:bodyPr>
          <a:lstStyle/>
          <a:p>
            <a:pPr marL="274320" indent="-274320" algn="just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defRPr/>
            </a:pP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 #define troca(a, b) {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x=a; a=b; b=x; }</a:t>
            </a:r>
          </a:p>
          <a:p>
            <a:pPr marL="274320" lvl="0" indent="-274320" algn="just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defRPr/>
            </a:pP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void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selection_sort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v[], 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n){</a:t>
            </a:r>
          </a:p>
          <a:p>
            <a:pPr marL="274320" lvl="0" indent="-274320" algn="just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defRPr/>
            </a:pP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1.	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i, j, k;</a:t>
            </a:r>
          </a:p>
          <a:p>
            <a:pPr marL="274320" lvl="0" indent="-274320" algn="just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defRPr/>
            </a:pP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2.	for (i=1; i&lt;=n-1; i++){</a:t>
            </a:r>
          </a:p>
          <a:p>
            <a:pPr marL="274320" lvl="0" indent="-274320" algn="just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defRPr/>
            </a:pP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3.		k = 0;</a:t>
            </a:r>
          </a:p>
          <a:p>
            <a:pPr marL="274320" lvl="0" indent="-274320" algn="just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defRPr/>
            </a:pP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4.		for (j=1; j&lt;=n-i; j++)</a:t>
            </a:r>
          </a:p>
          <a:p>
            <a:pPr marL="274320" lvl="0" indent="-274320" algn="just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defRPr/>
            </a:pP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5.			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if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(v[j] &gt; v[k])</a:t>
            </a:r>
          </a:p>
          <a:p>
            <a:pPr marL="274320" lvl="0" indent="-274320" algn="just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defRPr/>
            </a:pP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6.				k = j;</a:t>
            </a:r>
          </a:p>
          <a:p>
            <a:pPr marL="274320" lvl="0" indent="-274320" algn="just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defRPr/>
            </a:pP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7.		troca(v[k],v[j-1]);</a:t>
            </a:r>
          </a:p>
          <a:p>
            <a:pPr marL="274320" lvl="0" indent="-274320" algn="just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defRPr/>
            </a:pP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	  }</a:t>
            </a:r>
          </a:p>
          <a:p>
            <a:pPr marL="274320" lvl="0" indent="-274320" algn="just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defRPr/>
            </a:pP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 }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Atividade 14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6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Implemente um programa que teste todas as implementações de ordenação estudadas até o momento.</a:t>
            </a:r>
          </a:p>
          <a:p>
            <a:r>
              <a:rPr lang="pt-BR" dirty="0" smtClean="0"/>
              <a:t>Altere seu código incluindo contadores nas suas funções, indicando:</a:t>
            </a:r>
          </a:p>
          <a:p>
            <a:pPr lvl="1"/>
            <a:r>
              <a:rPr lang="pt-BR" dirty="0" smtClean="0"/>
              <a:t>Total de comparações entre itens do vetor</a:t>
            </a:r>
          </a:p>
          <a:p>
            <a:pPr lvl="1"/>
            <a:r>
              <a:rPr lang="pt-BR" dirty="0" smtClean="0"/>
              <a:t>Total de trocas de posição dos itens</a:t>
            </a:r>
          </a:p>
          <a:p>
            <a:r>
              <a:rPr lang="pt-BR" dirty="0" smtClean="0"/>
              <a:t>Qual tem melhor desempenho para pior caso?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Aula 05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2800" dirty="0" smtClean="0"/>
              <a:t>Divisão e Conquista</a:t>
            </a:r>
          </a:p>
          <a:p>
            <a:r>
              <a:rPr lang="pt-BR" sz="2800" dirty="0" smtClean="0"/>
              <a:t>Ordenação por intercalação</a:t>
            </a:r>
          </a:p>
          <a:p>
            <a:r>
              <a:rPr lang="pt-BR" sz="2800" dirty="0" smtClean="0"/>
              <a:t>Análise assintótica</a:t>
            </a:r>
          </a:p>
          <a:p>
            <a:r>
              <a:rPr lang="pt-BR" sz="2800" dirty="0" smtClean="0"/>
              <a:t>Atividades</a:t>
            </a:r>
            <a:endParaRPr lang="pt-BR" sz="280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7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Abordagem de Divisão e Conquista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8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745232" y="1591816"/>
            <a:ext cx="8075240" cy="4861520"/>
          </a:xfrm>
        </p:spPr>
        <p:txBody>
          <a:bodyPr>
            <a:noAutofit/>
          </a:bodyPr>
          <a:lstStyle/>
          <a:p>
            <a:r>
              <a:rPr lang="pt-BR" sz="2800" dirty="0" smtClean="0"/>
              <a:t>Uma abordagem muito útil para algoritmos recursivos.</a:t>
            </a:r>
          </a:p>
          <a:p>
            <a:r>
              <a:rPr lang="pt-BR" sz="2800" dirty="0" smtClean="0"/>
              <a:t>Usaremos essa técnica para projetar um algoritmo de ordenação cujo temo de execução é bem menor que os algoritmos vistos até agora.</a:t>
            </a:r>
          </a:p>
          <a:p>
            <a:r>
              <a:rPr lang="pt-BR" sz="2800" dirty="0" smtClean="0"/>
              <a:t>Envolve os seguintes passos:</a:t>
            </a:r>
          </a:p>
          <a:p>
            <a:pPr lvl="1"/>
            <a:r>
              <a:rPr lang="pt-BR" sz="2800" b="1" dirty="0" smtClean="0"/>
              <a:t>Divisão</a:t>
            </a:r>
            <a:r>
              <a:rPr lang="pt-BR" sz="2800" dirty="0" smtClean="0"/>
              <a:t>: </a:t>
            </a:r>
            <a:r>
              <a:rPr lang="pt-BR" sz="2800" dirty="0" smtClean="0">
                <a:solidFill>
                  <a:srgbClr val="FF0000"/>
                </a:solidFill>
              </a:rPr>
              <a:t>dividir</a:t>
            </a:r>
            <a:r>
              <a:rPr lang="pt-BR" sz="2800" dirty="0" smtClean="0"/>
              <a:t> o problema em problemas menores;</a:t>
            </a:r>
          </a:p>
          <a:p>
            <a:pPr lvl="1"/>
            <a:r>
              <a:rPr lang="pt-BR" sz="2800" b="1" dirty="0" smtClean="0"/>
              <a:t>Conquista</a:t>
            </a:r>
            <a:r>
              <a:rPr lang="pt-BR" sz="2800" dirty="0" smtClean="0"/>
              <a:t>: </a:t>
            </a:r>
            <a:r>
              <a:rPr lang="pt-BR" sz="2800" dirty="0" smtClean="0">
                <a:solidFill>
                  <a:srgbClr val="FF0000"/>
                </a:solidFill>
              </a:rPr>
              <a:t>resolver</a:t>
            </a:r>
            <a:r>
              <a:rPr lang="pt-BR" sz="2800" dirty="0" smtClean="0"/>
              <a:t> o problema nas instâncias menores (ou usando recursão ou diretamente nos casos triviais);</a:t>
            </a:r>
          </a:p>
          <a:p>
            <a:pPr lvl="1"/>
            <a:r>
              <a:rPr lang="pt-BR" sz="2800" b="1" dirty="0" smtClean="0"/>
              <a:t>Combinação</a:t>
            </a:r>
            <a:r>
              <a:rPr lang="pt-BR" sz="2800" dirty="0" smtClean="0"/>
              <a:t>: </a:t>
            </a:r>
            <a:r>
              <a:rPr lang="pt-BR" sz="2800" dirty="0" smtClean="0">
                <a:solidFill>
                  <a:srgbClr val="FF0000"/>
                </a:solidFill>
              </a:rPr>
              <a:t>combinar</a:t>
            </a:r>
            <a:r>
              <a:rPr lang="pt-BR" sz="2800" dirty="0" smtClean="0"/>
              <a:t> as soluções dos problemas menores para gerar a solução do problema geral;</a:t>
            </a:r>
            <a:endParaRPr lang="pt-B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Ordenação por Intercalação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9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745232" y="1591816"/>
            <a:ext cx="8075240" cy="4861520"/>
          </a:xfrm>
        </p:spPr>
        <p:txBody>
          <a:bodyPr>
            <a:noAutofit/>
          </a:bodyPr>
          <a:lstStyle/>
          <a:p>
            <a:r>
              <a:rPr lang="pt-BR" sz="3000" b="1" dirty="0" smtClean="0"/>
              <a:t>Divisão</a:t>
            </a:r>
            <a:r>
              <a:rPr lang="pt-BR" sz="3000" dirty="0" smtClean="0"/>
              <a:t>: </a:t>
            </a:r>
            <a:r>
              <a:rPr lang="pt-BR" sz="3000" dirty="0" smtClean="0">
                <a:solidFill>
                  <a:srgbClr val="FF0000"/>
                </a:solidFill>
              </a:rPr>
              <a:t>divide</a:t>
            </a:r>
            <a:r>
              <a:rPr lang="pt-BR" sz="3000" dirty="0" smtClean="0"/>
              <a:t> a sequência de </a:t>
            </a:r>
            <a:r>
              <a:rPr lang="pt-BR" sz="3000" b="1" i="1" dirty="0" smtClean="0"/>
              <a:t>n </a:t>
            </a:r>
            <a:r>
              <a:rPr lang="pt-BR" sz="3000" dirty="0" smtClean="0"/>
              <a:t>elementos em duas subsequências de n/2 elementos cada uma; </a:t>
            </a:r>
          </a:p>
          <a:p>
            <a:r>
              <a:rPr lang="pt-BR" sz="3000" b="1" dirty="0" smtClean="0"/>
              <a:t>Conquista</a:t>
            </a:r>
            <a:r>
              <a:rPr lang="pt-BR" sz="3000" dirty="0" smtClean="0"/>
              <a:t>: </a:t>
            </a:r>
            <a:r>
              <a:rPr lang="pt-BR" sz="3000" dirty="0" smtClean="0">
                <a:solidFill>
                  <a:srgbClr val="FF0000"/>
                </a:solidFill>
              </a:rPr>
              <a:t>ordena recursivamente</a:t>
            </a:r>
            <a:r>
              <a:rPr lang="pt-BR" sz="3000" dirty="0" smtClean="0"/>
              <a:t> as duas subsequências usando intercalação.</a:t>
            </a:r>
          </a:p>
          <a:p>
            <a:r>
              <a:rPr lang="pt-BR" sz="3000" b="1" dirty="0" smtClean="0"/>
              <a:t>Combinação</a:t>
            </a:r>
            <a:r>
              <a:rPr lang="pt-BR" sz="3000" dirty="0" smtClean="0"/>
              <a:t>: </a:t>
            </a:r>
            <a:r>
              <a:rPr lang="pt-BR" sz="3000" dirty="0" smtClean="0">
                <a:solidFill>
                  <a:srgbClr val="FF0000"/>
                </a:solidFill>
              </a:rPr>
              <a:t>intercala</a:t>
            </a:r>
            <a:r>
              <a:rPr lang="pt-BR" sz="3000" dirty="0" smtClean="0"/>
              <a:t> as duas subsequências ordenadas para produzir a resposta ordenada;</a:t>
            </a:r>
          </a:p>
          <a:p>
            <a:endParaRPr lang="pt-BR" sz="3000" dirty="0" smtClean="0"/>
          </a:p>
          <a:p>
            <a:r>
              <a:rPr lang="pt-BR" sz="3000" dirty="0" smtClean="0"/>
              <a:t>Obs.: Caso trivial para ordenação: sequência de comprimento 1, ou seja, com apenas 1 elemento a sequencia já está ordenada.</a:t>
            </a:r>
            <a:endParaRPr lang="pt-BR" sz="3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Simulação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10</a:t>
            </a:fld>
            <a:endParaRPr lang="pt-BR" altLang="en-US"/>
          </a:p>
        </p:txBody>
      </p:sp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1043608" y="1448584"/>
          <a:ext cx="6096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37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ela 5"/>
          <p:cNvGraphicFramePr>
            <a:graphicFrameLocks noGrp="1"/>
          </p:cNvGraphicFramePr>
          <p:nvPr/>
        </p:nvGraphicFramePr>
        <p:xfrm>
          <a:off x="467544" y="2420888"/>
          <a:ext cx="3048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ela 6"/>
          <p:cNvGraphicFramePr>
            <a:graphicFrameLocks noGrp="1"/>
          </p:cNvGraphicFramePr>
          <p:nvPr/>
        </p:nvGraphicFramePr>
        <p:xfrm>
          <a:off x="4836368" y="2420888"/>
          <a:ext cx="3048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37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</a:tr>
            </a:tbl>
          </a:graphicData>
        </a:graphic>
      </p:graphicFrame>
      <p:cxnSp>
        <p:nvCxnSpPr>
          <p:cNvPr id="9" name="Conector de seta reta 8"/>
          <p:cNvCxnSpPr/>
          <p:nvPr/>
        </p:nvCxnSpPr>
        <p:spPr>
          <a:xfrm flipH="1">
            <a:off x="1763688" y="1916832"/>
            <a:ext cx="792088" cy="43204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/>
          <p:nvPr/>
        </p:nvCxnSpPr>
        <p:spPr>
          <a:xfrm>
            <a:off x="5724128" y="1916832"/>
            <a:ext cx="864096" cy="43204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/>
          <p:nvPr/>
        </p:nvCxnSpPr>
        <p:spPr>
          <a:xfrm>
            <a:off x="1763688" y="2996952"/>
            <a:ext cx="0" cy="936104"/>
          </a:xfrm>
          <a:prstGeom prst="straightConnector1">
            <a:avLst/>
          </a:prstGeom>
          <a:ln w="28575"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/>
          <p:nvPr/>
        </p:nvCxnSpPr>
        <p:spPr>
          <a:xfrm>
            <a:off x="6588224" y="2996952"/>
            <a:ext cx="0" cy="936104"/>
          </a:xfrm>
          <a:prstGeom prst="straightConnector1">
            <a:avLst/>
          </a:prstGeom>
          <a:ln w="28575"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ela 14"/>
          <p:cNvGraphicFramePr>
            <a:graphicFrameLocks noGrp="1"/>
          </p:cNvGraphicFramePr>
          <p:nvPr/>
        </p:nvGraphicFramePr>
        <p:xfrm>
          <a:off x="467544" y="4077072"/>
          <a:ext cx="3048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ela 15"/>
          <p:cNvGraphicFramePr>
            <a:graphicFrameLocks noGrp="1"/>
          </p:cNvGraphicFramePr>
          <p:nvPr/>
        </p:nvGraphicFramePr>
        <p:xfrm>
          <a:off x="4836368" y="4077072"/>
          <a:ext cx="3048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12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22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37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ela 16"/>
          <p:cNvGraphicFramePr>
            <a:graphicFrameLocks noGrp="1"/>
          </p:cNvGraphicFramePr>
          <p:nvPr/>
        </p:nvGraphicFramePr>
        <p:xfrm>
          <a:off x="1043608" y="5229200"/>
          <a:ext cx="6096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12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22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37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cxnSp>
        <p:nvCxnSpPr>
          <p:cNvPr id="18" name="Conector de seta reta 17"/>
          <p:cNvCxnSpPr/>
          <p:nvPr/>
        </p:nvCxnSpPr>
        <p:spPr>
          <a:xfrm flipH="1">
            <a:off x="5796136" y="4581128"/>
            <a:ext cx="792088" cy="43204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/>
          <p:nvPr/>
        </p:nvCxnSpPr>
        <p:spPr>
          <a:xfrm>
            <a:off x="1763688" y="4581128"/>
            <a:ext cx="864096" cy="43204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3635896" y="1916832"/>
            <a:ext cx="11961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 smtClean="0"/>
              <a:t>Divisão</a:t>
            </a:r>
            <a:endParaRPr lang="pt-BR" sz="2400" dirty="0"/>
          </a:p>
        </p:txBody>
      </p:sp>
      <p:sp>
        <p:nvSpPr>
          <p:cNvPr id="21" name="CaixaDeTexto 20"/>
          <p:cNvSpPr txBox="1"/>
          <p:nvPr/>
        </p:nvSpPr>
        <p:spPr>
          <a:xfrm>
            <a:off x="3275856" y="3068960"/>
            <a:ext cx="17091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 smtClean="0"/>
              <a:t>Ordenação</a:t>
            </a:r>
            <a:endParaRPr lang="pt-BR" sz="2400" dirty="0"/>
          </a:p>
        </p:txBody>
      </p:sp>
      <p:sp>
        <p:nvSpPr>
          <p:cNvPr id="22" name="CaixaDeTexto 21"/>
          <p:cNvSpPr txBox="1"/>
          <p:nvPr/>
        </p:nvSpPr>
        <p:spPr>
          <a:xfrm>
            <a:off x="3347864" y="4695527"/>
            <a:ext cx="18630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 smtClean="0"/>
              <a:t>Intercalação</a:t>
            </a:r>
            <a:endParaRPr lang="pt-BR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Operação de Intercalação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11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Combina dois subvetores ordenados para obter um único vetor ordenado.</a:t>
            </a:r>
          </a:p>
          <a:p>
            <a:r>
              <a:rPr lang="pt-BR" dirty="0" smtClean="0"/>
              <a:t>Dado um vetor </a:t>
            </a:r>
            <a:r>
              <a:rPr lang="pt-BR" i="1" dirty="0" smtClean="0"/>
              <a:t>v</a:t>
            </a:r>
            <a:r>
              <a:rPr lang="pt-BR" dirty="0" smtClean="0"/>
              <a:t>, indexado de </a:t>
            </a:r>
            <a:r>
              <a:rPr lang="pt-BR" i="1" dirty="0" smtClean="0"/>
              <a:t>p </a:t>
            </a:r>
            <a:r>
              <a:rPr lang="pt-BR" dirty="0" smtClean="0"/>
              <a:t>até </a:t>
            </a:r>
            <a:r>
              <a:rPr lang="pt-BR" i="1" dirty="0" smtClean="0"/>
              <a:t>u</a:t>
            </a:r>
            <a:r>
              <a:rPr lang="pt-BR" dirty="0" smtClean="0"/>
              <a:t>, tal que os subvetores </a:t>
            </a:r>
            <a:r>
              <a:rPr lang="pt-BR" dirty="0" err="1" smtClean="0"/>
              <a:t>v</a:t>
            </a:r>
            <a:r>
              <a:rPr lang="pt-BR" baseline="-25000" dirty="0" err="1" smtClean="0"/>
              <a:t>p</a:t>
            </a:r>
            <a:r>
              <a:rPr lang="pt-BR" dirty="0" smtClean="0"/>
              <a:t>,..., </a:t>
            </a:r>
            <a:r>
              <a:rPr lang="pt-BR" dirty="0" err="1" smtClean="0"/>
              <a:t>v</a:t>
            </a:r>
            <a:r>
              <a:rPr lang="pt-BR" baseline="-25000" dirty="0" err="1" smtClean="0"/>
              <a:t>m</a:t>
            </a:r>
            <a:r>
              <a:rPr lang="pt-BR" dirty="0" smtClean="0"/>
              <a:t> e </a:t>
            </a:r>
            <a:r>
              <a:rPr lang="pt-BR" dirty="0" err="1" smtClean="0"/>
              <a:t>v</a:t>
            </a:r>
            <a:r>
              <a:rPr lang="pt-BR" baseline="-25000" dirty="0" err="1" smtClean="0"/>
              <a:t>m</a:t>
            </a:r>
            <a:r>
              <a:rPr lang="pt-BR" baseline="-25000" dirty="0" smtClean="0"/>
              <a:t>+1</a:t>
            </a:r>
            <a:r>
              <a:rPr lang="pt-BR" dirty="0" smtClean="0"/>
              <a:t>,..., v</a:t>
            </a:r>
            <a:r>
              <a:rPr lang="pt-BR" baseline="-25000" dirty="0" smtClean="0"/>
              <a:t>u</a:t>
            </a:r>
            <a:r>
              <a:rPr lang="pt-BR" dirty="0" smtClean="0"/>
              <a:t> estejam ordenados, a intercalação combina os itens desses dois vetores, de modo que o vetor </a:t>
            </a:r>
            <a:r>
              <a:rPr lang="pt-BR" i="1" dirty="0" smtClean="0"/>
              <a:t>v</a:t>
            </a:r>
            <a:r>
              <a:rPr lang="pt-BR" dirty="0" smtClean="0"/>
              <a:t> inteiro fique ordenado.</a:t>
            </a:r>
          </a:p>
          <a:p>
            <a:pPr>
              <a:buNone/>
            </a:pPr>
            <a:r>
              <a:rPr lang="pt-BR" dirty="0" smtClean="0"/>
              <a:t>	p			m 	</a:t>
            </a:r>
            <a:r>
              <a:rPr lang="pt-BR" dirty="0" err="1" smtClean="0"/>
              <a:t>m</a:t>
            </a:r>
            <a:r>
              <a:rPr lang="pt-BR" dirty="0" smtClean="0"/>
              <a:t>+1			u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r>
              <a:rPr lang="pt-BR" dirty="0" smtClean="0"/>
              <a:t>			Intercalação</a:t>
            </a:r>
          </a:p>
          <a:p>
            <a:pPr>
              <a:buNone/>
            </a:pPr>
            <a:r>
              <a:rPr lang="pt-BR" dirty="0" smtClean="0"/>
              <a:t>	p							u</a:t>
            </a:r>
            <a:endParaRPr lang="pt-BR" dirty="0"/>
          </a:p>
        </p:txBody>
      </p:sp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1115616" y="4400912"/>
          <a:ext cx="6552728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9091"/>
                <a:gridCol w="819091"/>
                <a:gridCol w="819091"/>
                <a:gridCol w="819091"/>
                <a:gridCol w="819091"/>
                <a:gridCol w="819091"/>
                <a:gridCol w="819091"/>
                <a:gridCol w="81909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12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22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37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ela 6"/>
          <p:cNvGraphicFramePr>
            <a:graphicFrameLocks noGrp="1"/>
          </p:cNvGraphicFramePr>
          <p:nvPr/>
        </p:nvGraphicFramePr>
        <p:xfrm>
          <a:off x="1187624" y="5841072"/>
          <a:ext cx="6528048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006"/>
                <a:gridCol w="816006"/>
                <a:gridCol w="816006"/>
                <a:gridCol w="816006"/>
                <a:gridCol w="816006"/>
                <a:gridCol w="816006"/>
                <a:gridCol w="816006"/>
                <a:gridCol w="81600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12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22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37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9" name="Seta para baixo 8"/>
          <p:cNvSpPr/>
          <p:nvPr/>
        </p:nvSpPr>
        <p:spPr>
          <a:xfrm>
            <a:off x="4283968" y="4869160"/>
            <a:ext cx="360040" cy="8640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850106"/>
          </a:xfrm>
        </p:spPr>
        <p:txBody>
          <a:bodyPr/>
          <a:lstStyle/>
          <a:p>
            <a:r>
              <a:rPr lang="pt-BR" dirty="0" smtClean="0"/>
              <a:t>Simulação da Intercalação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12</a:t>
            </a:fld>
            <a:endParaRPr lang="pt-BR" altLang="en-US"/>
          </a:p>
        </p:txBody>
      </p:sp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1115616" y="1385868"/>
          <a:ext cx="6552728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9091"/>
                <a:gridCol w="819091"/>
                <a:gridCol w="819091"/>
                <a:gridCol w="819091"/>
                <a:gridCol w="819091"/>
                <a:gridCol w="819091"/>
                <a:gridCol w="819091"/>
                <a:gridCol w="81909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12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22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37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ela 5"/>
          <p:cNvGraphicFramePr>
            <a:graphicFrameLocks noGrp="1"/>
          </p:cNvGraphicFramePr>
          <p:nvPr/>
        </p:nvGraphicFramePr>
        <p:xfrm>
          <a:off x="1115616" y="2096656"/>
          <a:ext cx="6528048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006"/>
                <a:gridCol w="816006"/>
                <a:gridCol w="816006"/>
                <a:gridCol w="816006"/>
                <a:gridCol w="816006"/>
                <a:gridCol w="816006"/>
                <a:gridCol w="816006"/>
                <a:gridCol w="81600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12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7" name="CaixaDeTexto 6"/>
          <p:cNvSpPr txBox="1"/>
          <p:nvPr/>
        </p:nvSpPr>
        <p:spPr>
          <a:xfrm>
            <a:off x="1259632" y="1052736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i = p</a:t>
            </a:r>
            <a:endParaRPr lang="pt-BR" dirty="0"/>
          </a:p>
        </p:txBody>
      </p:sp>
      <p:sp>
        <p:nvSpPr>
          <p:cNvPr id="8" name="CaixaDeTexto 7"/>
          <p:cNvSpPr txBox="1"/>
          <p:nvPr/>
        </p:nvSpPr>
        <p:spPr>
          <a:xfrm>
            <a:off x="4355976" y="1052736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j = m + 1</a:t>
            </a:r>
            <a:endParaRPr lang="pt-BR" dirty="0"/>
          </a:p>
        </p:txBody>
      </p:sp>
      <p:sp>
        <p:nvSpPr>
          <p:cNvPr id="9" name="CaixaDeTexto 8"/>
          <p:cNvSpPr txBox="1"/>
          <p:nvPr/>
        </p:nvSpPr>
        <p:spPr>
          <a:xfrm>
            <a:off x="1403648" y="17930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k</a:t>
            </a:r>
            <a:endParaRPr lang="pt-BR" dirty="0"/>
          </a:p>
        </p:txBody>
      </p:sp>
      <p:graphicFrame>
        <p:nvGraphicFramePr>
          <p:cNvPr id="10" name="Tabela 9"/>
          <p:cNvGraphicFramePr>
            <a:graphicFrameLocks noGrp="1"/>
          </p:cNvGraphicFramePr>
          <p:nvPr/>
        </p:nvGraphicFramePr>
        <p:xfrm>
          <a:off x="1115616" y="2744728"/>
          <a:ext cx="6552728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9091"/>
                <a:gridCol w="819091"/>
                <a:gridCol w="819091"/>
                <a:gridCol w="819091"/>
                <a:gridCol w="819091"/>
                <a:gridCol w="819091"/>
                <a:gridCol w="819091"/>
                <a:gridCol w="81909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12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22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37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ela 10"/>
          <p:cNvGraphicFramePr>
            <a:graphicFrameLocks noGrp="1"/>
          </p:cNvGraphicFramePr>
          <p:nvPr/>
        </p:nvGraphicFramePr>
        <p:xfrm>
          <a:off x="1115616" y="3392800"/>
          <a:ext cx="6528048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006"/>
                <a:gridCol w="816006"/>
                <a:gridCol w="816006"/>
                <a:gridCol w="816006"/>
                <a:gridCol w="816006"/>
                <a:gridCol w="816006"/>
                <a:gridCol w="816006"/>
                <a:gridCol w="81600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12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12" name="CaixaDeTexto 11"/>
          <p:cNvSpPr txBox="1"/>
          <p:nvPr/>
        </p:nvSpPr>
        <p:spPr>
          <a:xfrm>
            <a:off x="1475656" y="2483604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i</a:t>
            </a:r>
            <a:endParaRPr lang="pt-BR" dirty="0"/>
          </a:p>
        </p:txBody>
      </p:sp>
      <p:sp>
        <p:nvSpPr>
          <p:cNvPr id="13" name="CaixaDeTexto 12"/>
          <p:cNvSpPr txBox="1"/>
          <p:nvPr/>
        </p:nvSpPr>
        <p:spPr>
          <a:xfrm>
            <a:off x="5488166" y="2420888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j</a:t>
            </a:r>
            <a:endParaRPr lang="pt-BR" dirty="0"/>
          </a:p>
        </p:txBody>
      </p:sp>
      <p:sp>
        <p:nvSpPr>
          <p:cNvPr id="14" name="CaixaDeTexto 13"/>
          <p:cNvSpPr txBox="1"/>
          <p:nvPr/>
        </p:nvSpPr>
        <p:spPr>
          <a:xfrm>
            <a:off x="2195736" y="308914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k</a:t>
            </a:r>
            <a:endParaRPr lang="pt-BR" dirty="0"/>
          </a:p>
        </p:txBody>
      </p:sp>
      <p:graphicFrame>
        <p:nvGraphicFramePr>
          <p:cNvPr id="15" name="Tabela 14"/>
          <p:cNvGraphicFramePr>
            <a:graphicFrameLocks noGrp="1"/>
          </p:cNvGraphicFramePr>
          <p:nvPr/>
        </p:nvGraphicFramePr>
        <p:xfrm>
          <a:off x="1115616" y="4112880"/>
          <a:ext cx="6552728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9091"/>
                <a:gridCol w="819091"/>
                <a:gridCol w="819091"/>
                <a:gridCol w="819091"/>
                <a:gridCol w="819091"/>
                <a:gridCol w="819091"/>
                <a:gridCol w="819091"/>
                <a:gridCol w="81909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12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22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37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ela 15"/>
          <p:cNvGraphicFramePr>
            <a:graphicFrameLocks noGrp="1"/>
          </p:cNvGraphicFramePr>
          <p:nvPr/>
        </p:nvGraphicFramePr>
        <p:xfrm>
          <a:off x="1115616" y="4812776"/>
          <a:ext cx="6528048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006"/>
                <a:gridCol w="816006"/>
                <a:gridCol w="816006"/>
                <a:gridCol w="816006"/>
                <a:gridCol w="816006"/>
                <a:gridCol w="816006"/>
                <a:gridCol w="816006"/>
                <a:gridCol w="81600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12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22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17" name="CaixaDeTexto 16"/>
          <p:cNvSpPr txBox="1"/>
          <p:nvPr/>
        </p:nvSpPr>
        <p:spPr>
          <a:xfrm>
            <a:off x="1475656" y="3851756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i</a:t>
            </a:r>
            <a:endParaRPr lang="pt-BR" dirty="0"/>
          </a:p>
        </p:txBody>
      </p:sp>
      <p:sp>
        <p:nvSpPr>
          <p:cNvPr id="18" name="CaixaDeTexto 17"/>
          <p:cNvSpPr txBox="1"/>
          <p:nvPr/>
        </p:nvSpPr>
        <p:spPr>
          <a:xfrm>
            <a:off x="6352262" y="3779748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j</a:t>
            </a:r>
            <a:endParaRPr lang="pt-BR" dirty="0"/>
          </a:p>
        </p:txBody>
      </p:sp>
      <p:sp>
        <p:nvSpPr>
          <p:cNvPr id="19" name="CaixaDeTexto 18"/>
          <p:cNvSpPr txBox="1"/>
          <p:nvPr/>
        </p:nvSpPr>
        <p:spPr>
          <a:xfrm>
            <a:off x="2987824" y="450912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k</a:t>
            </a:r>
            <a:endParaRPr lang="pt-BR" dirty="0"/>
          </a:p>
        </p:txBody>
      </p:sp>
      <p:graphicFrame>
        <p:nvGraphicFramePr>
          <p:cNvPr id="20" name="Tabela 19"/>
          <p:cNvGraphicFramePr>
            <a:graphicFrameLocks noGrp="1"/>
          </p:cNvGraphicFramePr>
          <p:nvPr/>
        </p:nvGraphicFramePr>
        <p:xfrm>
          <a:off x="1115616" y="5481032"/>
          <a:ext cx="6552728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9091"/>
                <a:gridCol w="819091"/>
                <a:gridCol w="819091"/>
                <a:gridCol w="819091"/>
                <a:gridCol w="819091"/>
                <a:gridCol w="819091"/>
                <a:gridCol w="819091"/>
                <a:gridCol w="81909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12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22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37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ela 20"/>
          <p:cNvGraphicFramePr>
            <a:graphicFrameLocks noGrp="1"/>
          </p:cNvGraphicFramePr>
          <p:nvPr/>
        </p:nvGraphicFramePr>
        <p:xfrm>
          <a:off x="1115616" y="6201112"/>
          <a:ext cx="6528048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006"/>
                <a:gridCol w="816006"/>
                <a:gridCol w="816006"/>
                <a:gridCol w="816006"/>
                <a:gridCol w="816006"/>
                <a:gridCol w="816006"/>
                <a:gridCol w="816006"/>
                <a:gridCol w="81600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12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22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22" name="CaixaDeTexto 21"/>
          <p:cNvSpPr txBox="1"/>
          <p:nvPr/>
        </p:nvSpPr>
        <p:spPr>
          <a:xfrm>
            <a:off x="1475656" y="5219908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i</a:t>
            </a:r>
            <a:endParaRPr lang="pt-BR" dirty="0"/>
          </a:p>
        </p:txBody>
      </p:sp>
      <p:sp>
        <p:nvSpPr>
          <p:cNvPr id="23" name="CaixaDeTexto 22"/>
          <p:cNvSpPr txBox="1"/>
          <p:nvPr/>
        </p:nvSpPr>
        <p:spPr>
          <a:xfrm>
            <a:off x="7164288" y="5157192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j</a:t>
            </a:r>
            <a:endParaRPr lang="pt-BR" dirty="0"/>
          </a:p>
        </p:txBody>
      </p:sp>
      <p:sp>
        <p:nvSpPr>
          <p:cNvPr id="24" name="CaixaDeTexto 23"/>
          <p:cNvSpPr txBox="1"/>
          <p:nvPr/>
        </p:nvSpPr>
        <p:spPr>
          <a:xfrm>
            <a:off x="3839870" y="589745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k</a:t>
            </a:r>
            <a:endParaRPr lang="pt-BR" dirty="0"/>
          </a:p>
        </p:txBody>
      </p:sp>
      <p:sp>
        <p:nvSpPr>
          <p:cNvPr id="25" name="CaixaDeTexto 24"/>
          <p:cNvSpPr txBox="1"/>
          <p:nvPr/>
        </p:nvSpPr>
        <p:spPr>
          <a:xfrm>
            <a:off x="7812360" y="1412776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Compara</a:t>
            </a:r>
            <a:endParaRPr lang="pt-BR" dirty="0"/>
          </a:p>
        </p:txBody>
      </p:sp>
      <p:sp>
        <p:nvSpPr>
          <p:cNvPr id="26" name="CaixaDeTexto 25"/>
          <p:cNvSpPr txBox="1"/>
          <p:nvPr/>
        </p:nvSpPr>
        <p:spPr>
          <a:xfrm>
            <a:off x="7668344" y="1844824"/>
            <a:ext cx="14756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Copia para vetor auxiliar</a:t>
            </a:r>
            <a:endParaRPr lang="pt-BR" dirty="0"/>
          </a:p>
        </p:txBody>
      </p:sp>
      <p:sp>
        <p:nvSpPr>
          <p:cNvPr id="27" name="CaixaDeTexto 26"/>
          <p:cNvSpPr txBox="1"/>
          <p:nvPr/>
        </p:nvSpPr>
        <p:spPr>
          <a:xfrm>
            <a:off x="7812360" y="2780928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Compara</a:t>
            </a:r>
            <a:endParaRPr lang="pt-BR" dirty="0"/>
          </a:p>
        </p:txBody>
      </p:sp>
      <p:sp>
        <p:nvSpPr>
          <p:cNvPr id="28" name="CaixaDeTexto 27"/>
          <p:cNvSpPr txBox="1"/>
          <p:nvPr/>
        </p:nvSpPr>
        <p:spPr>
          <a:xfrm>
            <a:off x="7961069" y="3491716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Copia</a:t>
            </a:r>
            <a:endParaRPr lang="pt-BR" dirty="0"/>
          </a:p>
        </p:txBody>
      </p:sp>
      <p:sp>
        <p:nvSpPr>
          <p:cNvPr id="29" name="CaixaDeTexto 28"/>
          <p:cNvSpPr txBox="1"/>
          <p:nvPr/>
        </p:nvSpPr>
        <p:spPr>
          <a:xfrm>
            <a:off x="7812360" y="5517232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Compara</a:t>
            </a:r>
            <a:endParaRPr lang="pt-BR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7961069" y="6228020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Copia</a:t>
            </a:r>
            <a:endParaRPr lang="pt-BR" dirty="0"/>
          </a:p>
        </p:txBody>
      </p:sp>
      <p:sp>
        <p:nvSpPr>
          <p:cNvPr id="31" name="CaixaDeTexto 30"/>
          <p:cNvSpPr txBox="1"/>
          <p:nvPr/>
        </p:nvSpPr>
        <p:spPr>
          <a:xfrm>
            <a:off x="7812360" y="4149080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Compara</a:t>
            </a:r>
            <a:endParaRPr lang="pt-BR" dirty="0"/>
          </a:p>
        </p:txBody>
      </p:sp>
      <p:sp>
        <p:nvSpPr>
          <p:cNvPr id="32" name="CaixaDeTexto 31"/>
          <p:cNvSpPr txBox="1"/>
          <p:nvPr/>
        </p:nvSpPr>
        <p:spPr>
          <a:xfrm>
            <a:off x="7961069" y="4859868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Copia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3" grpId="0"/>
      <p:bldP spid="14" grpId="0"/>
      <p:bldP spid="17" grpId="0"/>
      <p:bldP spid="18" grpId="0"/>
      <p:bldP spid="19" grpId="0"/>
      <p:bldP spid="22" grpId="0"/>
      <p:bldP spid="23" grpId="0"/>
      <p:bldP spid="24" grpId="0"/>
      <p:bldP spid="26" grpId="0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850106"/>
          </a:xfrm>
        </p:spPr>
        <p:txBody>
          <a:bodyPr/>
          <a:lstStyle/>
          <a:p>
            <a:r>
              <a:rPr lang="pt-BR" dirty="0" smtClean="0"/>
              <a:t>Simulação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13</a:t>
            </a:fld>
            <a:endParaRPr lang="pt-BR" altLang="en-US"/>
          </a:p>
        </p:txBody>
      </p:sp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1115616" y="1385868"/>
          <a:ext cx="6552728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9091"/>
                <a:gridCol w="819091"/>
                <a:gridCol w="819091"/>
                <a:gridCol w="819091"/>
                <a:gridCol w="819091"/>
                <a:gridCol w="819091"/>
                <a:gridCol w="819091"/>
                <a:gridCol w="81909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12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22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37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ela 5"/>
          <p:cNvGraphicFramePr>
            <a:graphicFrameLocks noGrp="1"/>
          </p:cNvGraphicFramePr>
          <p:nvPr/>
        </p:nvGraphicFramePr>
        <p:xfrm>
          <a:off x="1115616" y="2096656"/>
          <a:ext cx="6528048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006"/>
                <a:gridCol w="816006"/>
                <a:gridCol w="816006"/>
                <a:gridCol w="816006"/>
                <a:gridCol w="816006"/>
                <a:gridCol w="816006"/>
                <a:gridCol w="816006"/>
                <a:gridCol w="81600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12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22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37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7" name="CaixaDeTexto 6"/>
          <p:cNvSpPr txBox="1"/>
          <p:nvPr/>
        </p:nvSpPr>
        <p:spPr>
          <a:xfrm>
            <a:off x="2247806" y="1052736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i</a:t>
            </a:r>
            <a:endParaRPr lang="pt-BR" dirty="0"/>
          </a:p>
        </p:txBody>
      </p:sp>
      <p:sp>
        <p:nvSpPr>
          <p:cNvPr id="8" name="CaixaDeTexto 7"/>
          <p:cNvSpPr txBox="1"/>
          <p:nvPr/>
        </p:nvSpPr>
        <p:spPr>
          <a:xfrm>
            <a:off x="7144350" y="1052736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j</a:t>
            </a:r>
            <a:endParaRPr lang="pt-BR" dirty="0"/>
          </a:p>
        </p:txBody>
      </p:sp>
      <p:sp>
        <p:nvSpPr>
          <p:cNvPr id="9" name="CaixaDeTexto 8"/>
          <p:cNvSpPr txBox="1"/>
          <p:nvPr/>
        </p:nvSpPr>
        <p:spPr>
          <a:xfrm>
            <a:off x="4631958" y="17930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k</a:t>
            </a:r>
            <a:endParaRPr lang="pt-BR" dirty="0"/>
          </a:p>
        </p:txBody>
      </p:sp>
      <p:graphicFrame>
        <p:nvGraphicFramePr>
          <p:cNvPr id="10" name="Tabela 9"/>
          <p:cNvGraphicFramePr>
            <a:graphicFrameLocks noGrp="1"/>
          </p:cNvGraphicFramePr>
          <p:nvPr/>
        </p:nvGraphicFramePr>
        <p:xfrm>
          <a:off x="1115616" y="2744728"/>
          <a:ext cx="6552728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9091"/>
                <a:gridCol w="819091"/>
                <a:gridCol w="819091"/>
                <a:gridCol w="819091"/>
                <a:gridCol w="819091"/>
                <a:gridCol w="819091"/>
                <a:gridCol w="819091"/>
                <a:gridCol w="81909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12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22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37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ela 10"/>
          <p:cNvGraphicFramePr>
            <a:graphicFrameLocks noGrp="1"/>
          </p:cNvGraphicFramePr>
          <p:nvPr/>
        </p:nvGraphicFramePr>
        <p:xfrm>
          <a:off x="1115616" y="3392800"/>
          <a:ext cx="6528048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006"/>
                <a:gridCol w="816006"/>
                <a:gridCol w="816006"/>
                <a:gridCol w="816006"/>
                <a:gridCol w="816006"/>
                <a:gridCol w="816006"/>
                <a:gridCol w="816006"/>
                <a:gridCol w="81600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12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22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37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12" name="CaixaDeTexto 11"/>
          <p:cNvSpPr txBox="1"/>
          <p:nvPr/>
        </p:nvSpPr>
        <p:spPr>
          <a:xfrm>
            <a:off x="2247806" y="2483604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i</a:t>
            </a:r>
            <a:endParaRPr lang="pt-BR" dirty="0"/>
          </a:p>
        </p:txBody>
      </p:sp>
      <p:sp>
        <p:nvSpPr>
          <p:cNvPr id="13" name="CaixaDeTexto 12"/>
          <p:cNvSpPr txBox="1"/>
          <p:nvPr/>
        </p:nvSpPr>
        <p:spPr>
          <a:xfrm>
            <a:off x="7792422" y="2420888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j</a:t>
            </a:r>
            <a:endParaRPr lang="pt-BR" dirty="0"/>
          </a:p>
        </p:txBody>
      </p:sp>
      <p:sp>
        <p:nvSpPr>
          <p:cNvPr id="14" name="CaixaDeTexto 13"/>
          <p:cNvSpPr txBox="1"/>
          <p:nvPr/>
        </p:nvSpPr>
        <p:spPr>
          <a:xfrm>
            <a:off x="5436096" y="308914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k</a:t>
            </a:r>
            <a:endParaRPr lang="pt-BR" dirty="0"/>
          </a:p>
        </p:txBody>
      </p:sp>
      <p:graphicFrame>
        <p:nvGraphicFramePr>
          <p:cNvPr id="15" name="Tabela 14"/>
          <p:cNvGraphicFramePr>
            <a:graphicFrameLocks noGrp="1"/>
          </p:cNvGraphicFramePr>
          <p:nvPr/>
        </p:nvGraphicFramePr>
        <p:xfrm>
          <a:off x="1115616" y="4112880"/>
          <a:ext cx="6552728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9091"/>
                <a:gridCol w="819091"/>
                <a:gridCol w="819091"/>
                <a:gridCol w="819091"/>
                <a:gridCol w="819091"/>
                <a:gridCol w="819091"/>
                <a:gridCol w="819091"/>
                <a:gridCol w="81909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12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22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37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ela 15"/>
          <p:cNvGraphicFramePr>
            <a:graphicFrameLocks noGrp="1"/>
          </p:cNvGraphicFramePr>
          <p:nvPr/>
        </p:nvGraphicFramePr>
        <p:xfrm>
          <a:off x="1115616" y="4812776"/>
          <a:ext cx="6528048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006"/>
                <a:gridCol w="816006"/>
                <a:gridCol w="816006"/>
                <a:gridCol w="816006"/>
                <a:gridCol w="816006"/>
                <a:gridCol w="816006"/>
                <a:gridCol w="816006"/>
                <a:gridCol w="81600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12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22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37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17" name="CaixaDeTexto 16"/>
          <p:cNvSpPr txBox="1"/>
          <p:nvPr/>
        </p:nvSpPr>
        <p:spPr>
          <a:xfrm>
            <a:off x="3039894" y="3851756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i</a:t>
            </a:r>
            <a:endParaRPr lang="pt-BR" dirty="0"/>
          </a:p>
        </p:txBody>
      </p:sp>
      <p:sp>
        <p:nvSpPr>
          <p:cNvPr id="18" name="CaixaDeTexto 17"/>
          <p:cNvSpPr txBox="1"/>
          <p:nvPr/>
        </p:nvSpPr>
        <p:spPr>
          <a:xfrm>
            <a:off x="7740352" y="3779748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j</a:t>
            </a:r>
            <a:endParaRPr lang="pt-BR" dirty="0"/>
          </a:p>
        </p:txBody>
      </p:sp>
      <p:sp>
        <p:nvSpPr>
          <p:cNvPr id="19" name="CaixaDeTexto 18"/>
          <p:cNvSpPr txBox="1"/>
          <p:nvPr/>
        </p:nvSpPr>
        <p:spPr>
          <a:xfrm>
            <a:off x="6288142" y="450912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k</a:t>
            </a:r>
            <a:endParaRPr lang="pt-BR" dirty="0"/>
          </a:p>
        </p:txBody>
      </p:sp>
      <p:graphicFrame>
        <p:nvGraphicFramePr>
          <p:cNvPr id="20" name="Tabela 19"/>
          <p:cNvGraphicFramePr>
            <a:graphicFrameLocks noGrp="1"/>
          </p:cNvGraphicFramePr>
          <p:nvPr/>
        </p:nvGraphicFramePr>
        <p:xfrm>
          <a:off x="1115616" y="5481032"/>
          <a:ext cx="6552728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9091"/>
                <a:gridCol w="819091"/>
                <a:gridCol w="819091"/>
                <a:gridCol w="819091"/>
                <a:gridCol w="819091"/>
                <a:gridCol w="819091"/>
                <a:gridCol w="819091"/>
                <a:gridCol w="81909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12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22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37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ela 20"/>
          <p:cNvGraphicFramePr>
            <a:graphicFrameLocks noGrp="1"/>
          </p:cNvGraphicFramePr>
          <p:nvPr/>
        </p:nvGraphicFramePr>
        <p:xfrm>
          <a:off x="1115616" y="6201112"/>
          <a:ext cx="6528048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006"/>
                <a:gridCol w="816006"/>
                <a:gridCol w="816006"/>
                <a:gridCol w="816006"/>
                <a:gridCol w="816006"/>
                <a:gridCol w="816006"/>
                <a:gridCol w="816006"/>
                <a:gridCol w="81600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12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22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37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C00000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22" name="CaixaDeTexto 21"/>
          <p:cNvSpPr txBox="1"/>
          <p:nvPr/>
        </p:nvSpPr>
        <p:spPr>
          <a:xfrm>
            <a:off x="3851920" y="5219908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i</a:t>
            </a:r>
            <a:endParaRPr lang="pt-BR" dirty="0"/>
          </a:p>
        </p:txBody>
      </p:sp>
      <p:sp>
        <p:nvSpPr>
          <p:cNvPr id="23" name="CaixaDeTexto 22"/>
          <p:cNvSpPr txBox="1"/>
          <p:nvPr/>
        </p:nvSpPr>
        <p:spPr>
          <a:xfrm>
            <a:off x="7720414" y="5157192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j</a:t>
            </a:r>
            <a:endParaRPr lang="pt-BR" dirty="0"/>
          </a:p>
        </p:txBody>
      </p:sp>
      <p:sp>
        <p:nvSpPr>
          <p:cNvPr id="24" name="CaixaDeTexto 23"/>
          <p:cNvSpPr txBox="1"/>
          <p:nvPr/>
        </p:nvSpPr>
        <p:spPr>
          <a:xfrm>
            <a:off x="7080230" y="589745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k</a:t>
            </a:r>
            <a:endParaRPr lang="pt-BR" dirty="0"/>
          </a:p>
        </p:txBody>
      </p:sp>
      <p:sp>
        <p:nvSpPr>
          <p:cNvPr id="25" name="CaixaDeTexto 24"/>
          <p:cNvSpPr txBox="1"/>
          <p:nvPr/>
        </p:nvSpPr>
        <p:spPr>
          <a:xfrm>
            <a:off x="7812360" y="1412776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Compara</a:t>
            </a:r>
            <a:endParaRPr lang="pt-BR" dirty="0"/>
          </a:p>
        </p:txBody>
      </p:sp>
      <p:sp>
        <p:nvSpPr>
          <p:cNvPr id="26" name="CaixaDeTexto 25"/>
          <p:cNvSpPr txBox="1"/>
          <p:nvPr/>
        </p:nvSpPr>
        <p:spPr>
          <a:xfrm>
            <a:off x="7961069" y="2123564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Copia</a:t>
            </a:r>
            <a:endParaRPr lang="pt-BR" dirty="0"/>
          </a:p>
        </p:txBody>
      </p:sp>
      <p:sp>
        <p:nvSpPr>
          <p:cNvPr id="27" name="CaixaDeTexto 26"/>
          <p:cNvSpPr txBox="1"/>
          <p:nvPr/>
        </p:nvSpPr>
        <p:spPr>
          <a:xfrm>
            <a:off x="7812360" y="2780928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Compara</a:t>
            </a:r>
            <a:endParaRPr lang="pt-BR" dirty="0"/>
          </a:p>
        </p:txBody>
      </p:sp>
      <p:sp>
        <p:nvSpPr>
          <p:cNvPr id="28" name="CaixaDeTexto 27"/>
          <p:cNvSpPr txBox="1"/>
          <p:nvPr/>
        </p:nvSpPr>
        <p:spPr>
          <a:xfrm>
            <a:off x="7961069" y="3491716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Copia</a:t>
            </a:r>
            <a:endParaRPr lang="pt-BR" dirty="0"/>
          </a:p>
        </p:txBody>
      </p:sp>
      <p:sp>
        <p:nvSpPr>
          <p:cNvPr id="29" name="CaixaDeTexto 28"/>
          <p:cNvSpPr txBox="1"/>
          <p:nvPr/>
        </p:nvSpPr>
        <p:spPr>
          <a:xfrm>
            <a:off x="7961069" y="5517232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Copia</a:t>
            </a:r>
            <a:endParaRPr lang="pt-BR" dirty="0"/>
          </a:p>
        </p:txBody>
      </p:sp>
      <p:sp>
        <p:nvSpPr>
          <p:cNvPr id="31" name="CaixaDeTexto 30"/>
          <p:cNvSpPr txBox="1"/>
          <p:nvPr/>
        </p:nvSpPr>
        <p:spPr>
          <a:xfrm>
            <a:off x="7956376" y="4149080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Copia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2" grpId="0"/>
      <p:bldP spid="13" grpId="0"/>
      <p:bldP spid="14" grpId="0"/>
      <p:bldP spid="17" grpId="0"/>
      <p:bldP spid="18" grpId="0"/>
      <p:bldP spid="19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Implementação do intercala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14</a:t>
            </a:fld>
            <a:endParaRPr lang="pt-BR" altLang="en-US"/>
          </a:p>
        </p:txBody>
      </p:sp>
      <p:sp>
        <p:nvSpPr>
          <p:cNvPr id="5" name="Espaço Reservado para Conteúdo 3"/>
          <p:cNvSpPr txBox="1">
            <a:spLocks/>
          </p:cNvSpPr>
          <p:nvPr/>
        </p:nvSpPr>
        <p:spPr>
          <a:xfrm>
            <a:off x="899592" y="1412776"/>
            <a:ext cx="7560840" cy="4896544"/>
          </a:xfrm>
          <a:prstGeom prst="rect">
            <a:avLst/>
          </a:prstGeom>
          <a:solidFill>
            <a:srgbClr val="FFFFCC"/>
          </a:solidFill>
        </p:spPr>
        <p:txBody>
          <a:bodyPr vert="horz">
            <a:noAutofit/>
          </a:bodyPr>
          <a:lstStyle/>
          <a:p>
            <a:pPr marL="274320" indent="-274320" algn="just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defRPr/>
            </a:pP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void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intercala(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v[], 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p, 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m, 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u){</a:t>
            </a:r>
          </a:p>
          <a:p>
            <a:pPr marL="274320" lvl="0" indent="-274320" algn="just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defRPr/>
            </a:pP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*w = 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malloc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((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u-p+1) * 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sizeof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sz="2000" b="1" smtClean="0">
                <a:latin typeface="Courier New" pitchFamily="49" charset="0"/>
                <a:cs typeface="Courier New" pitchFamily="49" charset="0"/>
              </a:rPr>
              <a:t>));</a:t>
            </a:r>
            <a:endParaRPr lang="pt-BR" sz="2000" b="1" dirty="0" smtClean="0">
              <a:latin typeface="Courier New" pitchFamily="49" charset="0"/>
              <a:cs typeface="Courier New" pitchFamily="49" charset="0"/>
            </a:endParaRPr>
          </a:p>
          <a:p>
            <a:pPr marL="274320" lvl="0" indent="-274320" algn="just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defRPr/>
            </a:pP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if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(w == NULL) 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abort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274320" lvl="0" indent="-274320" algn="just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defRPr/>
            </a:pP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i = p, j = m+1, k=0;</a:t>
            </a:r>
          </a:p>
          <a:p>
            <a:pPr marL="274320" lvl="0" indent="-274320" algn="just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defRPr/>
            </a:pP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while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(i&lt;=m &amp;&amp; j&lt;=u)</a:t>
            </a:r>
          </a:p>
          <a:p>
            <a:pPr marL="274320" lvl="0" indent="-274320" algn="just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defRPr/>
            </a:pP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if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(v[i] &lt; v[j]) </a:t>
            </a:r>
          </a:p>
          <a:p>
            <a:pPr marL="274320" lvl="0" indent="-274320" algn="just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defRPr/>
            </a:pP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			w[k++] = v[i++];</a:t>
            </a:r>
          </a:p>
          <a:p>
            <a:pPr marL="274320" lvl="0" indent="-274320" algn="just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defRPr/>
            </a:pP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else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	w[k++] = v[j++];</a:t>
            </a:r>
          </a:p>
          <a:p>
            <a:pPr marL="274320" indent="-274320" algn="just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defRPr/>
            </a:pP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	</a:t>
            </a:r>
          </a:p>
          <a:p>
            <a:pPr marL="274320" indent="-274320" algn="just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defRPr/>
            </a:pP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while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(i&lt;=m) w[k++] = v[i++];</a:t>
            </a:r>
          </a:p>
          <a:p>
            <a:pPr marL="274320" indent="-274320" algn="just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defRPr/>
            </a:pP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while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(j&lt;=u) w[k++] = v[j++];</a:t>
            </a:r>
          </a:p>
          <a:p>
            <a:pPr marL="274320" lvl="0" indent="-274320" algn="just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defRPr/>
            </a:pP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	</a:t>
            </a:r>
          </a:p>
          <a:p>
            <a:pPr marL="274320" lvl="0" indent="-274320" algn="just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defRPr/>
            </a:pP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	for (k = 0; k&lt;=u-p; k++)</a:t>
            </a:r>
          </a:p>
          <a:p>
            <a:pPr marL="274320" indent="-274320" algn="just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defRPr/>
            </a:pP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		v[p+k] = w[k];</a:t>
            </a:r>
          </a:p>
          <a:p>
            <a:pPr marL="274320" indent="-274320" algn="just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defRPr/>
            </a:pP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free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(w);</a:t>
            </a:r>
          </a:p>
          <a:p>
            <a:pPr marL="274320" lvl="0" indent="-274320" algn="just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defRPr/>
            </a:pP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  <p:sp>
        <p:nvSpPr>
          <p:cNvPr id="6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914400" y="6381328"/>
            <a:ext cx="7772400" cy="288032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pt-BR" b="1" dirty="0" smtClean="0"/>
              <a:t>Sobre alocação dinâmica: </a:t>
            </a:r>
            <a:r>
              <a:rPr lang="pt-BR" b="1" dirty="0" smtClean="0">
                <a:hlinkClick r:id="rId2"/>
              </a:rPr>
              <a:t>http://www.ime.usp.br/~pf/algoritmos/aulas/aloca.html</a:t>
            </a:r>
            <a:endParaRPr lang="pt-BR" b="1" dirty="0" smtClean="0"/>
          </a:p>
          <a:p>
            <a:endParaRPr lang="pt-BR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Atividade 15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15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Faça a análise assintótica da função intercala.</a:t>
            </a:r>
          </a:p>
          <a:p>
            <a:r>
              <a:rPr lang="pt-BR" dirty="0" smtClean="0"/>
              <a:t>Considere n = u-p+1 o tamanho do vetor.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Ordenação por intercalação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16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A ordenação por intercalação de um vetor v[p..u] é feita recursivamente:</a:t>
            </a:r>
          </a:p>
          <a:p>
            <a:r>
              <a:rPr lang="pt-BR" dirty="0" smtClean="0"/>
              <a:t>Base: p = u </a:t>
            </a:r>
            <a:r>
              <a:rPr lang="pt-BR" dirty="0" smtClean="0">
                <a:sym typeface="Wingdings" pitchFamily="2" charset="2"/>
              </a:rPr>
              <a:t> único item, logo, já está ordenado</a:t>
            </a:r>
          </a:p>
          <a:p>
            <a:r>
              <a:rPr lang="pt-BR" dirty="0" smtClean="0">
                <a:sym typeface="Wingdings" pitchFamily="2" charset="2"/>
              </a:rPr>
              <a:t>Passo da recursão: Se p&lt;u, então temos pelo menos dois itens e podemos:</a:t>
            </a:r>
          </a:p>
          <a:p>
            <a:pPr>
              <a:buNone/>
            </a:pPr>
            <a:r>
              <a:rPr lang="pt-BR" dirty="0" smtClean="0">
                <a:sym typeface="Wingdings" pitchFamily="2" charset="2"/>
              </a:rPr>
              <a:t>	1) Dividir o problema em 2 subvetores: v[p..m] e v[m+1..u];</a:t>
            </a:r>
          </a:p>
          <a:p>
            <a:pPr>
              <a:buNone/>
            </a:pPr>
            <a:r>
              <a:rPr lang="pt-BR" dirty="0" smtClean="0">
                <a:sym typeface="Wingdings" pitchFamily="2" charset="2"/>
              </a:rPr>
              <a:t>	2) Ordenar os subvetores recursivamente;</a:t>
            </a:r>
          </a:p>
          <a:p>
            <a:pPr>
              <a:buNone/>
            </a:pPr>
            <a:r>
              <a:rPr lang="pt-BR" dirty="0" smtClean="0">
                <a:sym typeface="Wingdings" pitchFamily="2" charset="2"/>
              </a:rPr>
              <a:t>	3) Intercalar os resultados obtidos, obtendo v ordenado.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Implementação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17</a:t>
            </a:fld>
            <a:endParaRPr lang="pt-BR" altLang="en-US"/>
          </a:p>
        </p:txBody>
      </p:sp>
      <p:sp>
        <p:nvSpPr>
          <p:cNvPr id="5" name="Espaço Reservado para Conteúdo 3"/>
          <p:cNvSpPr txBox="1">
            <a:spLocks/>
          </p:cNvSpPr>
          <p:nvPr/>
        </p:nvSpPr>
        <p:spPr>
          <a:xfrm>
            <a:off x="899592" y="1412776"/>
            <a:ext cx="7560840" cy="2448272"/>
          </a:xfrm>
          <a:prstGeom prst="rect">
            <a:avLst/>
          </a:prstGeom>
          <a:solidFill>
            <a:srgbClr val="FFFFCC"/>
          </a:solidFill>
        </p:spPr>
        <p:txBody>
          <a:bodyPr vert="horz">
            <a:noAutofit/>
          </a:bodyPr>
          <a:lstStyle/>
          <a:p>
            <a:pPr marL="274320" indent="-274320" algn="just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defRPr/>
            </a:pP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void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merge_sort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v[], 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p, 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u){</a:t>
            </a:r>
          </a:p>
          <a:p>
            <a:pPr marL="274320" lvl="0" indent="-274320" algn="just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defRPr/>
            </a:pP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if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(p == u) 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return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274320" lvl="0" indent="-274320" algn="just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defRPr/>
            </a:pP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m = (p + u)/2;</a:t>
            </a:r>
          </a:p>
          <a:p>
            <a:pPr marL="274320" lvl="0" indent="-274320" algn="just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defRPr/>
            </a:pP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merge_sort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( v, p, m);</a:t>
            </a:r>
          </a:p>
          <a:p>
            <a:pPr marL="274320" indent="-274320" algn="just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defRPr/>
            </a:pP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merge_sort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( v, m+1, u);</a:t>
            </a:r>
          </a:p>
          <a:p>
            <a:pPr marL="274320" lvl="0" indent="-274320" algn="just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defRPr/>
            </a:pP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	intercala( v, p, m, u);</a:t>
            </a:r>
          </a:p>
          <a:p>
            <a:pPr marL="274320" lvl="0" indent="-274320" algn="just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defRPr/>
            </a:pP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Simulação – Fase de divisão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18</a:t>
            </a:fld>
            <a:endParaRPr lang="pt-BR" altLang="en-US"/>
          </a:p>
        </p:txBody>
      </p:sp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1187624" y="1916832"/>
          <a:ext cx="6096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37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ela 5"/>
          <p:cNvGraphicFramePr>
            <a:graphicFrameLocks noGrp="1"/>
          </p:cNvGraphicFramePr>
          <p:nvPr/>
        </p:nvGraphicFramePr>
        <p:xfrm>
          <a:off x="611560" y="2889136"/>
          <a:ext cx="3048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ela 6"/>
          <p:cNvGraphicFramePr>
            <a:graphicFrameLocks noGrp="1"/>
          </p:cNvGraphicFramePr>
          <p:nvPr/>
        </p:nvGraphicFramePr>
        <p:xfrm>
          <a:off x="4980384" y="2889136"/>
          <a:ext cx="3048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37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</a:tr>
            </a:tbl>
          </a:graphicData>
        </a:graphic>
      </p:graphicFrame>
      <p:cxnSp>
        <p:nvCxnSpPr>
          <p:cNvPr id="8" name="Conector de seta reta 7"/>
          <p:cNvCxnSpPr/>
          <p:nvPr/>
        </p:nvCxnSpPr>
        <p:spPr>
          <a:xfrm flipH="1">
            <a:off x="1907704" y="2385080"/>
            <a:ext cx="792088" cy="43204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/>
          <p:nvPr/>
        </p:nvCxnSpPr>
        <p:spPr>
          <a:xfrm>
            <a:off x="5868144" y="2385080"/>
            <a:ext cx="864096" cy="43204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ela 9"/>
          <p:cNvGraphicFramePr>
            <a:graphicFrameLocks noGrp="1"/>
          </p:cNvGraphicFramePr>
          <p:nvPr/>
        </p:nvGraphicFramePr>
        <p:xfrm>
          <a:off x="2543944" y="3969256"/>
          <a:ext cx="1524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ela 10"/>
          <p:cNvGraphicFramePr>
            <a:graphicFrameLocks noGrp="1"/>
          </p:cNvGraphicFramePr>
          <p:nvPr/>
        </p:nvGraphicFramePr>
        <p:xfrm>
          <a:off x="467544" y="3969256"/>
          <a:ext cx="1524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ela 11"/>
          <p:cNvGraphicFramePr>
            <a:graphicFrameLocks noGrp="1"/>
          </p:cNvGraphicFramePr>
          <p:nvPr/>
        </p:nvGraphicFramePr>
        <p:xfrm>
          <a:off x="467544" y="5085184"/>
          <a:ext cx="576064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ela 12"/>
          <p:cNvGraphicFramePr>
            <a:graphicFrameLocks noGrp="1"/>
          </p:cNvGraphicFramePr>
          <p:nvPr/>
        </p:nvGraphicFramePr>
        <p:xfrm>
          <a:off x="1361728" y="5085184"/>
          <a:ext cx="617984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798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ela 13"/>
          <p:cNvGraphicFramePr>
            <a:graphicFrameLocks noGrp="1"/>
          </p:cNvGraphicFramePr>
          <p:nvPr/>
        </p:nvGraphicFramePr>
        <p:xfrm>
          <a:off x="2483768" y="5085184"/>
          <a:ext cx="72008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ela 14"/>
          <p:cNvGraphicFramePr>
            <a:graphicFrameLocks noGrp="1"/>
          </p:cNvGraphicFramePr>
          <p:nvPr/>
        </p:nvGraphicFramePr>
        <p:xfrm>
          <a:off x="3449960" y="5085184"/>
          <a:ext cx="762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ela 15"/>
          <p:cNvGraphicFramePr>
            <a:graphicFrameLocks noGrp="1"/>
          </p:cNvGraphicFramePr>
          <p:nvPr/>
        </p:nvGraphicFramePr>
        <p:xfrm>
          <a:off x="7164288" y="3969256"/>
          <a:ext cx="1524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ela 16"/>
          <p:cNvGraphicFramePr>
            <a:graphicFrameLocks noGrp="1"/>
          </p:cNvGraphicFramePr>
          <p:nvPr/>
        </p:nvGraphicFramePr>
        <p:xfrm>
          <a:off x="4716016" y="3969256"/>
          <a:ext cx="1524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37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ela 17"/>
          <p:cNvGraphicFramePr>
            <a:graphicFrameLocks noGrp="1"/>
          </p:cNvGraphicFramePr>
          <p:nvPr/>
        </p:nvGraphicFramePr>
        <p:xfrm>
          <a:off x="4716016" y="5085184"/>
          <a:ext cx="762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ela 18"/>
          <p:cNvGraphicFramePr>
            <a:graphicFrameLocks noGrp="1"/>
          </p:cNvGraphicFramePr>
          <p:nvPr/>
        </p:nvGraphicFramePr>
        <p:xfrm>
          <a:off x="5724128" y="5049376"/>
          <a:ext cx="762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37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ela 19"/>
          <p:cNvGraphicFramePr>
            <a:graphicFrameLocks noGrp="1"/>
          </p:cNvGraphicFramePr>
          <p:nvPr/>
        </p:nvGraphicFramePr>
        <p:xfrm>
          <a:off x="7020272" y="5049376"/>
          <a:ext cx="762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ela 20"/>
          <p:cNvGraphicFramePr>
            <a:graphicFrameLocks noGrp="1"/>
          </p:cNvGraphicFramePr>
          <p:nvPr/>
        </p:nvGraphicFramePr>
        <p:xfrm>
          <a:off x="8172400" y="5049376"/>
          <a:ext cx="762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ector de seta reta 21"/>
          <p:cNvCxnSpPr/>
          <p:nvPr/>
        </p:nvCxnSpPr>
        <p:spPr>
          <a:xfrm flipH="1">
            <a:off x="899592" y="3393192"/>
            <a:ext cx="792088" cy="43204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/>
          <p:cNvCxnSpPr/>
          <p:nvPr/>
        </p:nvCxnSpPr>
        <p:spPr>
          <a:xfrm>
            <a:off x="827584" y="4401304"/>
            <a:ext cx="0" cy="64807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/>
          <p:cNvCxnSpPr/>
          <p:nvPr/>
        </p:nvCxnSpPr>
        <p:spPr>
          <a:xfrm>
            <a:off x="1691680" y="4401304"/>
            <a:ext cx="0" cy="64807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>
            <a:off x="2915816" y="4401304"/>
            <a:ext cx="0" cy="64807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>
            <a:off x="3707904" y="4401304"/>
            <a:ext cx="0" cy="64807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/>
          <p:nvPr/>
        </p:nvCxnSpPr>
        <p:spPr>
          <a:xfrm>
            <a:off x="5076056" y="4401304"/>
            <a:ext cx="0" cy="64807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29"/>
          <p:cNvCxnSpPr/>
          <p:nvPr/>
        </p:nvCxnSpPr>
        <p:spPr>
          <a:xfrm>
            <a:off x="5940152" y="4401304"/>
            <a:ext cx="0" cy="64807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>
            <a:off x="7524328" y="4401304"/>
            <a:ext cx="0" cy="64807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/>
          <p:cNvCxnSpPr/>
          <p:nvPr/>
        </p:nvCxnSpPr>
        <p:spPr>
          <a:xfrm>
            <a:off x="8388424" y="4401304"/>
            <a:ext cx="0" cy="64807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32"/>
          <p:cNvCxnSpPr/>
          <p:nvPr/>
        </p:nvCxnSpPr>
        <p:spPr>
          <a:xfrm>
            <a:off x="2627784" y="3393192"/>
            <a:ext cx="648072" cy="43204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de seta reta 35"/>
          <p:cNvCxnSpPr/>
          <p:nvPr/>
        </p:nvCxnSpPr>
        <p:spPr>
          <a:xfrm>
            <a:off x="7308304" y="3393192"/>
            <a:ext cx="648072" cy="43204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 flipH="1">
            <a:off x="5364088" y="3393192"/>
            <a:ext cx="792088" cy="43204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/>
          <p:cNvSpPr txBox="1"/>
          <p:nvPr/>
        </p:nvSpPr>
        <p:spPr>
          <a:xfrm>
            <a:off x="1259632" y="15475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p</a:t>
            </a:r>
            <a:endParaRPr lang="pt-BR" dirty="0"/>
          </a:p>
        </p:txBody>
      </p:sp>
      <p:sp>
        <p:nvSpPr>
          <p:cNvPr id="39" name="CaixaDeTexto 38"/>
          <p:cNvSpPr txBox="1"/>
          <p:nvPr/>
        </p:nvSpPr>
        <p:spPr>
          <a:xfrm>
            <a:off x="3131840" y="255561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m</a:t>
            </a:r>
            <a:endParaRPr lang="pt-BR" dirty="0"/>
          </a:p>
        </p:txBody>
      </p:sp>
      <p:sp>
        <p:nvSpPr>
          <p:cNvPr id="40" name="CaixaDeTexto 39"/>
          <p:cNvSpPr txBox="1"/>
          <p:nvPr/>
        </p:nvSpPr>
        <p:spPr>
          <a:xfrm>
            <a:off x="6707366" y="15475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u</a:t>
            </a:r>
            <a:endParaRPr lang="pt-BR" dirty="0"/>
          </a:p>
        </p:txBody>
      </p:sp>
      <p:sp>
        <p:nvSpPr>
          <p:cNvPr id="41" name="CaixaDeTexto 40"/>
          <p:cNvSpPr txBox="1"/>
          <p:nvPr/>
        </p:nvSpPr>
        <p:spPr>
          <a:xfrm>
            <a:off x="776553" y="255561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p</a:t>
            </a:r>
            <a:endParaRPr lang="pt-BR" dirty="0"/>
          </a:p>
        </p:txBody>
      </p:sp>
      <p:sp>
        <p:nvSpPr>
          <p:cNvPr id="42" name="CaixaDeTexto 41"/>
          <p:cNvSpPr txBox="1"/>
          <p:nvPr/>
        </p:nvSpPr>
        <p:spPr>
          <a:xfrm>
            <a:off x="5076056" y="2564904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m+1</a:t>
            </a:r>
            <a:endParaRPr lang="pt-BR" dirty="0"/>
          </a:p>
        </p:txBody>
      </p:sp>
      <p:sp>
        <p:nvSpPr>
          <p:cNvPr id="43" name="CaixaDeTexto 42"/>
          <p:cNvSpPr txBox="1"/>
          <p:nvPr/>
        </p:nvSpPr>
        <p:spPr>
          <a:xfrm>
            <a:off x="7499454" y="255561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u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40" grpId="0"/>
      <p:bldP spid="41" grpId="0"/>
      <p:bldP spid="42" grpId="0"/>
      <p:bldP spid="4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Simulação – Fase de intercalação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19</a:t>
            </a:fld>
            <a:endParaRPr lang="pt-BR" altLang="en-US"/>
          </a:p>
        </p:txBody>
      </p:sp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467544" y="1664608"/>
          <a:ext cx="576064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ela 5"/>
          <p:cNvGraphicFramePr>
            <a:graphicFrameLocks noGrp="1"/>
          </p:cNvGraphicFramePr>
          <p:nvPr/>
        </p:nvGraphicFramePr>
        <p:xfrm>
          <a:off x="1361728" y="1664608"/>
          <a:ext cx="617984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798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ela 6"/>
          <p:cNvGraphicFramePr>
            <a:graphicFrameLocks noGrp="1"/>
          </p:cNvGraphicFramePr>
          <p:nvPr/>
        </p:nvGraphicFramePr>
        <p:xfrm>
          <a:off x="2483768" y="1664608"/>
          <a:ext cx="72008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ela 7"/>
          <p:cNvGraphicFramePr>
            <a:graphicFrameLocks noGrp="1"/>
          </p:cNvGraphicFramePr>
          <p:nvPr/>
        </p:nvGraphicFramePr>
        <p:xfrm>
          <a:off x="3449960" y="1664608"/>
          <a:ext cx="762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ela 8"/>
          <p:cNvGraphicFramePr>
            <a:graphicFrameLocks noGrp="1"/>
          </p:cNvGraphicFramePr>
          <p:nvPr/>
        </p:nvGraphicFramePr>
        <p:xfrm>
          <a:off x="4716016" y="1664608"/>
          <a:ext cx="762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ela 9"/>
          <p:cNvGraphicFramePr>
            <a:graphicFrameLocks noGrp="1"/>
          </p:cNvGraphicFramePr>
          <p:nvPr/>
        </p:nvGraphicFramePr>
        <p:xfrm>
          <a:off x="5724128" y="1628800"/>
          <a:ext cx="762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37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ela 10"/>
          <p:cNvGraphicFramePr>
            <a:graphicFrameLocks noGrp="1"/>
          </p:cNvGraphicFramePr>
          <p:nvPr/>
        </p:nvGraphicFramePr>
        <p:xfrm>
          <a:off x="7020272" y="1628800"/>
          <a:ext cx="762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ela 11"/>
          <p:cNvGraphicFramePr>
            <a:graphicFrameLocks noGrp="1"/>
          </p:cNvGraphicFramePr>
          <p:nvPr/>
        </p:nvGraphicFramePr>
        <p:xfrm>
          <a:off x="8172400" y="1628800"/>
          <a:ext cx="762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ela 12"/>
          <p:cNvGraphicFramePr>
            <a:graphicFrameLocks noGrp="1"/>
          </p:cNvGraphicFramePr>
          <p:nvPr/>
        </p:nvGraphicFramePr>
        <p:xfrm>
          <a:off x="2543944" y="2744728"/>
          <a:ext cx="1524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ela 13"/>
          <p:cNvGraphicFramePr>
            <a:graphicFrameLocks noGrp="1"/>
          </p:cNvGraphicFramePr>
          <p:nvPr/>
        </p:nvGraphicFramePr>
        <p:xfrm>
          <a:off x="467544" y="2744728"/>
          <a:ext cx="1524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ela 14"/>
          <p:cNvGraphicFramePr>
            <a:graphicFrameLocks noGrp="1"/>
          </p:cNvGraphicFramePr>
          <p:nvPr/>
        </p:nvGraphicFramePr>
        <p:xfrm>
          <a:off x="7164288" y="2744728"/>
          <a:ext cx="1524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ela 15"/>
          <p:cNvGraphicFramePr>
            <a:graphicFrameLocks noGrp="1"/>
          </p:cNvGraphicFramePr>
          <p:nvPr/>
        </p:nvGraphicFramePr>
        <p:xfrm>
          <a:off x="4920208" y="2744728"/>
          <a:ext cx="1524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37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ela 16"/>
          <p:cNvGraphicFramePr>
            <a:graphicFrameLocks noGrp="1"/>
          </p:cNvGraphicFramePr>
          <p:nvPr/>
        </p:nvGraphicFramePr>
        <p:xfrm>
          <a:off x="827584" y="3896856"/>
          <a:ext cx="3048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ela 17"/>
          <p:cNvGraphicFramePr>
            <a:graphicFrameLocks noGrp="1"/>
          </p:cNvGraphicFramePr>
          <p:nvPr/>
        </p:nvGraphicFramePr>
        <p:xfrm>
          <a:off x="5196408" y="3896856"/>
          <a:ext cx="3048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37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ela 18"/>
          <p:cNvGraphicFramePr>
            <a:graphicFrameLocks noGrp="1"/>
          </p:cNvGraphicFramePr>
          <p:nvPr/>
        </p:nvGraphicFramePr>
        <p:xfrm>
          <a:off x="1115616" y="5229200"/>
          <a:ext cx="6528048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006"/>
                <a:gridCol w="816006"/>
                <a:gridCol w="816006"/>
                <a:gridCol w="816006"/>
                <a:gridCol w="816006"/>
                <a:gridCol w="816006"/>
                <a:gridCol w="816006"/>
                <a:gridCol w="81600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37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cxnSp>
        <p:nvCxnSpPr>
          <p:cNvPr id="20" name="Conector de seta reta 19"/>
          <p:cNvCxnSpPr/>
          <p:nvPr/>
        </p:nvCxnSpPr>
        <p:spPr>
          <a:xfrm>
            <a:off x="755576" y="2060848"/>
            <a:ext cx="288032" cy="64807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 flipH="1">
            <a:off x="1547664" y="2060848"/>
            <a:ext cx="216024" cy="64807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>
            <a:off x="2843808" y="2060848"/>
            <a:ext cx="288032" cy="64807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H="1">
            <a:off x="3635896" y="2060848"/>
            <a:ext cx="216024" cy="64807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/>
          <p:nvPr/>
        </p:nvCxnSpPr>
        <p:spPr>
          <a:xfrm>
            <a:off x="1331640" y="3212976"/>
            <a:ext cx="288032" cy="64807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29"/>
          <p:cNvCxnSpPr/>
          <p:nvPr/>
        </p:nvCxnSpPr>
        <p:spPr>
          <a:xfrm flipH="1">
            <a:off x="2987824" y="3212976"/>
            <a:ext cx="216024" cy="64807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>
            <a:off x="5292080" y="2060848"/>
            <a:ext cx="288032" cy="64807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/>
          <p:cNvCxnSpPr/>
          <p:nvPr/>
        </p:nvCxnSpPr>
        <p:spPr>
          <a:xfrm flipH="1">
            <a:off x="6084168" y="2060848"/>
            <a:ext cx="216024" cy="64807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32"/>
          <p:cNvCxnSpPr/>
          <p:nvPr/>
        </p:nvCxnSpPr>
        <p:spPr>
          <a:xfrm>
            <a:off x="7380312" y="2060848"/>
            <a:ext cx="288032" cy="64807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33"/>
          <p:cNvCxnSpPr/>
          <p:nvPr/>
        </p:nvCxnSpPr>
        <p:spPr>
          <a:xfrm flipH="1">
            <a:off x="8172400" y="2060848"/>
            <a:ext cx="216024" cy="64807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/>
          <p:nvPr/>
        </p:nvCxnSpPr>
        <p:spPr>
          <a:xfrm>
            <a:off x="5796136" y="3212976"/>
            <a:ext cx="288032" cy="64807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de seta reta 35"/>
          <p:cNvCxnSpPr/>
          <p:nvPr/>
        </p:nvCxnSpPr>
        <p:spPr>
          <a:xfrm flipH="1">
            <a:off x="7596336" y="3212976"/>
            <a:ext cx="216024" cy="64807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>
            <a:off x="2339752" y="4437112"/>
            <a:ext cx="288032" cy="64807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de seta reta 37"/>
          <p:cNvCxnSpPr/>
          <p:nvPr/>
        </p:nvCxnSpPr>
        <p:spPr>
          <a:xfrm flipH="1">
            <a:off x="6516216" y="4437112"/>
            <a:ext cx="216024" cy="64807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Análise do tempo de execução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20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914400" y="1340768"/>
            <a:ext cx="7978080" cy="5400600"/>
          </a:xfrm>
        </p:spPr>
        <p:txBody>
          <a:bodyPr>
            <a:normAutofit fontScale="92500"/>
          </a:bodyPr>
          <a:lstStyle/>
          <a:p>
            <a:r>
              <a:rPr lang="pt-BR" dirty="0" smtClean="0"/>
              <a:t>A cada chamada do </a:t>
            </a:r>
            <a:r>
              <a:rPr lang="pt-BR" dirty="0" err="1" smtClean="0"/>
              <a:t>merge_sort</a:t>
            </a:r>
            <a:r>
              <a:rPr lang="pt-BR" dirty="0" smtClean="0"/>
              <a:t>, nosso problema é dividido pela metade, até chegarmos nas soluções triviais.</a:t>
            </a:r>
          </a:p>
          <a:p>
            <a:r>
              <a:rPr lang="pt-BR" dirty="0" smtClean="0"/>
              <a:t>Quantos níveis tem essa árvore? Quantos passos para chegar na solução trivial?</a:t>
            </a:r>
          </a:p>
          <a:p>
            <a:pPr lvl="1"/>
            <a:r>
              <a:rPr lang="pt-BR" dirty="0" smtClean="0"/>
              <a:t>Para n = 8?</a:t>
            </a:r>
          </a:p>
          <a:p>
            <a:pPr lvl="1"/>
            <a:r>
              <a:rPr lang="pt-BR" dirty="0" smtClean="0"/>
              <a:t>Para n = 16</a:t>
            </a:r>
          </a:p>
          <a:p>
            <a:pPr lvl="1"/>
            <a:r>
              <a:rPr lang="pt-BR" dirty="0" smtClean="0"/>
              <a:t>Para n = 32</a:t>
            </a:r>
          </a:p>
          <a:p>
            <a:r>
              <a:rPr lang="pt-BR" dirty="0" smtClean="0"/>
              <a:t>Ou seja, a etapa de divisão é O(</a:t>
            </a:r>
            <a:r>
              <a:rPr lang="pt-BR" dirty="0" err="1" smtClean="0"/>
              <a:t>lg</a:t>
            </a:r>
            <a:r>
              <a:rPr lang="pt-BR" dirty="0" smtClean="0"/>
              <a:t> n)</a:t>
            </a:r>
          </a:p>
          <a:p>
            <a:r>
              <a:rPr lang="pt-BR" dirty="0" smtClean="0"/>
              <a:t>Já na intercalação, temos que considerar o tempo de intercalação do subvetores...</a:t>
            </a:r>
          </a:p>
          <a:p>
            <a:r>
              <a:rPr lang="pt-BR" dirty="0" smtClean="0"/>
              <a:t>Para cada nível da árvore, gastamos tempo O(n) para intercalar.</a:t>
            </a:r>
          </a:p>
          <a:p>
            <a:r>
              <a:rPr lang="pt-BR" dirty="0" smtClean="0"/>
              <a:t>Qual o tempo gasto para toda a etapa de intercalação?</a:t>
            </a:r>
          </a:p>
          <a:p>
            <a:r>
              <a:rPr lang="pt-BR" dirty="0" smtClean="0"/>
              <a:t>Qual o consumo de tempo do </a:t>
            </a:r>
            <a:r>
              <a:rPr lang="pt-BR" dirty="0" err="1" smtClean="0"/>
              <a:t>Merge_sort</a:t>
            </a:r>
            <a:r>
              <a:rPr lang="pt-BR" dirty="0" smtClean="0"/>
              <a:t>?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Atividade 16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21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05536"/>
          </a:xfrm>
        </p:spPr>
        <p:txBody>
          <a:bodyPr>
            <a:normAutofit/>
          </a:bodyPr>
          <a:lstStyle/>
          <a:p>
            <a:r>
              <a:rPr lang="pt-BR" dirty="0" smtClean="0"/>
              <a:t>Implemente um programa que teste o </a:t>
            </a:r>
            <a:r>
              <a:rPr lang="pt-BR" dirty="0" err="1" smtClean="0"/>
              <a:t>merge_sort</a:t>
            </a:r>
            <a:r>
              <a:rPr lang="pt-BR" dirty="0" smtClean="0"/>
              <a:t>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Envio de atividades até dia 25/03 para o e-mail da disciplina:</a:t>
            </a:r>
          </a:p>
          <a:p>
            <a:pPr>
              <a:buNone/>
            </a:pPr>
            <a:r>
              <a:rPr lang="pt-BR" dirty="0" smtClean="0"/>
              <a:t>	</a:t>
            </a:r>
            <a:r>
              <a:rPr lang="pt-BR" dirty="0" smtClean="0">
                <a:hlinkClick r:id="rId2"/>
              </a:rPr>
              <a:t>atividadesial501@yahoo.com.br</a:t>
            </a:r>
            <a:endParaRPr lang="pt-BR" dirty="0" smtClean="0"/>
          </a:p>
          <a:p>
            <a:pPr>
              <a:buNone/>
            </a:pPr>
            <a:endParaRPr lang="pt-BR" dirty="0" smtClean="0"/>
          </a:p>
          <a:p>
            <a:pPr>
              <a:lnSpc>
                <a:spcPct val="110000"/>
              </a:lnSpc>
            </a:pPr>
            <a:r>
              <a:rPr lang="pt-BR" sz="2800" dirty="0" smtClean="0"/>
              <a:t>Assunto/ </a:t>
            </a:r>
            <a:r>
              <a:rPr lang="pt-BR" sz="2800" dirty="0" err="1" smtClean="0"/>
              <a:t>Subject</a:t>
            </a:r>
            <a:r>
              <a:rPr lang="pt-BR" sz="2800" dirty="0" smtClean="0"/>
              <a:t>: Atividades 14 a 16</a:t>
            </a:r>
          </a:p>
          <a:p>
            <a:pPr>
              <a:lnSpc>
                <a:spcPct val="110000"/>
              </a:lnSpc>
            </a:pPr>
            <a:r>
              <a:rPr lang="pt-BR" sz="2800" dirty="0" smtClean="0"/>
              <a:t>Identifique-se:</a:t>
            </a:r>
          </a:p>
          <a:p>
            <a:pPr lvl="1">
              <a:lnSpc>
                <a:spcPct val="110000"/>
              </a:lnSpc>
            </a:pPr>
            <a:r>
              <a:rPr lang="pt-BR" dirty="0" smtClean="0"/>
              <a:t>Nome: Fulano de Tal </a:t>
            </a:r>
          </a:p>
          <a:p>
            <a:pPr lvl="1">
              <a:lnSpc>
                <a:spcPct val="110000"/>
              </a:lnSpc>
            </a:pPr>
            <a:r>
              <a:rPr lang="pt-BR" dirty="0" smtClean="0"/>
              <a:t>Matrícula: </a:t>
            </a:r>
            <a:r>
              <a:rPr lang="pt-BR" dirty="0" err="1" smtClean="0"/>
              <a:t>xxxxx</a:t>
            </a:r>
            <a:r>
              <a:rPr lang="pt-BR" dirty="0" smtClean="0"/>
              <a:t>-x</a:t>
            </a:r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Aviso importante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22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3200" dirty="0" smtClean="0"/>
              <a:t>Não haverá aula próxima semana - dia 18/03</a:t>
            </a:r>
          </a:p>
          <a:p>
            <a:r>
              <a:rPr lang="pt-BR" sz="3200" dirty="0" smtClean="0"/>
              <a:t>Prof. estará em visita técnica no BHTEC</a:t>
            </a:r>
          </a:p>
          <a:p>
            <a:r>
              <a:rPr lang="pt-BR" sz="3200" dirty="0" smtClean="0"/>
              <a:t>Dia 25/03 – Aula normal</a:t>
            </a:r>
            <a:endParaRPr lang="pt-BR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trimônio Líquido">
  <a:themeElements>
    <a:clrScheme name="Patrimônio Líquido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Patrimônio Líquido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Patrimônio Líquido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2534</TotalTime>
  <Words>1095</Words>
  <Application>Microsoft Office PowerPoint</Application>
  <PresentationFormat>Apresentação na tela (4:3)</PresentationFormat>
  <Paragraphs>458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30" baseType="lpstr">
      <vt:lpstr>Arial</vt:lpstr>
      <vt:lpstr>Calibri</vt:lpstr>
      <vt:lpstr>Courier New</vt:lpstr>
      <vt:lpstr>Franklin Gothic Book</vt:lpstr>
      <vt:lpstr>Perpetua</vt:lpstr>
      <vt:lpstr>Wingdings</vt:lpstr>
      <vt:lpstr>Wingdings 2</vt:lpstr>
      <vt:lpstr>Patrimônio Líquido</vt:lpstr>
      <vt:lpstr>Análise de Algoritmos IAL 501</vt:lpstr>
      <vt:lpstr>Aula anterior</vt:lpstr>
      <vt:lpstr>Atividade 12 - Ordenação por trocas</vt:lpstr>
      <vt:lpstr>Atividade 13 – Ordenação por Seleção</vt:lpstr>
      <vt:lpstr>Atividade 13 - Ordenação por Seleção</vt:lpstr>
      <vt:lpstr>Atividade 14</vt:lpstr>
      <vt:lpstr>Aula 05</vt:lpstr>
      <vt:lpstr>Abordagem de Divisão e Conquista</vt:lpstr>
      <vt:lpstr>Ordenação por Intercalação</vt:lpstr>
      <vt:lpstr>Simulação</vt:lpstr>
      <vt:lpstr>Operação de Intercalação</vt:lpstr>
      <vt:lpstr>Simulação da Intercalação</vt:lpstr>
      <vt:lpstr>Simulação</vt:lpstr>
      <vt:lpstr>Implementação do intercala</vt:lpstr>
      <vt:lpstr>Atividade 15</vt:lpstr>
      <vt:lpstr>Ordenação por intercalação</vt:lpstr>
      <vt:lpstr>Implementação</vt:lpstr>
      <vt:lpstr>Simulação – Fase de divisão</vt:lpstr>
      <vt:lpstr>Simulação – Fase de intercalação</vt:lpstr>
      <vt:lpstr>Análise do tempo de execução</vt:lpstr>
      <vt:lpstr>Atividade 16</vt:lpstr>
      <vt:lpstr>Aviso importante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Inteligência Artificial</dc:title>
  <dc:creator>Grace Anne</dc:creator>
  <cp:lastModifiedBy>Grace Borges</cp:lastModifiedBy>
  <cp:revision>196</cp:revision>
  <dcterms:created xsi:type="dcterms:W3CDTF">2011-02-25T18:12:46Z</dcterms:created>
  <dcterms:modified xsi:type="dcterms:W3CDTF">2016-03-11T23:23:43Z</dcterms:modified>
</cp:coreProperties>
</file>