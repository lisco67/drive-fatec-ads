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11"/>
  </p:notesMasterIdLst>
  <p:sldIdLst>
    <p:sldId id="256" r:id="rId2"/>
    <p:sldId id="329" r:id="rId3"/>
    <p:sldId id="391" r:id="rId4"/>
    <p:sldId id="393" r:id="rId5"/>
    <p:sldId id="394" r:id="rId6"/>
    <p:sldId id="395" r:id="rId7"/>
    <p:sldId id="397" r:id="rId8"/>
    <p:sldId id="392" r:id="rId9"/>
    <p:sldId id="398" r:id="rId10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72" y="-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01/04/2016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06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Aula anterior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sz="2800" dirty="0" err="1" smtClean="0"/>
              <a:t>Qtde</a:t>
            </a:r>
            <a:r>
              <a:rPr lang="pt-BR" sz="2800" dirty="0" smtClean="0"/>
              <a:t> Comparações e Trocas (algoritmos quadráticos)</a:t>
            </a:r>
          </a:p>
          <a:p>
            <a:r>
              <a:rPr lang="pt-BR" sz="2800" dirty="0" smtClean="0"/>
              <a:t>Divisão e Conquista (recursão)</a:t>
            </a:r>
          </a:p>
          <a:p>
            <a:r>
              <a:rPr lang="pt-BR" sz="2800" dirty="0" smtClean="0"/>
              <a:t>Ordenação por intercalação (merge </a:t>
            </a:r>
            <a:r>
              <a:rPr lang="pt-BR" sz="2800" dirty="0" err="1" smtClean="0"/>
              <a:t>sort</a:t>
            </a:r>
            <a:r>
              <a:rPr lang="pt-BR" sz="2800" dirty="0" smtClean="0"/>
              <a:t>)</a:t>
            </a:r>
          </a:p>
          <a:p>
            <a:r>
              <a:rPr lang="pt-BR" sz="2800" dirty="0" smtClean="0"/>
              <a:t>Análise assintótica ( O(n </a:t>
            </a:r>
            <a:r>
              <a:rPr lang="pt-BR" sz="2800" dirty="0" err="1" smtClean="0"/>
              <a:t>lg</a:t>
            </a:r>
            <a:r>
              <a:rPr lang="pt-BR" sz="2800" dirty="0" smtClean="0"/>
              <a:t> n))</a:t>
            </a:r>
          </a:p>
          <a:p>
            <a:r>
              <a:rPr lang="pt-BR" sz="2800" dirty="0" smtClean="0"/>
              <a:t>Atividades</a:t>
            </a:r>
            <a:endParaRPr lang="pt-BR" sz="280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14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149552"/>
          </a:xfrm>
        </p:spPr>
        <p:txBody>
          <a:bodyPr/>
          <a:lstStyle/>
          <a:p>
            <a:r>
              <a:rPr lang="pt-BR" dirty="0" smtClean="0"/>
              <a:t>Implemente um programa que teste todas as implementações de ordenação estudadas até o momento.</a:t>
            </a:r>
          </a:p>
          <a:p>
            <a:r>
              <a:rPr lang="pt-BR" dirty="0" smtClean="0"/>
              <a:t>Altere seu código incluindo contadores nas suas funções, indicando:</a:t>
            </a:r>
          </a:p>
          <a:p>
            <a:pPr lvl="1"/>
            <a:r>
              <a:rPr lang="pt-BR" dirty="0" smtClean="0"/>
              <a:t>Total de comparações entre itens do vetor</a:t>
            </a:r>
          </a:p>
          <a:p>
            <a:pPr lvl="1"/>
            <a:r>
              <a:rPr lang="pt-BR" dirty="0" smtClean="0"/>
              <a:t>Total de trocas de posição dos itens</a:t>
            </a:r>
          </a:p>
          <a:p>
            <a:r>
              <a:rPr lang="pt-BR" dirty="0" smtClean="0"/>
              <a:t>Qual tem melhor desempenho para pior caso?</a:t>
            </a:r>
          </a:p>
          <a:p>
            <a:pPr lvl="1"/>
            <a:r>
              <a:rPr lang="pt-BR" dirty="0" err="1" smtClean="0"/>
              <a:t>Insertion_Sort</a:t>
            </a:r>
            <a:r>
              <a:rPr lang="pt-BR" dirty="0" smtClean="0"/>
              <a:t>? (cartas)</a:t>
            </a:r>
          </a:p>
          <a:p>
            <a:pPr lvl="1"/>
            <a:r>
              <a:rPr lang="pt-BR" dirty="0" err="1" smtClean="0"/>
              <a:t>Bubble_Sort</a:t>
            </a:r>
            <a:r>
              <a:rPr lang="pt-BR" dirty="0" smtClean="0"/>
              <a:t>? (bolha)</a:t>
            </a:r>
          </a:p>
          <a:p>
            <a:pPr lvl="1"/>
            <a:r>
              <a:rPr lang="pt-BR" dirty="0" err="1" smtClean="0"/>
              <a:t>Selection_Sort</a:t>
            </a:r>
            <a:r>
              <a:rPr lang="pt-BR" dirty="0" smtClean="0"/>
              <a:t>? (seleção)</a:t>
            </a:r>
          </a:p>
          <a:p>
            <a:pPr lvl="1"/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Relembrando Divisão e Conquista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745232" y="1591816"/>
            <a:ext cx="8075240" cy="4861520"/>
          </a:xfrm>
        </p:spPr>
        <p:txBody>
          <a:bodyPr>
            <a:noAutofit/>
          </a:bodyPr>
          <a:lstStyle/>
          <a:p>
            <a:endParaRPr lang="pt-BR" sz="2800" dirty="0" smtClean="0"/>
          </a:p>
          <a:p>
            <a:r>
              <a:rPr lang="pt-BR" sz="2800" dirty="0" smtClean="0"/>
              <a:t>Envolve os seguintes passos:</a:t>
            </a:r>
          </a:p>
          <a:p>
            <a:pPr lvl="1"/>
            <a:r>
              <a:rPr lang="pt-BR" sz="2800" b="1" dirty="0" smtClean="0"/>
              <a:t>Divisão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0000"/>
                </a:solidFill>
              </a:rPr>
              <a:t>dividir</a:t>
            </a:r>
            <a:r>
              <a:rPr lang="pt-BR" sz="2800" dirty="0" smtClean="0"/>
              <a:t> o problema em problemas menores;</a:t>
            </a:r>
          </a:p>
          <a:p>
            <a:pPr lvl="1"/>
            <a:r>
              <a:rPr lang="pt-BR" sz="2800" b="1" dirty="0" smtClean="0"/>
              <a:t>Conquista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0000"/>
                </a:solidFill>
              </a:rPr>
              <a:t>resolver</a:t>
            </a:r>
            <a:r>
              <a:rPr lang="pt-BR" sz="2800" dirty="0" smtClean="0"/>
              <a:t> o problema nas instâncias menores (ou usando recursão ou diretamente nos casos triviais);</a:t>
            </a:r>
          </a:p>
          <a:p>
            <a:pPr lvl="1"/>
            <a:r>
              <a:rPr lang="pt-BR" sz="2800" b="1" dirty="0" smtClean="0"/>
              <a:t>Combinação</a:t>
            </a:r>
            <a:r>
              <a:rPr lang="pt-BR" sz="2800" dirty="0" smtClean="0"/>
              <a:t>: </a:t>
            </a:r>
            <a:r>
              <a:rPr lang="pt-BR" sz="2800" dirty="0" smtClean="0">
                <a:solidFill>
                  <a:srgbClr val="FF0000"/>
                </a:solidFill>
              </a:rPr>
              <a:t>combinar</a:t>
            </a:r>
            <a:r>
              <a:rPr lang="pt-BR" sz="2800" dirty="0" smtClean="0"/>
              <a:t> as soluções dos problemas menores para gerar a solução do problema geral;</a:t>
            </a:r>
          </a:p>
          <a:p>
            <a:pPr lvl="1"/>
            <a:endParaRPr lang="pt-BR" sz="2800" dirty="0" smtClean="0"/>
          </a:p>
          <a:p>
            <a:pPr lvl="1"/>
            <a:r>
              <a:rPr lang="pt-BR" sz="2800" dirty="0" smtClean="0"/>
              <a:t>Veremos mais um problema de Divisão e Conquista: Subsequência máxima.</a:t>
            </a:r>
            <a:endParaRPr lang="pt-BR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557808"/>
            <a:ext cx="8050088" cy="1143000"/>
          </a:xfrm>
        </p:spPr>
        <p:txBody>
          <a:bodyPr>
            <a:noAutofit/>
          </a:bodyPr>
          <a:lstStyle/>
          <a:p>
            <a:r>
              <a:rPr lang="pt-BR" dirty="0" smtClean="0"/>
              <a:t>Problema do segmento de soma máxima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683568" y="1628800"/>
            <a:ext cx="8208912" cy="4968552"/>
          </a:xfrm>
        </p:spPr>
        <p:txBody>
          <a:bodyPr>
            <a:noAutofit/>
          </a:bodyPr>
          <a:lstStyle/>
          <a:p>
            <a:r>
              <a:rPr lang="pt-BR" sz="2400" dirty="0" smtClean="0"/>
              <a:t>Imagine uma grandeza que evolui com o tempo, aumentando ou diminuindo uma vez por dia, de maneira irregular. </a:t>
            </a:r>
          </a:p>
          <a:p>
            <a:r>
              <a:rPr lang="pt-BR" sz="2400" dirty="0" smtClean="0"/>
              <a:t>Dado o registro das variações diárias desta grandeza ao longo de um ano, queremos encontrar um intervalo de tempo em que a variação acumulada tenha sido máxima. </a:t>
            </a:r>
          </a:p>
          <a:p>
            <a:r>
              <a:rPr lang="pt-BR" sz="2400" b="1" dirty="0" smtClean="0"/>
              <a:t>Exemplo</a:t>
            </a:r>
            <a:r>
              <a:rPr lang="pt-BR" sz="2400" dirty="0" smtClean="0"/>
              <a:t>: Preço de uma ação ao final do pregão diário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755574" y="4509121"/>
          <a:ext cx="7920881" cy="1440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4"/>
                <a:gridCol w="936104"/>
                <a:gridCol w="936104"/>
                <a:gridCol w="936104"/>
                <a:gridCol w="936104"/>
                <a:gridCol w="864096"/>
                <a:gridCol w="792088"/>
                <a:gridCol w="1152127"/>
              </a:tblGrid>
              <a:tr h="480053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 smtClean="0"/>
                        <a:t>Dia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 smtClean="0"/>
                        <a:t>Preço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110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85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108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104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l"/>
                      <a:r>
                        <a:rPr lang="pt-BR" sz="2000" b="1" dirty="0" smtClean="0"/>
                        <a:t>Mudança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Foco no que é relevante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6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005536"/>
          </a:xfrm>
        </p:spPr>
        <p:txBody>
          <a:bodyPr>
            <a:normAutofit/>
          </a:bodyPr>
          <a:lstStyle/>
          <a:p>
            <a:r>
              <a:rPr lang="pt-BR" dirty="0" smtClean="0"/>
              <a:t>O que nos interessa são as variações, e não os preços  dia a dia Nesse caso, vamos fazer uma transformação.</a:t>
            </a:r>
          </a:p>
          <a:p>
            <a:pPr lvl="1"/>
            <a:r>
              <a:rPr lang="pt-BR" dirty="0" smtClean="0"/>
              <a:t>Utilizemos um vetor onde a informação do dia </a:t>
            </a:r>
            <a:r>
              <a:rPr lang="pt-BR" b="1" dirty="0" smtClean="0"/>
              <a:t>i </a:t>
            </a:r>
            <a:r>
              <a:rPr lang="pt-BR" dirty="0" smtClean="0"/>
              <a:t>diz respeito a variação do dia </a:t>
            </a:r>
            <a:r>
              <a:rPr lang="pt-BR" b="1" dirty="0" smtClean="0"/>
              <a:t>i-1 até i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pPr lvl="1"/>
            <a:endParaRPr lang="pt-BR" dirty="0" smtClean="0"/>
          </a:p>
          <a:p>
            <a:pPr lvl="1"/>
            <a:r>
              <a:rPr lang="pt-BR" dirty="0" smtClean="0"/>
              <a:t>Soma máxima: 20 + 3 = 23</a:t>
            </a:r>
          </a:p>
          <a:p>
            <a:pPr lvl="1"/>
            <a:r>
              <a:rPr lang="pt-BR" dirty="0" smtClean="0"/>
              <a:t>i = 4; j = 5;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/>
        </p:nvGraphicFramePr>
        <p:xfrm>
          <a:off x="1403649" y="3212976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Solução de Força Bruta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7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834064" cy="5077544"/>
          </a:xfrm>
        </p:spPr>
        <p:txBody>
          <a:bodyPr>
            <a:normAutofit/>
          </a:bodyPr>
          <a:lstStyle/>
          <a:p>
            <a:r>
              <a:rPr lang="pt-BR" dirty="0" smtClean="0"/>
              <a:t>Experimentar todo par possível de datas, com data da venda&gt; data da compra. </a:t>
            </a:r>
          </a:p>
          <a:p>
            <a:r>
              <a:rPr lang="pt-BR" dirty="0" smtClean="0"/>
              <a:t>Quantas combinações são possíveis nesse caso?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Por exemplo, para uma variação em 7 dias, teremos 6 mudanças (tamanho do vetor) chegando no total:  6 + 5 + 4 + 3 + 2 + 1.</a:t>
            </a:r>
          </a:p>
          <a:p>
            <a:r>
              <a:rPr lang="pt-BR" dirty="0" smtClean="0"/>
              <a:t>Ou seja, para n dias temos (n-1) + (n-2) +...+1 = n</a:t>
            </a:r>
            <a:r>
              <a:rPr lang="pt-BR" baseline="30000" dirty="0" smtClean="0"/>
              <a:t>2</a:t>
            </a:r>
            <a:r>
              <a:rPr lang="pt-BR" dirty="0" smtClean="0"/>
              <a:t>-n = O(n</a:t>
            </a:r>
            <a:r>
              <a:rPr lang="pt-BR" baseline="30000" dirty="0" smtClean="0"/>
              <a:t>2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endParaRPr lang="pt-BR" dirty="0"/>
          </a:p>
        </p:txBody>
      </p:sp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1403649" y="2780928"/>
          <a:ext cx="5400599" cy="96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4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6</a:t>
                      </a:r>
                      <a:endParaRPr lang="pt-BR" sz="2000" b="1" dirty="0"/>
                    </a:p>
                  </a:txBody>
                  <a:tcPr/>
                </a:tc>
              </a:tr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-25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1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Algoritmo </a:t>
            </a:r>
            <a:r>
              <a:rPr lang="pt-BR" dirty="0" err="1" smtClean="0"/>
              <a:t>soma_max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8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>
          <a:xfrm>
            <a:off x="914400" y="5302696"/>
            <a:ext cx="7772400" cy="1006624"/>
          </a:xfrm>
        </p:spPr>
        <p:txBody>
          <a:bodyPr/>
          <a:lstStyle/>
          <a:p>
            <a:r>
              <a:rPr lang="pt-BR" dirty="0" smtClean="0"/>
              <a:t>Faça </a:t>
            </a:r>
            <a:r>
              <a:rPr lang="pt-BR" dirty="0" smtClean="0"/>
              <a:t>uma simulação passo a passo para os seguintes valores 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343000"/>
            <a:ext cx="5476875" cy="388620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</p:spPr>
      </p:pic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187624" y="5973283"/>
          <a:ext cx="5400599" cy="4800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100"/>
                <a:gridCol w="900100"/>
                <a:gridCol w="900100"/>
                <a:gridCol w="972107"/>
                <a:gridCol w="792088"/>
                <a:gridCol w="936104"/>
              </a:tblGrid>
              <a:tr h="480053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13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-6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20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3</a:t>
                      </a:r>
                      <a:endParaRPr lang="pt-BR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smtClean="0"/>
                        <a:t>-4</a:t>
                      </a:r>
                      <a:endParaRPr lang="pt-BR" sz="20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Atividade para próxima aula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9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Com base no capítulo 5 do livrinho do prof. Paulo </a:t>
            </a:r>
            <a:r>
              <a:rPr lang="pt-BR" dirty="0" err="1" smtClean="0"/>
              <a:t>Feofiloff</a:t>
            </a:r>
            <a:r>
              <a:rPr lang="pt-BR" dirty="0" smtClean="0"/>
              <a:t>, pesquise uma solução usando divisão e conquista.</a:t>
            </a:r>
          </a:p>
          <a:p>
            <a:endParaRPr lang="pt-BR" dirty="0" smtClean="0"/>
          </a:p>
          <a:p>
            <a:r>
              <a:rPr lang="pt-BR" dirty="0" smtClean="0"/>
              <a:t>Desenvolva sua solução em linguagem C.</a:t>
            </a:r>
          </a:p>
          <a:p>
            <a:endParaRPr lang="pt-BR" dirty="0" smtClean="0"/>
          </a:p>
          <a:p>
            <a:r>
              <a:rPr lang="pt-BR" dirty="0" smtClean="0"/>
              <a:t>Qual sua eficiência desta solução?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2738</TotalTime>
  <Words>502</Words>
  <Application>Microsoft Office PowerPoint</Application>
  <PresentationFormat>Apresentação na tela (4:3)</PresentationFormat>
  <Paragraphs>115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Patrimônio Líquido</vt:lpstr>
      <vt:lpstr>Análise de Algoritmos IAL 501</vt:lpstr>
      <vt:lpstr>Aula anterior</vt:lpstr>
      <vt:lpstr>Atividade 14</vt:lpstr>
      <vt:lpstr>Relembrando Divisão e Conquista</vt:lpstr>
      <vt:lpstr>Problema do segmento de soma máxima</vt:lpstr>
      <vt:lpstr>Foco no que é relevante</vt:lpstr>
      <vt:lpstr>Solução de Força Bruta</vt:lpstr>
      <vt:lpstr>Algoritmo soma_max</vt:lpstr>
      <vt:lpstr>Atividade para próxima aula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204</cp:revision>
  <dcterms:created xsi:type="dcterms:W3CDTF">2011-02-25T18:12:46Z</dcterms:created>
  <dcterms:modified xsi:type="dcterms:W3CDTF">2016-04-01T21:50:03Z</dcterms:modified>
</cp:coreProperties>
</file>