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18"/>
  </p:notesMasterIdLst>
  <p:sldIdLst>
    <p:sldId id="256" r:id="rId2"/>
    <p:sldId id="394" r:id="rId3"/>
    <p:sldId id="395" r:id="rId4"/>
    <p:sldId id="397" r:id="rId5"/>
    <p:sldId id="392" r:id="rId6"/>
    <p:sldId id="399" r:id="rId7"/>
    <p:sldId id="400" r:id="rId8"/>
    <p:sldId id="401" r:id="rId9"/>
    <p:sldId id="402" r:id="rId10"/>
    <p:sldId id="403" r:id="rId11"/>
    <p:sldId id="404" r:id="rId12"/>
    <p:sldId id="406" r:id="rId13"/>
    <p:sldId id="407" r:id="rId14"/>
    <p:sldId id="408" r:id="rId15"/>
    <p:sldId id="409" r:id="rId16"/>
    <p:sldId id="410" r:id="rId17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08/04/2016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8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07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557808"/>
            <a:ext cx="8050088" cy="1143000"/>
          </a:xfrm>
        </p:spPr>
        <p:txBody>
          <a:bodyPr>
            <a:noAutofit/>
          </a:bodyPr>
          <a:lstStyle/>
          <a:p>
            <a:r>
              <a:rPr lang="pt-BR" dirty="0" smtClean="0"/>
              <a:t>Problema do segmento de soma máxima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628800"/>
            <a:ext cx="8208912" cy="4968552"/>
          </a:xfrm>
        </p:spPr>
        <p:txBody>
          <a:bodyPr>
            <a:noAutofit/>
          </a:bodyPr>
          <a:lstStyle/>
          <a:p>
            <a:r>
              <a:rPr lang="pt-BR" sz="2400" dirty="0" smtClean="0"/>
              <a:t>Imagine uma grandeza que evolui com o tempo, aumentando ou diminuindo uma vez por dia, de maneira irregular. </a:t>
            </a:r>
          </a:p>
          <a:p>
            <a:r>
              <a:rPr lang="pt-BR" sz="2400" dirty="0" smtClean="0"/>
              <a:t>Dado o registro das variações diárias desta grandeza ao longo de um ano, queremos encontrar um intervalo de tempo em que a variação acumulada tenha sido máxima. </a:t>
            </a:r>
          </a:p>
          <a:p>
            <a:r>
              <a:rPr lang="pt-BR" sz="2400" b="1" dirty="0" smtClean="0"/>
              <a:t>Exemplo</a:t>
            </a:r>
            <a:r>
              <a:rPr lang="pt-BR" sz="2400" dirty="0" smtClean="0"/>
              <a:t>: Preço de uma ação ao final do pregão diário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4" y="4509121"/>
          <a:ext cx="7920881" cy="144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4"/>
                <a:gridCol w="936104"/>
                <a:gridCol w="936104"/>
                <a:gridCol w="936104"/>
                <a:gridCol w="936104"/>
                <a:gridCol w="864096"/>
                <a:gridCol w="792088"/>
                <a:gridCol w="1152127"/>
              </a:tblGrid>
              <a:tr h="480053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 smtClean="0"/>
                        <a:t>Dia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 smtClean="0"/>
                        <a:t>Preço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110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85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108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104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 smtClean="0"/>
                        <a:t>Mudança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Foco no que é relevante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005536"/>
          </a:xfrm>
        </p:spPr>
        <p:txBody>
          <a:bodyPr>
            <a:normAutofit/>
          </a:bodyPr>
          <a:lstStyle/>
          <a:p>
            <a:r>
              <a:rPr lang="pt-BR" dirty="0" smtClean="0"/>
              <a:t>O que nos interessa são as variações, e não os preços  dia a dia Nesse caso, vamos fazer uma transformação.</a:t>
            </a:r>
          </a:p>
          <a:p>
            <a:pPr lvl="1"/>
            <a:r>
              <a:rPr lang="pt-BR" dirty="0" smtClean="0"/>
              <a:t>Utilizemos um vetor onde a informação do dia </a:t>
            </a:r>
            <a:r>
              <a:rPr lang="pt-BR" b="1" dirty="0" smtClean="0"/>
              <a:t>i </a:t>
            </a:r>
            <a:r>
              <a:rPr lang="pt-BR" dirty="0" smtClean="0"/>
              <a:t>diz respeito a variação do dia </a:t>
            </a:r>
            <a:r>
              <a:rPr lang="pt-BR" b="1" dirty="0" smtClean="0"/>
              <a:t>i-1 até i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Soma máxima: 20 + 3 = 23</a:t>
            </a:r>
          </a:p>
          <a:p>
            <a:pPr lvl="1"/>
            <a:r>
              <a:rPr lang="pt-BR" dirty="0" smtClean="0"/>
              <a:t>i = 4; j = 5;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403649" y="3212976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de Força Bruta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Experimentar todo par possível de datas, com data da venda&gt; data da compra. </a:t>
            </a:r>
          </a:p>
          <a:p>
            <a:r>
              <a:rPr lang="pt-BR" dirty="0" smtClean="0"/>
              <a:t>Quantas combinações são possíveis nesse caso?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Por exemplo, para uma variação em 7 dias, teremos 6 mudanças (tamanho do vetor) chegando no total:  6 + 5 + 4 + 3 + 2 + 1.</a:t>
            </a:r>
          </a:p>
          <a:p>
            <a:r>
              <a:rPr lang="pt-BR" dirty="0" smtClean="0"/>
              <a:t>Ou seja, para n dias temos (n-1) + (n-2) +...+1 = n</a:t>
            </a:r>
            <a:r>
              <a:rPr lang="pt-BR" baseline="30000" dirty="0" smtClean="0"/>
              <a:t>2</a:t>
            </a:r>
            <a:r>
              <a:rPr lang="pt-BR" dirty="0" smtClean="0"/>
              <a:t>-n = O(n</a:t>
            </a:r>
            <a:r>
              <a:rPr lang="pt-BR" baseline="30000" dirty="0" smtClean="0"/>
              <a:t>2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403649" y="2780928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</a:t>
            </a:r>
            <a:r>
              <a:rPr lang="pt-BR" dirty="0" err="1" smtClean="0"/>
              <a:t>soma_max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5302696"/>
            <a:ext cx="7772400" cy="1006624"/>
          </a:xfrm>
        </p:spPr>
        <p:txBody>
          <a:bodyPr/>
          <a:lstStyle/>
          <a:p>
            <a:r>
              <a:rPr lang="pt-BR" dirty="0" smtClean="0"/>
              <a:t>Faça uma simulação passo a passo para os seguintes valores 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3000"/>
            <a:ext cx="5476875" cy="38862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187624" y="59732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n = 6; 	</a:t>
            </a:r>
            <a:r>
              <a:rPr lang="pt-BR" dirty="0" smtClean="0">
                <a:solidFill>
                  <a:srgbClr val="FF0000"/>
                </a:solidFill>
              </a:rPr>
              <a:t>x = - 4</a:t>
            </a:r>
            <a:r>
              <a:rPr lang="pt-BR" dirty="0" smtClean="0"/>
              <a:t>; 	i = 4;	s = 0;	j = i;</a:t>
            </a:r>
            <a:endParaRPr lang="pt-BR" dirty="0"/>
          </a:p>
        </p:txBody>
      </p:sp>
      <p:grpSp>
        <p:nvGrpSpPr>
          <p:cNvPr id="27" name="Grupo 26"/>
          <p:cNvGrpSpPr/>
          <p:nvPr/>
        </p:nvGrpSpPr>
        <p:grpSpPr>
          <a:xfrm>
            <a:off x="4499993" y="1124744"/>
            <a:ext cx="4320479" cy="936104"/>
            <a:chOff x="4499993" y="1124744"/>
            <a:chExt cx="4320479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4499993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4843543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s + 3 = 3</a:t>
              </a:r>
            </a:p>
            <a:p>
              <a:r>
                <a:rPr lang="pt-BR" dirty="0" smtClean="0"/>
                <a:t>s &gt; x? 	3 &gt; - 4?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382175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1" name="Grupo 30"/>
          <p:cNvGrpSpPr/>
          <p:nvPr/>
        </p:nvGrpSpPr>
        <p:grpSpPr>
          <a:xfrm>
            <a:off x="4696079" y="2060848"/>
            <a:ext cx="4124393" cy="936104"/>
            <a:chOff x="4696079" y="2060848"/>
            <a:chExt cx="4124393" cy="936104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2073622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3 + (- 4) =  -1</a:t>
              </a:r>
            </a:p>
            <a:p>
              <a:r>
                <a:rPr lang="pt-BR" dirty="0" smtClean="0"/>
                <a:t>s &gt; x? 	-1 &gt; 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4696079" y="2060848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5580113" y="2060848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96635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8" name="Grupo 27"/>
          <p:cNvGrpSpPr/>
          <p:nvPr/>
        </p:nvGrpSpPr>
        <p:grpSpPr>
          <a:xfrm>
            <a:off x="3799851" y="3645024"/>
            <a:ext cx="5020621" cy="936104"/>
            <a:chOff x="3799851" y="3645024"/>
            <a:chExt cx="5020621" cy="936104"/>
          </a:xfrm>
        </p:grpSpPr>
        <p:sp>
          <p:nvSpPr>
            <p:cNvPr id="15" name="CaixaDeTexto 14"/>
            <p:cNvSpPr txBox="1"/>
            <p:nvPr/>
          </p:nvSpPr>
          <p:spPr>
            <a:xfrm>
              <a:off x="6372200" y="365779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20</a:t>
              </a:r>
            </a:p>
            <a:p>
              <a:r>
                <a:rPr lang="pt-BR" dirty="0" smtClean="0"/>
                <a:t>s &gt; x? 	20 &gt; 3?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20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3799851" y="364502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4015875" y="364502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91522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9" name="Grupo 28"/>
          <p:cNvGrpSpPr/>
          <p:nvPr/>
        </p:nvGrpSpPr>
        <p:grpSpPr>
          <a:xfrm>
            <a:off x="3799851" y="4593902"/>
            <a:ext cx="5020621" cy="936104"/>
            <a:chOff x="3799851" y="4593902"/>
            <a:chExt cx="5020621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460667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20 + 3 = 23</a:t>
              </a:r>
            </a:p>
            <a:p>
              <a:r>
                <a:rPr lang="pt-BR" dirty="0" smtClean="0"/>
                <a:t>s &gt; x? 	23 &gt; 20?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3799851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4716017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755577" y="60545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0" name="Grupo 29"/>
          <p:cNvGrpSpPr/>
          <p:nvPr/>
        </p:nvGrpSpPr>
        <p:grpSpPr>
          <a:xfrm>
            <a:off x="3799851" y="5733256"/>
            <a:ext cx="5020621" cy="936104"/>
            <a:chOff x="3799851" y="5733256"/>
            <a:chExt cx="5020621" cy="936104"/>
          </a:xfrm>
        </p:grpSpPr>
        <p:sp>
          <p:nvSpPr>
            <p:cNvPr id="23" name="CaixaDeTexto 22"/>
            <p:cNvSpPr txBox="1"/>
            <p:nvPr/>
          </p:nvSpPr>
          <p:spPr>
            <a:xfrm>
              <a:off x="6372200" y="574603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23 + (- 4) = 19</a:t>
              </a:r>
            </a:p>
            <a:p>
              <a:r>
                <a:rPr lang="pt-BR" dirty="0" smtClean="0"/>
                <a:t>s &gt; x? 	19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3799851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563218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sp>
        <p:nvSpPr>
          <p:cNvPr id="26" name="CaixaDeTexto 25"/>
          <p:cNvSpPr txBox="1"/>
          <p:nvPr/>
        </p:nvSpPr>
        <p:spPr>
          <a:xfrm>
            <a:off x="120395" y="3131676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3</a:t>
            </a:r>
            <a:r>
              <a:rPr lang="pt-BR" dirty="0" smtClean="0"/>
              <a:t>; 	i = 3;	s = 0;	j = i;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23</a:t>
            </a:r>
            <a:r>
              <a:rPr lang="pt-BR" dirty="0" smtClean="0"/>
              <a:t>; 	i = 2;	s = 0;	j = i;</a:t>
            </a:r>
            <a:endParaRPr lang="pt-BR" dirty="0"/>
          </a:p>
        </p:txBody>
      </p:sp>
      <p:grpSp>
        <p:nvGrpSpPr>
          <p:cNvPr id="22" name="Grupo 21"/>
          <p:cNvGrpSpPr/>
          <p:nvPr/>
        </p:nvGrpSpPr>
        <p:grpSpPr>
          <a:xfrm>
            <a:off x="2771800" y="1124744"/>
            <a:ext cx="6048672" cy="936104"/>
            <a:chOff x="2771800" y="1124744"/>
            <a:chExt cx="6048672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277180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318391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- 6</a:t>
              </a:r>
            </a:p>
            <a:p>
              <a:r>
                <a:rPr lang="pt-BR" dirty="0" smtClean="0"/>
                <a:t>s &gt; x? 	- 6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59819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3" name="Grupo 22"/>
          <p:cNvGrpSpPr/>
          <p:nvPr/>
        </p:nvGrpSpPr>
        <p:grpSpPr>
          <a:xfrm>
            <a:off x="2843808" y="2276872"/>
            <a:ext cx="5976664" cy="936104"/>
            <a:chOff x="2843808" y="2276872"/>
            <a:chExt cx="5976664" cy="936104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228964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- 6 + 20 =  14</a:t>
              </a:r>
            </a:p>
            <a:p>
              <a:r>
                <a:rPr lang="pt-BR" dirty="0" smtClean="0"/>
                <a:t>s &gt; x? 	14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2843808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3779912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69109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4" name="Grupo 23"/>
          <p:cNvGrpSpPr/>
          <p:nvPr/>
        </p:nvGrpSpPr>
        <p:grpSpPr>
          <a:xfrm>
            <a:off x="2895878" y="3369766"/>
            <a:ext cx="5924594" cy="936104"/>
            <a:chOff x="2895878" y="3369766"/>
            <a:chExt cx="5924594" cy="936104"/>
          </a:xfrm>
        </p:grpSpPr>
        <p:sp>
          <p:nvSpPr>
            <p:cNvPr id="15" name="CaixaDeTexto 14"/>
            <p:cNvSpPr txBox="1"/>
            <p:nvPr/>
          </p:nvSpPr>
          <p:spPr>
            <a:xfrm>
              <a:off x="6372200" y="338254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14 + 3 = 17</a:t>
              </a:r>
            </a:p>
            <a:p>
              <a:r>
                <a:rPr lang="pt-BR" dirty="0" smtClean="0"/>
                <a:t>s &gt; x? 	17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2895878" y="336976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4716016" y="336976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91522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5" name="Grupo 24"/>
          <p:cNvGrpSpPr/>
          <p:nvPr/>
        </p:nvGrpSpPr>
        <p:grpSpPr>
          <a:xfrm>
            <a:off x="2915816" y="4593902"/>
            <a:ext cx="5904656" cy="936104"/>
            <a:chOff x="2915816" y="4593902"/>
            <a:chExt cx="5904656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460667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17 + (- 4) = 13</a:t>
              </a:r>
            </a:p>
            <a:p>
              <a:r>
                <a:rPr lang="pt-BR" dirty="0" smtClean="0"/>
                <a:t>s &gt; x? 	13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2915816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5632182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23</a:t>
            </a:r>
            <a:r>
              <a:rPr lang="pt-BR" dirty="0" smtClean="0"/>
              <a:t>; 	i = 1;	s = 0;	j = i;</a:t>
            </a:r>
            <a:endParaRPr lang="pt-BR" dirty="0"/>
          </a:p>
        </p:txBody>
      </p:sp>
      <p:grpSp>
        <p:nvGrpSpPr>
          <p:cNvPr id="26" name="Grupo 25"/>
          <p:cNvGrpSpPr/>
          <p:nvPr/>
        </p:nvGrpSpPr>
        <p:grpSpPr>
          <a:xfrm>
            <a:off x="1835696" y="1124744"/>
            <a:ext cx="6984776" cy="936104"/>
            <a:chOff x="1835696" y="1124744"/>
            <a:chExt cx="6984776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1835696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2247806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- 3</a:t>
              </a:r>
            </a:p>
            <a:p>
              <a:r>
                <a:rPr lang="pt-BR" dirty="0" smtClean="0"/>
                <a:t>s &gt; x? 	- 3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59819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7" name="Grupo 26"/>
          <p:cNvGrpSpPr/>
          <p:nvPr/>
        </p:nvGrpSpPr>
        <p:grpSpPr>
          <a:xfrm>
            <a:off x="1907704" y="2276872"/>
            <a:ext cx="6912768" cy="936104"/>
            <a:chOff x="1907704" y="2276872"/>
            <a:chExt cx="6912768" cy="936104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228964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- 3 - 6 =  - 9</a:t>
              </a:r>
            </a:p>
            <a:p>
              <a:r>
                <a:rPr lang="pt-BR" dirty="0" smtClean="0"/>
                <a:t>s &gt; x? 	- 9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1907704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2843808" y="227687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69109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aixaDeTexto 14"/>
          <p:cNvSpPr txBox="1"/>
          <p:nvPr/>
        </p:nvSpPr>
        <p:spPr>
          <a:xfrm>
            <a:off x="6372200" y="3382540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 = - 9 + 20 = 11</a:t>
            </a:r>
          </a:p>
          <a:p>
            <a:r>
              <a:rPr lang="pt-BR" dirty="0" smtClean="0"/>
              <a:t>s &gt; x? 	11 &gt; 23?	(F)</a:t>
            </a:r>
          </a:p>
          <a:p>
            <a:r>
              <a:rPr lang="pt-BR" dirty="0" smtClean="0"/>
              <a:t>	</a:t>
            </a:r>
            <a:r>
              <a:rPr lang="pt-BR" b="1" dirty="0" smtClean="0">
                <a:solidFill>
                  <a:srgbClr val="FF0000"/>
                </a:solidFill>
              </a:rPr>
              <a:t>x = 23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959774" y="33697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3779912" y="336976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j</a:t>
            </a:r>
            <a:endParaRPr lang="pt-BR" dirty="0"/>
          </a:p>
        </p:txBody>
      </p: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915229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8" name="Grupo 27"/>
          <p:cNvGrpSpPr/>
          <p:nvPr/>
        </p:nvGrpSpPr>
        <p:grpSpPr>
          <a:xfrm>
            <a:off x="1979712" y="4593902"/>
            <a:ext cx="6840760" cy="936104"/>
            <a:chOff x="1979712" y="4593902"/>
            <a:chExt cx="6840760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4606676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11 + 3 = 14</a:t>
              </a:r>
            </a:p>
            <a:p>
              <a:r>
                <a:rPr lang="pt-BR" dirty="0" smtClean="0"/>
                <a:t>s &gt; x? 	14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979712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4696078" y="459390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755577" y="60545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9" name="Grupo 28"/>
          <p:cNvGrpSpPr/>
          <p:nvPr/>
        </p:nvGrpSpPr>
        <p:grpSpPr>
          <a:xfrm>
            <a:off x="1979712" y="5733256"/>
            <a:ext cx="6840760" cy="936104"/>
            <a:chOff x="1979712" y="5733256"/>
            <a:chExt cx="6840760" cy="936104"/>
          </a:xfrm>
        </p:grpSpPr>
        <p:sp>
          <p:nvSpPr>
            <p:cNvPr id="23" name="CaixaDeTexto 22"/>
            <p:cNvSpPr txBox="1"/>
            <p:nvPr/>
          </p:nvSpPr>
          <p:spPr>
            <a:xfrm>
              <a:off x="6372200" y="574603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14 + (- 4) = 10</a:t>
              </a:r>
            </a:p>
            <a:p>
              <a:r>
                <a:rPr lang="pt-BR" dirty="0" smtClean="0"/>
                <a:t>s &gt; x? 	10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197971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563218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56207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7" y="14460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120395" y="764704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x = 23</a:t>
            </a:r>
            <a:r>
              <a:rPr lang="pt-BR" dirty="0" smtClean="0"/>
              <a:t>; 	i = 0;	s = 0;	j = i;</a:t>
            </a:r>
            <a:endParaRPr lang="pt-BR" dirty="0"/>
          </a:p>
        </p:txBody>
      </p:sp>
      <p:grpSp>
        <p:nvGrpSpPr>
          <p:cNvPr id="31" name="Grupo 30"/>
          <p:cNvGrpSpPr/>
          <p:nvPr/>
        </p:nvGrpSpPr>
        <p:grpSpPr>
          <a:xfrm>
            <a:off x="971600" y="1124744"/>
            <a:ext cx="7848872" cy="936104"/>
            <a:chOff x="971600" y="1124744"/>
            <a:chExt cx="7848872" cy="936104"/>
          </a:xfrm>
        </p:grpSpPr>
        <p:sp>
          <p:nvSpPr>
            <p:cNvPr id="7" name="CaixaDeTexto 6"/>
            <p:cNvSpPr txBox="1"/>
            <p:nvPr/>
          </p:nvSpPr>
          <p:spPr>
            <a:xfrm>
              <a:off x="97160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1383710" y="11247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372200" y="11375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13</a:t>
              </a:r>
            </a:p>
            <a:p>
              <a:r>
                <a:rPr lang="pt-BR" dirty="0" smtClean="0"/>
                <a:t>s &gt; x? 	13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755577" y="229739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0" name="Grupo 29"/>
          <p:cNvGrpSpPr/>
          <p:nvPr/>
        </p:nvGrpSpPr>
        <p:grpSpPr>
          <a:xfrm>
            <a:off x="1043608" y="1916832"/>
            <a:ext cx="7776864" cy="995338"/>
            <a:chOff x="1043608" y="1916832"/>
            <a:chExt cx="7776864" cy="995338"/>
          </a:xfrm>
        </p:grpSpPr>
        <p:sp>
          <p:nvSpPr>
            <p:cNvPr id="11" name="CaixaDeTexto 10"/>
            <p:cNvSpPr txBox="1"/>
            <p:nvPr/>
          </p:nvSpPr>
          <p:spPr>
            <a:xfrm>
              <a:off x="6372200" y="198884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13 - 3 =  10</a:t>
              </a:r>
            </a:p>
            <a:p>
              <a:r>
                <a:rPr lang="pt-BR" dirty="0" smtClean="0"/>
                <a:t>s &gt; x? 	10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1043608" y="191683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1979712" y="1916832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755577" y="317426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2" name="Grupo 31"/>
          <p:cNvGrpSpPr/>
          <p:nvPr/>
        </p:nvGrpSpPr>
        <p:grpSpPr>
          <a:xfrm>
            <a:off x="1095678" y="2852936"/>
            <a:ext cx="7724794" cy="936104"/>
            <a:chOff x="1095678" y="2852936"/>
            <a:chExt cx="7724794" cy="936104"/>
          </a:xfrm>
        </p:grpSpPr>
        <p:sp>
          <p:nvSpPr>
            <p:cNvPr id="15" name="CaixaDeTexto 14"/>
            <p:cNvSpPr txBox="1"/>
            <p:nvPr/>
          </p:nvSpPr>
          <p:spPr>
            <a:xfrm>
              <a:off x="6372200" y="286571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10 - 6 = 4</a:t>
              </a:r>
            </a:p>
            <a:p>
              <a:r>
                <a:rPr lang="pt-BR" dirty="0" smtClean="0"/>
                <a:t>s &gt; x? 	4 &gt; 23?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23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CaixaDeTexto 15"/>
            <p:cNvSpPr txBox="1"/>
            <p:nvPr/>
          </p:nvSpPr>
          <p:spPr>
            <a:xfrm>
              <a:off x="1095678" y="285293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2915816" y="285293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755577" y="4110367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3" name="Grupo 32"/>
          <p:cNvGrpSpPr/>
          <p:nvPr/>
        </p:nvGrpSpPr>
        <p:grpSpPr>
          <a:xfrm>
            <a:off x="1115616" y="3789040"/>
            <a:ext cx="7704856" cy="936104"/>
            <a:chOff x="1115616" y="3789040"/>
            <a:chExt cx="7704856" cy="936104"/>
          </a:xfrm>
        </p:grpSpPr>
        <p:sp>
          <p:nvSpPr>
            <p:cNvPr id="19" name="CaixaDeTexto 18"/>
            <p:cNvSpPr txBox="1"/>
            <p:nvPr/>
          </p:nvSpPr>
          <p:spPr>
            <a:xfrm>
              <a:off x="6372200" y="3801814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4 + 20 = 24</a:t>
              </a:r>
            </a:p>
            <a:p>
              <a:r>
                <a:rPr lang="pt-BR" dirty="0" smtClean="0"/>
                <a:t>s &gt; x? 	24 &gt; 23?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24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115616" y="3789040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3831982" y="3789040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755577" y="60545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5" name="Grupo 34"/>
          <p:cNvGrpSpPr/>
          <p:nvPr/>
        </p:nvGrpSpPr>
        <p:grpSpPr>
          <a:xfrm>
            <a:off x="1115616" y="5733256"/>
            <a:ext cx="7704856" cy="936104"/>
            <a:chOff x="1115616" y="5733256"/>
            <a:chExt cx="7704856" cy="936104"/>
          </a:xfrm>
        </p:grpSpPr>
        <p:sp>
          <p:nvSpPr>
            <p:cNvPr id="23" name="CaixaDeTexto 22"/>
            <p:cNvSpPr txBox="1"/>
            <p:nvPr/>
          </p:nvSpPr>
          <p:spPr>
            <a:xfrm>
              <a:off x="6372200" y="5746030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27 + (- 4) = 23</a:t>
              </a:r>
            </a:p>
            <a:p>
              <a:r>
                <a:rPr lang="pt-BR" dirty="0" smtClean="0"/>
                <a:t>s &gt; x? 	23 &gt; 27?	(F)</a:t>
              </a:r>
            </a:p>
            <a:p>
              <a:r>
                <a:rPr lang="pt-BR" dirty="0" smtClean="0"/>
                <a:t>	</a:t>
              </a:r>
              <a:r>
                <a:rPr lang="pt-BR" b="1" dirty="0" smtClean="0">
                  <a:solidFill>
                    <a:srgbClr val="FF0000"/>
                  </a:solidFill>
                </a:rPr>
                <a:t>x = 27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1115616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5632182" y="5733256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  <p:graphicFrame>
        <p:nvGraphicFramePr>
          <p:cNvPr id="26" name="Tabela 25"/>
          <p:cNvGraphicFramePr>
            <a:graphicFrameLocks noGrp="1"/>
          </p:cNvGraphicFramePr>
          <p:nvPr/>
        </p:nvGraphicFramePr>
        <p:xfrm>
          <a:off x="755576" y="5046471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115615" y="4725144"/>
            <a:ext cx="7704856" cy="936104"/>
            <a:chOff x="1115615" y="4725144"/>
            <a:chExt cx="7704856" cy="936104"/>
          </a:xfrm>
        </p:grpSpPr>
        <p:sp>
          <p:nvSpPr>
            <p:cNvPr id="27" name="CaixaDeTexto 26"/>
            <p:cNvSpPr txBox="1"/>
            <p:nvPr/>
          </p:nvSpPr>
          <p:spPr>
            <a:xfrm>
              <a:off x="6372199" y="4737918"/>
              <a:ext cx="2448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 = 24 + 3 = 27</a:t>
              </a:r>
            </a:p>
            <a:p>
              <a:r>
                <a:rPr lang="pt-BR" dirty="0" smtClean="0"/>
                <a:t>s &gt; x? 	27 &gt; 24?	(V)</a:t>
              </a:r>
            </a:p>
            <a:p>
              <a:r>
                <a:rPr lang="pt-BR" dirty="0" smtClean="0"/>
                <a:t>x = s	</a:t>
              </a:r>
              <a:r>
                <a:rPr lang="pt-BR" b="1" dirty="0" smtClean="0">
                  <a:solidFill>
                    <a:srgbClr val="FF0000"/>
                  </a:solidFill>
                </a:rPr>
                <a:t>x = 27</a:t>
              </a:r>
              <a:endParaRPr lang="pt-BR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1115615" y="47251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i</a:t>
              </a:r>
              <a:endParaRPr lang="pt-BR" dirty="0"/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4768085" y="472514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j</a:t>
              </a:r>
              <a:endParaRPr 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 – Fase de divisão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2016224" y="1916832"/>
          <a:ext cx="457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061864" y="2889136"/>
          <a:ext cx="228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5598368" y="2889136"/>
          <a:ext cx="228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ector de seta reta 7"/>
          <p:cNvCxnSpPr/>
          <p:nvPr/>
        </p:nvCxnSpPr>
        <p:spPr>
          <a:xfrm flipH="1">
            <a:off x="1907704" y="2385080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5868144" y="2385080"/>
            <a:ext cx="864096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467544" y="3969256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467544" y="5085184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1361728" y="5085184"/>
          <a:ext cx="61798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98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2987824" y="3968864"/>
          <a:ext cx="72008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4716016" y="3969256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4716016" y="5085184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5724128" y="504937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7626424" y="3968864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ector de seta reta 21"/>
          <p:cNvCxnSpPr/>
          <p:nvPr/>
        </p:nvCxnSpPr>
        <p:spPr>
          <a:xfrm flipH="1">
            <a:off x="899592" y="3393192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827584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1691680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5076056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>
            <a:off x="5940152" y="4401304"/>
            <a:ext cx="0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/>
          <p:nvPr/>
        </p:nvCxnSpPr>
        <p:spPr>
          <a:xfrm>
            <a:off x="2627784" y="3393192"/>
            <a:ext cx="648072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>
            <a:off x="7308304" y="3393192"/>
            <a:ext cx="648072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 flipH="1">
            <a:off x="5364088" y="3393192"/>
            <a:ext cx="79208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2170862" y="15475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2862064" y="25556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</a:t>
            </a:r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6084168" y="15475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</a:t>
            </a:r>
            <a:endParaRPr lang="pt-BR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1226857" y="25556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</a:t>
            </a:r>
            <a:endParaRPr lang="pt-BR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5694040" y="2564904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q+1</a:t>
            </a:r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7448654" y="255561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 – Fase de </a:t>
            </a:r>
            <a:r>
              <a:rPr lang="pt-BR" dirty="0" smtClean="0"/>
              <a:t>Conquista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467544" y="1664608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361728" y="1664608"/>
          <a:ext cx="61798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98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4716016" y="1664608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5970240" y="1664608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7452320" y="2708920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5436096" y="2708920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cxnSp>
        <p:nvCxnSpPr>
          <p:cNvPr id="20" name="Conector de seta reta 19"/>
          <p:cNvCxnSpPr/>
          <p:nvPr/>
        </p:nvCxnSpPr>
        <p:spPr>
          <a:xfrm>
            <a:off x="755576" y="2060848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flipH="1">
            <a:off x="1547664" y="2060848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1331640" y="3212976"/>
            <a:ext cx="792088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flipH="1">
            <a:off x="2411760" y="3212976"/>
            <a:ext cx="792088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5292080" y="2060848"/>
            <a:ext cx="288032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6084168" y="2060848"/>
            <a:ext cx="216024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>
            <a:off x="5796136" y="3212976"/>
            <a:ext cx="720080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H="1">
            <a:off x="6948264" y="3140968"/>
            <a:ext cx="720080" cy="7920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/>
          <p:nvPr/>
        </p:nvCxnSpPr>
        <p:spPr>
          <a:xfrm>
            <a:off x="2339752" y="4437112"/>
            <a:ext cx="1368152" cy="14401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/>
          <p:nvPr/>
        </p:nvCxnSpPr>
        <p:spPr>
          <a:xfrm flipH="1">
            <a:off x="5292080" y="4437112"/>
            <a:ext cx="1440160" cy="14401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ela 38"/>
          <p:cNvGraphicFramePr>
            <a:graphicFrameLocks noGrp="1"/>
          </p:cNvGraphicFramePr>
          <p:nvPr/>
        </p:nvGraphicFramePr>
        <p:xfrm>
          <a:off x="1043608" y="2744728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ela 39"/>
          <p:cNvGraphicFramePr>
            <a:graphicFrameLocks noGrp="1"/>
          </p:cNvGraphicFramePr>
          <p:nvPr/>
        </p:nvGraphicFramePr>
        <p:xfrm>
          <a:off x="2915816" y="2744728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ela 40"/>
          <p:cNvGraphicFramePr>
            <a:graphicFrameLocks noGrp="1"/>
          </p:cNvGraphicFramePr>
          <p:nvPr/>
        </p:nvGraphicFramePr>
        <p:xfrm>
          <a:off x="2051720" y="3968864"/>
          <a:ext cx="57606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4026024" y="5589240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23 ?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Tabela 49"/>
          <p:cNvGraphicFramePr>
            <a:graphicFrameLocks noGrp="1"/>
          </p:cNvGraphicFramePr>
          <p:nvPr/>
        </p:nvGraphicFramePr>
        <p:xfrm>
          <a:off x="6300192" y="3968864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ela 50"/>
          <p:cNvGraphicFramePr>
            <a:graphicFrameLocks noGrp="1"/>
          </p:cNvGraphicFramePr>
          <p:nvPr/>
        </p:nvGraphicFramePr>
        <p:xfrm>
          <a:off x="3707904" y="6165304"/>
          <a:ext cx="144016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23 + 13 ?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78080" cy="5077544"/>
          </a:xfrm>
        </p:spPr>
        <p:txBody>
          <a:bodyPr/>
          <a:lstStyle/>
          <a:p>
            <a:r>
              <a:rPr lang="pt-BR" dirty="0" smtClean="0"/>
              <a:t>Além de buscar a melhor subsequência do lado esquerdo e também a melhor subsequência do lado direito</a:t>
            </a:r>
          </a:p>
          <a:p>
            <a:r>
              <a:rPr lang="pt-BR" dirty="0" smtClean="0"/>
              <a:t>Precisamos considerar as subsequências que começam na esquerda e terminam na direita...</a:t>
            </a:r>
          </a:p>
          <a:p>
            <a:r>
              <a:rPr lang="pt-BR" dirty="0" smtClean="0"/>
              <a:t>Neste caso, obrigatoriamente as posições q e q+1 fazem parte da subsequência considerada.</a:t>
            </a:r>
          </a:p>
          <a:p>
            <a:endParaRPr lang="pt-BR" dirty="0" smtClean="0"/>
          </a:p>
          <a:p>
            <a:r>
              <a:rPr lang="pt-BR" dirty="0" smtClean="0"/>
              <a:t>Ao final devemos escolher o melhor valor entre a subsequência da esquerda, da direita e do meio.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7036" y="404664"/>
            <a:ext cx="8123436" cy="6052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have direita 5"/>
          <p:cNvSpPr/>
          <p:nvPr/>
        </p:nvSpPr>
        <p:spPr>
          <a:xfrm>
            <a:off x="5724128" y="2708920"/>
            <a:ext cx="504056" cy="2520280"/>
          </a:xfrm>
          <a:prstGeom prst="righ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6012160" y="2746663"/>
            <a:ext cx="288031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rgbClr val="0070C0"/>
                </a:solidFill>
              </a:rPr>
              <a:t>Identifica a subsequência máxima começando do lado esquerdo (passando por A[q]) e terminando do lado direito (passando por A[q+1])</a:t>
            </a:r>
            <a:endParaRPr lang="pt-BR" sz="2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do tempo de execução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340768"/>
            <a:ext cx="7978080" cy="5400600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Semelhante ao </a:t>
            </a:r>
            <a:r>
              <a:rPr lang="pt-BR" dirty="0" err="1" smtClean="0"/>
              <a:t>merge_sort</a:t>
            </a:r>
            <a:r>
              <a:rPr lang="pt-BR" dirty="0" smtClean="0"/>
              <a:t>, nosso problema é dividido pela metade, até chegarmos nas soluções triviais.</a:t>
            </a:r>
          </a:p>
          <a:p>
            <a:endParaRPr lang="pt-BR" dirty="0" smtClean="0"/>
          </a:p>
          <a:p>
            <a:r>
              <a:rPr lang="pt-BR" dirty="0" smtClean="0"/>
              <a:t>Assim atingimos solução trivial em O(</a:t>
            </a:r>
            <a:r>
              <a:rPr lang="pt-BR" dirty="0" err="1" smtClean="0"/>
              <a:t>lg</a:t>
            </a:r>
            <a:r>
              <a:rPr lang="pt-BR" dirty="0" smtClean="0"/>
              <a:t> n) passos.</a:t>
            </a:r>
          </a:p>
          <a:p>
            <a:endParaRPr lang="pt-BR" dirty="0" smtClean="0"/>
          </a:p>
          <a:p>
            <a:r>
              <a:rPr lang="pt-BR" dirty="0" smtClean="0"/>
              <a:t>Na etapa de conquista, temos que considerar que varremos todo o vetor em busca do segmento intermediário.</a:t>
            </a:r>
          </a:p>
          <a:p>
            <a:endParaRPr lang="pt-BR" dirty="0" smtClean="0"/>
          </a:p>
          <a:p>
            <a:r>
              <a:rPr lang="pt-BR" dirty="0" smtClean="0"/>
              <a:t>Ou seja, para cada nível da árvore, gastamos tempo O(n) para definir a subsequência máxima até o momento.</a:t>
            </a:r>
          </a:p>
          <a:p>
            <a:endParaRPr lang="pt-BR" dirty="0" smtClean="0"/>
          </a:p>
          <a:p>
            <a:r>
              <a:rPr lang="pt-BR" dirty="0" smtClean="0"/>
              <a:t>Assim, a eficiência desse algoritmo é O(n </a:t>
            </a:r>
            <a:r>
              <a:rPr lang="pt-BR" dirty="0" err="1" smtClean="0"/>
              <a:t>lg</a:t>
            </a:r>
            <a:r>
              <a:rPr lang="pt-BR" dirty="0" smtClean="0"/>
              <a:t> n).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Perguntas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340768"/>
            <a:ext cx="7978080" cy="5400600"/>
          </a:xfrm>
        </p:spPr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dirty="0" smtClean="0"/>
              <a:t>Se o vetor não tem elementos negativos, como se comporta a subsequência de soma máxima?</a:t>
            </a:r>
          </a:p>
          <a:p>
            <a:pPr lvl="1"/>
            <a:r>
              <a:rPr lang="pt-BR" dirty="0" smtClean="0"/>
              <a:t>Será a soma de todos os elementos.</a:t>
            </a:r>
          </a:p>
          <a:p>
            <a:endParaRPr lang="pt-BR" dirty="0" smtClean="0"/>
          </a:p>
          <a:p>
            <a:r>
              <a:rPr lang="pt-BR" dirty="0" smtClean="0"/>
              <a:t>E se todos os elementos são negativos ?</a:t>
            </a:r>
          </a:p>
          <a:p>
            <a:pPr lvl="1"/>
            <a:r>
              <a:rPr lang="pt-BR" dirty="0" smtClean="0"/>
              <a:t>A subsequência de soma máxima é o  valor de seu elemento menos negativo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Atividade 18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Utilizando a técnica de divisão e conquista elabore um algoritmos que verifica se um número inteiro x está em um vetor ordenado v[ ], conhecido como </a:t>
            </a:r>
            <a:r>
              <a:rPr lang="pt-BR" smtClean="0"/>
              <a:t>busca binária.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2949</TotalTime>
  <Words>1078</Words>
  <Application>Microsoft Office PowerPoint</Application>
  <PresentationFormat>Apresentação na tela (4:3)</PresentationFormat>
  <Paragraphs>390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Franklin Gothic Book</vt:lpstr>
      <vt:lpstr>Perpetua</vt:lpstr>
      <vt:lpstr>Wingdings 2</vt:lpstr>
      <vt:lpstr>Patrimônio Líquido</vt:lpstr>
      <vt:lpstr>Análise de Algoritmos IAL 501</vt:lpstr>
      <vt:lpstr>Problema do segmento de soma máxima</vt:lpstr>
      <vt:lpstr>Foco no que é relevante</vt:lpstr>
      <vt:lpstr>Solução de Força Bruta</vt:lpstr>
      <vt:lpstr>Algoritmo soma_max</vt:lpstr>
      <vt:lpstr>Simulação</vt:lpstr>
      <vt:lpstr>Simulação</vt:lpstr>
      <vt:lpstr>Simulação</vt:lpstr>
      <vt:lpstr>Simulação</vt:lpstr>
      <vt:lpstr>Simulação – Fase de divisão</vt:lpstr>
      <vt:lpstr>Simulação – Fase de Conquista</vt:lpstr>
      <vt:lpstr>Solução</vt:lpstr>
      <vt:lpstr>Apresentação do PowerPoint</vt:lpstr>
      <vt:lpstr>Análise do tempo de execução</vt:lpstr>
      <vt:lpstr>Perguntas</vt:lpstr>
      <vt:lpstr>Atividade 18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216</cp:revision>
  <dcterms:created xsi:type="dcterms:W3CDTF">2011-02-25T18:12:46Z</dcterms:created>
  <dcterms:modified xsi:type="dcterms:W3CDTF">2016-04-09T00:10:24Z</dcterms:modified>
</cp:coreProperties>
</file>