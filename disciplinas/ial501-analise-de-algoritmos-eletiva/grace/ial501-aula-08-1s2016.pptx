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20"/>
  </p:notesMasterIdLst>
  <p:sldIdLst>
    <p:sldId id="256" r:id="rId2"/>
    <p:sldId id="410" r:id="rId3"/>
    <p:sldId id="413" r:id="rId4"/>
    <p:sldId id="416" r:id="rId5"/>
    <p:sldId id="417" r:id="rId6"/>
    <p:sldId id="418" r:id="rId7"/>
    <p:sldId id="419" r:id="rId8"/>
    <p:sldId id="420" r:id="rId9"/>
    <p:sldId id="411" r:id="rId10"/>
    <p:sldId id="421" r:id="rId11"/>
    <p:sldId id="412" r:id="rId12"/>
    <p:sldId id="423" r:id="rId13"/>
    <p:sldId id="424" r:id="rId14"/>
    <p:sldId id="425" r:id="rId15"/>
    <p:sldId id="426" r:id="rId16"/>
    <p:sldId id="427" r:id="rId17"/>
    <p:sldId id="428" r:id="rId18"/>
    <p:sldId id="429" r:id="rId1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ECFF"/>
    <a:srgbClr val="99CCFF"/>
    <a:srgbClr val="F2F2F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29/04/2016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05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08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18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Utilizando a técnica de divisão e conquista elabore um algoritmos que verifica se um número inteiro x está em um vetor </a:t>
            </a:r>
            <a:r>
              <a:rPr lang="pt-BR" b="1" dirty="0" smtClean="0"/>
              <a:t>ordenado</a:t>
            </a:r>
            <a:r>
              <a:rPr lang="pt-BR" dirty="0" smtClean="0"/>
              <a:t> v[ ], conhecido como busca binária.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Atividade 19. Faça a análise da eficiência do seu algoritmo.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755576" y="1447800"/>
            <a:ext cx="8136904" cy="5077544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Dado o seguinte vetor </a:t>
            </a:r>
            <a:r>
              <a:rPr lang="pt-BR" b="1" dirty="0" smtClean="0"/>
              <a:t>ordenado</a:t>
            </a:r>
            <a:r>
              <a:rPr lang="pt-BR" dirty="0" smtClean="0"/>
              <a:t>:</a:t>
            </a:r>
          </a:p>
          <a:p>
            <a:pPr>
              <a:buNone/>
            </a:pPr>
            <a:r>
              <a:rPr lang="pt-BR" dirty="0" smtClean="0"/>
              <a:t>	v = {15, 27, 33, 46, 51, 63, 71, 82, 90};</a:t>
            </a:r>
          </a:p>
          <a:p>
            <a:pPr>
              <a:buNone/>
            </a:pPr>
            <a:r>
              <a:rPr lang="pt-BR" dirty="0" smtClean="0"/>
              <a:t>Como encontrar os seguintes valores:</a:t>
            </a:r>
          </a:p>
          <a:p>
            <a:pPr>
              <a:buNone/>
            </a:pPr>
            <a:r>
              <a:rPr lang="pt-BR" dirty="0" smtClean="0"/>
              <a:t>a) x = 51</a:t>
            </a:r>
          </a:p>
          <a:p>
            <a:pPr marL="514350" indent="-514350">
              <a:buNone/>
            </a:pPr>
            <a:r>
              <a:rPr lang="pt-BR" dirty="0" smtClean="0"/>
              <a:t>	meio = (</a:t>
            </a:r>
            <a:r>
              <a:rPr lang="pt-BR" dirty="0" err="1" smtClean="0"/>
              <a:t>i</a:t>
            </a:r>
            <a:r>
              <a:rPr lang="pt-BR" baseline="-25000" dirty="0" err="1" smtClean="0"/>
              <a:t>p</a:t>
            </a:r>
            <a:r>
              <a:rPr lang="pt-BR" dirty="0" smtClean="0"/>
              <a:t> + </a:t>
            </a:r>
            <a:r>
              <a:rPr lang="pt-BR" dirty="0" err="1" smtClean="0"/>
              <a:t>i</a:t>
            </a:r>
            <a:r>
              <a:rPr lang="pt-BR" baseline="-25000" dirty="0" err="1" smtClean="0"/>
              <a:t>u</a:t>
            </a:r>
            <a:r>
              <a:rPr lang="pt-BR" dirty="0" smtClean="0"/>
              <a:t>)/2 = (0 + 8 )/2 = 4</a:t>
            </a:r>
          </a:p>
          <a:p>
            <a:pPr marL="514350" indent="-514350">
              <a:buNone/>
            </a:pPr>
            <a:r>
              <a:rPr lang="pt-BR" dirty="0" smtClean="0"/>
              <a:t>	x == v[meio]?  </a:t>
            </a:r>
            <a:endParaRPr lang="pt-BR" dirty="0" smtClean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51 == </a:t>
            </a:r>
            <a:r>
              <a:rPr lang="pt-BR" dirty="0" smtClean="0"/>
              <a:t>v[4]? (V)	</a:t>
            </a:r>
            <a:r>
              <a:rPr lang="pt-BR" dirty="0" smtClean="0">
                <a:sym typeface="Wingdings" pitchFamily="2" charset="2"/>
              </a:rPr>
              <a:t> 	</a:t>
            </a:r>
            <a:r>
              <a:rPr lang="pt-BR" dirty="0" err="1" smtClean="0">
                <a:sym typeface="Wingdings" pitchFamily="2" charset="2"/>
              </a:rPr>
              <a:t>return</a:t>
            </a:r>
            <a:r>
              <a:rPr lang="pt-BR" dirty="0" smtClean="0">
                <a:sym typeface="Wingdings" pitchFamily="2" charset="2"/>
              </a:rPr>
              <a:t> 1</a:t>
            </a:r>
            <a:endParaRPr lang="pt-BR" dirty="0" smtClean="0"/>
          </a:p>
          <a:p>
            <a:pPr marL="514350" indent="-514350">
              <a:buNone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b) x = 15	</a:t>
            </a:r>
            <a:endParaRPr lang="pt-BR" dirty="0" smtClean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15 == v[4]? (F)	 	x &lt; v[4]? (V)	 busca a esquerda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</a:t>
            </a:r>
            <a:r>
              <a:rPr lang="pt-BR" dirty="0" err="1" smtClean="0">
                <a:sym typeface="Wingdings" pitchFamily="2" charset="2"/>
              </a:rPr>
              <a:t>i</a:t>
            </a:r>
            <a:r>
              <a:rPr lang="pt-BR" baseline="-25000" dirty="0" err="1" smtClean="0">
                <a:sym typeface="Wingdings" pitchFamily="2" charset="2"/>
              </a:rPr>
              <a:t>u</a:t>
            </a:r>
            <a:r>
              <a:rPr lang="pt-BR" dirty="0" smtClean="0">
                <a:sym typeface="Wingdings" pitchFamily="2" charset="2"/>
              </a:rPr>
              <a:t> = meio -1		</a:t>
            </a:r>
            <a:r>
              <a:rPr lang="pt-BR" dirty="0" err="1" smtClean="0">
                <a:sym typeface="Wingdings" pitchFamily="2" charset="2"/>
              </a:rPr>
              <a:t>return</a:t>
            </a:r>
            <a:r>
              <a:rPr lang="pt-BR" dirty="0" smtClean="0">
                <a:sym typeface="Wingdings" pitchFamily="2" charset="2"/>
              </a:rPr>
              <a:t> Busca (x, v, </a:t>
            </a:r>
            <a:r>
              <a:rPr lang="pt-BR" dirty="0" err="1" smtClean="0">
                <a:sym typeface="Wingdings" pitchFamily="2" charset="2"/>
              </a:rPr>
              <a:t>i</a:t>
            </a:r>
            <a:r>
              <a:rPr lang="pt-BR" baseline="-25000" dirty="0" err="1" smtClean="0">
                <a:sym typeface="Wingdings" pitchFamily="2" charset="2"/>
              </a:rPr>
              <a:t>p</a:t>
            </a:r>
            <a:r>
              <a:rPr lang="pt-BR" dirty="0" smtClean="0">
                <a:sym typeface="Wingdings" pitchFamily="2" charset="2"/>
              </a:rPr>
              <a:t>, </a:t>
            </a:r>
            <a:r>
              <a:rPr lang="pt-BR" dirty="0" err="1" smtClean="0">
                <a:sym typeface="Wingdings" pitchFamily="2" charset="2"/>
              </a:rPr>
              <a:t>i</a:t>
            </a:r>
            <a:r>
              <a:rPr lang="pt-BR" baseline="-25000" dirty="0" err="1" smtClean="0">
                <a:sym typeface="Wingdings" pitchFamily="2" charset="2"/>
              </a:rPr>
              <a:t>u</a:t>
            </a:r>
            <a:r>
              <a:rPr lang="pt-BR" dirty="0" smtClean="0">
                <a:sym typeface="Wingdings" pitchFamily="2" charset="2"/>
              </a:rPr>
              <a:t>)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755576" y="1447800"/>
            <a:ext cx="7931224" cy="5077544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Dado o seguinte vetor ordenado:</a:t>
            </a:r>
          </a:p>
          <a:p>
            <a:pPr>
              <a:buNone/>
            </a:pPr>
            <a:r>
              <a:rPr lang="pt-BR" dirty="0" smtClean="0"/>
              <a:t>	v = {15, 27, 33, 46, 51, 63, 71, 82, 90};</a:t>
            </a:r>
          </a:p>
          <a:p>
            <a:pPr>
              <a:buNone/>
            </a:pPr>
            <a:r>
              <a:rPr lang="pt-BR" dirty="0" smtClean="0"/>
              <a:t>Como encontrar os seguintes valores:</a:t>
            </a:r>
          </a:p>
          <a:p>
            <a:pPr marL="514350" indent="-514350">
              <a:buNone/>
            </a:pPr>
            <a:r>
              <a:rPr lang="pt-BR" dirty="0" smtClean="0"/>
              <a:t>c) x = 63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63 == v[4]? (F)	 	x &lt; v[4]? (F)	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x &gt; v[4] 		 	busca a direita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</a:t>
            </a:r>
            <a:r>
              <a:rPr lang="pt-BR" dirty="0" err="1" smtClean="0">
                <a:sym typeface="Wingdings" pitchFamily="2" charset="2"/>
              </a:rPr>
              <a:t>i</a:t>
            </a:r>
            <a:r>
              <a:rPr lang="pt-BR" baseline="-25000" dirty="0" err="1" smtClean="0">
                <a:sym typeface="Wingdings" pitchFamily="2" charset="2"/>
              </a:rPr>
              <a:t>p</a:t>
            </a:r>
            <a:r>
              <a:rPr lang="pt-BR" dirty="0" smtClean="0">
                <a:sym typeface="Wingdings" pitchFamily="2" charset="2"/>
              </a:rPr>
              <a:t> = meio +1		</a:t>
            </a:r>
            <a:r>
              <a:rPr lang="pt-BR" dirty="0" err="1" smtClean="0">
                <a:sym typeface="Wingdings" pitchFamily="2" charset="2"/>
              </a:rPr>
              <a:t>return</a:t>
            </a:r>
            <a:r>
              <a:rPr lang="pt-BR" dirty="0" smtClean="0">
                <a:sym typeface="Wingdings" pitchFamily="2" charset="2"/>
              </a:rPr>
              <a:t> Busca (x, v, </a:t>
            </a:r>
            <a:r>
              <a:rPr lang="pt-BR" dirty="0" err="1" smtClean="0">
                <a:sym typeface="Wingdings" pitchFamily="2" charset="2"/>
              </a:rPr>
              <a:t>i</a:t>
            </a:r>
            <a:r>
              <a:rPr lang="pt-BR" baseline="-25000" dirty="0" err="1" smtClean="0">
                <a:sym typeface="Wingdings" pitchFamily="2" charset="2"/>
              </a:rPr>
              <a:t>p</a:t>
            </a:r>
            <a:r>
              <a:rPr lang="pt-BR" dirty="0" smtClean="0">
                <a:sym typeface="Wingdings" pitchFamily="2" charset="2"/>
              </a:rPr>
              <a:t>, </a:t>
            </a:r>
            <a:r>
              <a:rPr lang="pt-BR" dirty="0" err="1" smtClean="0">
                <a:sym typeface="Wingdings" pitchFamily="2" charset="2"/>
              </a:rPr>
              <a:t>i</a:t>
            </a:r>
            <a:r>
              <a:rPr lang="pt-BR" baseline="-25000" dirty="0" err="1" smtClean="0">
                <a:sym typeface="Wingdings" pitchFamily="2" charset="2"/>
              </a:rPr>
              <a:t>u</a:t>
            </a:r>
            <a:r>
              <a:rPr lang="pt-BR" dirty="0" smtClean="0">
                <a:sym typeface="Wingdings" pitchFamily="2" charset="2"/>
              </a:rPr>
              <a:t>)</a:t>
            </a:r>
            <a:endParaRPr lang="pt-BR" dirty="0" smtClean="0"/>
          </a:p>
          <a:p>
            <a:pPr marL="514350" indent="-514350">
              <a:buFont typeface="+mj-lt"/>
              <a:buAutoNum type="alphaLcParenR"/>
            </a:pPr>
            <a:endParaRPr lang="pt-BR" dirty="0" smtClean="0"/>
          </a:p>
          <a:p>
            <a:pPr marL="514350" indent="-514350">
              <a:buNone/>
            </a:pPr>
            <a:r>
              <a:rPr lang="pt-BR" dirty="0" smtClean="0"/>
              <a:t>d) x = 81 ???</a:t>
            </a:r>
          </a:p>
          <a:p>
            <a:pPr marL="514350" indent="-514350">
              <a:buNone/>
            </a:pPr>
            <a:r>
              <a:rPr lang="pt-BR" dirty="0" smtClean="0"/>
              <a:t>	meio = 4 </a:t>
            </a:r>
            <a:r>
              <a:rPr lang="pt-BR" dirty="0" smtClean="0">
                <a:sym typeface="Wingdings" pitchFamily="2" charset="2"/>
              </a:rPr>
              <a:t> v[4] = 51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meio = (5 +8)/2 = 6  v[6]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755576" y="1447800"/>
            <a:ext cx="7931224" cy="5077544"/>
          </a:xfrm>
        </p:spPr>
        <p:txBody>
          <a:bodyPr>
            <a:normAutofit/>
          </a:bodyPr>
          <a:lstStyle/>
          <a:p>
            <a:r>
              <a:rPr lang="pt-BR" dirty="0" smtClean="0"/>
              <a:t>Dado o seguinte vetor ordenado:</a:t>
            </a:r>
          </a:p>
          <a:p>
            <a:pPr>
              <a:buNone/>
            </a:pPr>
            <a:r>
              <a:rPr lang="pt-BR" dirty="0" smtClean="0"/>
              <a:t>	v = {15, 27, 33, 46, 51, 63, 71, 82, 90};</a:t>
            </a:r>
          </a:p>
          <a:p>
            <a:pPr>
              <a:buNone/>
            </a:pPr>
            <a:r>
              <a:rPr lang="pt-BR" dirty="0" smtClean="0"/>
              <a:t>Como encontrar os seguintes valores:</a:t>
            </a:r>
          </a:p>
          <a:p>
            <a:pPr marL="514350" indent="-514350">
              <a:buNone/>
            </a:pPr>
            <a:r>
              <a:rPr lang="pt-BR" dirty="0" smtClean="0"/>
              <a:t>d) x = 81 ???</a:t>
            </a:r>
          </a:p>
          <a:p>
            <a:pPr marL="514350" indent="-514350">
              <a:buNone/>
            </a:pPr>
            <a:r>
              <a:rPr lang="pt-BR" dirty="0" smtClean="0"/>
              <a:t>	meio = 4 </a:t>
            </a:r>
            <a:r>
              <a:rPr lang="pt-BR" dirty="0" smtClean="0">
                <a:sym typeface="Wingdings" pitchFamily="2" charset="2"/>
              </a:rPr>
              <a:t> v[4] = 51  busca a direita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meio = (5 + 8)/2 = 6  v[6] = 71  busca a direita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meio = (7 + 8)/2 = 7  v[7] = 82   buscar a esquerda?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</a:t>
            </a:r>
            <a:r>
              <a:rPr lang="pt-BR" dirty="0" err="1" smtClean="0">
                <a:sym typeface="Wingdings" pitchFamily="2" charset="2"/>
              </a:rPr>
              <a:t>i</a:t>
            </a:r>
            <a:r>
              <a:rPr lang="pt-BR" baseline="-25000" dirty="0" err="1" smtClean="0">
                <a:sym typeface="Wingdings" pitchFamily="2" charset="2"/>
              </a:rPr>
              <a:t>u</a:t>
            </a:r>
            <a:r>
              <a:rPr lang="pt-BR" dirty="0" smtClean="0">
                <a:sym typeface="Wingdings" pitchFamily="2" charset="2"/>
              </a:rPr>
              <a:t> = meio – 1 = 6	 Existe v[7..6] ???	</a:t>
            </a:r>
          </a:p>
          <a:p>
            <a:pPr marL="514350" indent="-514350">
              <a:buNone/>
            </a:pPr>
            <a:r>
              <a:rPr lang="pt-BR" dirty="0" smtClean="0">
                <a:sym typeface="Wingdings" pitchFamily="2" charset="2"/>
              </a:rPr>
              <a:t>	logo: </a:t>
            </a:r>
            <a:r>
              <a:rPr lang="pt-BR" dirty="0" err="1" smtClean="0">
                <a:sym typeface="Wingdings" pitchFamily="2" charset="2"/>
              </a:rPr>
              <a:t>return</a:t>
            </a:r>
            <a:r>
              <a:rPr lang="pt-BR" dirty="0" smtClean="0">
                <a:sym typeface="Wingdings" pitchFamily="2" charset="2"/>
              </a:rPr>
              <a:t> </a:t>
            </a:r>
            <a:r>
              <a:rPr lang="pt-BR" dirty="0">
                <a:sym typeface="Wingdings" pitchFamily="2" charset="2"/>
              </a:rPr>
              <a:t>0</a:t>
            </a:r>
            <a:endParaRPr lang="pt-BR" dirty="0" smtClean="0">
              <a:sym typeface="Wingdings" pitchFamily="2" charset="2"/>
            </a:endParaRP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recursiva (</a:t>
            </a:r>
            <a:r>
              <a:rPr lang="pt-BR" dirty="0" err="1" smtClean="0"/>
              <a:t>BuscaBin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Base (trivial): </a:t>
            </a:r>
          </a:p>
          <a:p>
            <a:pPr lvl="1"/>
            <a:r>
              <a:rPr lang="pt-BR" dirty="0" smtClean="0"/>
              <a:t>se (</a:t>
            </a:r>
            <a:r>
              <a:rPr lang="pt-BR" dirty="0" err="1" smtClean="0"/>
              <a:t>ip</a:t>
            </a:r>
            <a:r>
              <a:rPr lang="pt-BR" dirty="0" smtClean="0"/>
              <a:t> &gt; </a:t>
            </a:r>
            <a:r>
              <a:rPr lang="pt-BR" dirty="0" err="1" smtClean="0"/>
              <a:t>iu</a:t>
            </a:r>
            <a:r>
              <a:rPr lang="pt-BR" dirty="0" smtClean="0"/>
              <a:t>) 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err="1" smtClean="0"/>
              <a:t>return</a:t>
            </a:r>
            <a:r>
              <a:rPr lang="pt-BR" dirty="0" smtClean="0"/>
              <a:t> 0</a:t>
            </a:r>
          </a:p>
          <a:p>
            <a:pPr lvl="1"/>
            <a:r>
              <a:rPr lang="pt-BR" dirty="0" smtClean="0"/>
              <a:t>Sendo meio = (</a:t>
            </a:r>
            <a:r>
              <a:rPr lang="pt-BR" dirty="0" err="1" smtClean="0"/>
              <a:t>ip</a:t>
            </a:r>
            <a:r>
              <a:rPr lang="pt-BR" dirty="0" smtClean="0"/>
              <a:t>+</a:t>
            </a:r>
            <a:r>
              <a:rPr lang="pt-BR" dirty="0" err="1" smtClean="0"/>
              <a:t>iu</a:t>
            </a:r>
            <a:r>
              <a:rPr lang="pt-BR" dirty="0" smtClean="0"/>
              <a:t>)/2, se (v[meio] == x) 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err="1" smtClean="0"/>
              <a:t>return</a:t>
            </a:r>
            <a:r>
              <a:rPr lang="pt-BR" dirty="0" smtClean="0"/>
              <a:t> 1</a:t>
            </a:r>
          </a:p>
          <a:p>
            <a:endParaRPr lang="pt-BR" dirty="0" smtClean="0"/>
          </a:p>
          <a:p>
            <a:r>
              <a:rPr lang="pt-BR" dirty="0" smtClean="0"/>
              <a:t>Recursão</a:t>
            </a:r>
          </a:p>
          <a:p>
            <a:pPr lvl="1"/>
            <a:r>
              <a:rPr lang="pt-BR" dirty="0" smtClean="0"/>
              <a:t>Se x &lt; v[meio]  </a:t>
            </a:r>
            <a:r>
              <a:rPr lang="pt-BR" dirty="0" smtClean="0">
                <a:sym typeface="Wingdings" pitchFamily="2" charset="2"/>
              </a:rPr>
              <a:t> busca a esquerda</a:t>
            </a:r>
            <a:endParaRPr lang="pt-BR" dirty="0" smtClean="0"/>
          </a:p>
          <a:p>
            <a:pPr lvl="1">
              <a:buNone/>
            </a:pPr>
            <a:r>
              <a:rPr lang="pt-BR" dirty="0" smtClean="0"/>
              <a:t>		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 err="1" smtClean="0"/>
              <a:t>BuscaBin</a:t>
            </a:r>
            <a:r>
              <a:rPr lang="pt-BR" dirty="0" smtClean="0"/>
              <a:t>(x, v[ ], </a:t>
            </a:r>
            <a:r>
              <a:rPr lang="pt-BR" dirty="0" err="1" smtClean="0"/>
              <a:t>i</a:t>
            </a:r>
            <a:r>
              <a:rPr lang="pt-BR" baseline="-25000" dirty="0" err="1" smtClean="0"/>
              <a:t>p</a:t>
            </a:r>
            <a:r>
              <a:rPr lang="pt-BR" dirty="0" smtClean="0"/>
              <a:t>, meio-1) </a:t>
            </a:r>
          </a:p>
          <a:p>
            <a:pPr lvl="1">
              <a:buNone/>
            </a:pPr>
            <a:endParaRPr lang="pt-BR" dirty="0" smtClean="0"/>
          </a:p>
          <a:p>
            <a:pPr lvl="1"/>
            <a:r>
              <a:rPr lang="pt-BR" dirty="0" smtClean="0"/>
              <a:t>Se x &gt; v[meio] </a:t>
            </a:r>
            <a:r>
              <a:rPr lang="pt-BR" dirty="0" smtClean="0">
                <a:sym typeface="Wingdings" pitchFamily="2" charset="2"/>
              </a:rPr>
              <a:t> busca a direita</a:t>
            </a:r>
          </a:p>
          <a:p>
            <a:pPr lvl="1">
              <a:buNone/>
            </a:pPr>
            <a:r>
              <a:rPr lang="pt-BR" dirty="0" smtClean="0"/>
              <a:t>		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 err="1" smtClean="0"/>
              <a:t>BuscaBin</a:t>
            </a:r>
            <a:r>
              <a:rPr lang="pt-BR" dirty="0" smtClean="0"/>
              <a:t>(x, v[], meio +1 , </a:t>
            </a:r>
            <a:r>
              <a:rPr lang="pt-BR" dirty="0" err="1" smtClean="0"/>
              <a:t>i</a:t>
            </a:r>
            <a:r>
              <a:rPr lang="pt-BR" baseline="-25000" dirty="0" err="1" smtClean="0"/>
              <a:t>u</a:t>
            </a:r>
            <a:r>
              <a:rPr lang="pt-BR" dirty="0" smtClean="0"/>
              <a:t>) 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recursiva (</a:t>
            </a:r>
            <a:r>
              <a:rPr lang="pt-BR" dirty="0" err="1" smtClean="0"/>
              <a:t>BuscaBin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Base (trivial): </a:t>
            </a:r>
          </a:p>
          <a:p>
            <a:pPr lvl="1"/>
            <a:r>
              <a:rPr lang="pt-BR" dirty="0" smtClean="0"/>
              <a:t>se (</a:t>
            </a:r>
            <a:r>
              <a:rPr lang="pt-BR" dirty="0" err="1" smtClean="0"/>
              <a:t>ip</a:t>
            </a:r>
            <a:r>
              <a:rPr lang="pt-BR" dirty="0" smtClean="0"/>
              <a:t> &gt; </a:t>
            </a:r>
            <a:r>
              <a:rPr lang="pt-BR" dirty="0" err="1" smtClean="0"/>
              <a:t>iu</a:t>
            </a:r>
            <a:r>
              <a:rPr lang="pt-BR" dirty="0" smtClean="0"/>
              <a:t>) 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err="1" smtClean="0"/>
              <a:t>return</a:t>
            </a:r>
            <a:r>
              <a:rPr lang="pt-BR" dirty="0" smtClean="0"/>
              <a:t> 0</a:t>
            </a:r>
          </a:p>
          <a:p>
            <a:pPr lvl="1"/>
            <a:r>
              <a:rPr lang="pt-BR" dirty="0" smtClean="0"/>
              <a:t>Sendo meio = (</a:t>
            </a:r>
            <a:r>
              <a:rPr lang="pt-BR" dirty="0" err="1" smtClean="0"/>
              <a:t>ip</a:t>
            </a:r>
            <a:r>
              <a:rPr lang="pt-BR" dirty="0" smtClean="0"/>
              <a:t>+</a:t>
            </a:r>
            <a:r>
              <a:rPr lang="pt-BR" dirty="0" err="1" smtClean="0"/>
              <a:t>iu</a:t>
            </a:r>
            <a:r>
              <a:rPr lang="pt-BR" dirty="0" smtClean="0"/>
              <a:t>)/2, se (v[meio] == x) 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err="1" smtClean="0"/>
              <a:t>return</a:t>
            </a:r>
            <a:r>
              <a:rPr lang="pt-BR" dirty="0" smtClean="0"/>
              <a:t> 1</a:t>
            </a:r>
          </a:p>
          <a:p>
            <a:endParaRPr lang="pt-BR" dirty="0" smtClean="0"/>
          </a:p>
          <a:p>
            <a:r>
              <a:rPr lang="pt-BR" dirty="0" smtClean="0"/>
              <a:t>Recursão (Solução Geral)</a:t>
            </a:r>
          </a:p>
          <a:p>
            <a:pPr lvl="1"/>
            <a:r>
              <a:rPr lang="pt-BR" dirty="0" smtClean="0"/>
              <a:t>Se x &lt; v[meio]  </a:t>
            </a:r>
            <a:r>
              <a:rPr lang="pt-BR" dirty="0" smtClean="0">
                <a:sym typeface="Wingdings" pitchFamily="2" charset="2"/>
              </a:rPr>
              <a:t> busca a esquerda</a:t>
            </a:r>
            <a:endParaRPr lang="pt-BR" dirty="0" smtClean="0"/>
          </a:p>
          <a:p>
            <a:pPr lvl="1">
              <a:buNone/>
            </a:pPr>
            <a:r>
              <a:rPr lang="pt-BR" dirty="0" smtClean="0"/>
              <a:t>		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 err="1" smtClean="0"/>
              <a:t>BuscaBin</a:t>
            </a:r>
            <a:r>
              <a:rPr lang="pt-BR" dirty="0" smtClean="0"/>
              <a:t>(x, v[ ], </a:t>
            </a:r>
            <a:r>
              <a:rPr lang="pt-BR" dirty="0" err="1" smtClean="0"/>
              <a:t>i</a:t>
            </a:r>
            <a:r>
              <a:rPr lang="pt-BR" baseline="-25000" dirty="0" err="1" smtClean="0"/>
              <a:t>p</a:t>
            </a:r>
            <a:r>
              <a:rPr lang="pt-BR" dirty="0" smtClean="0"/>
              <a:t>, meio-1) </a:t>
            </a:r>
          </a:p>
          <a:p>
            <a:pPr lvl="1">
              <a:buNone/>
            </a:pPr>
            <a:endParaRPr lang="pt-BR" dirty="0" smtClean="0"/>
          </a:p>
          <a:p>
            <a:pPr lvl="1"/>
            <a:r>
              <a:rPr lang="pt-BR" dirty="0" smtClean="0"/>
              <a:t>Se x &gt; v[meio] </a:t>
            </a:r>
            <a:r>
              <a:rPr lang="pt-BR" dirty="0" smtClean="0">
                <a:sym typeface="Wingdings" pitchFamily="2" charset="2"/>
              </a:rPr>
              <a:t> busca a direita</a:t>
            </a:r>
          </a:p>
          <a:p>
            <a:pPr lvl="1">
              <a:buNone/>
            </a:pPr>
            <a:r>
              <a:rPr lang="pt-BR" dirty="0" smtClean="0"/>
              <a:t>		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 err="1" smtClean="0"/>
              <a:t>BuscaBin</a:t>
            </a:r>
            <a:r>
              <a:rPr lang="pt-BR" dirty="0" smtClean="0"/>
              <a:t>(x, v[], meio +1 , </a:t>
            </a:r>
            <a:r>
              <a:rPr lang="pt-BR" dirty="0" err="1" smtClean="0"/>
              <a:t>i</a:t>
            </a:r>
            <a:r>
              <a:rPr lang="pt-BR" baseline="-25000" dirty="0" err="1" smtClean="0"/>
              <a:t>u</a:t>
            </a:r>
            <a:r>
              <a:rPr lang="pt-BR" dirty="0" smtClean="0"/>
              <a:t>) 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sp>
        <p:nvSpPr>
          <p:cNvPr id="6" name="CaixaDeTexto 5"/>
          <p:cNvSpPr txBox="1"/>
          <p:nvPr/>
        </p:nvSpPr>
        <p:spPr>
          <a:xfrm>
            <a:off x="1907704" y="5661248"/>
            <a:ext cx="6055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  <a:latin typeface="+mn-lt"/>
                <a:cs typeface="+mn-cs"/>
              </a:rPr>
              <a:t>Qual a eficiência desse algoritmo?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604" y="1768988"/>
            <a:ext cx="7580812" cy="3820252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20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Altere seu algoritmo de modo a devolver o índice da posição em que o elemento se encontra no vetor. Caso x não esteja no vetor, devolver -1.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700530"/>
            <a:ext cx="7704856" cy="3896822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21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539552" y="1340768"/>
            <a:ext cx="8147248" cy="4572000"/>
          </a:xfrm>
        </p:spPr>
        <p:txBody>
          <a:bodyPr>
            <a:normAutofit/>
          </a:bodyPr>
          <a:lstStyle/>
          <a:p>
            <a:r>
              <a:rPr lang="pt-BR" dirty="0" smtClean="0"/>
              <a:t>É possível escrever uma versão iterativa (não recursiva) para Busca binária de maneira a manter a mesma eficiência da solução recursiva? Codifique sua solução e faça a análise.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1537" y="2623429"/>
            <a:ext cx="5006727" cy="3901915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22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21560"/>
          </a:xfrm>
        </p:spPr>
        <p:txBody>
          <a:bodyPr>
            <a:normAutofit/>
          </a:bodyPr>
          <a:lstStyle/>
          <a:p>
            <a:r>
              <a:rPr lang="pt-BR" dirty="0" smtClean="0"/>
              <a:t>A busca linear verifica se um item x está em um vetor v[ ] examinando cada posição do vetor desde v[0] até v[n-1], ou até encontrar x. 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Qual a eficiência desse algoritmo? </a:t>
            </a:r>
          </a:p>
          <a:p>
            <a:r>
              <a:rPr lang="pt-BR" dirty="0" smtClean="0"/>
              <a:t>Em que situação essa busca é indicada ao invés da Busca Binária?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708920"/>
            <a:ext cx="6336704" cy="2308215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Lista de Exercícios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83568" y="1447800"/>
            <a:ext cx="8003232" cy="4933528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10. Codifique uma </a:t>
            </a:r>
            <a:r>
              <a:rPr lang="pt-BR" b="1" dirty="0" smtClean="0"/>
              <a:t>solução</a:t>
            </a:r>
            <a:r>
              <a:rPr lang="pt-BR" dirty="0" smtClean="0"/>
              <a:t> para busca linear, enuncie os </a:t>
            </a:r>
            <a:r>
              <a:rPr lang="pt-BR" b="1" dirty="0" smtClean="0"/>
              <a:t>invariantes de laço</a:t>
            </a:r>
            <a:r>
              <a:rPr lang="pt-BR" dirty="0" smtClean="0"/>
              <a:t> e prove que sua solução está </a:t>
            </a:r>
            <a:r>
              <a:rPr lang="pt-BR" b="1" dirty="0" smtClean="0"/>
              <a:t>correta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O que vale antes de cada laço?</a:t>
            </a:r>
          </a:p>
          <a:p>
            <a:pPr>
              <a:buNone/>
            </a:pPr>
            <a:r>
              <a:rPr lang="pt-BR" i="1" dirty="0" smtClean="0"/>
              <a:t>	a) O valor de </a:t>
            </a:r>
            <a:r>
              <a:rPr lang="pt-BR" b="1" i="1" dirty="0" smtClean="0"/>
              <a:t>i</a:t>
            </a:r>
            <a:r>
              <a:rPr lang="pt-BR" i="1" dirty="0" smtClean="0"/>
              <a:t> será sempre menor ou igual ao tamanho do vetor (i ≤ n)</a:t>
            </a:r>
          </a:p>
          <a:p>
            <a:pPr>
              <a:buNone/>
            </a:pPr>
            <a:r>
              <a:rPr lang="pt-BR" i="1" dirty="0" smtClean="0"/>
              <a:t>	b) Os elementos de v[0..i-1] são todos diferentes de </a:t>
            </a:r>
            <a:r>
              <a:rPr lang="pt-BR" b="1" i="1" dirty="0" smtClean="0"/>
              <a:t>x</a:t>
            </a:r>
            <a:r>
              <a:rPr lang="pt-BR" i="1" dirty="0" smtClean="0"/>
              <a:t>; </a:t>
            </a:r>
            <a:endParaRPr lang="pt-BR" i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420888"/>
            <a:ext cx="6336704" cy="2308215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Busca Linear (parte 1)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55576" y="1772816"/>
            <a:ext cx="8064896" cy="4824536"/>
          </a:xfrm>
        </p:spPr>
        <p:txBody>
          <a:bodyPr>
            <a:noAutofit/>
          </a:bodyPr>
          <a:lstStyle/>
          <a:p>
            <a:r>
              <a:rPr lang="pt-BR" sz="2800" b="1" dirty="0" smtClean="0"/>
              <a:t>Inicialização</a:t>
            </a:r>
            <a:r>
              <a:rPr lang="pt-BR" sz="2800" dirty="0" smtClean="0"/>
              <a:t>: </a:t>
            </a:r>
          </a:p>
          <a:p>
            <a:pPr>
              <a:buNone/>
            </a:pPr>
            <a:r>
              <a:rPr lang="pt-BR" sz="2800" dirty="0" smtClean="0"/>
              <a:t>	Quando </a:t>
            </a:r>
            <a:r>
              <a:rPr lang="pt-BR" sz="2800" b="1" dirty="0" smtClean="0"/>
              <a:t>i=0</a:t>
            </a:r>
            <a:r>
              <a:rPr lang="pt-BR" sz="2800" dirty="0" smtClean="0"/>
              <a:t>, o vetor </a:t>
            </a:r>
            <a:r>
              <a:rPr lang="pt-BR" sz="2800" b="1" dirty="0" smtClean="0"/>
              <a:t>v[0..i-1] </a:t>
            </a:r>
            <a:r>
              <a:rPr lang="pt-BR" sz="2800" dirty="0" smtClean="0"/>
              <a:t>é um vetor vazio.</a:t>
            </a:r>
          </a:p>
          <a:p>
            <a:pPr>
              <a:buNone/>
            </a:pPr>
            <a:r>
              <a:rPr lang="pt-BR" sz="2800" dirty="0" smtClean="0"/>
              <a:t> </a:t>
            </a:r>
          </a:p>
          <a:p>
            <a:pPr>
              <a:buNone/>
            </a:pPr>
            <a:r>
              <a:rPr lang="pt-BR" sz="2800" dirty="0" smtClean="0"/>
              <a:t>	Assim, </a:t>
            </a:r>
            <a:r>
              <a:rPr lang="pt-BR" sz="2800" b="1" dirty="0" smtClean="0"/>
              <a:t>i </a:t>
            </a:r>
            <a:r>
              <a:rPr lang="pt-BR" sz="2800" dirty="0" smtClean="0"/>
              <a:t>contém um valor </a:t>
            </a:r>
            <a:r>
              <a:rPr lang="pt-BR" sz="2800" b="1" dirty="0" smtClean="0"/>
              <a:t>menor ou igual </a:t>
            </a:r>
            <a:r>
              <a:rPr lang="pt-BR" sz="2800" dirty="0" smtClean="0"/>
              <a:t>ao tamanho do vetor (n) e, como o vetor avaliado não possui nenhum elemento podemos interpretar que v[-1] != x.</a:t>
            </a:r>
          </a:p>
          <a:p>
            <a:pPr>
              <a:buNone/>
            </a:pPr>
            <a:r>
              <a:rPr lang="pt-BR" sz="2800" dirty="0" smtClean="0"/>
              <a:t>	</a:t>
            </a:r>
          </a:p>
          <a:p>
            <a:pPr>
              <a:buNone/>
            </a:pPr>
            <a:r>
              <a:rPr lang="pt-BR" sz="2800" dirty="0" smtClean="0"/>
              <a:t>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Busca Linear (parte 2)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1560" y="1700808"/>
            <a:ext cx="8136904" cy="4896544"/>
          </a:xfrm>
        </p:spPr>
        <p:txBody>
          <a:bodyPr>
            <a:noAutofit/>
          </a:bodyPr>
          <a:lstStyle/>
          <a:p>
            <a:r>
              <a:rPr lang="pt-BR" b="1" dirty="0" smtClean="0"/>
              <a:t>Manutenção</a:t>
            </a:r>
            <a:r>
              <a:rPr lang="pt-BR" dirty="0" smtClean="0"/>
              <a:t>: </a:t>
            </a:r>
          </a:p>
          <a:p>
            <a:pPr>
              <a:buNone/>
            </a:pPr>
            <a:r>
              <a:rPr lang="pt-BR" dirty="0" smtClean="0"/>
              <a:t>	Seja i</a:t>
            </a:r>
            <a:r>
              <a:rPr lang="pt-BR" b="1" dirty="0" smtClean="0"/>
              <a:t> </a:t>
            </a:r>
            <a:r>
              <a:rPr lang="pt-BR" dirty="0" smtClean="0"/>
              <a:t>um valor qualquer dado por </a:t>
            </a:r>
            <a:r>
              <a:rPr lang="pt-BR" b="1" dirty="0" smtClean="0"/>
              <a:t>0 &lt; i &lt; n</a:t>
            </a:r>
            <a:r>
              <a:rPr lang="pt-BR" dirty="0" smtClean="0"/>
              <a:t>. </a:t>
            </a:r>
          </a:p>
          <a:p>
            <a:pPr>
              <a:buNone/>
            </a:pPr>
            <a:r>
              <a:rPr lang="pt-BR" dirty="0" smtClean="0"/>
              <a:t>	Dentro do laço </a:t>
            </a:r>
            <a:r>
              <a:rPr lang="pt-BR" b="1" dirty="0" smtClean="0"/>
              <a:t>for </a:t>
            </a:r>
            <a:r>
              <a:rPr lang="pt-BR" dirty="0" smtClean="0"/>
              <a:t>o valor de </a:t>
            </a:r>
            <a:r>
              <a:rPr lang="pt-BR" b="1" dirty="0" smtClean="0"/>
              <a:t>x </a:t>
            </a:r>
            <a:r>
              <a:rPr lang="pt-BR" dirty="0" smtClean="0"/>
              <a:t>é comparado ao </a:t>
            </a:r>
            <a:r>
              <a:rPr lang="pt-BR" b="1" dirty="0" smtClean="0"/>
              <a:t>v[i] </a:t>
            </a:r>
            <a:r>
              <a:rPr lang="pt-BR" dirty="0" smtClean="0"/>
              <a:t>de maneira que a iteração do laço só ocorre quando o valor de </a:t>
            </a:r>
            <a:r>
              <a:rPr lang="pt-BR" b="1" dirty="0" smtClean="0"/>
              <a:t>v[i] difere </a:t>
            </a:r>
            <a:r>
              <a:rPr lang="pt-BR" dirty="0" smtClean="0"/>
              <a:t>de </a:t>
            </a:r>
            <a:r>
              <a:rPr lang="pt-BR" b="1" dirty="0" smtClean="0"/>
              <a:t>x</a:t>
            </a:r>
            <a:r>
              <a:rPr lang="pt-BR" dirty="0" smtClean="0"/>
              <a:t>, pois caso sejam iguais a função interrompe o laço.</a:t>
            </a:r>
          </a:p>
          <a:p>
            <a:pPr>
              <a:buNone/>
            </a:pPr>
            <a:r>
              <a:rPr lang="pt-BR" dirty="0" smtClean="0"/>
              <a:t>	Isso garante que, ao incrementar </a:t>
            </a:r>
            <a:r>
              <a:rPr lang="pt-BR" b="1" dirty="0" smtClean="0"/>
              <a:t>i </a:t>
            </a:r>
            <a:r>
              <a:rPr lang="pt-BR" dirty="0" smtClean="0"/>
              <a:t>para a próxima iteração do laço temos no vetor </a:t>
            </a:r>
            <a:r>
              <a:rPr lang="pt-BR" b="1" dirty="0" smtClean="0"/>
              <a:t>v[0..i-1]</a:t>
            </a:r>
            <a:r>
              <a:rPr lang="pt-BR" dirty="0" smtClean="0"/>
              <a:t> valores diferentes de x.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Assim, a cada iteração do laço, preserva-se os invariantes.</a:t>
            </a:r>
          </a:p>
          <a:p>
            <a:pPr>
              <a:buNone/>
            </a:pPr>
            <a:r>
              <a:rPr lang="pt-BR" dirty="0" smtClean="0"/>
              <a:t> 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Busca Linear(parte 3)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55576" y="1484784"/>
            <a:ext cx="8136904" cy="511256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b="1" dirty="0" smtClean="0"/>
              <a:t>Término</a:t>
            </a:r>
            <a:r>
              <a:rPr lang="pt-BR" dirty="0" smtClean="0"/>
              <a:t>: As condições que provocam o término do laço </a:t>
            </a:r>
            <a:r>
              <a:rPr lang="pt-BR" b="1" dirty="0" smtClean="0"/>
              <a:t>for </a:t>
            </a:r>
            <a:r>
              <a:rPr lang="pt-BR" dirty="0" smtClean="0"/>
              <a:t>são: ou quando </a:t>
            </a:r>
            <a:r>
              <a:rPr lang="pt-BR" b="1" dirty="0" smtClean="0"/>
              <a:t>i = n ; </a:t>
            </a:r>
            <a:r>
              <a:rPr lang="pt-BR" dirty="0" smtClean="0"/>
              <a:t>ou quando </a:t>
            </a:r>
            <a:r>
              <a:rPr lang="pt-BR" b="1" dirty="0" smtClean="0"/>
              <a:t>x = v[i]</a:t>
            </a:r>
            <a:r>
              <a:rPr lang="pt-BR" dirty="0" smtClean="0"/>
              <a:t>, sendo </a:t>
            </a:r>
            <a:r>
              <a:rPr lang="pt-BR" b="1" dirty="0" smtClean="0"/>
              <a:t>i&lt;n</a:t>
            </a:r>
            <a:r>
              <a:rPr lang="pt-BR" dirty="0" smtClean="0"/>
              <a:t>. </a:t>
            </a:r>
          </a:p>
          <a:p>
            <a:pPr algn="just"/>
            <a:r>
              <a:rPr lang="pt-BR" dirty="0" smtClean="0"/>
              <a:t>No primeiro caso temos que:</a:t>
            </a:r>
          </a:p>
          <a:p>
            <a:pPr>
              <a:buNone/>
            </a:pPr>
            <a:r>
              <a:rPr lang="pt-BR" i="1" dirty="0" smtClean="0"/>
              <a:t>	a) O valor de </a:t>
            </a:r>
            <a:r>
              <a:rPr lang="pt-BR" b="1" i="1" dirty="0" smtClean="0"/>
              <a:t>i</a:t>
            </a:r>
            <a:r>
              <a:rPr lang="pt-BR" i="1" dirty="0" smtClean="0"/>
              <a:t> será igual ao tamanho do vetor (i = n)</a:t>
            </a:r>
          </a:p>
          <a:p>
            <a:pPr>
              <a:buNone/>
            </a:pPr>
            <a:r>
              <a:rPr lang="pt-BR" i="1" dirty="0" smtClean="0"/>
              <a:t>	b) Os elementos de </a:t>
            </a:r>
            <a:r>
              <a:rPr lang="pt-BR" b="1" i="1" dirty="0" smtClean="0"/>
              <a:t>v[0..n-1] </a:t>
            </a:r>
            <a:r>
              <a:rPr lang="pt-BR" i="1" dirty="0" smtClean="0"/>
              <a:t>são todos diferentes de </a:t>
            </a:r>
            <a:r>
              <a:rPr lang="pt-BR" b="1" i="1" dirty="0" smtClean="0"/>
              <a:t>x</a:t>
            </a:r>
            <a:r>
              <a:rPr lang="pt-BR" i="1" dirty="0" smtClean="0"/>
              <a:t>;  Portanto v[] </a:t>
            </a:r>
            <a:r>
              <a:rPr lang="pt-BR" b="1" i="1" dirty="0" smtClean="0"/>
              <a:t>não possui </a:t>
            </a:r>
            <a:r>
              <a:rPr lang="pt-BR" i="1" dirty="0" smtClean="0"/>
              <a:t>o elemento </a:t>
            </a:r>
            <a:r>
              <a:rPr lang="pt-BR" b="1" i="1" dirty="0" smtClean="0"/>
              <a:t>x</a:t>
            </a:r>
            <a:r>
              <a:rPr lang="pt-BR" i="1" dirty="0" smtClean="0"/>
              <a:t> e o algoritmo informa isso retornando 0.</a:t>
            </a:r>
          </a:p>
          <a:p>
            <a:pPr algn="just"/>
            <a:r>
              <a:rPr lang="pt-BR" dirty="0" smtClean="0"/>
              <a:t>No segundo caso temos que:</a:t>
            </a:r>
          </a:p>
          <a:p>
            <a:pPr>
              <a:buNone/>
            </a:pPr>
            <a:r>
              <a:rPr lang="pt-BR" i="1" dirty="0" smtClean="0"/>
              <a:t>	a) O valor de </a:t>
            </a:r>
            <a:r>
              <a:rPr lang="pt-BR" b="1" i="1" dirty="0" smtClean="0"/>
              <a:t>i</a:t>
            </a:r>
            <a:r>
              <a:rPr lang="pt-BR" i="1" dirty="0" smtClean="0"/>
              <a:t> será menor que o tamanho do vetor (i &lt; n)</a:t>
            </a:r>
          </a:p>
          <a:p>
            <a:pPr>
              <a:buNone/>
            </a:pPr>
            <a:r>
              <a:rPr lang="pt-BR" i="1" dirty="0" smtClean="0"/>
              <a:t>	b) Os elementos de </a:t>
            </a:r>
            <a:r>
              <a:rPr lang="pt-BR" b="1" i="1" dirty="0" smtClean="0"/>
              <a:t>v[0..i-1] </a:t>
            </a:r>
            <a:r>
              <a:rPr lang="pt-BR" i="1" dirty="0" smtClean="0"/>
              <a:t>são todos diferentes de </a:t>
            </a:r>
            <a:r>
              <a:rPr lang="pt-BR" b="1" i="1" dirty="0" smtClean="0"/>
              <a:t>x</a:t>
            </a:r>
            <a:r>
              <a:rPr lang="pt-BR" i="1" dirty="0" smtClean="0"/>
              <a:t>;  Portanto o algoritmo terminou o laço encontrando </a:t>
            </a:r>
            <a:r>
              <a:rPr lang="pt-BR" b="1" i="1" dirty="0" smtClean="0"/>
              <a:t>x </a:t>
            </a:r>
            <a:r>
              <a:rPr lang="pt-BR" i="1" dirty="0" smtClean="0"/>
              <a:t>na </a:t>
            </a:r>
            <a:r>
              <a:rPr lang="pt-BR" i="1" dirty="0" err="1" smtClean="0"/>
              <a:t>i-ésima</a:t>
            </a:r>
            <a:r>
              <a:rPr lang="pt-BR" i="1" dirty="0" smtClean="0"/>
              <a:t> posição.</a:t>
            </a:r>
          </a:p>
          <a:p>
            <a:pPr algn="just">
              <a:buNone/>
            </a:pPr>
            <a:r>
              <a:rPr lang="pt-BR" dirty="0" smtClean="0"/>
              <a:t>	Em ambos os casos os invariantes são válidos e demonstram que o algoritmo está correto.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Lista de Exercícios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pt-BR" dirty="0" smtClean="0"/>
              <a:t>11. Crie uma função </a:t>
            </a:r>
            <a:r>
              <a:rPr lang="pt-BR" b="1" dirty="0" smtClean="0"/>
              <a:t>recursiva</a:t>
            </a:r>
            <a:r>
              <a:rPr lang="pt-BR" dirty="0" smtClean="0"/>
              <a:t> </a:t>
            </a:r>
            <a:r>
              <a:rPr lang="pt-BR" b="1" dirty="0" err="1" smtClean="0"/>
              <a:t>linearSearch</a:t>
            </a:r>
            <a:r>
              <a:rPr lang="pt-BR" dirty="0" smtClean="0"/>
              <a:t>(x, v, n) que faz uma busca linear para verificar de </a:t>
            </a:r>
            <a:r>
              <a:rPr lang="pt-BR" b="1" dirty="0" smtClean="0"/>
              <a:t>x</a:t>
            </a:r>
            <a:r>
              <a:rPr lang="pt-BR" dirty="0" smtClean="0"/>
              <a:t> está no vetor </a:t>
            </a:r>
            <a:r>
              <a:rPr lang="pt-BR" b="1" dirty="0" smtClean="0"/>
              <a:t>v</a:t>
            </a:r>
            <a:r>
              <a:rPr lang="pt-BR" dirty="0" smtClean="0"/>
              <a:t>, que contém </a:t>
            </a:r>
            <a:r>
              <a:rPr lang="pt-BR" b="1" dirty="0" smtClean="0"/>
              <a:t>n</a:t>
            </a:r>
            <a:r>
              <a:rPr lang="pt-BR" dirty="0" smtClean="0"/>
              <a:t> números inteiros.</a:t>
            </a:r>
          </a:p>
          <a:p>
            <a:pPr>
              <a:buNone/>
            </a:pPr>
            <a:r>
              <a:rPr lang="pt-BR" dirty="0" smtClean="0"/>
              <a:t>Solução Trivial: </a:t>
            </a:r>
          </a:p>
          <a:p>
            <a:pPr lvl="1"/>
            <a:r>
              <a:rPr lang="pt-BR" dirty="0" smtClean="0"/>
              <a:t>vetor vazio	(n=0) 	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err="1" smtClean="0">
                <a:sym typeface="Wingdings" pitchFamily="2" charset="2"/>
              </a:rPr>
              <a:t>return</a:t>
            </a:r>
            <a:r>
              <a:rPr lang="pt-BR" dirty="0" smtClean="0">
                <a:sym typeface="Wingdings" pitchFamily="2" charset="2"/>
              </a:rPr>
              <a:t> 0</a:t>
            </a:r>
          </a:p>
          <a:p>
            <a:pPr lvl="1"/>
            <a:r>
              <a:rPr lang="pt-BR" dirty="0" smtClean="0">
                <a:sym typeface="Wingdings" pitchFamily="2" charset="2"/>
              </a:rPr>
              <a:t>n = 1 e v[n-1] = x?	 </a:t>
            </a:r>
            <a:r>
              <a:rPr lang="pt-BR" dirty="0" err="1" smtClean="0">
                <a:sym typeface="Wingdings" pitchFamily="2" charset="2"/>
              </a:rPr>
              <a:t>return</a:t>
            </a:r>
            <a:r>
              <a:rPr lang="pt-BR" dirty="0" smtClean="0">
                <a:sym typeface="Wingdings" pitchFamily="2" charset="2"/>
              </a:rPr>
              <a:t> 1	</a:t>
            </a:r>
          </a:p>
          <a:p>
            <a:pPr lvl="1"/>
            <a:r>
              <a:rPr lang="pt-BR" dirty="0" smtClean="0"/>
              <a:t>Se n&gt;1 e v[n-1] = x </a:t>
            </a:r>
            <a:r>
              <a:rPr lang="pt-BR" dirty="0" smtClean="0">
                <a:sym typeface="Wingdings" pitchFamily="2" charset="2"/>
              </a:rPr>
              <a:t> </a:t>
            </a:r>
            <a:r>
              <a:rPr lang="pt-BR" dirty="0" err="1" smtClean="0">
                <a:sym typeface="Wingdings" pitchFamily="2" charset="2"/>
              </a:rPr>
              <a:t>return</a:t>
            </a:r>
            <a:r>
              <a:rPr lang="pt-BR" dirty="0" smtClean="0">
                <a:sym typeface="Wingdings" pitchFamily="2" charset="2"/>
              </a:rPr>
              <a:t> 1;		</a:t>
            </a:r>
          </a:p>
          <a:p>
            <a:pPr>
              <a:buNone/>
            </a:pPr>
            <a:r>
              <a:rPr lang="pt-BR" dirty="0" smtClean="0"/>
              <a:t>Solução geral:</a:t>
            </a:r>
          </a:p>
          <a:p>
            <a:pPr lvl="1"/>
            <a:r>
              <a:rPr lang="pt-BR" dirty="0" smtClean="0"/>
              <a:t>Se (n&gt;0) e  v[n-1] !=x </a:t>
            </a:r>
            <a:r>
              <a:rPr lang="pt-BR" dirty="0" smtClean="0">
                <a:sym typeface="Wingdings" pitchFamily="2" charset="2"/>
              </a:rPr>
              <a:t> busca em v[0..n-2]</a:t>
            </a:r>
            <a:endParaRPr lang="pt-BR" dirty="0"/>
          </a:p>
        </p:txBody>
      </p:sp>
      <p:sp>
        <p:nvSpPr>
          <p:cNvPr id="5" name="Chave direita 4"/>
          <p:cNvSpPr/>
          <p:nvPr/>
        </p:nvSpPr>
        <p:spPr>
          <a:xfrm>
            <a:off x="5220072" y="3645024"/>
            <a:ext cx="432048" cy="864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5868144" y="3645024"/>
            <a:ext cx="2568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 smtClean="0">
                <a:latin typeface="+mn-lt"/>
                <a:cs typeface="+mn-cs"/>
                <a:sym typeface="Wingdings" pitchFamily="2" charset="2"/>
              </a:rPr>
              <a:t>se (n&gt;0) e v[n-1] = x</a:t>
            </a:r>
          </a:p>
          <a:p>
            <a:pPr algn="ctr"/>
            <a:r>
              <a:rPr lang="pt-BR" sz="2400" dirty="0" err="1" smtClean="0">
                <a:latin typeface="+mn-lt"/>
                <a:cs typeface="+mn-cs"/>
                <a:sym typeface="Wingdings" pitchFamily="2" charset="2"/>
              </a:rPr>
              <a:t>return</a:t>
            </a:r>
            <a:r>
              <a:rPr lang="pt-BR" sz="2400" dirty="0" smtClean="0">
                <a:latin typeface="+mn-lt"/>
                <a:cs typeface="+mn-cs"/>
                <a:sym typeface="Wingdings" pitchFamily="2" charset="2"/>
              </a:rPr>
              <a:t>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686782"/>
            <a:ext cx="6408712" cy="2318282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 de hoje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23. Altere a busca Linear de modo a devolver o índice da posição em que o elemento se encontra no vetor. Caso x não esteja no vetor, devolver -1.</a:t>
            </a:r>
          </a:p>
          <a:p>
            <a:endParaRPr lang="pt-BR" dirty="0" smtClean="0"/>
          </a:p>
          <a:p>
            <a:r>
              <a:rPr lang="pt-BR" dirty="0" smtClean="0"/>
              <a:t>24. Faça o mesmo com a versão recursiva.</a:t>
            </a:r>
          </a:p>
          <a:p>
            <a:endParaRPr lang="pt-BR" dirty="0" smtClean="0"/>
          </a:p>
          <a:p>
            <a:r>
              <a:rPr lang="pt-BR" dirty="0" smtClean="0"/>
              <a:t>Para casa: Questões de 12 a 15 da lista de exercícios.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3463</TotalTime>
  <Words>516</Words>
  <Application>Microsoft Office PowerPoint</Application>
  <PresentationFormat>Apresentação na tela (4:3)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Arial</vt:lpstr>
      <vt:lpstr>Calibri</vt:lpstr>
      <vt:lpstr>Franklin Gothic Book</vt:lpstr>
      <vt:lpstr>Perpetua</vt:lpstr>
      <vt:lpstr>Wingdings</vt:lpstr>
      <vt:lpstr>Wingdings 2</vt:lpstr>
      <vt:lpstr>Patrimônio Líquido</vt:lpstr>
      <vt:lpstr>Análise de Algoritmos IAL 501</vt:lpstr>
      <vt:lpstr>Atividade 18</vt:lpstr>
      <vt:lpstr>Solução</vt:lpstr>
      <vt:lpstr>Solução</vt:lpstr>
      <vt:lpstr>Solução</vt:lpstr>
      <vt:lpstr>Solução recursiva (BuscaBin)</vt:lpstr>
      <vt:lpstr>Solução recursiva (BuscaBin)</vt:lpstr>
      <vt:lpstr>Solução</vt:lpstr>
      <vt:lpstr>Atividade 20</vt:lpstr>
      <vt:lpstr>Atividade 21</vt:lpstr>
      <vt:lpstr>Atividade 22</vt:lpstr>
      <vt:lpstr>Lista de Exercícios</vt:lpstr>
      <vt:lpstr>Correção: Busca Linear (parte 1)</vt:lpstr>
      <vt:lpstr>Correção: Busca Linear (parte 2)</vt:lpstr>
      <vt:lpstr>Correção: Busca Linear(parte 3)</vt:lpstr>
      <vt:lpstr>Lista de Exercícios</vt:lpstr>
      <vt:lpstr>Solução</vt:lpstr>
      <vt:lpstr>Atividades de hoje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233</cp:revision>
  <dcterms:created xsi:type="dcterms:W3CDTF">2011-02-25T18:12:46Z</dcterms:created>
  <dcterms:modified xsi:type="dcterms:W3CDTF">2016-04-29T23:25:51Z</dcterms:modified>
</cp:coreProperties>
</file>