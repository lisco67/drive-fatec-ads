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16"/>
  </p:notesMasterIdLst>
  <p:sldIdLst>
    <p:sldId id="256" r:id="rId2"/>
    <p:sldId id="423" r:id="rId3"/>
    <p:sldId id="424" r:id="rId4"/>
    <p:sldId id="428" r:id="rId5"/>
    <p:sldId id="426" r:id="rId6"/>
    <p:sldId id="433" r:id="rId7"/>
    <p:sldId id="434" r:id="rId8"/>
    <p:sldId id="435" r:id="rId9"/>
    <p:sldId id="436" r:id="rId10"/>
    <p:sldId id="437" r:id="rId11"/>
    <p:sldId id="414" r:id="rId12"/>
    <p:sldId id="438" r:id="rId13"/>
    <p:sldId id="439" r:id="rId14"/>
    <p:sldId id="440" r:id="rId15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ECFF"/>
    <a:srgbClr val="99CCFF"/>
    <a:srgbClr val="F2F2F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20/05/2016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2252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Aula 09 </a:t>
            </a: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Aula 09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Introdução a Programação </a:t>
            </a:r>
            <a:r>
              <a:rPr lang="pt-BR" sz="2800" dirty="0" smtClean="0"/>
              <a:t>Dinâmica</a:t>
            </a:r>
          </a:p>
          <a:p>
            <a:pPr lvl="1"/>
            <a:r>
              <a:rPr lang="pt-BR" sz="2800" dirty="0" smtClean="0"/>
              <a:t>O que é</a:t>
            </a:r>
          </a:p>
          <a:p>
            <a:pPr lvl="1"/>
            <a:r>
              <a:rPr lang="pt-BR" sz="2800" dirty="0" smtClean="0"/>
              <a:t>Como funciona</a:t>
            </a:r>
          </a:p>
          <a:p>
            <a:pPr lvl="1"/>
            <a:r>
              <a:rPr lang="pt-BR" sz="2800" dirty="0" smtClean="0"/>
              <a:t>Exemplos</a:t>
            </a:r>
          </a:p>
          <a:p>
            <a:pPr lvl="1"/>
            <a:r>
              <a:rPr lang="pt-BR" sz="2800" dirty="0" smtClean="0"/>
              <a:t>Atividades</a:t>
            </a:r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Programação Dinâmica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06072" cy="5149552"/>
          </a:xfrm>
        </p:spPr>
        <p:txBody>
          <a:bodyPr>
            <a:normAutofit/>
          </a:bodyPr>
          <a:lstStyle/>
          <a:p>
            <a:r>
              <a:rPr lang="pt-BR" sz="2800" dirty="0" smtClean="0"/>
              <a:t>Assim como </a:t>
            </a:r>
            <a:r>
              <a:rPr lang="pt-BR" sz="2800" b="1" dirty="0" smtClean="0"/>
              <a:t>Divisão e Conquista</a:t>
            </a:r>
            <a:r>
              <a:rPr lang="pt-BR" sz="2800" dirty="0" smtClean="0"/>
              <a:t>, a </a:t>
            </a:r>
            <a:r>
              <a:rPr lang="pt-BR" sz="2800" b="1" dirty="0" smtClean="0"/>
              <a:t>Programação Dinâmica </a:t>
            </a:r>
            <a:r>
              <a:rPr lang="pt-BR" sz="2800" dirty="0" smtClean="0"/>
              <a:t>é um método que resolve problemas combinando as soluções dos subproblemas.</a:t>
            </a:r>
          </a:p>
          <a:p>
            <a:r>
              <a:rPr lang="pt-BR" sz="2800" dirty="0" smtClean="0"/>
              <a:t>A Programação Dinâmica se aplica quando subproblemas se sobrepõem, ou seja, subproblemas compartilham </a:t>
            </a:r>
            <a:r>
              <a:rPr lang="pt-BR" sz="2800" dirty="0" err="1" smtClean="0"/>
              <a:t>sub-subproblemas</a:t>
            </a:r>
            <a:r>
              <a:rPr lang="pt-BR" sz="2800" dirty="0" smtClean="0"/>
              <a:t>...</a:t>
            </a:r>
          </a:p>
          <a:p>
            <a:r>
              <a:rPr lang="pt-BR" sz="2800" dirty="0" smtClean="0"/>
              <a:t>Enquanto </a:t>
            </a:r>
            <a:r>
              <a:rPr lang="pt-BR" sz="2800" b="1" dirty="0" smtClean="0"/>
              <a:t>Divisão e Conquista </a:t>
            </a:r>
            <a:r>
              <a:rPr lang="pt-BR" sz="2800" dirty="0" smtClean="0"/>
              <a:t>trabalha mais que o necessário, a </a:t>
            </a:r>
            <a:r>
              <a:rPr lang="pt-BR" sz="2800" b="1" dirty="0" smtClean="0"/>
              <a:t>Programação dinâmica </a:t>
            </a:r>
            <a:r>
              <a:rPr lang="pt-BR" sz="2800" dirty="0" smtClean="0"/>
              <a:t>utiliza vetores/tabelas para armazenar respostas já calculadas anteriormente, evitando retrabalho.</a:t>
            </a:r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- </a:t>
            </a:r>
            <a:r>
              <a:rPr lang="pt-BR" dirty="0" err="1" smtClean="0"/>
              <a:t>Fibonacci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539552" y="1447800"/>
            <a:ext cx="8280920" cy="2557264"/>
          </a:xfrm>
        </p:spPr>
        <p:txBody>
          <a:bodyPr>
            <a:normAutofit/>
          </a:bodyPr>
          <a:lstStyle/>
          <a:p>
            <a:r>
              <a:rPr lang="pt-BR" sz="2800" dirty="0" smtClean="0"/>
              <a:t>Sequência de </a:t>
            </a:r>
            <a:r>
              <a:rPr lang="pt-BR" sz="2800" dirty="0" err="1" smtClean="0"/>
              <a:t>Fibonacci</a:t>
            </a:r>
            <a:r>
              <a:rPr lang="pt-BR" sz="2800" dirty="0" smtClean="0"/>
              <a:t>: 0, 1, 1, 2, 3, 5, 8, 13, 21, 34, 55...</a:t>
            </a:r>
          </a:p>
          <a:p>
            <a:pPr>
              <a:buNone/>
            </a:pPr>
            <a:r>
              <a:rPr lang="pt-BR" sz="2800" dirty="0" err="1" smtClean="0"/>
              <a:t>Fib</a:t>
            </a:r>
            <a:r>
              <a:rPr lang="pt-BR" sz="2800" dirty="0" smtClean="0"/>
              <a:t>(0) = 0 e </a:t>
            </a:r>
            <a:r>
              <a:rPr lang="pt-BR" sz="2800" dirty="0" err="1" smtClean="0"/>
              <a:t>Fib</a:t>
            </a:r>
            <a:r>
              <a:rPr lang="pt-BR" sz="2800" dirty="0" smtClean="0"/>
              <a:t>(1) = 1</a:t>
            </a:r>
          </a:p>
          <a:p>
            <a:pPr>
              <a:buNone/>
            </a:pPr>
            <a:r>
              <a:rPr lang="pt-BR" sz="2800" dirty="0" err="1" smtClean="0"/>
              <a:t>Fib</a:t>
            </a:r>
            <a:r>
              <a:rPr lang="pt-BR" sz="2800" dirty="0" smtClean="0"/>
              <a:t>(2) = </a:t>
            </a:r>
            <a:r>
              <a:rPr lang="pt-BR" sz="2800" dirty="0" err="1" smtClean="0"/>
              <a:t>Fib</a:t>
            </a:r>
            <a:r>
              <a:rPr lang="pt-BR" sz="2800" dirty="0" smtClean="0"/>
              <a:t>(0) + </a:t>
            </a:r>
            <a:r>
              <a:rPr lang="pt-BR" sz="2800" dirty="0" err="1" smtClean="0"/>
              <a:t>Fib</a:t>
            </a:r>
            <a:r>
              <a:rPr lang="pt-BR" sz="2800" dirty="0" smtClean="0"/>
              <a:t>(1) = 0 + 1 = 1</a:t>
            </a:r>
          </a:p>
          <a:p>
            <a:pPr>
              <a:buNone/>
            </a:pPr>
            <a:r>
              <a:rPr lang="pt-BR" sz="2800" dirty="0" err="1" smtClean="0"/>
              <a:t>Fib</a:t>
            </a:r>
            <a:r>
              <a:rPr lang="pt-BR" sz="2800" dirty="0" smtClean="0"/>
              <a:t>(3) = </a:t>
            </a:r>
            <a:r>
              <a:rPr lang="pt-BR" sz="2800" dirty="0" err="1" smtClean="0"/>
              <a:t>Fib</a:t>
            </a:r>
            <a:r>
              <a:rPr lang="pt-BR" sz="2800" dirty="0" smtClean="0"/>
              <a:t>(2) + </a:t>
            </a:r>
            <a:r>
              <a:rPr lang="pt-BR" sz="2800" dirty="0" err="1" smtClean="0"/>
              <a:t>Fib</a:t>
            </a:r>
            <a:r>
              <a:rPr lang="pt-BR" sz="2800" dirty="0" smtClean="0"/>
              <a:t>(1) = 1 + 1 = 2</a:t>
            </a:r>
          </a:p>
          <a:p>
            <a:pPr>
              <a:buNone/>
            </a:pPr>
            <a:r>
              <a:rPr lang="pt-BR" sz="2800" dirty="0" err="1" smtClean="0"/>
              <a:t>Fib</a:t>
            </a:r>
            <a:r>
              <a:rPr lang="pt-BR" sz="2800" dirty="0" smtClean="0"/>
              <a:t>(n) = </a:t>
            </a:r>
            <a:r>
              <a:rPr lang="pt-BR" sz="2800" dirty="0" err="1" smtClean="0"/>
              <a:t>Fib</a:t>
            </a:r>
            <a:r>
              <a:rPr lang="pt-BR" sz="2800" dirty="0" smtClean="0"/>
              <a:t>(n-1) + </a:t>
            </a:r>
            <a:r>
              <a:rPr lang="pt-BR" sz="2800" dirty="0" err="1" smtClean="0"/>
              <a:t>Fib</a:t>
            </a:r>
            <a:r>
              <a:rPr lang="pt-BR" sz="2800" dirty="0" smtClean="0"/>
              <a:t>(n-2)</a:t>
            </a:r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1691680" y="4221088"/>
            <a:ext cx="6192688" cy="244827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>
            <a:normAutofit fontScale="925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Solução recursiva: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pt-B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Fib</a:t>
            </a: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kumimoji="0" lang="pt-BR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n) 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pt-BR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(n&lt;2) </a:t>
            </a:r>
            <a:r>
              <a:rPr kumimoji="0" lang="pt-B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</a:t>
            </a:r>
            <a:r>
              <a:rPr kumimoji="0" lang="pt-BR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pt-B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</a:t>
            </a:r>
            <a:r>
              <a:rPr kumimoji="0" lang="pt-BR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pt-B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Fib</a:t>
            </a: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(n-1) + </a:t>
            </a:r>
            <a:r>
              <a:rPr kumimoji="0" lang="pt-BR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Fib</a:t>
            </a: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(n-2);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pt-B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5ED4C2-1B52-48ED-9C8A-3E7095977EDA}" type="slidenum">
              <a:rPr lang="pt-BR" smtClean="0"/>
              <a:pPr/>
              <a:t>5</a:t>
            </a:fld>
            <a:endParaRPr lang="pt-BR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Simulação – </a:t>
            </a:r>
            <a:r>
              <a:rPr lang="pt-BR" dirty="0" err="1" smtClean="0"/>
              <a:t>Fibonacci</a:t>
            </a:r>
            <a:endParaRPr lang="pt-BR" dirty="0" smtClean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184" y="1772816"/>
            <a:ext cx="8507288" cy="4968552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80000"/>
              </a:lnSpc>
              <a:buNone/>
            </a:pPr>
            <a:r>
              <a:rPr lang="pt-BR" dirty="0" err="1" smtClean="0"/>
              <a:t>Fib</a:t>
            </a:r>
            <a:r>
              <a:rPr lang="pt-BR" dirty="0" smtClean="0"/>
              <a:t>(4)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600" dirty="0" smtClean="0"/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600" dirty="0" smtClean="0"/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600" dirty="0" err="1" smtClean="0"/>
              <a:t>Fib</a:t>
            </a:r>
            <a:r>
              <a:rPr lang="pt-BR" sz="2600" dirty="0" smtClean="0"/>
              <a:t> (3) 		+		</a:t>
            </a:r>
            <a:r>
              <a:rPr lang="pt-BR" sz="2600" dirty="0" err="1" smtClean="0"/>
              <a:t>Fib</a:t>
            </a:r>
            <a:r>
              <a:rPr lang="pt-BR" sz="2600" dirty="0" smtClean="0"/>
              <a:t> (2)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600" dirty="0" smtClean="0"/>
              <a:t>				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600" dirty="0" smtClean="0"/>
          </a:p>
          <a:p>
            <a:pPr algn="ctr">
              <a:lnSpc>
                <a:spcPct val="80000"/>
              </a:lnSpc>
              <a:buNone/>
            </a:pPr>
            <a:r>
              <a:rPr lang="pt-BR" dirty="0" err="1" smtClean="0"/>
              <a:t>Fib</a:t>
            </a:r>
            <a:r>
              <a:rPr lang="pt-BR" dirty="0" smtClean="0"/>
              <a:t> (2)	     +	 </a:t>
            </a:r>
            <a:r>
              <a:rPr lang="pt-BR" dirty="0" err="1" smtClean="0"/>
              <a:t>Fib</a:t>
            </a:r>
            <a:r>
              <a:rPr lang="pt-BR" dirty="0" smtClean="0"/>
              <a:t> (1) </a:t>
            </a:r>
            <a:r>
              <a:rPr lang="pt-BR" sz="2600" dirty="0" smtClean="0"/>
              <a:t>	 </a:t>
            </a:r>
            <a:r>
              <a:rPr lang="pt-BR" sz="2600" dirty="0" err="1" smtClean="0"/>
              <a:t>Fib</a:t>
            </a:r>
            <a:r>
              <a:rPr lang="pt-BR" sz="2600" dirty="0" smtClean="0"/>
              <a:t>(1) 	    +      </a:t>
            </a:r>
            <a:r>
              <a:rPr lang="pt-BR" sz="2600" dirty="0" err="1" smtClean="0"/>
              <a:t>Fib</a:t>
            </a:r>
            <a:r>
              <a:rPr lang="pt-BR" sz="2600" dirty="0" smtClean="0"/>
              <a:t> (0)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600" dirty="0" smtClean="0"/>
              <a:t>						</a:t>
            </a:r>
          </a:p>
          <a:p>
            <a:pPr algn="ctr">
              <a:lnSpc>
                <a:spcPct val="80000"/>
              </a:lnSpc>
              <a:buNone/>
            </a:pPr>
            <a:endParaRPr lang="pt-BR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pt-BR" dirty="0" err="1" smtClean="0"/>
              <a:t>Fib</a:t>
            </a:r>
            <a:r>
              <a:rPr lang="pt-BR" dirty="0" smtClean="0"/>
              <a:t>(1)	    +      </a:t>
            </a:r>
            <a:r>
              <a:rPr lang="pt-BR" dirty="0" err="1" smtClean="0"/>
              <a:t>Fib</a:t>
            </a:r>
            <a:r>
              <a:rPr lang="pt-BR" dirty="0" smtClean="0"/>
              <a:t> (0) </a:t>
            </a:r>
          </a:p>
          <a:p>
            <a:pPr marL="0" indent="0">
              <a:lnSpc>
                <a:spcPct val="80000"/>
              </a:lnSpc>
              <a:buNone/>
            </a:pPr>
            <a:endParaRPr lang="pt-BR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pt-BR" dirty="0" smtClean="0"/>
              <a:t>- Repetições = Reprocessamento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dirty="0" smtClean="0"/>
              <a:t>- Complexidade  = O(2</a:t>
            </a:r>
            <a:r>
              <a:rPr lang="pt-BR" sz="2400" baseline="30000" dirty="0" smtClean="0"/>
              <a:t>n</a:t>
            </a:r>
            <a:r>
              <a:rPr lang="pt-BR" dirty="0" smtClean="0"/>
              <a:t>)</a:t>
            </a:r>
          </a:p>
        </p:txBody>
      </p:sp>
      <p:sp>
        <p:nvSpPr>
          <p:cNvPr id="78857" name="Line 9"/>
          <p:cNvSpPr>
            <a:spLocks noChangeShapeType="1"/>
          </p:cNvSpPr>
          <p:nvPr/>
        </p:nvSpPr>
        <p:spPr bwMode="auto">
          <a:xfrm flipH="1" flipV="1">
            <a:off x="2124075" y="4291905"/>
            <a:ext cx="360363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58" name="Line 10"/>
          <p:cNvSpPr>
            <a:spLocks noChangeShapeType="1"/>
          </p:cNvSpPr>
          <p:nvPr/>
        </p:nvSpPr>
        <p:spPr bwMode="auto">
          <a:xfrm flipV="1">
            <a:off x="1116013" y="4291905"/>
            <a:ext cx="360362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0" name="Line 12"/>
          <p:cNvSpPr>
            <a:spLocks noChangeShapeType="1"/>
          </p:cNvSpPr>
          <p:nvPr/>
        </p:nvSpPr>
        <p:spPr bwMode="auto">
          <a:xfrm flipV="1">
            <a:off x="1908175" y="3140968"/>
            <a:ext cx="430213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1" name="Line 13"/>
          <p:cNvSpPr>
            <a:spLocks noChangeShapeType="1"/>
          </p:cNvSpPr>
          <p:nvPr/>
        </p:nvSpPr>
        <p:spPr bwMode="auto">
          <a:xfrm flipH="1" flipV="1">
            <a:off x="3059113" y="3140968"/>
            <a:ext cx="504825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2" name="Line 14"/>
          <p:cNvSpPr>
            <a:spLocks noChangeShapeType="1"/>
          </p:cNvSpPr>
          <p:nvPr/>
        </p:nvSpPr>
        <p:spPr bwMode="auto">
          <a:xfrm flipV="1">
            <a:off x="2700338" y="2060848"/>
            <a:ext cx="1439862" cy="719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3" name="Line 15"/>
          <p:cNvSpPr>
            <a:spLocks noChangeShapeType="1"/>
          </p:cNvSpPr>
          <p:nvPr/>
        </p:nvSpPr>
        <p:spPr bwMode="auto">
          <a:xfrm flipH="1" flipV="1">
            <a:off x="4932363" y="2060848"/>
            <a:ext cx="1439862" cy="719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6" name="Line 18"/>
          <p:cNvSpPr>
            <a:spLocks noChangeShapeType="1"/>
          </p:cNvSpPr>
          <p:nvPr/>
        </p:nvSpPr>
        <p:spPr bwMode="auto">
          <a:xfrm flipV="1">
            <a:off x="5578475" y="3140968"/>
            <a:ext cx="430213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7" name="Line 19"/>
          <p:cNvSpPr>
            <a:spLocks noChangeShapeType="1"/>
          </p:cNvSpPr>
          <p:nvPr/>
        </p:nvSpPr>
        <p:spPr bwMode="auto">
          <a:xfrm flipH="1" flipV="1">
            <a:off x="6732588" y="3140968"/>
            <a:ext cx="504825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2915816" y="3717032"/>
            <a:ext cx="1584176" cy="79208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4644008" y="3717032"/>
            <a:ext cx="1584176" cy="79208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6588224" y="3717032"/>
            <a:ext cx="1584176" cy="79208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5652120" y="2564904"/>
            <a:ext cx="1584176" cy="79208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Usando Programação Dinâmica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1403648" y="2492896"/>
            <a:ext cx="6192688" cy="403244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>
            <a:normAutofit fontScale="70000" lnSpcReduction="20000"/>
          </a:bodyPr>
          <a:lstStyle/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int Fib(int n)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    int i, *v; 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    v = malloc(sizeof(int) * (n+1));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    v[0] = 0;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	  v[1] = 1;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    for (i = 2; i &lt;= n; i++)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        v[i] = v[i - 1] + v[i - 2];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    i = v[i - 1];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    free(v);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    return i;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nn-NO" sz="28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pt-BR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2051720" y="1340768"/>
            <a:ext cx="5904656" cy="23747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 smtClean="0"/>
              <a:t>0	1	2	3	4	5</a:t>
            </a:r>
            <a:endParaRPr lang="pt-BR" sz="1800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763688" y="1808624"/>
          <a:ext cx="550810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8017"/>
                <a:gridCol w="918017"/>
                <a:gridCol w="918017"/>
                <a:gridCol w="918017"/>
                <a:gridCol w="918017"/>
                <a:gridCol w="91801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pt-BR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pt-BR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pt-BR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2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5ED4C2-1B52-48ED-9C8A-3E7095977EDA}" type="slidenum">
              <a:rPr lang="pt-BR" smtClean="0"/>
              <a:pPr/>
              <a:t>7</a:t>
            </a:fld>
            <a:endParaRPr lang="pt-BR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Simulação – </a:t>
            </a:r>
            <a:r>
              <a:rPr lang="pt-BR" dirty="0" err="1" smtClean="0"/>
              <a:t>Fibonacci</a:t>
            </a:r>
            <a:endParaRPr lang="pt-BR" dirty="0" smtClean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184" y="1772816"/>
            <a:ext cx="8507288" cy="4968552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80000"/>
              </a:lnSpc>
              <a:buNone/>
            </a:pPr>
            <a:r>
              <a:rPr lang="pt-BR" dirty="0" err="1" smtClean="0"/>
              <a:t>Fib</a:t>
            </a:r>
            <a:r>
              <a:rPr lang="pt-BR" dirty="0" smtClean="0"/>
              <a:t>(4)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600" dirty="0" smtClean="0"/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600" dirty="0" smtClean="0"/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600" dirty="0" err="1" smtClean="0"/>
              <a:t>Fib</a:t>
            </a:r>
            <a:r>
              <a:rPr lang="pt-BR" sz="2600" dirty="0" smtClean="0"/>
              <a:t> (3) 		+		</a:t>
            </a:r>
            <a:r>
              <a:rPr lang="pt-BR" sz="2600" dirty="0" err="1" smtClean="0"/>
              <a:t>Fib</a:t>
            </a:r>
            <a:r>
              <a:rPr lang="pt-BR" sz="2600" dirty="0" smtClean="0"/>
              <a:t> (2)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600" dirty="0" smtClean="0"/>
              <a:t>				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endParaRPr lang="pt-BR" sz="2600" dirty="0" smtClean="0"/>
          </a:p>
          <a:p>
            <a:pPr algn="ctr">
              <a:lnSpc>
                <a:spcPct val="80000"/>
              </a:lnSpc>
              <a:buNone/>
            </a:pPr>
            <a:r>
              <a:rPr lang="pt-BR" dirty="0" err="1" smtClean="0"/>
              <a:t>Fib</a:t>
            </a:r>
            <a:r>
              <a:rPr lang="pt-BR" dirty="0" smtClean="0"/>
              <a:t> (2)	     +	 </a:t>
            </a:r>
            <a:r>
              <a:rPr lang="pt-BR" dirty="0" err="1" smtClean="0"/>
              <a:t>Fib</a:t>
            </a:r>
            <a:r>
              <a:rPr lang="pt-BR" dirty="0" smtClean="0"/>
              <a:t> (1) </a:t>
            </a:r>
            <a:r>
              <a:rPr lang="pt-BR" sz="2600" dirty="0" smtClean="0"/>
              <a:t>	 </a:t>
            </a:r>
            <a:r>
              <a:rPr lang="pt-BR" sz="2600" dirty="0" err="1" smtClean="0"/>
              <a:t>Fib</a:t>
            </a:r>
            <a:r>
              <a:rPr lang="pt-BR" sz="2600" dirty="0" smtClean="0"/>
              <a:t>(1) 	    +      </a:t>
            </a:r>
            <a:r>
              <a:rPr lang="pt-BR" sz="2600" dirty="0" err="1" smtClean="0"/>
              <a:t>Fib</a:t>
            </a:r>
            <a:r>
              <a:rPr lang="pt-BR" sz="2600" dirty="0" smtClean="0"/>
              <a:t> (0)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t-BR" sz="2600" dirty="0" smtClean="0"/>
              <a:t>						</a:t>
            </a:r>
          </a:p>
          <a:p>
            <a:pPr algn="ctr">
              <a:lnSpc>
                <a:spcPct val="80000"/>
              </a:lnSpc>
              <a:buNone/>
            </a:pPr>
            <a:endParaRPr lang="pt-BR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pt-BR" dirty="0" err="1" smtClean="0"/>
              <a:t>Fib</a:t>
            </a:r>
            <a:r>
              <a:rPr lang="pt-BR" dirty="0" smtClean="0"/>
              <a:t>(1)	    +      </a:t>
            </a:r>
            <a:r>
              <a:rPr lang="pt-BR" dirty="0" err="1" smtClean="0"/>
              <a:t>Fib</a:t>
            </a:r>
            <a:r>
              <a:rPr lang="pt-BR" dirty="0" smtClean="0"/>
              <a:t> (0) </a:t>
            </a:r>
          </a:p>
          <a:p>
            <a:pPr marL="0" indent="0">
              <a:lnSpc>
                <a:spcPct val="80000"/>
              </a:lnSpc>
              <a:buNone/>
            </a:pPr>
            <a:endParaRPr lang="pt-BR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pt-BR" dirty="0" smtClean="0"/>
              <a:t>- Repetições =&gt; Eliminadas!!!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dirty="0" smtClean="0"/>
              <a:t>- Complexidade  = ???</a:t>
            </a:r>
          </a:p>
        </p:txBody>
      </p:sp>
      <p:sp>
        <p:nvSpPr>
          <p:cNvPr id="78857" name="Line 9"/>
          <p:cNvSpPr>
            <a:spLocks noChangeShapeType="1"/>
          </p:cNvSpPr>
          <p:nvPr/>
        </p:nvSpPr>
        <p:spPr bwMode="auto">
          <a:xfrm flipH="1" flipV="1">
            <a:off x="2124075" y="4291905"/>
            <a:ext cx="360363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58" name="Line 10"/>
          <p:cNvSpPr>
            <a:spLocks noChangeShapeType="1"/>
          </p:cNvSpPr>
          <p:nvPr/>
        </p:nvSpPr>
        <p:spPr bwMode="auto">
          <a:xfrm flipV="1">
            <a:off x="1116013" y="4291905"/>
            <a:ext cx="360362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0" name="Line 12"/>
          <p:cNvSpPr>
            <a:spLocks noChangeShapeType="1"/>
          </p:cNvSpPr>
          <p:nvPr/>
        </p:nvSpPr>
        <p:spPr bwMode="auto">
          <a:xfrm flipV="1">
            <a:off x="1908175" y="3140968"/>
            <a:ext cx="430213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1" name="Line 13"/>
          <p:cNvSpPr>
            <a:spLocks noChangeShapeType="1"/>
          </p:cNvSpPr>
          <p:nvPr/>
        </p:nvSpPr>
        <p:spPr bwMode="auto">
          <a:xfrm flipH="1" flipV="1">
            <a:off x="3059113" y="3140968"/>
            <a:ext cx="504825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2" name="Line 14"/>
          <p:cNvSpPr>
            <a:spLocks noChangeShapeType="1"/>
          </p:cNvSpPr>
          <p:nvPr/>
        </p:nvSpPr>
        <p:spPr bwMode="auto">
          <a:xfrm flipV="1">
            <a:off x="2700338" y="2060848"/>
            <a:ext cx="1439862" cy="719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3" name="Line 15"/>
          <p:cNvSpPr>
            <a:spLocks noChangeShapeType="1"/>
          </p:cNvSpPr>
          <p:nvPr/>
        </p:nvSpPr>
        <p:spPr bwMode="auto">
          <a:xfrm flipH="1" flipV="1">
            <a:off x="4932363" y="2060848"/>
            <a:ext cx="1439862" cy="719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6" name="Line 18"/>
          <p:cNvSpPr>
            <a:spLocks noChangeShapeType="1"/>
          </p:cNvSpPr>
          <p:nvPr/>
        </p:nvSpPr>
        <p:spPr bwMode="auto">
          <a:xfrm flipV="1">
            <a:off x="5578475" y="3140968"/>
            <a:ext cx="430213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78867" name="Line 19"/>
          <p:cNvSpPr>
            <a:spLocks noChangeShapeType="1"/>
          </p:cNvSpPr>
          <p:nvPr/>
        </p:nvSpPr>
        <p:spPr bwMode="auto">
          <a:xfrm flipH="1" flipV="1">
            <a:off x="6732588" y="3140968"/>
            <a:ext cx="504825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pt-BR"/>
          </a:p>
        </p:txBody>
      </p:sp>
      <p:grpSp>
        <p:nvGrpSpPr>
          <p:cNvPr id="26" name="Grupo 25"/>
          <p:cNvGrpSpPr/>
          <p:nvPr/>
        </p:nvGrpSpPr>
        <p:grpSpPr>
          <a:xfrm>
            <a:off x="3275856" y="3789040"/>
            <a:ext cx="792088" cy="648072"/>
            <a:chOff x="3275856" y="3789040"/>
            <a:chExt cx="792088" cy="648072"/>
          </a:xfrm>
        </p:grpSpPr>
        <p:cxnSp>
          <p:nvCxnSpPr>
            <p:cNvPr id="19" name="Conector reto 18"/>
            <p:cNvCxnSpPr/>
            <p:nvPr/>
          </p:nvCxnSpPr>
          <p:spPr>
            <a:xfrm>
              <a:off x="3275856" y="3789040"/>
              <a:ext cx="792088" cy="6480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>
            <a:xfrm flipV="1">
              <a:off x="3347864" y="3789040"/>
              <a:ext cx="720080" cy="6480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upo 26"/>
          <p:cNvGrpSpPr/>
          <p:nvPr/>
        </p:nvGrpSpPr>
        <p:grpSpPr>
          <a:xfrm>
            <a:off x="5004048" y="3789040"/>
            <a:ext cx="792088" cy="648072"/>
            <a:chOff x="3275856" y="3789040"/>
            <a:chExt cx="792088" cy="648072"/>
          </a:xfrm>
        </p:grpSpPr>
        <p:cxnSp>
          <p:nvCxnSpPr>
            <p:cNvPr id="28" name="Conector reto 27"/>
            <p:cNvCxnSpPr/>
            <p:nvPr/>
          </p:nvCxnSpPr>
          <p:spPr>
            <a:xfrm>
              <a:off x="3275856" y="3789040"/>
              <a:ext cx="792088" cy="6480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/>
            <p:cNvCxnSpPr/>
            <p:nvPr/>
          </p:nvCxnSpPr>
          <p:spPr>
            <a:xfrm flipV="1">
              <a:off x="3347864" y="3789040"/>
              <a:ext cx="720080" cy="6480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o 29"/>
          <p:cNvGrpSpPr/>
          <p:nvPr/>
        </p:nvGrpSpPr>
        <p:grpSpPr>
          <a:xfrm>
            <a:off x="6804248" y="3789040"/>
            <a:ext cx="792088" cy="648072"/>
            <a:chOff x="3275856" y="3789040"/>
            <a:chExt cx="792088" cy="648072"/>
          </a:xfrm>
        </p:grpSpPr>
        <p:cxnSp>
          <p:nvCxnSpPr>
            <p:cNvPr id="31" name="Conector reto 30"/>
            <p:cNvCxnSpPr/>
            <p:nvPr/>
          </p:nvCxnSpPr>
          <p:spPr>
            <a:xfrm>
              <a:off x="3275856" y="3789040"/>
              <a:ext cx="792088" cy="6480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to 31"/>
            <p:cNvCxnSpPr/>
            <p:nvPr/>
          </p:nvCxnSpPr>
          <p:spPr>
            <a:xfrm flipV="1">
              <a:off x="3347864" y="3789040"/>
              <a:ext cx="720080" cy="6480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upo 32"/>
          <p:cNvGrpSpPr/>
          <p:nvPr/>
        </p:nvGrpSpPr>
        <p:grpSpPr>
          <a:xfrm>
            <a:off x="6012160" y="2636912"/>
            <a:ext cx="792088" cy="648072"/>
            <a:chOff x="3275856" y="3789040"/>
            <a:chExt cx="792088" cy="648072"/>
          </a:xfrm>
        </p:grpSpPr>
        <p:cxnSp>
          <p:nvCxnSpPr>
            <p:cNvPr id="34" name="Conector reto 33"/>
            <p:cNvCxnSpPr/>
            <p:nvPr/>
          </p:nvCxnSpPr>
          <p:spPr>
            <a:xfrm>
              <a:off x="3275856" y="3789040"/>
              <a:ext cx="792088" cy="6480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to 34"/>
            <p:cNvCxnSpPr/>
            <p:nvPr/>
          </p:nvCxnSpPr>
          <p:spPr>
            <a:xfrm flipV="1">
              <a:off x="3347864" y="3789040"/>
              <a:ext cx="720080" cy="6480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 2: Números triangulares </a:t>
            </a:r>
            <a:br>
              <a:rPr lang="pt-BR" dirty="0" smtClean="0"/>
            </a:br>
            <a:r>
              <a:rPr lang="pt-BR" sz="1600" dirty="0" smtClean="0"/>
              <a:t>(fonte: Maratona </a:t>
            </a:r>
            <a:r>
              <a:rPr lang="pt-BR" sz="1600" dirty="0" err="1" smtClean="0"/>
              <a:t>Interfatecs</a:t>
            </a:r>
            <a:r>
              <a:rPr lang="pt-BR" sz="1600" dirty="0" smtClean="0"/>
              <a:t> 2014)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556792"/>
            <a:ext cx="8415015" cy="504056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pt-BR" sz="2800" dirty="0" smtClean="0"/>
              <a:t>Um número triangular é aquele que pode ser composto na forma de um triângulo, como por exemplo o número 10 (suponha que cada ‘*’ representa a unidade):</a:t>
            </a:r>
          </a:p>
          <a:p>
            <a:pPr algn="just">
              <a:defRPr/>
            </a:pPr>
            <a:endParaRPr lang="pt-BR" sz="2800" dirty="0" smtClean="0"/>
          </a:p>
          <a:p>
            <a:pPr marL="0" indent="0" algn="just">
              <a:buFont typeface="Wingdings" pitchFamily="2" charset="2"/>
              <a:buNone/>
              <a:tabLst>
                <a:tab pos="2868613" algn="ctr"/>
              </a:tabLst>
              <a:defRPr/>
            </a:pPr>
            <a:r>
              <a:rPr lang="pt-BR" sz="2800" dirty="0" smtClean="0"/>
              <a:t>	*</a:t>
            </a:r>
          </a:p>
          <a:p>
            <a:pPr marL="0" indent="0" algn="just">
              <a:buFont typeface="Wingdings" pitchFamily="2" charset="2"/>
              <a:buNone/>
              <a:tabLst>
                <a:tab pos="2868613" algn="ctr"/>
              </a:tabLst>
              <a:defRPr/>
            </a:pPr>
            <a:r>
              <a:rPr lang="pt-BR" sz="2800" dirty="0" smtClean="0"/>
              <a:t>	*  *</a:t>
            </a:r>
          </a:p>
          <a:p>
            <a:pPr marL="0" indent="0" algn="just">
              <a:buFont typeface="Wingdings" pitchFamily="2" charset="2"/>
              <a:buNone/>
              <a:tabLst>
                <a:tab pos="2868613" algn="ctr"/>
              </a:tabLst>
              <a:defRPr/>
            </a:pPr>
            <a:r>
              <a:rPr lang="pt-BR" sz="2800" dirty="0" smtClean="0"/>
              <a:t>	*  *  *</a:t>
            </a:r>
          </a:p>
          <a:p>
            <a:pPr marL="0" indent="0" algn="just">
              <a:buFont typeface="Wingdings" pitchFamily="2" charset="2"/>
              <a:buNone/>
              <a:tabLst>
                <a:tab pos="2868613" algn="ctr"/>
              </a:tabLst>
              <a:defRPr/>
            </a:pPr>
            <a:r>
              <a:rPr lang="pt-BR" sz="2800" dirty="0" smtClean="0"/>
              <a:t>	*  *  *  *</a:t>
            </a:r>
          </a:p>
          <a:p>
            <a:pPr marL="0" indent="0" algn="just">
              <a:buFont typeface="Wingdings" pitchFamily="2" charset="2"/>
              <a:buNone/>
              <a:tabLst>
                <a:tab pos="2868613" algn="ctr"/>
              </a:tabLst>
              <a:defRPr/>
            </a:pPr>
            <a:r>
              <a:rPr lang="pt-BR" sz="2800" dirty="0" smtClean="0"/>
              <a:t>O número 10 possui dez unidades, que podem ser agrupadas na forma de um triângulo conforme apresentado na figura acima.</a:t>
            </a:r>
            <a:endParaRPr lang="pt-BR" sz="2800" dirty="0"/>
          </a:p>
        </p:txBody>
      </p:sp>
      <p:sp>
        <p:nvSpPr>
          <p:cNvPr id="24580" name="Espaço Reservado para Número de Slid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E59439-208F-477D-BEBC-61BA06690D77}" type="slidenum">
              <a:rPr lang="pt-BR" smtClean="0">
                <a:latin typeface="Arial" pitchFamily="34" charset="0"/>
              </a:rPr>
              <a:pPr/>
              <a:t>8</a:t>
            </a:fld>
            <a:endParaRPr lang="pt-BR" smtClean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Números triangulares</a:t>
            </a:r>
          </a:p>
        </p:txBody>
      </p:sp>
      <p:sp>
        <p:nvSpPr>
          <p:cNvPr id="25603" name="Espaço Reservado para Conteúdo 2"/>
          <p:cNvSpPr>
            <a:spLocks noGrp="1"/>
          </p:cNvSpPr>
          <p:nvPr>
            <p:ph idx="1"/>
          </p:nvPr>
        </p:nvSpPr>
        <p:spPr>
          <a:xfrm>
            <a:off x="477465" y="1412776"/>
            <a:ext cx="8415015" cy="5112568"/>
          </a:xfrm>
        </p:spPr>
        <p:txBody>
          <a:bodyPr>
            <a:noAutofit/>
          </a:bodyPr>
          <a:lstStyle/>
          <a:p>
            <a:pPr marL="0" indent="0" algn="just">
              <a:buFont typeface="Wingdings" pitchFamily="2" charset="2"/>
              <a:buNone/>
            </a:pPr>
            <a:r>
              <a:rPr lang="pt-BR" sz="2800" dirty="0" smtClean="0"/>
              <a:t>Os primeiros 4 números triangulares são mostrados abaixo. Observe que o topo tem uma unidade, no nível seguinte tem duas, o próximo nível possui três e assim por diante. </a:t>
            </a:r>
          </a:p>
          <a:p>
            <a:pPr marL="0" indent="0" algn="just">
              <a:buFont typeface="Wingdings" pitchFamily="2" charset="2"/>
              <a:buNone/>
            </a:pPr>
            <a:endParaRPr lang="pt-BR" sz="2800" dirty="0" smtClean="0"/>
          </a:p>
          <a:p>
            <a:pPr marL="0" indent="0" algn="just">
              <a:buFont typeface="Wingdings" pitchFamily="2" charset="2"/>
              <a:buNone/>
            </a:pPr>
            <a:endParaRPr lang="pt-BR" sz="2800" dirty="0" smtClean="0"/>
          </a:p>
          <a:p>
            <a:pPr marL="0" indent="0" algn="just">
              <a:buFont typeface="Wingdings" pitchFamily="2" charset="2"/>
              <a:buNone/>
            </a:pPr>
            <a:endParaRPr lang="pt-BR" sz="2800" dirty="0" smtClean="0"/>
          </a:p>
          <a:p>
            <a:pPr marL="0" indent="0" algn="just">
              <a:buFont typeface="Wingdings" pitchFamily="2" charset="2"/>
              <a:buNone/>
            </a:pPr>
            <a:endParaRPr lang="pt-BR" sz="2800" dirty="0" smtClean="0"/>
          </a:p>
          <a:p>
            <a:pPr marL="0" indent="0" algn="just">
              <a:buFont typeface="Wingdings" pitchFamily="2" charset="2"/>
              <a:buNone/>
            </a:pPr>
            <a:endParaRPr lang="pt-BR" sz="2800" dirty="0" smtClean="0"/>
          </a:p>
          <a:p>
            <a:pPr marL="0" indent="0" algn="just">
              <a:buFont typeface="Wingdings" pitchFamily="2" charset="2"/>
              <a:buNone/>
            </a:pPr>
            <a:r>
              <a:rPr lang="pt-BR" sz="2800" dirty="0" smtClean="0"/>
              <a:t>Se não for possível construir um arranjo nesses termos com as unidades que formam o número em questão, então concluímos que esse numero não é triangular, por exemplo, número 8.</a:t>
            </a:r>
          </a:p>
        </p:txBody>
      </p:sp>
      <p:sp>
        <p:nvSpPr>
          <p:cNvPr id="25604" name="Espaço Reservado para Número de Slid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0031C8-BC8D-4B38-A705-C77028AD3A6E}" type="slidenum">
              <a:rPr lang="pt-BR" smtClean="0">
                <a:latin typeface="Arial" pitchFamily="34" charset="0"/>
              </a:rPr>
              <a:pPr/>
              <a:t>9</a:t>
            </a:fld>
            <a:endParaRPr lang="pt-BR" smtClean="0">
              <a:latin typeface="Arial" pitchFamily="34" charset="0"/>
            </a:endParaRPr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6013" y="2996952"/>
            <a:ext cx="6456362" cy="200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Números triangulares</a:t>
            </a:r>
          </a:p>
        </p:txBody>
      </p:sp>
      <p:sp>
        <p:nvSpPr>
          <p:cNvPr id="26627" name="Espaço Reservado para Conteúdo 2"/>
          <p:cNvSpPr>
            <a:spLocks noGrp="1"/>
          </p:cNvSpPr>
          <p:nvPr>
            <p:ph idx="1"/>
          </p:nvPr>
        </p:nvSpPr>
        <p:spPr>
          <a:xfrm>
            <a:off x="611560" y="1785838"/>
            <a:ext cx="8054975" cy="4595490"/>
          </a:xfrm>
        </p:spPr>
        <p:txBody>
          <a:bodyPr>
            <a:noAutofit/>
          </a:bodyPr>
          <a:lstStyle/>
          <a:p>
            <a:pPr marL="0" indent="0" algn="just">
              <a:buFont typeface="Wingdings" pitchFamily="2" charset="2"/>
              <a:buNone/>
            </a:pPr>
            <a:r>
              <a:rPr lang="pt-BR" sz="2800" dirty="0" smtClean="0"/>
              <a:t>Sua tarefa é, dado um número inteiro natural N, determinar o </a:t>
            </a:r>
            <a:r>
              <a:rPr lang="pt-BR" sz="2800" dirty="0" err="1" smtClean="0"/>
              <a:t>N-ésimo</a:t>
            </a:r>
            <a:r>
              <a:rPr lang="pt-BR" sz="2800" dirty="0" smtClean="0"/>
              <a:t> número triangular.</a:t>
            </a:r>
          </a:p>
          <a:p>
            <a:pPr marL="0" indent="0" algn="just">
              <a:buFont typeface="Wingdings" pitchFamily="2" charset="2"/>
              <a:buNone/>
            </a:pPr>
            <a:r>
              <a:rPr lang="pt-BR" sz="2800" dirty="0" smtClean="0"/>
              <a:t>Exemplo:</a:t>
            </a:r>
          </a:p>
          <a:p>
            <a:pPr marL="0" indent="0" algn="just">
              <a:buFont typeface="Wingdings" pitchFamily="2" charset="2"/>
              <a:buNone/>
            </a:pPr>
            <a:r>
              <a:rPr lang="pt-BR" sz="2800" dirty="0" smtClean="0"/>
              <a:t>N = 1	</a:t>
            </a:r>
            <a:r>
              <a:rPr lang="pt-BR" sz="2800" dirty="0" smtClean="0">
                <a:sym typeface="Wingdings" pitchFamily="2" charset="2"/>
              </a:rPr>
              <a:t> saída: 1</a:t>
            </a:r>
          </a:p>
          <a:p>
            <a:pPr marL="0" indent="0" algn="just">
              <a:buFont typeface="Wingdings" pitchFamily="2" charset="2"/>
              <a:buNone/>
            </a:pPr>
            <a:r>
              <a:rPr lang="pt-BR" sz="2800" dirty="0" smtClean="0"/>
              <a:t>N = 2	</a:t>
            </a:r>
            <a:r>
              <a:rPr lang="pt-BR" sz="2800" dirty="0" smtClean="0">
                <a:sym typeface="Wingdings" pitchFamily="2" charset="2"/>
              </a:rPr>
              <a:t> saída: 3</a:t>
            </a:r>
            <a:endParaRPr lang="pt-BR" sz="2800" dirty="0" smtClean="0"/>
          </a:p>
          <a:p>
            <a:pPr marL="0" indent="0" algn="just">
              <a:buFont typeface="Wingdings" pitchFamily="2" charset="2"/>
              <a:buNone/>
            </a:pPr>
            <a:r>
              <a:rPr lang="pt-BR" sz="2800" dirty="0" smtClean="0"/>
              <a:t>N = 3	</a:t>
            </a:r>
            <a:r>
              <a:rPr lang="pt-BR" sz="2800" dirty="0" smtClean="0">
                <a:sym typeface="Wingdings" pitchFamily="2" charset="2"/>
              </a:rPr>
              <a:t> saída: 6</a:t>
            </a:r>
            <a:endParaRPr lang="pt-BR" sz="2800" dirty="0" smtClean="0"/>
          </a:p>
          <a:p>
            <a:pPr marL="0" indent="0" algn="just">
              <a:buFont typeface="Wingdings" pitchFamily="2" charset="2"/>
              <a:buNone/>
            </a:pPr>
            <a:r>
              <a:rPr lang="pt-BR" sz="2800" dirty="0" smtClean="0"/>
              <a:t>N = 4	</a:t>
            </a:r>
            <a:r>
              <a:rPr lang="pt-BR" sz="2800" dirty="0" smtClean="0">
                <a:sym typeface="Wingdings" pitchFamily="2" charset="2"/>
              </a:rPr>
              <a:t> saída: 10</a:t>
            </a:r>
            <a:endParaRPr lang="pt-BR" sz="2800" dirty="0" smtClean="0"/>
          </a:p>
          <a:p>
            <a:pPr marL="0" indent="0" algn="just">
              <a:buFont typeface="Wingdings" pitchFamily="2" charset="2"/>
              <a:buNone/>
            </a:pPr>
            <a:r>
              <a:rPr lang="pt-BR" sz="2800" dirty="0" smtClean="0"/>
              <a:t>N = 5	</a:t>
            </a:r>
            <a:r>
              <a:rPr lang="pt-BR" sz="2800" dirty="0" smtClean="0">
                <a:sym typeface="Wingdings" pitchFamily="2" charset="2"/>
              </a:rPr>
              <a:t> saída: 15</a:t>
            </a:r>
            <a:endParaRPr lang="pt-BR" sz="2800" dirty="0" smtClean="0"/>
          </a:p>
          <a:p>
            <a:pPr marL="0" indent="0" algn="just">
              <a:buFont typeface="Wingdings" pitchFamily="2" charset="2"/>
              <a:buNone/>
            </a:pPr>
            <a:r>
              <a:rPr lang="pt-BR" sz="2800" dirty="0" smtClean="0"/>
              <a:t>N = 10</a:t>
            </a:r>
            <a:r>
              <a:rPr lang="pt-BR" sz="2800" dirty="0" smtClean="0">
                <a:sym typeface="Wingdings" pitchFamily="2" charset="2"/>
              </a:rPr>
              <a:t> saída: 55</a:t>
            </a:r>
            <a:endParaRPr lang="pt-BR" sz="2800" dirty="0" smtClean="0"/>
          </a:p>
          <a:p>
            <a:pPr marL="0" indent="0" algn="just">
              <a:buFont typeface="Wingdings" pitchFamily="2" charset="2"/>
              <a:buNone/>
            </a:pPr>
            <a:endParaRPr lang="pt-BR" sz="2800" dirty="0" smtClean="0"/>
          </a:p>
        </p:txBody>
      </p:sp>
      <p:sp>
        <p:nvSpPr>
          <p:cNvPr id="26628" name="Espaço Reservado para Número de Slid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A2C0B6-F192-4A39-9A56-D9C71DB457B4}" type="slidenum">
              <a:rPr lang="pt-BR" smtClean="0">
                <a:latin typeface="Arial" pitchFamily="34" charset="0"/>
              </a:rPr>
              <a:pPr/>
              <a:t>10</a:t>
            </a:fld>
            <a:endParaRPr lang="pt-BR" smtClean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Números Triangulares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1403648" y="1844824"/>
            <a:ext cx="6192688" cy="403244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>
            <a:normAutofit fontScale="62500" lnSpcReduction="20000"/>
          </a:bodyPr>
          <a:lstStyle/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800" b="1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BR" sz="28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i, n, r;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endParaRPr lang="pt-BR" sz="2800" b="1" dirty="0" smtClean="0">
              <a:latin typeface="Courier New" pitchFamily="49" charset="0"/>
              <a:cs typeface="Courier New" pitchFamily="49" charset="0"/>
            </a:endParaRP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BR" sz="2800" b="1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pt-BR" sz="2800" b="1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("%d", &amp;n), n) {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       r = 0;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       for (i = 1; i &lt;= n; i++) 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			r = r + i;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pt-BR" sz="28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("%d\n", r);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endParaRPr lang="pt-BR" sz="2800" b="1" dirty="0" smtClean="0">
              <a:latin typeface="Courier New" pitchFamily="49" charset="0"/>
              <a:cs typeface="Courier New" pitchFamily="49" charset="0"/>
            </a:endParaRP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	  system("pause");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BR" sz="28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8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kumimoji="0" lang="pt-BR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Números Triangulares - Memorização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1115616" y="1844824"/>
            <a:ext cx="6480720" cy="432048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>
            <a:noAutofit/>
          </a:bodyPr>
          <a:lstStyle/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	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i, n, v[45001];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 for (v[1] = 1, i = 2; i &lt;= 45000; i++)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       v[i] = v[i - 1] + i;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("%d", &amp;n), n)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("%d\n", v[n]);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endParaRPr lang="pt-BR" sz="2000" b="1" dirty="0" smtClean="0">
              <a:latin typeface="Courier New" pitchFamily="49" charset="0"/>
              <a:cs typeface="Courier New" pitchFamily="49" charset="0"/>
            </a:endParaRP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274320" lvl="0" indent="-274320" fontAlgn="auto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kumimoji="0" lang="pt-B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809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 anchorCtr="0">
            <a:normAutofit/>
          </a:bodyPr>
          <a:lstStyle/>
          <a:p>
            <a:r>
              <a:rPr lang="pt-BR" sz="3600" dirty="0" smtClean="0"/>
              <a:t>Atividade 25 </a:t>
            </a:r>
            <a:r>
              <a:rPr lang="pt-BR" sz="3600" dirty="0" smtClean="0"/>
              <a:t>– Triângulo de Pascal</a:t>
            </a:r>
            <a:endParaRPr lang="pt-BR" sz="3600" dirty="0"/>
          </a:p>
        </p:txBody>
      </p:sp>
      <p:sp>
        <p:nvSpPr>
          <p:cNvPr id="5" name="AutoShape 2" descr="https://lh4.googleusercontent.com/-jMsSq3t1OG0/Uz2YngvodbI/AAAAAAAAAAM/B8pq6LshrMM/s1600/Image_00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http://www.clker.com/cliparts/z/w/f/m/G/5/focus-hi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 2"/>
          <p:cNvSpPr/>
          <p:nvPr/>
        </p:nvSpPr>
        <p:spPr bwMode="auto">
          <a:xfrm>
            <a:off x="4657298" y="5722386"/>
            <a:ext cx="580030" cy="457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18" y="1032219"/>
            <a:ext cx="7581616" cy="536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069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Atividade 26 - Para </a:t>
            </a:r>
            <a:r>
              <a:rPr lang="pt-BR" dirty="0" smtClean="0"/>
              <a:t>próxima aula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Com base no capítulo 5 do livrinho do prof. Paulo </a:t>
            </a:r>
            <a:r>
              <a:rPr lang="pt-BR" dirty="0" err="1" smtClean="0"/>
              <a:t>Feofiloff</a:t>
            </a:r>
            <a:r>
              <a:rPr lang="pt-BR" dirty="0" smtClean="0"/>
              <a:t>, pesquise uma solução o problema do segmento de soma máxima usando programação dinâmica.</a:t>
            </a:r>
          </a:p>
          <a:p>
            <a:endParaRPr lang="pt-BR" dirty="0" smtClean="0"/>
          </a:p>
          <a:p>
            <a:r>
              <a:rPr lang="pt-BR" dirty="0" smtClean="0"/>
              <a:t>Qual a eficiência desta solução?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331641" y="4149080"/>
          <a:ext cx="5400599" cy="96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4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6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3529</TotalTime>
  <Words>474</Words>
  <Application>Microsoft Office PowerPoint</Application>
  <PresentationFormat>Apresentação na tela (4:3)</PresentationFormat>
  <Paragraphs>151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Courier New</vt:lpstr>
      <vt:lpstr>Franklin Gothic Book</vt:lpstr>
      <vt:lpstr>Perpetua</vt:lpstr>
      <vt:lpstr>Wingdings</vt:lpstr>
      <vt:lpstr>Wingdings 2</vt:lpstr>
      <vt:lpstr>Patrimônio Líquido</vt:lpstr>
      <vt:lpstr>Análise de Algoritmos IAL 501</vt:lpstr>
      <vt:lpstr>Aula 09</vt:lpstr>
      <vt:lpstr>Programação Dinâmica</vt:lpstr>
      <vt:lpstr>Exemplo - Fibonacci</vt:lpstr>
      <vt:lpstr>Simulação – Fibonacci</vt:lpstr>
      <vt:lpstr>Usando Programação Dinâmica</vt:lpstr>
      <vt:lpstr>Simulação – Fibonacci</vt:lpstr>
      <vt:lpstr>Exemplo 2: Números triangulares  (fonte: Maratona Interfatecs 2014)</vt:lpstr>
      <vt:lpstr>Números triangulares</vt:lpstr>
      <vt:lpstr>Números triangulares</vt:lpstr>
      <vt:lpstr>Números Triangulares</vt:lpstr>
      <vt:lpstr>Números Triangulares - Memorização</vt:lpstr>
      <vt:lpstr>Atividade 25 – Triângulo de Pascal</vt:lpstr>
      <vt:lpstr>Atividade 26 - Para próxima aula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236</cp:revision>
  <dcterms:created xsi:type="dcterms:W3CDTF">2011-02-25T18:12:46Z</dcterms:created>
  <dcterms:modified xsi:type="dcterms:W3CDTF">2016-05-20T23:16:28Z</dcterms:modified>
</cp:coreProperties>
</file>