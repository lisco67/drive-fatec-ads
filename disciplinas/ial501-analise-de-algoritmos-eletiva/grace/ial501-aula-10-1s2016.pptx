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6"/>
  </p:notesMasterIdLst>
  <p:sldIdLst>
    <p:sldId id="256" r:id="rId2"/>
    <p:sldId id="424" r:id="rId3"/>
    <p:sldId id="440" r:id="rId4"/>
    <p:sldId id="442" r:id="rId5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  <p:sldId id="451" r:id="rId14"/>
    <p:sldId id="452" r:id="rId1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03/06/2016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925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10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Programação Dinâmica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06072" cy="5149552"/>
          </a:xfrm>
        </p:spPr>
        <p:txBody>
          <a:bodyPr>
            <a:normAutofit/>
          </a:bodyPr>
          <a:lstStyle/>
          <a:p>
            <a:r>
              <a:rPr lang="pt-BR" sz="2800" dirty="0" smtClean="0"/>
              <a:t>É um método que resolve problemas combinando as soluções dos subproblemas.</a:t>
            </a:r>
          </a:p>
          <a:p>
            <a:r>
              <a:rPr lang="pt-BR" sz="2800" dirty="0" smtClean="0"/>
              <a:t>A Programação Dinâmica se aplica quando subproblemas se sobrepõem, ou seja, subproblemas compartilham </a:t>
            </a:r>
            <a:r>
              <a:rPr lang="pt-BR" sz="2800" dirty="0" err="1" smtClean="0"/>
              <a:t>sub-subproblemas</a:t>
            </a:r>
            <a:r>
              <a:rPr lang="pt-BR" sz="2800" dirty="0" smtClean="0"/>
              <a:t>...</a:t>
            </a:r>
          </a:p>
          <a:p>
            <a:r>
              <a:rPr lang="pt-BR" sz="2800" dirty="0" smtClean="0"/>
              <a:t>Utiliza vetores/tabelas para armazenar respostas já calculadas anteriormente, evitando retrabalho.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Atividade para próxima aula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 base no capítulo 5 do livrinho do prof. Paulo </a:t>
            </a:r>
            <a:r>
              <a:rPr lang="pt-BR" dirty="0" err="1" smtClean="0"/>
              <a:t>Feofiloff</a:t>
            </a:r>
            <a:r>
              <a:rPr lang="pt-BR" dirty="0" smtClean="0"/>
              <a:t>, pesquise uma solução o problema do segmento de soma máxima usando programação dinâmica.</a:t>
            </a:r>
          </a:p>
          <a:p>
            <a:endParaRPr lang="pt-BR" dirty="0" smtClean="0"/>
          </a:p>
          <a:p>
            <a:r>
              <a:rPr lang="pt-BR" dirty="0" smtClean="0"/>
              <a:t>Qual a eficiência desta solução?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331641" y="4149080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Relembrando... Força Bruta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Experimentar todo par possível de datas, com data da venda&gt; data da compra. </a:t>
            </a:r>
          </a:p>
          <a:p>
            <a:r>
              <a:rPr lang="pt-BR" dirty="0" smtClean="0"/>
              <a:t>Quantas combinações são possíveis nesse caso?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Por exemplo, para uma variação em 7 dias, teremos 6 mudanças (tamanho do vetor) chegando no total:  6 + 5 + 4 + 3 + 2 + 1.</a:t>
            </a:r>
          </a:p>
          <a:p>
            <a:r>
              <a:rPr lang="pt-BR" dirty="0" smtClean="0"/>
              <a:t>Ou seja, para n dias temos (n-1) + (n-2) +...+1 = n</a:t>
            </a:r>
            <a:r>
              <a:rPr lang="pt-BR" baseline="30000" dirty="0" smtClean="0"/>
              <a:t>2</a:t>
            </a:r>
            <a:r>
              <a:rPr lang="pt-BR" dirty="0" smtClean="0"/>
              <a:t>-n = O(n</a:t>
            </a:r>
            <a:r>
              <a:rPr lang="pt-BR" baseline="30000" dirty="0" smtClean="0"/>
              <a:t>2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403649" y="2780928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</a:t>
            </a:r>
            <a:r>
              <a:rPr lang="pt-BR" dirty="0" err="1" smtClean="0"/>
              <a:t>soma_max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5302696"/>
            <a:ext cx="7772400" cy="1006624"/>
          </a:xfrm>
        </p:spPr>
        <p:txBody>
          <a:bodyPr/>
          <a:lstStyle/>
          <a:p>
            <a:r>
              <a:rPr lang="pt-BR" dirty="0" smtClean="0"/>
              <a:t>Faça uma simulação passo a passo para os seguintes valores 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3000"/>
            <a:ext cx="5476875" cy="38862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187624" y="59732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 = 6; 	</a:t>
            </a:r>
            <a:r>
              <a:rPr lang="pt-BR" dirty="0" smtClean="0">
                <a:solidFill>
                  <a:srgbClr val="FF0000"/>
                </a:solidFill>
              </a:rPr>
              <a:t>x = - 4</a:t>
            </a:r>
            <a:r>
              <a:rPr lang="pt-BR" dirty="0" smtClean="0"/>
              <a:t>; 	i = 4;	s = 0;	j = i;</a:t>
            </a:r>
            <a:endParaRPr lang="pt-BR" dirty="0"/>
          </a:p>
        </p:txBody>
      </p:sp>
      <p:grpSp>
        <p:nvGrpSpPr>
          <p:cNvPr id="4" name="Grupo 26"/>
          <p:cNvGrpSpPr/>
          <p:nvPr/>
        </p:nvGrpSpPr>
        <p:grpSpPr>
          <a:xfrm>
            <a:off x="4499993" y="1124744"/>
            <a:ext cx="4320479" cy="936104"/>
            <a:chOff x="4499993" y="1124744"/>
            <a:chExt cx="4320479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4499993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4843543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s + 3 = 3</a:t>
              </a:r>
            </a:p>
            <a:p>
              <a:r>
                <a:rPr lang="pt-BR" dirty="0" smtClean="0"/>
                <a:t>s &gt; x? 	3 &gt; - 4?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382175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7" name="Grupo 30"/>
          <p:cNvGrpSpPr/>
          <p:nvPr/>
        </p:nvGrpSpPr>
        <p:grpSpPr>
          <a:xfrm>
            <a:off x="4696079" y="2060848"/>
            <a:ext cx="4124393" cy="936104"/>
            <a:chOff x="4696079" y="2060848"/>
            <a:chExt cx="4124393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073622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3 + (- 4) =  -1</a:t>
              </a:r>
            </a:p>
            <a:p>
              <a:r>
                <a:rPr lang="pt-BR" dirty="0" smtClean="0"/>
                <a:t>s &gt; x? 	-1 &gt; 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4696079" y="2060848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5580113" y="2060848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96635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8" name="Grupo 27"/>
          <p:cNvGrpSpPr/>
          <p:nvPr/>
        </p:nvGrpSpPr>
        <p:grpSpPr>
          <a:xfrm>
            <a:off x="3799851" y="3645024"/>
            <a:ext cx="5020621" cy="936104"/>
            <a:chOff x="3799851" y="3645024"/>
            <a:chExt cx="5020621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365779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20</a:t>
              </a:r>
            </a:p>
            <a:p>
              <a:r>
                <a:rPr lang="pt-BR" dirty="0" smtClean="0"/>
                <a:t>s &gt; x? 	20 &gt; 3?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20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3799851" y="364502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4015875" y="364502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9" name="Grupo 28"/>
          <p:cNvGrpSpPr/>
          <p:nvPr/>
        </p:nvGrpSpPr>
        <p:grpSpPr>
          <a:xfrm>
            <a:off x="3799851" y="4593902"/>
            <a:ext cx="5020621" cy="936104"/>
            <a:chOff x="3799851" y="4593902"/>
            <a:chExt cx="5020621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20 + 3 = 23</a:t>
              </a:r>
            </a:p>
            <a:p>
              <a:r>
                <a:rPr lang="pt-BR" dirty="0" smtClean="0"/>
                <a:t>s &gt; x? 	23 &gt; 20?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3799851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4716017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0" name="Grupo 29"/>
          <p:cNvGrpSpPr/>
          <p:nvPr/>
        </p:nvGrpSpPr>
        <p:grpSpPr>
          <a:xfrm>
            <a:off x="3799851" y="5733256"/>
            <a:ext cx="5020621" cy="936104"/>
            <a:chOff x="3799851" y="5733256"/>
            <a:chExt cx="5020621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23 + (- 4) = 19</a:t>
              </a:r>
            </a:p>
            <a:p>
              <a:r>
                <a:rPr lang="pt-BR" dirty="0" smtClean="0"/>
                <a:t>s &gt; x? 	19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3799851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sp>
        <p:nvSpPr>
          <p:cNvPr id="26" name="CaixaDeTexto 25"/>
          <p:cNvSpPr txBox="1"/>
          <p:nvPr/>
        </p:nvSpPr>
        <p:spPr>
          <a:xfrm>
            <a:off x="120395" y="3131676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3</a:t>
            </a:r>
            <a:r>
              <a:rPr lang="pt-BR" dirty="0" smtClean="0"/>
              <a:t>; 	i = 3;	s = 0;	j = i;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2;	s = 0;	j = i;</a:t>
            </a:r>
            <a:endParaRPr lang="pt-BR" dirty="0"/>
          </a:p>
        </p:txBody>
      </p:sp>
      <p:grpSp>
        <p:nvGrpSpPr>
          <p:cNvPr id="4" name="Grupo 21"/>
          <p:cNvGrpSpPr/>
          <p:nvPr/>
        </p:nvGrpSpPr>
        <p:grpSpPr>
          <a:xfrm>
            <a:off x="2771800" y="1124744"/>
            <a:ext cx="6048672" cy="936104"/>
            <a:chOff x="2771800" y="1124744"/>
            <a:chExt cx="6048672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277180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318391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- 6</a:t>
              </a:r>
            </a:p>
            <a:p>
              <a:r>
                <a:rPr lang="pt-BR" dirty="0" smtClean="0"/>
                <a:t>s &gt; x? 	- 6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59819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2" name="Grupo 22"/>
          <p:cNvGrpSpPr/>
          <p:nvPr/>
        </p:nvGrpSpPr>
        <p:grpSpPr>
          <a:xfrm>
            <a:off x="2843808" y="2276872"/>
            <a:ext cx="5976664" cy="936104"/>
            <a:chOff x="2843808" y="2276872"/>
            <a:chExt cx="5976664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28964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- 6 + 20 =  14</a:t>
              </a:r>
            </a:p>
            <a:p>
              <a:r>
                <a:rPr lang="pt-BR" dirty="0" smtClean="0"/>
                <a:t>s &gt; x? 	14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2843808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3779912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6910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3" name="Grupo 23"/>
          <p:cNvGrpSpPr/>
          <p:nvPr/>
        </p:nvGrpSpPr>
        <p:grpSpPr>
          <a:xfrm>
            <a:off x="2895878" y="3369766"/>
            <a:ext cx="5924594" cy="936104"/>
            <a:chOff x="2895878" y="3369766"/>
            <a:chExt cx="5924594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338254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14 + 3 = 17</a:t>
              </a:r>
            </a:p>
            <a:p>
              <a:r>
                <a:rPr lang="pt-BR" dirty="0" smtClean="0"/>
                <a:t>s &gt; x? 	17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2895878" y="336976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4716016" y="336976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4" name="Grupo 24"/>
          <p:cNvGrpSpPr/>
          <p:nvPr/>
        </p:nvGrpSpPr>
        <p:grpSpPr>
          <a:xfrm>
            <a:off x="2915816" y="4593902"/>
            <a:ext cx="5904656" cy="936104"/>
            <a:chOff x="2915816" y="4593902"/>
            <a:chExt cx="5904656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17 + (- 4) = 13</a:t>
              </a:r>
            </a:p>
            <a:p>
              <a:r>
                <a:rPr lang="pt-BR" dirty="0" smtClean="0"/>
                <a:t>s &gt; x? 	13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2915816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5632182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sp>
        <p:nvSpPr>
          <p:cNvPr id="25" name="CaixaDeTexto 24"/>
          <p:cNvSpPr txBox="1"/>
          <p:nvPr/>
        </p:nvSpPr>
        <p:spPr>
          <a:xfrm>
            <a:off x="755576" y="5589241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Observe que: </a:t>
            </a:r>
            <a:r>
              <a:rPr lang="pt-BR" dirty="0" smtClean="0"/>
              <a:t>mesmo sabendo que 23 é a soma máxima da posição 3 a 5, essa solução não “aproveita” essa informação. Insiste em ir com </a:t>
            </a:r>
            <a:r>
              <a:rPr lang="pt-BR" b="1" i="1" dirty="0" smtClean="0"/>
              <a:t>j</a:t>
            </a:r>
            <a:r>
              <a:rPr lang="pt-BR" dirty="0" smtClean="0"/>
              <a:t> da posição 2 até 5. 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1;	s = 0;	j = i;</a:t>
            </a:r>
            <a:endParaRPr lang="pt-BR" dirty="0"/>
          </a:p>
        </p:txBody>
      </p:sp>
      <p:grpSp>
        <p:nvGrpSpPr>
          <p:cNvPr id="4" name="Grupo 25"/>
          <p:cNvGrpSpPr/>
          <p:nvPr/>
        </p:nvGrpSpPr>
        <p:grpSpPr>
          <a:xfrm>
            <a:off x="1835696" y="1124744"/>
            <a:ext cx="6984776" cy="936104"/>
            <a:chOff x="1835696" y="1124744"/>
            <a:chExt cx="6984776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1835696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2247806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- 3</a:t>
              </a:r>
            </a:p>
            <a:p>
              <a:r>
                <a:rPr lang="pt-BR" dirty="0" smtClean="0"/>
                <a:t>s &gt; x? 	- 3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59819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6" name="Grupo 26"/>
          <p:cNvGrpSpPr/>
          <p:nvPr/>
        </p:nvGrpSpPr>
        <p:grpSpPr>
          <a:xfrm>
            <a:off x="1907704" y="2276872"/>
            <a:ext cx="6912768" cy="936104"/>
            <a:chOff x="1907704" y="2276872"/>
            <a:chExt cx="6912768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28964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- 3 - 6 =  - 9</a:t>
              </a:r>
            </a:p>
            <a:p>
              <a:r>
                <a:rPr lang="pt-BR" dirty="0" smtClean="0"/>
                <a:t>s &gt; x? 	- 9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1907704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2843808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6910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aixaDeTexto 14"/>
          <p:cNvSpPr txBox="1"/>
          <p:nvPr/>
        </p:nvSpPr>
        <p:spPr>
          <a:xfrm>
            <a:off x="6372200" y="3382540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 = - 9 + 20 = 11</a:t>
            </a:r>
          </a:p>
          <a:p>
            <a:r>
              <a:rPr lang="pt-BR" dirty="0" smtClean="0"/>
              <a:t>s &gt; x? 	11 &gt; 23?	(F)</a:t>
            </a:r>
          </a:p>
          <a:p>
            <a:r>
              <a:rPr lang="pt-BR" dirty="0" smtClean="0"/>
              <a:t>	</a:t>
            </a:r>
            <a:r>
              <a:rPr lang="pt-BR" b="1" dirty="0" smtClean="0">
                <a:solidFill>
                  <a:srgbClr val="FF0000"/>
                </a:solidFill>
              </a:rPr>
              <a:t>x = 23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959774" y="33697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3779912" y="33697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7" name="Grupo 27"/>
          <p:cNvGrpSpPr/>
          <p:nvPr/>
        </p:nvGrpSpPr>
        <p:grpSpPr>
          <a:xfrm>
            <a:off x="1979712" y="4593902"/>
            <a:ext cx="6840760" cy="936104"/>
            <a:chOff x="1979712" y="4593902"/>
            <a:chExt cx="6840760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11 + 3 = 14</a:t>
              </a:r>
            </a:p>
            <a:p>
              <a:r>
                <a:rPr lang="pt-BR" dirty="0" smtClean="0"/>
                <a:t>s &gt; x? 	14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979712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4696078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8" name="Grupo 28"/>
          <p:cNvGrpSpPr/>
          <p:nvPr/>
        </p:nvGrpSpPr>
        <p:grpSpPr>
          <a:xfrm>
            <a:off x="1979712" y="5733256"/>
            <a:ext cx="6840760" cy="936104"/>
            <a:chOff x="1979712" y="5733256"/>
            <a:chExt cx="6840760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14 + (- 4) = 10</a:t>
              </a:r>
            </a:p>
            <a:p>
              <a:r>
                <a:rPr lang="pt-BR" dirty="0" smtClean="0"/>
                <a:t>s &gt; x? 	10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197971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sp>
        <p:nvSpPr>
          <p:cNvPr id="30" name="CaixaDeTexto 29"/>
          <p:cNvSpPr txBox="1"/>
          <p:nvPr/>
        </p:nvSpPr>
        <p:spPr>
          <a:xfrm>
            <a:off x="4644008" y="188640"/>
            <a:ext cx="4248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C00000"/>
                </a:solidFill>
              </a:rPr>
              <a:t>Quando </a:t>
            </a:r>
            <a:r>
              <a:rPr lang="pt-BR" b="1" i="1" dirty="0" smtClean="0">
                <a:solidFill>
                  <a:srgbClr val="C00000"/>
                </a:solidFill>
              </a:rPr>
              <a:t>j</a:t>
            </a:r>
            <a:r>
              <a:rPr lang="pt-BR" dirty="0" smtClean="0">
                <a:solidFill>
                  <a:srgbClr val="C00000"/>
                </a:solidFill>
              </a:rPr>
              <a:t> chega a posição 3 (já sei que de 3 a 5 soma máx.= 23) e a soma </a:t>
            </a:r>
            <a:r>
              <a:rPr lang="pt-BR" b="1" dirty="0" smtClean="0">
                <a:solidFill>
                  <a:srgbClr val="C00000"/>
                </a:solidFill>
              </a:rPr>
              <a:t>s </a:t>
            </a:r>
            <a:r>
              <a:rPr lang="pt-BR" dirty="0" smtClean="0">
                <a:solidFill>
                  <a:srgbClr val="C00000"/>
                </a:solidFill>
              </a:rPr>
              <a:t>é negativa (-9), valeria a pena continuar?</a:t>
            </a:r>
            <a:endParaRPr lang="pt-BR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0;	s = 0;	j = i;</a:t>
            </a:r>
            <a:endParaRPr lang="pt-BR" dirty="0"/>
          </a:p>
        </p:txBody>
      </p:sp>
      <p:grpSp>
        <p:nvGrpSpPr>
          <p:cNvPr id="4" name="Grupo 30"/>
          <p:cNvGrpSpPr/>
          <p:nvPr/>
        </p:nvGrpSpPr>
        <p:grpSpPr>
          <a:xfrm>
            <a:off x="971600" y="1124744"/>
            <a:ext cx="7848872" cy="936104"/>
            <a:chOff x="971600" y="1124744"/>
            <a:chExt cx="7848872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97160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138371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13</a:t>
              </a:r>
            </a:p>
            <a:p>
              <a:r>
                <a:rPr lang="pt-BR" dirty="0" smtClean="0"/>
                <a:t>s &gt; x? 	13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2973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0" name="Grupo 29"/>
          <p:cNvGrpSpPr/>
          <p:nvPr/>
        </p:nvGrpSpPr>
        <p:grpSpPr>
          <a:xfrm>
            <a:off x="1043608" y="1916832"/>
            <a:ext cx="7776864" cy="995338"/>
            <a:chOff x="1043608" y="1916832"/>
            <a:chExt cx="7776864" cy="995338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198884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13 - 3 =  10</a:t>
              </a:r>
            </a:p>
            <a:p>
              <a:r>
                <a:rPr lang="pt-BR" dirty="0" smtClean="0"/>
                <a:t>s &gt; x? 	10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1043608" y="191683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1979712" y="191683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17426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1" name="Grupo 31"/>
          <p:cNvGrpSpPr/>
          <p:nvPr/>
        </p:nvGrpSpPr>
        <p:grpSpPr>
          <a:xfrm>
            <a:off x="1095678" y="2852936"/>
            <a:ext cx="7724794" cy="936104"/>
            <a:chOff x="1095678" y="2852936"/>
            <a:chExt cx="7724794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286571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10 - 6 = 4</a:t>
              </a:r>
            </a:p>
            <a:p>
              <a:r>
                <a:rPr lang="pt-BR" dirty="0" smtClean="0"/>
                <a:t>s &gt; x? 	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1095678" y="285293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2915816" y="285293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110367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2" name="Grupo 32"/>
          <p:cNvGrpSpPr/>
          <p:nvPr/>
        </p:nvGrpSpPr>
        <p:grpSpPr>
          <a:xfrm>
            <a:off x="1115616" y="3789040"/>
            <a:ext cx="7704856" cy="936104"/>
            <a:chOff x="1115616" y="3789040"/>
            <a:chExt cx="7704856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3801814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4 + 20 = 24</a:t>
              </a:r>
            </a:p>
            <a:p>
              <a:r>
                <a:rPr lang="pt-BR" dirty="0" smtClean="0"/>
                <a:t>s &gt; x? 	24 &gt; 23?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24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115616" y="3789040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3831982" y="3789040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3" name="Grupo 34"/>
          <p:cNvGrpSpPr/>
          <p:nvPr/>
        </p:nvGrpSpPr>
        <p:grpSpPr>
          <a:xfrm>
            <a:off x="1115616" y="5733256"/>
            <a:ext cx="7704856" cy="936104"/>
            <a:chOff x="1115616" y="5733256"/>
            <a:chExt cx="7704856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27 + (- 4) = 23</a:t>
              </a:r>
            </a:p>
            <a:p>
              <a:r>
                <a:rPr lang="pt-BR" dirty="0" smtClean="0"/>
                <a:t>s &gt; x? 	23 &gt; 27?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27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1115616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6" name="Tabela 25"/>
          <p:cNvGraphicFramePr>
            <a:graphicFrameLocks noGrp="1"/>
          </p:cNvGraphicFramePr>
          <p:nvPr/>
        </p:nvGraphicFramePr>
        <p:xfrm>
          <a:off x="755576" y="50464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115615" y="4725144"/>
            <a:ext cx="7704856" cy="936104"/>
            <a:chOff x="1115615" y="4725144"/>
            <a:chExt cx="7704856" cy="936104"/>
          </a:xfrm>
        </p:grpSpPr>
        <p:sp>
          <p:nvSpPr>
            <p:cNvPr id="27" name="CaixaDeTexto 26"/>
            <p:cNvSpPr txBox="1"/>
            <p:nvPr/>
          </p:nvSpPr>
          <p:spPr>
            <a:xfrm>
              <a:off x="6372199" y="47379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24 + 3 = 27</a:t>
              </a:r>
            </a:p>
            <a:p>
              <a:r>
                <a:rPr lang="pt-BR" dirty="0" smtClean="0"/>
                <a:t>s &gt; x? 	27 &gt; 24?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27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1115615" y="47251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4768085" y="47251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Solução com Programação Dinâmica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 vetor auxiliar para armazenar a soma máxima do início do vetor a partir do índice (com ele inclusive!) até o início do vetor.</a:t>
            </a:r>
          </a:p>
          <a:p>
            <a:r>
              <a:rPr lang="pt-BR" dirty="0" smtClean="0"/>
              <a:t>Considera o “conhecimento” anterior para otimizar os cálculos;</a:t>
            </a:r>
          </a:p>
          <a:p>
            <a:r>
              <a:rPr lang="pt-BR" dirty="0" smtClean="0"/>
              <a:t>Quando a soma máxima é menor que zero, não a utiliza no próximo passo, começa com novo item.</a:t>
            </a:r>
          </a:p>
          <a:p>
            <a:endParaRPr lang="pt-BR" dirty="0" smtClean="0"/>
          </a:p>
          <a:p>
            <a:r>
              <a:rPr lang="pt-BR" dirty="0" smtClean="0"/>
              <a:t>Exemplo: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331641" y="539721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Solução com Programação Dinâmica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1560" y="1268760"/>
            <a:ext cx="8136904" cy="547260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 dirty="0" smtClean="0"/>
              <a:t>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F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F[0] = A[0] </a:t>
            </a:r>
            <a:r>
              <a:rPr lang="pt-BR" dirty="0" smtClean="0">
                <a:sym typeface="Wingdings" pitchFamily="2" charset="2"/>
              </a:rPr>
              <a:t> Soma máxima de 0 a 0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F[0] &gt; 0?  valores positivos me interessam!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F[1] = 13 -3 = 10 (melhor que apenas -3)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Estou sempre comparando o valor da minha posição com o acumulado até o momento!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F[1] &gt; 0?  F[2] = 10 – 25 = -15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F[2] &gt; 0?  F[3] = A[3] = 20 (20 é melhor que 5!)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F[3] &gt; 0?  F[4] = 20+3 = 23</a:t>
            </a:r>
          </a:p>
          <a:p>
            <a:pPr>
              <a:buNone/>
            </a:pPr>
            <a:r>
              <a:rPr lang="pt-BR" dirty="0" smtClean="0">
                <a:sym typeface="Wingdings" pitchFamily="2" charset="2"/>
              </a:rPr>
              <a:t>F[4] &gt; 0?  F[5] = 23-4 = 19	</a:t>
            </a:r>
          </a:p>
          <a:p>
            <a:pPr algn="r">
              <a:buNone/>
            </a:pPr>
            <a:r>
              <a:rPr lang="pt-BR" b="1" dirty="0" smtClean="0">
                <a:solidFill>
                  <a:srgbClr val="C00000"/>
                </a:solidFill>
                <a:sym typeface="Wingdings" pitchFamily="2" charset="2"/>
              </a:rPr>
              <a:t>Qual a soma máxima???</a:t>
            </a:r>
            <a:endParaRPr lang="pt-BR" b="1" dirty="0" smtClean="0">
              <a:solidFill>
                <a:srgbClr val="C00000"/>
              </a:solidFill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403648" y="1268760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403648" y="2060848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- Soma máxima (PD)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484784"/>
            <a:ext cx="5040560" cy="450844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Atividade 27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Simule o algoritmo dado para o seguinte vetor: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A</a:t>
            </a:r>
          </a:p>
          <a:p>
            <a:endParaRPr lang="pt-BR" dirty="0" smtClean="0"/>
          </a:p>
          <a:p>
            <a:r>
              <a:rPr lang="pt-BR" dirty="0" smtClean="0"/>
              <a:t>Qual a eficiência desta solução?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512942"/>
              </p:ext>
            </p:extLst>
          </p:nvPr>
        </p:nvGraphicFramePr>
        <p:xfrm>
          <a:off x="1475657" y="2348880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Trabalho – Valendo nota 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149552"/>
          </a:xfrm>
        </p:spPr>
        <p:txBody>
          <a:bodyPr>
            <a:normAutofit/>
          </a:bodyPr>
          <a:lstStyle/>
          <a:p>
            <a:r>
              <a:rPr lang="pt-BR" dirty="0" smtClean="0"/>
              <a:t>Pesquise outros Problemas que podem utilizar a técnica de Programação Dinâmica para otimizar o desempenho de sua solução.</a:t>
            </a:r>
          </a:p>
          <a:p>
            <a:r>
              <a:rPr lang="pt-BR" dirty="0" smtClean="0"/>
              <a:t>Exemplo: </a:t>
            </a:r>
          </a:p>
          <a:p>
            <a:pPr lvl="1"/>
            <a:r>
              <a:rPr lang="pt-BR" dirty="0" smtClean="0"/>
              <a:t>Corte de Hastes</a:t>
            </a:r>
          </a:p>
          <a:p>
            <a:pPr lvl="1"/>
            <a:r>
              <a:rPr lang="pt-BR" dirty="0" smtClean="0"/>
              <a:t>Multiplicação de cadeia de Matrizes</a:t>
            </a:r>
          </a:p>
          <a:p>
            <a:pPr lvl="1"/>
            <a:r>
              <a:rPr lang="pt-BR" dirty="0" smtClean="0"/>
              <a:t>Problema da mochila</a:t>
            </a:r>
          </a:p>
          <a:p>
            <a:pPr lvl="1"/>
            <a:r>
              <a:rPr lang="pt-BR" dirty="0" smtClean="0"/>
              <a:t>Cap. 15 do </a:t>
            </a:r>
            <a:r>
              <a:rPr lang="pt-BR" dirty="0" err="1" smtClean="0"/>
              <a:t>Cormen</a:t>
            </a:r>
            <a:r>
              <a:rPr lang="pt-BR" dirty="0" smtClean="0"/>
              <a:t> tem vários </a:t>
            </a:r>
          </a:p>
          <a:p>
            <a:r>
              <a:rPr lang="pt-BR" dirty="0" smtClean="0"/>
              <a:t>Escolha um dos problemas e desenvolva o seu trabalho incluindo como a PD é utilizada e codificando a solução com linguagem C. Faça a análise de eficiência do seu algoritmo.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3652</TotalTime>
  <Words>1063</Words>
  <Application>Microsoft Office PowerPoint</Application>
  <PresentationFormat>Apresentação na tela (4:3)</PresentationFormat>
  <Paragraphs>349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Calibri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Programação Dinâmica</vt:lpstr>
      <vt:lpstr>Atividade para próxima aula</vt:lpstr>
      <vt:lpstr>Relembrando... Força Bruta</vt:lpstr>
      <vt:lpstr>Algoritmo soma_max</vt:lpstr>
      <vt:lpstr>Simulação</vt:lpstr>
      <vt:lpstr>Simulação</vt:lpstr>
      <vt:lpstr>Simulação</vt:lpstr>
      <vt:lpstr>Simulação</vt:lpstr>
      <vt:lpstr>Solução com Programação Dinâmica</vt:lpstr>
      <vt:lpstr>Solução com Programação Dinâmica</vt:lpstr>
      <vt:lpstr>Solução - Soma máxima (PD)</vt:lpstr>
      <vt:lpstr>Atividade 27</vt:lpstr>
      <vt:lpstr>Trabalho – Valendo nota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239</cp:revision>
  <dcterms:created xsi:type="dcterms:W3CDTF">2011-02-25T18:12:46Z</dcterms:created>
  <dcterms:modified xsi:type="dcterms:W3CDTF">2016-06-03T23:45:20Z</dcterms:modified>
</cp:coreProperties>
</file>