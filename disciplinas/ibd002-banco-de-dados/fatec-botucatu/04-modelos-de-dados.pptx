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4" r:id="rId10"/>
    <p:sldId id="273" r:id="rId11"/>
    <p:sldId id="266" r:id="rId12"/>
    <p:sldId id="274" r:id="rId13"/>
    <p:sldId id="267" r:id="rId14"/>
    <p:sldId id="280" r:id="rId15"/>
    <p:sldId id="268" r:id="rId16"/>
    <p:sldId id="277" r:id="rId17"/>
    <p:sldId id="271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0.xml"/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54451F-6D11-25B3-1657-CDFA2B55387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18E7048-9A38-0017-74BC-FF066A8BB2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519523F-12DF-DB4F-7264-F5EBE5C4D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057BD2C-A8AC-8D90-9493-2026A4CF1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D392A6C-CF84-4068-CF99-7BEA5357C7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DB8295C-E6BB-F759-1A34-DD110458B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B94B13-402C-47BF-6878-66E9123BB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5ECD0774-4EFE-C385-78B9-4C713C5E2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B6AFBDFA-1C00-DB26-41C1-85ED3C1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8CD17D7-5AFA-8861-A720-D76E6C60FF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7622097-CD1B-C8F7-0F2F-A7E7485D3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D40F553-9DCD-9DBF-3DD2-8305AB2E5E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9D253CA-316A-1AE7-450C-A26BED8A8F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D40087B-5832-4D26-8113-660712A7D9A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918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666B5AA-B7DD-0F2F-CE1F-C6499A9683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601D13D-9724-6264-C503-0C5F05F735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E3D77B-E3C8-BBA8-BA3F-36071413A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6F36CE-7A20-4350-925A-C07D89BBF6B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0631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D0F4D04-9DAE-3528-4DEC-737026CD01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68E2CB9-FEED-A4F5-D97C-430A371249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7F232D0-E75C-ABDC-E5C1-0CDC88B075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1D10F3-2A5E-4B64-88BA-5C75E428BDE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7970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C2AB05A-5E3A-4760-0F37-B50F484E92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5FF99C2-8ED9-0193-6863-224BB91C64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4B45807-4419-17A4-F7DB-95251C98D4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9FA1DA-6FD3-429A-B82D-1119FCFC9CA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5467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B521D62-2B6F-D71A-4519-40D950E4B2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467C6E8-02DB-4B24-3117-1230595827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FF1D342-52B6-ED83-AAE9-EF37B5391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A921B8-2D50-4FB0-A57F-A709F84823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121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6EC8D7E-9D6D-1BAF-7705-18BE27167C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D7AE7FA-6DCF-8F2F-EDE8-3952AC84E9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CDF2C36-7593-0CE7-ECB2-84AE30B84C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47AD12-787D-4F5F-87C3-71D1591CDB9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4426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7A4CADB-04C5-0E99-3DDF-56111084C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3AF8945-44AC-9A1D-AA41-F89E8DCB10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F6BF359-9EF6-097D-701A-504EBCF309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F303DE-77AB-4BC3-A7F4-42F612F4D6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006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33C4A40-5ED5-761B-3AEC-01D4DF550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F6A16FD-F386-EE0B-87FE-6EA3B6A65E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3E18946-30C9-4080-0883-F43545F764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AFD4A-F84E-41BD-B5AA-A9F83A8F3E3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5579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EB8BC9-A38C-DCDB-F419-1F85D8E17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54823E-D870-81DB-628D-4208A0B32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10C996E-B15A-2397-AE8A-FBBD4AED63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F29407-E937-48E9-92F0-A4A0D148E61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819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A3EC8D1-0821-F9C1-C15A-3CE48BD85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15A698A-CDDA-6F93-2F2D-3B5B427628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83342D0-EB85-F527-C849-83DEE6384D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6B1644-F719-476B-9DCA-6B2B640C1B4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93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65B2BC8-F42A-DCB2-829B-0E3FD4D55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C1F8EA9-931B-A936-206C-724F6CF0D4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FA184B7-2C2F-CCF0-E7E1-C655F303FE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EA89CE-E8A5-4641-9CA3-7A93F4C58F3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7510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FC0C91-682D-62BF-8229-7E63E05C4A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5E542B2-4470-06B7-2CBE-28F6F36BB5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3C04483-6E1E-8D95-8D25-FDA0949BCC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83DEF052-9DA6-ADD3-12BC-AB9A989785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A5D669BE-7852-1DE5-A7EB-6B445B8802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C168DE9C-12D9-10AA-77C3-5E342AB070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BFB77259-150F-F23A-8782-D21622E1ED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CD7B4EC-2B9B-ADCC-BE6B-8ADDCD25D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368CDA1B-029F-10AD-A9FB-CB7D09B74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5B75A775-328C-9E64-D3BC-67B4FF8E51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B931F60F-979E-79AD-9980-7C43DBC0C0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CDF1BDED-2608-3281-64E6-D7A232A270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23FCFA8-2E8C-4529-93F4-394FB70BAD4C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49193D8-CE4B-0AB1-6969-A1D24E94E8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514600"/>
            <a:ext cx="7772400" cy="1143000"/>
          </a:xfrm>
        </p:spPr>
        <p:txBody>
          <a:bodyPr/>
          <a:lstStyle/>
          <a:p>
            <a:pPr algn="ctr" eaLnBrk="1" hangingPunct="1"/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  <a:br>
              <a:rPr lang="pt-BR" altLang="pt-BR" b="1">
                <a:cs typeface="Arial" panose="020B0604020202020204" pitchFamily="34" charset="0"/>
              </a:rPr>
            </a:br>
            <a:endParaRPr lang="pt-BR" altLang="pt-BR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3F1AB8F-38B3-1D17-8C39-DEFC7276C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1143000"/>
            <a:ext cx="5029200" cy="609600"/>
          </a:xfrm>
        </p:spPr>
        <p:txBody>
          <a:bodyPr/>
          <a:lstStyle/>
          <a:p>
            <a:pPr eaLnBrk="1" hangingPunct="1"/>
            <a:r>
              <a:rPr lang="pt-BR" altLang="pt-BR" sz="4000" b="1">
                <a:latin typeface="Times New Roman" panose="02020603050405020304" pitchFamily="18" charset="0"/>
                <a:cs typeface="Arial" panose="020B0604020202020204" pitchFamily="34" charset="0"/>
              </a:rPr>
              <a:t>Abordagem inicial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1E2D265-9E2B-D69D-A09B-353378F00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743200"/>
            <a:ext cx="8153400" cy="34290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Tx/>
              <a:buChar char="•"/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conceito de Modelo é importante no processo de desenvolvimento de sistemas de informação;</a:t>
            </a:r>
          </a:p>
          <a:p>
            <a:pPr marL="0" indent="0" eaLnBrk="1" hangingPunct="1">
              <a:buClr>
                <a:schemeClr val="tx1"/>
              </a:buClr>
              <a:buSzTx/>
              <a:buNone/>
            </a:pPr>
            <a:endParaRPr lang="pt-BR" alt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Tx/>
              <a:buFontTx/>
              <a:buChar char="•"/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Modelos são formas de </a:t>
            </a:r>
            <a:r>
              <a:rPr lang="pt-BR" altLang="pt-BR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REPRESENTAÇÃO</a:t>
            </a: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altLang="pt-BR" sz="2800" dirty="0">
              <a:latin typeface="Times New Roman" panose="02020603050405020304" pitchFamily="18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7D6E74B-69B3-431E-C847-0DC70834F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23196E41-339D-3F1A-0950-0F3B7965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815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br>
              <a:rPr lang="pt-BR" alt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A06B4E57-7AB8-1A08-5F01-FB43941BC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815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Podemos usar várias formas de apresentar um modelo</a:t>
            </a:r>
          </a:p>
          <a:p>
            <a:pPr eaLnBrk="1" hangingPunct="1">
              <a:spcBef>
                <a:spcPct val="20000"/>
              </a:spcBef>
            </a:pPr>
            <a:endParaRPr lang="pt-BR" alt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Escrita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Desenhos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Fotos;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Gravações em fitas de </a:t>
            </a:r>
            <a:r>
              <a:rPr lang="pt-BR" altLang="pt-B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r>
              <a:rPr lang="pt-BR" alt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mesmo de TV.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Rectangle 9">
            <a:extLst>
              <a:ext uri="{FF2B5EF4-FFF2-40B4-BE49-F238E27FC236}">
                <a16:creationId xmlns:a16="http://schemas.microsoft.com/office/drawing/2014/main" id="{BB1155B9-33FA-8270-D58C-03DC6733D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624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Formas de Apresentação</a:t>
            </a:r>
          </a:p>
        </p:txBody>
      </p:sp>
      <p:sp>
        <p:nvSpPr>
          <p:cNvPr id="5125" name="Rectangle 10">
            <a:extLst>
              <a:ext uri="{FF2B5EF4-FFF2-40B4-BE49-F238E27FC236}">
                <a16:creationId xmlns:a16="http://schemas.microsoft.com/office/drawing/2014/main" id="{5A6501D7-D76F-71A4-D0DB-2E47656F6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1C1F1DDA-17F2-C83B-673B-82DFBC5DC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9812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endParaRPr lang="pt-BR" alt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Todas estas formas são modelos (no sentido amplo da palavra);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Podemos estimar a qualidade de um modelo por um fator bem simples:</a:t>
            </a:r>
          </a:p>
          <a:p>
            <a:pPr eaLnBrk="1" hangingPunct="1">
              <a:spcBef>
                <a:spcPct val="20000"/>
              </a:spcBef>
            </a:pPr>
            <a:endParaRPr lang="pt-BR" alt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pt-BR" altLang="pt-B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Quanto menos desvios de interpretação, melhores são!!</a:t>
            </a:r>
            <a:endParaRPr lang="pt-BR" alt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E847CCD5-1CD8-1F95-1737-636BA7562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624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Formas de Apresentação</a:t>
            </a: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9E47F3B8-F542-65F9-6EA0-3E3542BA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CD0D55CD-D3B0-48F6-878E-1AD805785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21336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Para os SIs. Modelos são os moldes de construção;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Servem para representar a forma como dados e processos estão organizados;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Fazendo uma analogia bem simples, são os desenhos das peças que um alfaiate vai fazer para uma pessoa;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desenvolvimento de SIs, usamos modelos para representar os DADOS e os PROCESSOS.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F263046D-C664-1F9E-0775-786DE1F19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e os Sistemas de Informação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02E0970C-A634-0311-D057-686CAC23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033F7565-E444-EB03-8A05-1E0A0B473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21336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As formas podem ser variadas, tanto texto quanto figuras ou diagramas;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 Quando vamos representar uma realidade qualquer a abordagem clássica nos leva a tentar compreender dois aspectos básicos do sistema real:</a:t>
            </a:r>
          </a:p>
          <a:p>
            <a:pPr lvl="2" eaLnBrk="1" hangingPunct="1">
              <a:spcBef>
                <a:spcPct val="20000"/>
              </a:spcBef>
              <a:buFontTx/>
              <a:buChar char="-"/>
            </a:pPr>
            <a:r>
              <a:rPr lang="pt-BR" altLang="pt-B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quais são os processos que estão agindo e</a:t>
            </a:r>
          </a:p>
          <a:p>
            <a:pPr lvl="2" eaLnBrk="1" hangingPunct="1">
              <a:spcBef>
                <a:spcPct val="20000"/>
              </a:spcBef>
              <a:buFontTx/>
              <a:buChar char="-"/>
            </a:pPr>
            <a:r>
              <a:rPr lang="pt-BR" altLang="pt-B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sobre quais dados estes processos agem.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D5CD244D-CD63-0C0C-57C2-19BDCBDC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e os Sistemas de Informação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F8029432-EC8D-CE23-4951-AC2B34053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245133B8-99D8-B3F8-9107-A88038300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21336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 o sistema real se apresenta complexo podemos delimitar as áreas funcionais numa tentativa de simplificar a compreensão e posterior representação;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Para cada área funcional percebida abordamos novamente dados e processos até que tenhamos plena compreensão do sistema real;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Podemos então representar dados e processo de cada Área Funcional.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pt-BR" altLang="pt-BR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32372A33-0769-9F9F-203C-0E469B247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e os Sistemas de Informação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C901BDC8-BF97-785D-1396-DE5EC23D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2">
            <a:extLst>
              <a:ext uri="{FF2B5EF4-FFF2-40B4-BE49-F238E27FC236}">
                <a16:creationId xmlns:a16="http://schemas.microsoft.com/office/drawing/2014/main" id="{A8F235E1-58C8-08A4-A091-D996512AE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060575"/>
            <a:ext cx="4464050" cy="647700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90E0A78F-9591-B8FE-FC22-ED7C3F572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215900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718341B4-A2FB-0CBA-25DA-33A812C65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215900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D4DB5E8-985E-6AF3-9412-55C0FFB9D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159000"/>
            <a:ext cx="6572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439614FE-5216-22E2-1751-7BDDC325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159000"/>
            <a:ext cx="655637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0247" name="Rectangle 17">
            <a:extLst>
              <a:ext uri="{FF2B5EF4-FFF2-40B4-BE49-F238E27FC236}">
                <a16:creationId xmlns:a16="http://schemas.microsoft.com/office/drawing/2014/main" id="{17E5DDD7-FFB5-75C0-600E-9A78903B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0248" name="Rectangle 18">
            <a:extLst>
              <a:ext uri="{FF2B5EF4-FFF2-40B4-BE49-F238E27FC236}">
                <a16:creationId xmlns:a16="http://schemas.microsoft.com/office/drawing/2014/main" id="{DA98325F-E270-355E-784C-B2A05A344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de Dados no Des. de SI.</a:t>
            </a:r>
          </a:p>
        </p:txBody>
      </p:sp>
      <p:sp>
        <p:nvSpPr>
          <p:cNvPr id="10249" name="Rectangle 19">
            <a:extLst>
              <a:ext uri="{FF2B5EF4-FFF2-40B4-BE49-F238E27FC236}">
                <a16:creationId xmlns:a16="http://schemas.microsoft.com/office/drawing/2014/main" id="{9540C0BD-8014-E994-8A68-8F326E32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357563"/>
            <a:ext cx="8458200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Dividimos a organização em partes menores: as Áreas Funcionais.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Qual o Objetivo da Organização?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Como é alcançado?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Estas perguntas podem nos indicar uma possível divisão das AFs.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val 7">
            <a:extLst>
              <a:ext uri="{FF2B5EF4-FFF2-40B4-BE49-F238E27FC236}">
                <a16:creationId xmlns:a16="http://schemas.microsoft.com/office/drawing/2014/main" id="{2657CF52-DC84-8179-60E3-5376843E6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060575"/>
            <a:ext cx="4464050" cy="647700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1267" name="Text Box 8">
            <a:extLst>
              <a:ext uri="{FF2B5EF4-FFF2-40B4-BE49-F238E27FC236}">
                <a16:creationId xmlns:a16="http://schemas.microsoft.com/office/drawing/2014/main" id="{69773568-E29D-D899-DCE4-54B028478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215900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1268" name="Text Box 9">
            <a:extLst>
              <a:ext uri="{FF2B5EF4-FFF2-40B4-BE49-F238E27FC236}">
                <a16:creationId xmlns:a16="http://schemas.microsoft.com/office/drawing/2014/main" id="{80F63175-3EBB-30BC-697C-5F7A74719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215900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1269" name="Text Box 10">
            <a:extLst>
              <a:ext uri="{FF2B5EF4-FFF2-40B4-BE49-F238E27FC236}">
                <a16:creationId xmlns:a16="http://schemas.microsoft.com/office/drawing/2014/main" id="{5A170866-D321-6E7C-FDA5-46F114A99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159000"/>
            <a:ext cx="6572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1270" name="Text Box 11">
            <a:extLst>
              <a:ext uri="{FF2B5EF4-FFF2-40B4-BE49-F238E27FC236}">
                <a16:creationId xmlns:a16="http://schemas.microsoft.com/office/drawing/2014/main" id="{B0671813-D48A-0B1A-BF73-40395352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159000"/>
            <a:ext cx="655637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1271" name="Line 13">
            <a:extLst>
              <a:ext uri="{FF2B5EF4-FFF2-40B4-BE49-F238E27FC236}">
                <a16:creationId xmlns:a16="http://schemas.microsoft.com/office/drawing/2014/main" id="{E68DB6AF-E21D-AD7B-40B7-251F638CE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2" name="Line 14">
            <a:extLst>
              <a:ext uri="{FF2B5EF4-FFF2-40B4-BE49-F238E27FC236}">
                <a16:creationId xmlns:a16="http://schemas.microsoft.com/office/drawing/2014/main" id="{6967D6BE-008D-5640-4D28-CB8D9B9CD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3" name="Line 15">
            <a:extLst>
              <a:ext uri="{FF2B5EF4-FFF2-40B4-BE49-F238E27FC236}">
                <a16:creationId xmlns:a16="http://schemas.microsoft.com/office/drawing/2014/main" id="{7A6A7B18-7F17-57C7-691B-C20E9E945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1888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4" name="Line 16">
            <a:extLst>
              <a:ext uri="{FF2B5EF4-FFF2-40B4-BE49-F238E27FC236}">
                <a16:creationId xmlns:a16="http://schemas.microsoft.com/office/drawing/2014/main" id="{D1A7ED5A-4E17-3320-B730-875FA785F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5825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5" name="Line 17">
            <a:extLst>
              <a:ext uri="{FF2B5EF4-FFF2-40B4-BE49-F238E27FC236}">
                <a16:creationId xmlns:a16="http://schemas.microsoft.com/office/drawing/2014/main" id="{192A298C-83F6-E213-4ADB-864AB567C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638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6" name="Line 18">
            <a:extLst>
              <a:ext uri="{FF2B5EF4-FFF2-40B4-BE49-F238E27FC236}">
                <a16:creationId xmlns:a16="http://schemas.microsoft.com/office/drawing/2014/main" id="{0A2B7397-C670-250E-AF88-D6466F0A3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1575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7" name="Line 19">
            <a:extLst>
              <a:ext uri="{FF2B5EF4-FFF2-40B4-BE49-F238E27FC236}">
                <a16:creationId xmlns:a16="http://schemas.microsoft.com/office/drawing/2014/main" id="{91DB4843-2DBF-7186-814F-4C927E15E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800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8" name="Line 20">
            <a:extLst>
              <a:ext uri="{FF2B5EF4-FFF2-40B4-BE49-F238E27FC236}">
                <a16:creationId xmlns:a16="http://schemas.microsoft.com/office/drawing/2014/main" id="{708C8123-C82B-2C25-2E02-B83ABA816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56540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9" name="Text Box 52">
            <a:extLst>
              <a:ext uri="{FF2B5EF4-FFF2-40B4-BE49-F238E27FC236}">
                <a16:creationId xmlns:a16="http://schemas.microsoft.com/office/drawing/2014/main" id="{92B90E52-6A5F-FA46-B075-ED432C41F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9098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11280" name="Rectangle 56">
            <a:extLst>
              <a:ext uri="{FF2B5EF4-FFF2-40B4-BE49-F238E27FC236}">
                <a16:creationId xmlns:a16="http://schemas.microsoft.com/office/drawing/2014/main" id="{4EDDC8F1-AC95-1482-30EC-321EB9BAD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644900"/>
            <a:ext cx="84582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Fazemos a análise de cada parte das áreas funcionais. 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Para entender </a:t>
            </a:r>
            <a:r>
              <a:rPr lang="pt-BR" altLang="pt-BR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focamos “O que é processado”?  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E para </a:t>
            </a:r>
            <a:r>
              <a:rPr lang="pt-BR" altLang="pt-BR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Processos</a:t>
            </a: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focamos “Como é processado”?</a:t>
            </a:r>
          </a:p>
          <a:p>
            <a:pPr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Representamos cada área funcional</a:t>
            </a: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281" name="Rectangle 57">
            <a:extLst>
              <a:ext uri="{FF2B5EF4-FFF2-40B4-BE49-F238E27FC236}">
                <a16:creationId xmlns:a16="http://schemas.microsoft.com/office/drawing/2014/main" id="{E7D90580-E102-0FB5-DFDD-32CD1512B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1282" name="Rectangle 58">
            <a:extLst>
              <a:ext uri="{FF2B5EF4-FFF2-40B4-BE49-F238E27FC236}">
                <a16:creationId xmlns:a16="http://schemas.microsoft.com/office/drawing/2014/main" id="{2FA3E451-0960-7E74-BBD6-77FCBC359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de Dados no Des. de 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val 3">
            <a:extLst>
              <a:ext uri="{FF2B5EF4-FFF2-40B4-BE49-F238E27FC236}">
                <a16:creationId xmlns:a16="http://schemas.microsoft.com/office/drawing/2014/main" id="{1C1B2E28-6CAF-5E01-24CE-5B9885E2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036763"/>
            <a:ext cx="5089525" cy="5762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2291" name="Text Box 4">
            <a:extLst>
              <a:ext uri="{FF2B5EF4-FFF2-40B4-BE49-F238E27FC236}">
                <a16:creationId xmlns:a16="http://schemas.microsoft.com/office/drawing/2014/main" id="{5BD9DD20-BA18-3E15-2A99-55D4F1343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208438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D79D58AA-CDA6-26C3-D46C-CED97B121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208438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2293" name="Text Box 6">
            <a:extLst>
              <a:ext uri="{FF2B5EF4-FFF2-40B4-BE49-F238E27FC236}">
                <a16:creationId xmlns:a16="http://schemas.microsoft.com/office/drawing/2014/main" id="{3C82638D-8FE3-2ACE-C8A3-B896A0348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084388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 P</a:t>
            </a:r>
          </a:p>
        </p:txBody>
      </p:sp>
      <p:sp>
        <p:nvSpPr>
          <p:cNvPr id="12294" name="Text Box 7">
            <a:extLst>
              <a:ext uri="{FF2B5EF4-FFF2-40B4-BE49-F238E27FC236}">
                <a16:creationId xmlns:a16="http://schemas.microsoft.com/office/drawing/2014/main" id="{DD7767E9-A06E-1AE2-AD02-A80CC0655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084388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2295" name="Rectangle 8">
            <a:extLst>
              <a:ext uri="{FF2B5EF4-FFF2-40B4-BE49-F238E27FC236}">
                <a16:creationId xmlns:a16="http://schemas.microsoft.com/office/drawing/2014/main" id="{D4DA8DD3-33C3-BDBB-2C75-9A450237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973388"/>
            <a:ext cx="54991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2296" name="Line 9">
            <a:extLst>
              <a:ext uri="{FF2B5EF4-FFF2-40B4-BE49-F238E27FC236}">
                <a16:creationId xmlns:a16="http://schemas.microsoft.com/office/drawing/2014/main" id="{945C2D26-4CAD-E790-88EA-4E73249A41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62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7" name="Line 10">
            <a:extLst>
              <a:ext uri="{FF2B5EF4-FFF2-40B4-BE49-F238E27FC236}">
                <a16:creationId xmlns:a16="http://schemas.microsoft.com/office/drawing/2014/main" id="{3D967DF1-79BC-A742-FCED-6505BD34E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8" name="Line 11">
            <a:extLst>
              <a:ext uri="{FF2B5EF4-FFF2-40B4-BE49-F238E27FC236}">
                <a16:creationId xmlns:a16="http://schemas.microsoft.com/office/drawing/2014/main" id="{03813057-51A4-6066-5FDA-B6926B5C79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6325" y="2492375"/>
            <a:ext cx="0" cy="6969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9" name="Line 12">
            <a:extLst>
              <a:ext uri="{FF2B5EF4-FFF2-40B4-BE49-F238E27FC236}">
                <a16:creationId xmlns:a16="http://schemas.microsoft.com/office/drawing/2014/main" id="{E58F6AE0-33B1-35EB-E7FF-4BDBE5ED76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425" y="2470150"/>
            <a:ext cx="2540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300" name="Line 13">
            <a:extLst>
              <a:ext uri="{FF2B5EF4-FFF2-40B4-BE49-F238E27FC236}">
                <a16:creationId xmlns:a16="http://schemas.microsoft.com/office/drawing/2014/main" id="{74A12D2C-3380-F0C6-1EAA-267999D9D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301" name="Line 14">
            <a:extLst>
              <a:ext uri="{FF2B5EF4-FFF2-40B4-BE49-F238E27FC236}">
                <a16:creationId xmlns:a16="http://schemas.microsoft.com/office/drawing/2014/main" id="{4533C9D7-6B50-16AF-F6FD-83256DA22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1575" y="2470150"/>
            <a:ext cx="22225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302" name="Line 15">
            <a:extLst>
              <a:ext uri="{FF2B5EF4-FFF2-40B4-BE49-F238E27FC236}">
                <a16:creationId xmlns:a16="http://schemas.microsoft.com/office/drawing/2014/main" id="{E9275D3E-98D1-97EF-D174-D54237728A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303" name="Line 16">
            <a:extLst>
              <a:ext uri="{FF2B5EF4-FFF2-40B4-BE49-F238E27FC236}">
                <a16:creationId xmlns:a16="http://schemas.microsoft.com/office/drawing/2014/main" id="{8B7CF2DF-D768-8EED-4725-C2C7718D3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304" name="Text Box 17">
            <a:extLst>
              <a:ext uri="{FF2B5EF4-FFF2-40B4-BE49-F238E27FC236}">
                <a16:creationId xmlns:a16="http://schemas.microsoft.com/office/drawing/2014/main" id="{E912195F-EF1A-FE8B-06DF-957C9F94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3" y="3433763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12305" name="Text Box 42">
            <a:extLst>
              <a:ext uri="{FF2B5EF4-FFF2-40B4-BE49-F238E27FC236}">
                <a16:creationId xmlns:a16="http://schemas.microsoft.com/office/drawing/2014/main" id="{DE2B8356-74CB-22B0-34BD-9AE7D3EB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189288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2306" name="Text Box 43">
            <a:extLst>
              <a:ext uri="{FF2B5EF4-FFF2-40B4-BE49-F238E27FC236}">
                <a16:creationId xmlns:a16="http://schemas.microsoft.com/office/drawing/2014/main" id="{F124F3B8-6580-EEAB-01E6-77820F130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3189288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2307" name="Text Box 44">
            <a:extLst>
              <a:ext uri="{FF2B5EF4-FFF2-40B4-BE49-F238E27FC236}">
                <a16:creationId xmlns:a16="http://schemas.microsoft.com/office/drawing/2014/main" id="{9683FCEB-4308-84D1-AAE0-8BCACC656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3189288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2308" name="Text Box 45">
            <a:extLst>
              <a:ext uri="{FF2B5EF4-FFF2-40B4-BE49-F238E27FC236}">
                <a16:creationId xmlns:a16="http://schemas.microsoft.com/office/drawing/2014/main" id="{E0E8E25C-9DB6-C1C6-5153-1E0734DA6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3189288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2309" name="Text Box 48">
            <a:extLst>
              <a:ext uri="{FF2B5EF4-FFF2-40B4-BE49-F238E27FC236}">
                <a16:creationId xmlns:a16="http://schemas.microsoft.com/office/drawing/2014/main" id="{9F4FDE40-00E9-79A7-6354-16336B356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6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12310" name="Rectangle 52">
            <a:extLst>
              <a:ext uri="{FF2B5EF4-FFF2-40B4-BE49-F238E27FC236}">
                <a16:creationId xmlns:a16="http://schemas.microsoft.com/office/drawing/2014/main" id="{B9E7F7B9-F12E-6246-F95B-5FA8DBD3E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2311" name="Rectangle 53">
            <a:extLst>
              <a:ext uri="{FF2B5EF4-FFF2-40B4-BE49-F238E27FC236}">
                <a16:creationId xmlns:a16="http://schemas.microsoft.com/office/drawing/2014/main" id="{DD17EAFB-5982-50D0-203C-F2A8051F1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Os Modelos de Dados no Des. de SI.</a:t>
            </a:r>
          </a:p>
        </p:txBody>
      </p:sp>
      <p:sp>
        <p:nvSpPr>
          <p:cNvPr id="12312" name="Rectangle 54">
            <a:extLst>
              <a:ext uri="{FF2B5EF4-FFF2-40B4-BE49-F238E27FC236}">
                <a16:creationId xmlns:a16="http://schemas.microsoft.com/office/drawing/2014/main" id="{D9751301-4B0C-291B-45EC-6D22BB987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8135938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pt-BR" altLang="pt-BR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2000" b="1">
                <a:latin typeface="Arial" panose="020B0604020202020204" pitchFamily="34" charset="0"/>
                <a:cs typeface="Arial" panose="020B0604020202020204" pitchFamily="34" charset="0"/>
              </a:rPr>
              <a:t>Modelo Conceitual</a:t>
            </a:r>
          </a:p>
          <a:p>
            <a:pPr algn="just"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Conjunto de representações de dados e processos das diversas áreas funcionais consideradas no processo de compreensão e representação de um sistema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0EB4ABE-0CC5-D648-F4D4-B62514AB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Conceitos e Definições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4D3C224-9EFD-9E21-6A06-E92C0A55E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5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840877B-EF55-A36A-6669-D570BE673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084763"/>
            <a:ext cx="845820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pt-BR" alt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	(2) Após se estabelecer o Modelo Conceitual podemos fazer uma análise da semântica (significado) de dados e processos. Elimina-se aqui a eventual redundância na definição dos componentes do sistema de informação.</a:t>
            </a:r>
          </a:p>
        </p:txBody>
      </p:sp>
      <p:sp>
        <p:nvSpPr>
          <p:cNvPr id="13317" name="Oval 5">
            <a:extLst>
              <a:ext uri="{FF2B5EF4-FFF2-40B4-BE49-F238E27FC236}">
                <a16:creationId xmlns:a16="http://schemas.microsoft.com/office/drawing/2014/main" id="{34C7CAD5-FEB3-D3F0-A3A3-162BE362F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862138"/>
            <a:ext cx="5089525" cy="736600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943F1A17-C8BC-F57F-EDF2-13A862D4E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200183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30724DC4-99E5-DE15-ED89-E931CED18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200183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7BD1E18B-06A0-D619-EDB6-FCCB19317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2001838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386D6B4A-78BD-C075-36B4-5164F16A6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2001838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9FC8B8AF-DE9E-0692-DBFB-474C7882D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3049588"/>
            <a:ext cx="54991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1E844C50-51EE-F126-E8B5-B5D28881E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4" name="Line 12">
            <a:extLst>
              <a:ext uri="{FF2B5EF4-FFF2-40B4-BE49-F238E27FC236}">
                <a16:creationId xmlns:a16="http://schemas.microsoft.com/office/drawing/2014/main" id="{889ABF98-8372-967C-0127-DD65FBC26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8175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3F7FB680-7D1F-E7D3-82BF-64A78ED73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FD5996D6-D101-631D-B4BD-F0B3F5D66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221493C0-D44A-F02C-CE1B-29ADE75B5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8" name="Line 16">
            <a:extLst>
              <a:ext uri="{FF2B5EF4-FFF2-40B4-BE49-F238E27FC236}">
                <a16:creationId xmlns:a16="http://schemas.microsoft.com/office/drawing/2014/main" id="{0D99F145-B883-B6DC-C563-F3AA06DC7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65DD65CC-DE27-C1F6-5FD3-701C2C339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0" name="Line 18">
            <a:extLst>
              <a:ext uri="{FF2B5EF4-FFF2-40B4-BE49-F238E27FC236}">
                <a16:creationId xmlns:a16="http://schemas.microsoft.com/office/drawing/2014/main" id="{378102C8-9880-5BC2-1C9B-E3DB2EADB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239871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1" name="Text Box 19">
            <a:extLst>
              <a:ext uri="{FF2B5EF4-FFF2-40B4-BE49-F238E27FC236}">
                <a16:creationId xmlns:a16="http://schemas.microsoft.com/office/drawing/2014/main" id="{D9EFF1E7-B991-36D0-8AF1-769E11072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3538538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13332" name="Line 23">
            <a:extLst>
              <a:ext uri="{FF2B5EF4-FFF2-40B4-BE49-F238E27FC236}">
                <a16:creationId xmlns:a16="http://schemas.microsoft.com/office/drawing/2014/main" id="{36C306D8-11EB-5C2D-316B-FBDC426E6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3540125"/>
            <a:ext cx="41592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3" name="Line 24">
            <a:extLst>
              <a:ext uri="{FF2B5EF4-FFF2-40B4-BE49-F238E27FC236}">
                <a16:creationId xmlns:a16="http://schemas.microsoft.com/office/drawing/2014/main" id="{76E1EC94-C974-70B1-26DC-4B8B7A4ABB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3540125"/>
            <a:ext cx="506413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4" name="Line 25">
            <a:extLst>
              <a:ext uri="{FF2B5EF4-FFF2-40B4-BE49-F238E27FC236}">
                <a16:creationId xmlns:a16="http://schemas.microsoft.com/office/drawing/2014/main" id="{5BA4EEDD-46FA-D06E-CC3A-96CCFE6256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3540125"/>
            <a:ext cx="134937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5" name="Line 26">
            <a:extLst>
              <a:ext uri="{FF2B5EF4-FFF2-40B4-BE49-F238E27FC236}">
                <a16:creationId xmlns:a16="http://schemas.microsoft.com/office/drawing/2014/main" id="{44379287-061A-19F6-337C-301F1D1CB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1275" y="3622675"/>
            <a:ext cx="2117725" cy="958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6" name="Line 27">
            <a:extLst>
              <a:ext uri="{FF2B5EF4-FFF2-40B4-BE49-F238E27FC236}">
                <a16:creationId xmlns:a16="http://schemas.microsoft.com/office/drawing/2014/main" id="{EBFAE8C4-D4DA-92EC-567E-53502234A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3540125"/>
            <a:ext cx="0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7" name="Line 28">
            <a:extLst>
              <a:ext uri="{FF2B5EF4-FFF2-40B4-BE49-F238E27FC236}">
                <a16:creationId xmlns:a16="http://schemas.microsoft.com/office/drawing/2014/main" id="{1C024E58-2889-0E9B-0233-7D77D5A10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3540125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8" name="Line 29">
            <a:extLst>
              <a:ext uri="{FF2B5EF4-FFF2-40B4-BE49-F238E27FC236}">
                <a16:creationId xmlns:a16="http://schemas.microsoft.com/office/drawing/2014/main" id="{C9173BF5-F793-E10F-E4F3-E1163B4E6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3540125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9" name="Line 30">
            <a:extLst>
              <a:ext uri="{FF2B5EF4-FFF2-40B4-BE49-F238E27FC236}">
                <a16:creationId xmlns:a16="http://schemas.microsoft.com/office/drawing/2014/main" id="{48C0CE05-910E-85AF-7E99-3FEE23C6A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3540125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40" name="Text Box 31">
            <a:extLst>
              <a:ext uri="{FF2B5EF4-FFF2-40B4-BE49-F238E27FC236}">
                <a16:creationId xmlns:a16="http://schemas.microsoft.com/office/drawing/2014/main" id="{A51B17AE-8BE4-0F48-3EEB-6487E23B7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29406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3341" name="Text Box 32">
            <a:extLst>
              <a:ext uri="{FF2B5EF4-FFF2-40B4-BE49-F238E27FC236}">
                <a16:creationId xmlns:a16="http://schemas.microsoft.com/office/drawing/2014/main" id="{26ADAD52-37E7-2403-01EF-C0C6EFE4A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329406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3342" name="Text Box 33">
            <a:extLst>
              <a:ext uri="{FF2B5EF4-FFF2-40B4-BE49-F238E27FC236}">
                <a16:creationId xmlns:a16="http://schemas.microsoft.com/office/drawing/2014/main" id="{84CAAE19-79A0-67F8-F4CC-826981D7F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3294063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3343" name="Text Box 34">
            <a:extLst>
              <a:ext uri="{FF2B5EF4-FFF2-40B4-BE49-F238E27FC236}">
                <a16:creationId xmlns:a16="http://schemas.microsoft.com/office/drawing/2014/main" id="{929B9B72-DBB6-6A49-D252-548E5105D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3294063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3344" name="Text Box 36">
            <a:extLst>
              <a:ext uri="{FF2B5EF4-FFF2-40B4-BE49-F238E27FC236}">
                <a16:creationId xmlns:a16="http://schemas.microsoft.com/office/drawing/2014/main" id="{04505EC0-F350-F618-2D84-675C3ACEE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36838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13345" name="Text Box 37">
            <a:extLst>
              <a:ext uri="{FF2B5EF4-FFF2-40B4-BE49-F238E27FC236}">
                <a16:creationId xmlns:a16="http://schemas.microsoft.com/office/drawing/2014/main" id="{D360AC07-38FF-FAD7-E2AB-682BE756D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07670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2">
            <a:extLst>
              <a:ext uri="{FF2B5EF4-FFF2-40B4-BE49-F238E27FC236}">
                <a16:creationId xmlns:a16="http://schemas.microsoft.com/office/drawing/2014/main" id="{C3C6DF93-1EF4-234F-8130-E35C59459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581525"/>
            <a:ext cx="8316913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/>
              <a:t>Modelo Lógico</a:t>
            </a:r>
          </a:p>
          <a:p>
            <a:pPr algn="just" eaLnBrk="1" hangingPunct="1"/>
            <a:r>
              <a:rPr lang="pt-BR" altLang="pt-BR"/>
              <a:t>	Conjunto de representações de dados e processos onde cada um apareça representado uma </a:t>
            </a:r>
            <a:r>
              <a:rPr lang="pt-BR" altLang="pt-BR" b="1" i="1"/>
              <a:t>única</a:t>
            </a:r>
            <a:r>
              <a:rPr lang="pt-BR" altLang="pt-BR"/>
              <a:t> vez. Aqui ainda não temos a implementação. </a:t>
            </a:r>
          </a:p>
          <a:p>
            <a:pPr eaLnBrk="1" hangingPunct="1">
              <a:spcBef>
                <a:spcPct val="50000"/>
              </a:spcBef>
            </a:pPr>
            <a:endParaRPr lang="pt-BR" altLang="pt-BR"/>
          </a:p>
        </p:txBody>
      </p:sp>
      <p:sp>
        <p:nvSpPr>
          <p:cNvPr id="14339" name="Oval 161">
            <a:extLst>
              <a:ext uri="{FF2B5EF4-FFF2-40B4-BE49-F238E27FC236}">
                <a16:creationId xmlns:a16="http://schemas.microsoft.com/office/drawing/2014/main" id="{6CCD214B-3922-560B-8796-5869B48F5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6250"/>
            <a:ext cx="5089525" cy="736600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4340" name="Text Box 162">
            <a:extLst>
              <a:ext uri="{FF2B5EF4-FFF2-40B4-BE49-F238E27FC236}">
                <a16:creationId xmlns:a16="http://schemas.microsoft.com/office/drawing/2014/main" id="{C71262AF-C94F-E8A7-B857-884D646E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61595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4341" name="Text Box 163">
            <a:extLst>
              <a:ext uri="{FF2B5EF4-FFF2-40B4-BE49-F238E27FC236}">
                <a16:creationId xmlns:a16="http://schemas.microsoft.com/office/drawing/2014/main" id="{EAB76C6A-A5B2-04B6-B94E-DDCD3299D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615950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4342" name="Text Box 164">
            <a:extLst>
              <a:ext uri="{FF2B5EF4-FFF2-40B4-BE49-F238E27FC236}">
                <a16:creationId xmlns:a16="http://schemas.microsoft.com/office/drawing/2014/main" id="{E090DFFD-C1EE-92B4-37E2-60FAABBB3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615950"/>
            <a:ext cx="6572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4343" name="Text Box 165">
            <a:extLst>
              <a:ext uri="{FF2B5EF4-FFF2-40B4-BE49-F238E27FC236}">
                <a16:creationId xmlns:a16="http://schemas.microsoft.com/office/drawing/2014/main" id="{3074FD08-39C0-195E-C65E-9CA96AB56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615950"/>
            <a:ext cx="655637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4344" name="Rectangle 166">
            <a:extLst>
              <a:ext uri="{FF2B5EF4-FFF2-40B4-BE49-F238E27FC236}">
                <a16:creationId xmlns:a16="http://schemas.microsoft.com/office/drawing/2014/main" id="{29C73E38-23A9-2DF8-3451-23224D71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1663700"/>
            <a:ext cx="54991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4345" name="Line 167">
            <a:extLst>
              <a:ext uri="{FF2B5EF4-FFF2-40B4-BE49-F238E27FC236}">
                <a16:creationId xmlns:a16="http://schemas.microsoft.com/office/drawing/2014/main" id="{4D07AB29-0963-3D68-8DA2-715D75817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6" name="Line 168">
            <a:extLst>
              <a:ext uri="{FF2B5EF4-FFF2-40B4-BE49-F238E27FC236}">
                <a16:creationId xmlns:a16="http://schemas.microsoft.com/office/drawing/2014/main" id="{97A223D7-BF06-7E89-6EE6-A2E0B435D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8175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7" name="Line 169">
            <a:extLst>
              <a:ext uri="{FF2B5EF4-FFF2-40B4-BE49-F238E27FC236}">
                <a16:creationId xmlns:a16="http://schemas.microsoft.com/office/drawing/2014/main" id="{0FDDFAB4-952C-4FDD-D3FB-721616AD1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8" name="Line 170">
            <a:extLst>
              <a:ext uri="{FF2B5EF4-FFF2-40B4-BE49-F238E27FC236}">
                <a16:creationId xmlns:a16="http://schemas.microsoft.com/office/drawing/2014/main" id="{D2DBB94A-5AA9-328A-F4F8-FC034AE8F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9" name="Line 171">
            <a:extLst>
              <a:ext uri="{FF2B5EF4-FFF2-40B4-BE49-F238E27FC236}">
                <a16:creationId xmlns:a16="http://schemas.microsoft.com/office/drawing/2014/main" id="{ED43D9BB-5CC9-D2BC-B194-8940CB469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0" name="Line 172">
            <a:extLst>
              <a:ext uri="{FF2B5EF4-FFF2-40B4-BE49-F238E27FC236}">
                <a16:creationId xmlns:a16="http://schemas.microsoft.com/office/drawing/2014/main" id="{20BA6FFE-9D23-A8AB-6CE3-3C3B674A4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1" name="Line 173">
            <a:extLst>
              <a:ext uri="{FF2B5EF4-FFF2-40B4-BE49-F238E27FC236}">
                <a16:creationId xmlns:a16="http://schemas.microsoft.com/office/drawing/2014/main" id="{9AA35B57-A951-5236-8632-7293474A2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2" name="Line 174">
            <a:extLst>
              <a:ext uri="{FF2B5EF4-FFF2-40B4-BE49-F238E27FC236}">
                <a16:creationId xmlns:a16="http://schemas.microsoft.com/office/drawing/2014/main" id="{F92EE834-3AD3-2DDA-1323-3D1DFD139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012825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3" name="Text Box 175">
            <a:extLst>
              <a:ext uri="{FF2B5EF4-FFF2-40B4-BE49-F238E27FC236}">
                <a16:creationId xmlns:a16="http://schemas.microsoft.com/office/drawing/2014/main" id="{7E2742A7-938C-FCDF-471C-4D62C5E16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2152650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14354" name="Oval 176">
            <a:extLst>
              <a:ext uri="{FF2B5EF4-FFF2-40B4-BE49-F238E27FC236}">
                <a16:creationId xmlns:a16="http://schemas.microsoft.com/office/drawing/2014/main" id="{D200492A-5665-C482-8C97-6D3A6E06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2889250"/>
            <a:ext cx="5170488" cy="1098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4355" name="Text Box 177">
            <a:extLst>
              <a:ext uri="{FF2B5EF4-FFF2-40B4-BE49-F238E27FC236}">
                <a16:creationId xmlns:a16="http://schemas.microsoft.com/office/drawing/2014/main" id="{DDB2A0C9-2ACF-2886-DA09-9B466C99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63" y="3267075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14356" name="Text Box 178">
            <a:extLst>
              <a:ext uri="{FF2B5EF4-FFF2-40B4-BE49-F238E27FC236}">
                <a16:creationId xmlns:a16="http://schemas.microsoft.com/office/drawing/2014/main" id="{1F3D5E49-0E0D-6E61-50B6-9FF1450FC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00" y="3267075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14357" name="Line 179">
            <a:extLst>
              <a:ext uri="{FF2B5EF4-FFF2-40B4-BE49-F238E27FC236}">
                <a16:creationId xmlns:a16="http://schemas.microsoft.com/office/drawing/2014/main" id="{9B5E433E-2011-07DB-DF5B-15BFEC067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2154238"/>
            <a:ext cx="41592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8" name="Line 180">
            <a:extLst>
              <a:ext uri="{FF2B5EF4-FFF2-40B4-BE49-F238E27FC236}">
                <a16:creationId xmlns:a16="http://schemas.microsoft.com/office/drawing/2014/main" id="{4BCE3401-C880-2C9B-8499-B3B0A95A4D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2154238"/>
            <a:ext cx="506413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59" name="Line 181">
            <a:extLst>
              <a:ext uri="{FF2B5EF4-FFF2-40B4-BE49-F238E27FC236}">
                <a16:creationId xmlns:a16="http://schemas.microsoft.com/office/drawing/2014/main" id="{F26B49D1-FDC2-C7C8-51F8-0F991FB61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2154238"/>
            <a:ext cx="134937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0" name="Line 182">
            <a:extLst>
              <a:ext uri="{FF2B5EF4-FFF2-40B4-BE49-F238E27FC236}">
                <a16:creationId xmlns:a16="http://schemas.microsoft.com/office/drawing/2014/main" id="{A4CE3EF4-ED23-38C7-9B1E-8ADA28B0AE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1275" y="2236788"/>
            <a:ext cx="2117725" cy="958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1" name="Line 183">
            <a:extLst>
              <a:ext uri="{FF2B5EF4-FFF2-40B4-BE49-F238E27FC236}">
                <a16:creationId xmlns:a16="http://schemas.microsoft.com/office/drawing/2014/main" id="{A8A46653-595B-4EC6-4F84-4DD0128A0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2154238"/>
            <a:ext cx="0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2" name="Line 184">
            <a:extLst>
              <a:ext uri="{FF2B5EF4-FFF2-40B4-BE49-F238E27FC236}">
                <a16:creationId xmlns:a16="http://schemas.microsoft.com/office/drawing/2014/main" id="{B24A0368-E303-B4B6-E07C-98122774F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154238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3" name="Line 185">
            <a:extLst>
              <a:ext uri="{FF2B5EF4-FFF2-40B4-BE49-F238E27FC236}">
                <a16:creationId xmlns:a16="http://schemas.microsoft.com/office/drawing/2014/main" id="{DBD2DD86-8351-27A6-B8AA-B76E747B7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154238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4" name="Line 186">
            <a:extLst>
              <a:ext uri="{FF2B5EF4-FFF2-40B4-BE49-F238E27FC236}">
                <a16:creationId xmlns:a16="http://schemas.microsoft.com/office/drawing/2014/main" id="{6BA810AF-9FF4-2623-BB9A-51C48758B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2154238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65" name="Text Box 187">
            <a:extLst>
              <a:ext uri="{FF2B5EF4-FFF2-40B4-BE49-F238E27FC236}">
                <a16:creationId xmlns:a16="http://schemas.microsoft.com/office/drawing/2014/main" id="{D0CBA399-2297-0699-48E8-CE23C6AEC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1908175"/>
            <a:ext cx="655638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4366" name="Text Box 188">
            <a:extLst>
              <a:ext uri="{FF2B5EF4-FFF2-40B4-BE49-F238E27FC236}">
                <a16:creationId xmlns:a16="http://schemas.microsoft.com/office/drawing/2014/main" id="{6B0B561F-7279-8C2C-3761-6B3C7A52B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1908175"/>
            <a:ext cx="655638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4367" name="Text Box 189">
            <a:extLst>
              <a:ext uri="{FF2B5EF4-FFF2-40B4-BE49-F238E27FC236}">
                <a16:creationId xmlns:a16="http://schemas.microsoft.com/office/drawing/2014/main" id="{BFCFF997-B7CD-336D-91B9-7CAA082A1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1908175"/>
            <a:ext cx="657225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4368" name="Text Box 190">
            <a:extLst>
              <a:ext uri="{FF2B5EF4-FFF2-40B4-BE49-F238E27FC236}">
                <a16:creationId xmlns:a16="http://schemas.microsoft.com/office/drawing/2014/main" id="{ACEE7B03-A719-6DF3-E871-AF36169E7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1908175"/>
            <a:ext cx="655637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4369" name="Text Box 191">
            <a:extLst>
              <a:ext uri="{FF2B5EF4-FFF2-40B4-BE49-F238E27FC236}">
                <a16:creationId xmlns:a16="http://schemas.microsoft.com/office/drawing/2014/main" id="{E8921D6C-FE70-A623-811D-48DDFFC5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25095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14370" name="Text Box 192">
            <a:extLst>
              <a:ext uri="{FF2B5EF4-FFF2-40B4-BE49-F238E27FC236}">
                <a16:creationId xmlns:a16="http://schemas.microsoft.com/office/drawing/2014/main" id="{CABEFA55-DE60-B9B7-3EEC-26E65FC6E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90813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14371" name="Text Box 193">
            <a:extLst>
              <a:ext uri="{FF2B5EF4-FFF2-40B4-BE49-F238E27FC236}">
                <a16:creationId xmlns:a16="http://schemas.microsoft.com/office/drawing/2014/main" id="{6D96A294-3DCC-ED04-407C-33458912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997200"/>
            <a:ext cx="1008063" cy="485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4571270-48B2-BC05-7337-DBC1CA760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Conceitos e Definições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BC5D3C-5588-985B-56CC-167161EF4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4938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9AE0424-98B6-281C-FA4A-362738EC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897438"/>
            <a:ext cx="83312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pt-BR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	(3) Analisa-se as características de dados os requisitos de funções necessárias para o sistema de informação. Podemos então montar um documento que especifique como deverão ser construídos dados e processos. </a:t>
            </a:r>
          </a:p>
        </p:txBody>
      </p:sp>
      <p:sp>
        <p:nvSpPr>
          <p:cNvPr id="15365" name="Oval 5">
            <a:extLst>
              <a:ext uri="{FF2B5EF4-FFF2-40B4-BE49-F238E27FC236}">
                <a16:creationId xmlns:a16="http://schemas.microsoft.com/office/drawing/2014/main" id="{52AA8038-CEC7-D2F1-3E5B-899CDA92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2305050"/>
            <a:ext cx="5170488" cy="10874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5366" name="Text Box 7">
            <a:extLst>
              <a:ext uri="{FF2B5EF4-FFF2-40B4-BE49-F238E27FC236}">
                <a16:creationId xmlns:a16="http://schemas.microsoft.com/office/drawing/2014/main" id="{AC8F042C-9080-AEA6-8268-BBA4E5F58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2611438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15367" name="Text Box 8">
            <a:extLst>
              <a:ext uri="{FF2B5EF4-FFF2-40B4-BE49-F238E27FC236}">
                <a16:creationId xmlns:a16="http://schemas.microsoft.com/office/drawing/2014/main" id="{448BA215-732D-89F1-8DBB-01C0D184B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5" y="2611438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15368" name="Line 9">
            <a:extLst>
              <a:ext uri="{FF2B5EF4-FFF2-40B4-BE49-F238E27FC236}">
                <a16:creationId xmlns:a16="http://schemas.microsoft.com/office/drawing/2014/main" id="{B71DCF9B-DA61-F08A-A0E9-0B98B850D5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9738" y="3098800"/>
            <a:ext cx="165100" cy="977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9" name="Line 10">
            <a:extLst>
              <a:ext uri="{FF2B5EF4-FFF2-40B4-BE49-F238E27FC236}">
                <a16:creationId xmlns:a16="http://schemas.microsoft.com/office/drawing/2014/main" id="{CDA4391B-2071-6B22-BE03-77A3FAE63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7050" y="3098800"/>
            <a:ext cx="492125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70" name="Text Box 15">
            <a:extLst>
              <a:ext uri="{FF2B5EF4-FFF2-40B4-BE49-F238E27FC236}">
                <a16:creationId xmlns:a16="http://schemas.microsoft.com/office/drawing/2014/main" id="{92DD1406-69F6-9101-ACA8-EC98BC11B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0" y="2200275"/>
            <a:ext cx="820738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15371" name="Text Box 16">
            <a:extLst>
              <a:ext uri="{FF2B5EF4-FFF2-40B4-BE49-F238E27FC236}">
                <a16:creationId xmlns:a16="http://schemas.microsoft.com/office/drawing/2014/main" id="{C9BE2190-BBF4-E4D1-2F03-EE29838F7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0" y="342265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0FD697B-90E4-F48B-1031-A578489F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Conceitos e Definições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DD2BE9A-CAE1-42DE-E474-BC052D25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4938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DF6C5EC7-A071-885C-5741-0BC9D723B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4088"/>
            <a:ext cx="86423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Modelo Físico</a:t>
            </a:r>
          </a:p>
          <a:p>
            <a:pPr algn="just" eaLnBrk="1" hangingPunct="1">
              <a:spcBef>
                <a:spcPct val="20000"/>
              </a:spcBef>
            </a:pPr>
            <a:r>
              <a:rPr lang="pt-BR" altLang="pt-B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Conjunto das regras de construção de Dados (especificação de tipos de dados, tamanhos e organização – índices, volumes de dados necessários, etc); e das regras de construção de processos (fluxogramas de programas e determinação das funções específicas do sistema)</a:t>
            </a:r>
          </a:p>
        </p:txBody>
      </p:sp>
      <p:sp>
        <p:nvSpPr>
          <p:cNvPr id="16389" name="Oval 5">
            <a:extLst>
              <a:ext uri="{FF2B5EF4-FFF2-40B4-BE49-F238E27FC236}">
                <a16:creationId xmlns:a16="http://schemas.microsoft.com/office/drawing/2014/main" id="{7A7442CA-50C8-A40A-54A9-BC3457B0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1947863"/>
            <a:ext cx="5170488" cy="10874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70E145BB-8525-9BBF-2616-1B634AE67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3525838"/>
            <a:ext cx="5499100" cy="105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39318530-D621-0E93-F7AC-46983888A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254250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D05D6543-9EEF-058F-6CB7-F39619095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2254250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985BEC1B-51E1-7EE0-50AC-3F8202D7B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88" y="2741613"/>
            <a:ext cx="165100" cy="977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D444973A-F624-1AA0-6CE8-E1CE1D5E5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741613"/>
            <a:ext cx="492125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5F2CEA6E-CA20-1DAD-1E10-4BF131BF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3687763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16396" name="Text Box 12">
            <a:extLst>
              <a:ext uri="{FF2B5EF4-FFF2-40B4-BE49-F238E27FC236}">
                <a16:creationId xmlns:a16="http://schemas.microsoft.com/office/drawing/2014/main" id="{688BAF68-6411-05DF-326E-A09F8EE8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3644900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860B86EB-09F4-3D4A-C6D7-293141292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3643313"/>
            <a:ext cx="9032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A74008BA-C490-09E7-ADE7-308BF9903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3644900"/>
            <a:ext cx="0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399" name="Text Box 15">
            <a:extLst>
              <a:ext uri="{FF2B5EF4-FFF2-40B4-BE49-F238E27FC236}">
                <a16:creationId xmlns:a16="http://schemas.microsoft.com/office/drawing/2014/main" id="{F96D6080-CA27-64D8-1757-920DB980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843088"/>
            <a:ext cx="820738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16400" name="Text Box 16">
            <a:extLst>
              <a:ext uri="{FF2B5EF4-FFF2-40B4-BE49-F238E27FC236}">
                <a16:creationId xmlns:a16="http://schemas.microsoft.com/office/drawing/2014/main" id="{6019675E-30E7-2F70-40F2-860D5AE70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4297363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12124981-989F-72ED-D849-6BE2CC607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065463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  <p:sp>
        <p:nvSpPr>
          <p:cNvPr id="16402" name="Text Box 19">
            <a:extLst>
              <a:ext uri="{FF2B5EF4-FFF2-40B4-BE49-F238E27FC236}">
                <a16:creationId xmlns:a16="http://schemas.microsoft.com/office/drawing/2014/main" id="{6743D6B3-F8F7-107E-702A-54B620750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903663"/>
            <a:ext cx="1152525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9B0414-CBBB-3467-169B-A7A021757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Conceitos e Definições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C5907D5-4BB3-FAD2-0B76-508BB12D7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4938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7A8BDB1A-4FC1-961A-19E4-AC86F5A4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2006600"/>
            <a:ext cx="5499100" cy="10588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7413" name="Oval 7">
            <a:extLst>
              <a:ext uri="{FF2B5EF4-FFF2-40B4-BE49-F238E27FC236}">
                <a16:creationId xmlns:a16="http://schemas.microsoft.com/office/drawing/2014/main" id="{82CB5231-5430-1273-080C-834C5A0AD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3338513"/>
            <a:ext cx="5170487" cy="8826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7414" name="Text Box 12">
            <a:extLst>
              <a:ext uri="{FF2B5EF4-FFF2-40B4-BE49-F238E27FC236}">
                <a16:creationId xmlns:a16="http://schemas.microsoft.com/office/drawing/2014/main" id="{D2350BDA-B710-B490-CF91-5AD812666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2168525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17415" name="Text Box 13">
            <a:extLst>
              <a:ext uri="{FF2B5EF4-FFF2-40B4-BE49-F238E27FC236}">
                <a16:creationId xmlns:a16="http://schemas.microsoft.com/office/drawing/2014/main" id="{A1894B82-D6BD-8FD5-F30A-2489CDF62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2125663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17416" name="Line 14">
            <a:extLst>
              <a:ext uri="{FF2B5EF4-FFF2-40B4-BE49-F238E27FC236}">
                <a16:creationId xmlns:a16="http://schemas.microsoft.com/office/drawing/2014/main" id="{84E07C83-70D6-EA9C-879B-9716BDA2D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2124075"/>
            <a:ext cx="9032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417" name="Line 15">
            <a:extLst>
              <a:ext uri="{FF2B5EF4-FFF2-40B4-BE49-F238E27FC236}">
                <a16:creationId xmlns:a16="http://schemas.microsoft.com/office/drawing/2014/main" id="{7DBC2EAB-8D81-3774-9E72-EB8F1C447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2125663"/>
            <a:ext cx="0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418" name="Line 16">
            <a:extLst>
              <a:ext uri="{FF2B5EF4-FFF2-40B4-BE49-F238E27FC236}">
                <a16:creationId xmlns:a16="http://schemas.microsoft.com/office/drawing/2014/main" id="{F00357A8-651F-0D11-C6D1-607C3FB55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709863"/>
            <a:ext cx="647700" cy="936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419" name="Line 17">
            <a:extLst>
              <a:ext uri="{FF2B5EF4-FFF2-40B4-BE49-F238E27FC236}">
                <a16:creationId xmlns:a16="http://schemas.microsoft.com/office/drawing/2014/main" id="{7C9BDD84-E184-2C68-3CB2-55E01DEEED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2725" y="2697163"/>
            <a:ext cx="358775" cy="949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420" name="Text Box 18">
            <a:extLst>
              <a:ext uri="{FF2B5EF4-FFF2-40B4-BE49-F238E27FC236}">
                <a16:creationId xmlns:a16="http://schemas.microsoft.com/office/drawing/2014/main" id="{DC1B5A23-176B-22F2-7D23-319630AFB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646488"/>
            <a:ext cx="2133600" cy="358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  <p:sp>
        <p:nvSpPr>
          <p:cNvPr id="17421" name="Text Box 20">
            <a:extLst>
              <a:ext uri="{FF2B5EF4-FFF2-40B4-BE49-F238E27FC236}">
                <a16:creationId xmlns:a16="http://schemas.microsoft.com/office/drawing/2014/main" id="{5475C011-DD05-B693-2D90-64CCC0449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2778125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17422" name="Text Box 22">
            <a:extLst>
              <a:ext uri="{FF2B5EF4-FFF2-40B4-BE49-F238E27FC236}">
                <a16:creationId xmlns:a16="http://schemas.microsoft.com/office/drawing/2014/main" id="{E321D32A-40FC-F05F-2852-E45874623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20833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17423" name="Text Box 23">
            <a:extLst>
              <a:ext uri="{FF2B5EF4-FFF2-40B4-BE49-F238E27FC236}">
                <a16:creationId xmlns:a16="http://schemas.microsoft.com/office/drawing/2014/main" id="{C54C11C2-A0A5-5C26-7462-7EEECAA90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349500"/>
            <a:ext cx="11525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  <p:sp>
        <p:nvSpPr>
          <p:cNvPr id="17424" name="Rectangle 24">
            <a:extLst>
              <a:ext uri="{FF2B5EF4-FFF2-40B4-BE49-F238E27FC236}">
                <a16:creationId xmlns:a16="http://schemas.microsoft.com/office/drawing/2014/main" id="{957D1837-96F6-4787-2764-9EC3362E9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365625"/>
            <a:ext cx="72723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179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/>
            <a:r>
              <a:rPr lang="pt-BR" altLang="pt-BR" sz="2000">
                <a:latin typeface="Times New Roman" panose="02020603050405020304" pitchFamily="18" charset="0"/>
              </a:rPr>
              <a:t>(4)  O SI ainda não está implementado. Temos que: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programar, 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testar, 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treinar, 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desenvolver dados mínimos para o sistema ser executado,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instalar e configurar o sistema operacional e,</a:t>
            </a:r>
          </a:p>
          <a:p>
            <a:pPr eaLnBrk="1" hangingPunct="1">
              <a:buFontTx/>
              <a:buChar char="•"/>
            </a:pPr>
            <a:r>
              <a:rPr lang="pt-BR" altLang="pt-BR" sz="2000">
                <a:latin typeface="Times New Roman" panose="02020603050405020304" pitchFamily="18" charset="0"/>
              </a:rPr>
              <a:t>  finalmente, implantar o sistema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3">
            <a:extLst>
              <a:ext uri="{FF2B5EF4-FFF2-40B4-BE49-F238E27FC236}">
                <a16:creationId xmlns:a16="http://schemas.microsoft.com/office/drawing/2014/main" id="{A5C1FB83-2D90-28EE-0F54-708DB0518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4450"/>
            <a:ext cx="5089525" cy="836613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EDC93978-3006-7DC2-08B5-D248FC333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8436" name="Text Box 5">
            <a:extLst>
              <a:ext uri="{FF2B5EF4-FFF2-40B4-BE49-F238E27FC236}">
                <a16:creationId xmlns:a16="http://schemas.microsoft.com/office/drawing/2014/main" id="{CBFDC717-5EA2-B7EC-591B-0AC901095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8437" name="Text Box 6">
            <a:extLst>
              <a:ext uri="{FF2B5EF4-FFF2-40B4-BE49-F238E27FC236}">
                <a16:creationId xmlns:a16="http://schemas.microsoft.com/office/drawing/2014/main" id="{BA1E2B07-2130-B8E8-FC00-FA8B8B04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63513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08D84E98-00A1-C239-0353-CCD3F94E6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63513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18439" name="Rectangle 8">
            <a:extLst>
              <a:ext uri="{FF2B5EF4-FFF2-40B4-BE49-F238E27FC236}">
                <a16:creationId xmlns:a16="http://schemas.microsoft.com/office/drawing/2014/main" id="{9167BD54-B253-ED2B-6948-4584D8CF7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1303338"/>
            <a:ext cx="540385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8440" name="Line 9">
            <a:extLst>
              <a:ext uri="{FF2B5EF4-FFF2-40B4-BE49-F238E27FC236}">
                <a16:creationId xmlns:a16="http://schemas.microsoft.com/office/drawing/2014/main" id="{8DE28DBA-B386-3E40-E395-C6C422A7E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1" name="Line 10">
            <a:extLst>
              <a:ext uri="{FF2B5EF4-FFF2-40B4-BE49-F238E27FC236}">
                <a16:creationId xmlns:a16="http://schemas.microsoft.com/office/drawing/2014/main" id="{294D8674-AC61-164E-E9C0-BB8602F9B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2" name="Line 11">
            <a:extLst>
              <a:ext uri="{FF2B5EF4-FFF2-40B4-BE49-F238E27FC236}">
                <a16:creationId xmlns:a16="http://schemas.microsoft.com/office/drawing/2014/main" id="{66C00F01-AFFB-9BDC-D647-6CC4060E6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3" name="Line 12">
            <a:extLst>
              <a:ext uri="{FF2B5EF4-FFF2-40B4-BE49-F238E27FC236}">
                <a16:creationId xmlns:a16="http://schemas.microsoft.com/office/drawing/2014/main" id="{92414A42-F962-739C-1F22-32180AE38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8525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4" name="Line 13">
            <a:extLst>
              <a:ext uri="{FF2B5EF4-FFF2-40B4-BE49-F238E27FC236}">
                <a16:creationId xmlns:a16="http://schemas.microsoft.com/office/drawing/2014/main" id="{C58FD568-6D2F-DF4C-2015-974AD579B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5" name="Line 14">
            <a:extLst>
              <a:ext uri="{FF2B5EF4-FFF2-40B4-BE49-F238E27FC236}">
                <a16:creationId xmlns:a16="http://schemas.microsoft.com/office/drawing/2014/main" id="{5145706E-8652-02CB-EAC4-447677472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4275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6" name="Line 15">
            <a:extLst>
              <a:ext uri="{FF2B5EF4-FFF2-40B4-BE49-F238E27FC236}">
                <a16:creationId xmlns:a16="http://schemas.microsoft.com/office/drawing/2014/main" id="{2BA3848E-C3EA-E1BF-9D09-78AF0734C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7" name="Line 16">
            <a:extLst>
              <a:ext uri="{FF2B5EF4-FFF2-40B4-BE49-F238E27FC236}">
                <a16:creationId xmlns:a16="http://schemas.microsoft.com/office/drawing/2014/main" id="{401BBE94-3E94-4A15-22EB-E6C55C45C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652463"/>
            <a:ext cx="0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48" name="Text Box 17">
            <a:extLst>
              <a:ext uri="{FF2B5EF4-FFF2-40B4-BE49-F238E27FC236}">
                <a16:creationId xmlns:a16="http://schemas.microsoft.com/office/drawing/2014/main" id="{F43E1AA3-0AEB-C333-8010-D843180F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792288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18449" name="Oval 18">
            <a:extLst>
              <a:ext uri="{FF2B5EF4-FFF2-40B4-BE49-F238E27FC236}">
                <a16:creationId xmlns:a16="http://schemas.microsoft.com/office/drawing/2014/main" id="{BDE3806E-A149-6CA0-28FA-C2F4BCD4C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2528888"/>
            <a:ext cx="5170488" cy="13858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8450" name="Rectangle 19">
            <a:extLst>
              <a:ext uri="{FF2B5EF4-FFF2-40B4-BE49-F238E27FC236}">
                <a16:creationId xmlns:a16="http://schemas.microsoft.com/office/drawing/2014/main" id="{05950F15-0ED4-9139-835E-C9056079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4208463"/>
            <a:ext cx="5499100" cy="105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8451" name="Oval 20">
            <a:extLst>
              <a:ext uri="{FF2B5EF4-FFF2-40B4-BE49-F238E27FC236}">
                <a16:creationId xmlns:a16="http://schemas.microsoft.com/office/drawing/2014/main" id="{2DC24063-6E7D-17BD-EF6F-E54752B4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5540375"/>
            <a:ext cx="5170487" cy="10572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8452" name="Text Box 21">
            <a:extLst>
              <a:ext uri="{FF2B5EF4-FFF2-40B4-BE49-F238E27FC236}">
                <a16:creationId xmlns:a16="http://schemas.microsoft.com/office/drawing/2014/main" id="{23B1BE45-E73A-28FC-AAFC-B1019AB19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936875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18453" name="Text Box 22">
            <a:extLst>
              <a:ext uri="{FF2B5EF4-FFF2-40B4-BE49-F238E27FC236}">
                <a16:creationId xmlns:a16="http://schemas.microsoft.com/office/drawing/2014/main" id="{C7C52E11-8248-EFC8-5669-5D9F5091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2936875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18454" name="Line 23">
            <a:extLst>
              <a:ext uri="{FF2B5EF4-FFF2-40B4-BE49-F238E27FC236}">
                <a16:creationId xmlns:a16="http://schemas.microsoft.com/office/drawing/2014/main" id="{16E74B2D-E316-6A3C-9B9C-D9765FD3E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1793875"/>
            <a:ext cx="477837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55" name="Line 24">
            <a:extLst>
              <a:ext uri="{FF2B5EF4-FFF2-40B4-BE49-F238E27FC236}">
                <a16:creationId xmlns:a16="http://schemas.microsoft.com/office/drawing/2014/main" id="{59316A74-19EE-5240-D305-4B445B296D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938" y="1793875"/>
            <a:ext cx="4445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56" name="Line 25">
            <a:extLst>
              <a:ext uri="{FF2B5EF4-FFF2-40B4-BE49-F238E27FC236}">
                <a16:creationId xmlns:a16="http://schemas.microsoft.com/office/drawing/2014/main" id="{0F254C26-FBB6-E1C3-8AD8-802CCFBC9D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1793875"/>
            <a:ext cx="13589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57" name="Line 26">
            <a:extLst>
              <a:ext uri="{FF2B5EF4-FFF2-40B4-BE49-F238E27FC236}">
                <a16:creationId xmlns:a16="http://schemas.microsoft.com/office/drawing/2014/main" id="{3A8943BF-92EB-A03D-CBF0-1A4944ADAD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1876425"/>
            <a:ext cx="2198687" cy="976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58" name="Line 27">
            <a:extLst>
              <a:ext uri="{FF2B5EF4-FFF2-40B4-BE49-F238E27FC236}">
                <a16:creationId xmlns:a16="http://schemas.microsoft.com/office/drawing/2014/main" id="{C12686C3-885E-0294-22B9-6126D2832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1793875"/>
            <a:ext cx="0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59" name="Line 28">
            <a:extLst>
              <a:ext uri="{FF2B5EF4-FFF2-40B4-BE49-F238E27FC236}">
                <a16:creationId xmlns:a16="http://schemas.microsoft.com/office/drawing/2014/main" id="{4BE22FE6-560B-D5DA-6217-1FD1ADC0E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1793875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0" name="Line 29">
            <a:extLst>
              <a:ext uri="{FF2B5EF4-FFF2-40B4-BE49-F238E27FC236}">
                <a16:creationId xmlns:a16="http://schemas.microsoft.com/office/drawing/2014/main" id="{DF265701-1BA3-ACA6-A295-C5B3A6073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1793875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1" name="Line 30">
            <a:extLst>
              <a:ext uri="{FF2B5EF4-FFF2-40B4-BE49-F238E27FC236}">
                <a16:creationId xmlns:a16="http://schemas.microsoft.com/office/drawing/2014/main" id="{CA8EE0CF-A8FC-FABF-562B-3DF774110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1793875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2" name="Line 31">
            <a:extLst>
              <a:ext uri="{FF2B5EF4-FFF2-40B4-BE49-F238E27FC236}">
                <a16:creationId xmlns:a16="http://schemas.microsoft.com/office/drawing/2014/main" id="{7E1E2507-A54F-651D-9D07-C6DA9C2CF7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88" y="3424238"/>
            <a:ext cx="165100" cy="977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3" name="Line 32">
            <a:extLst>
              <a:ext uri="{FF2B5EF4-FFF2-40B4-BE49-F238E27FC236}">
                <a16:creationId xmlns:a16="http://schemas.microsoft.com/office/drawing/2014/main" id="{4A4F153B-CF59-78E0-FBBF-F2F645A96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424238"/>
            <a:ext cx="492125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4" name="Text Box 33">
            <a:extLst>
              <a:ext uri="{FF2B5EF4-FFF2-40B4-BE49-F238E27FC236}">
                <a16:creationId xmlns:a16="http://schemas.microsoft.com/office/drawing/2014/main" id="{4B2DDBFB-F0AA-72F8-F899-84AEF069D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4370388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18465" name="Text Box 34">
            <a:extLst>
              <a:ext uri="{FF2B5EF4-FFF2-40B4-BE49-F238E27FC236}">
                <a16:creationId xmlns:a16="http://schemas.microsoft.com/office/drawing/2014/main" id="{F9CFC0CE-5A4C-8D75-AB3A-F79692DA9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4327525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18466" name="Line 35">
            <a:extLst>
              <a:ext uri="{FF2B5EF4-FFF2-40B4-BE49-F238E27FC236}">
                <a16:creationId xmlns:a16="http://schemas.microsoft.com/office/drawing/2014/main" id="{9BC44D3C-82FE-9430-8769-D28BD6E30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4325938"/>
            <a:ext cx="9032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7" name="Line 36">
            <a:extLst>
              <a:ext uri="{FF2B5EF4-FFF2-40B4-BE49-F238E27FC236}">
                <a16:creationId xmlns:a16="http://schemas.microsoft.com/office/drawing/2014/main" id="{897D07A6-F139-CEB5-DA30-F039BD745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4327525"/>
            <a:ext cx="0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8" name="Line 37">
            <a:extLst>
              <a:ext uri="{FF2B5EF4-FFF2-40B4-BE49-F238E27FC236}">
                <a16:creationId xmlns:a16="http://schemas.microsoft.com/office/drawing/2014/main" id="{84176930-4530-7DB3-52D3-F95190CD7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6738" y="4899025"/>
            <a:ext cx="9604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9" name="Line 38">
            <a:extLst>
              <a:ext uri="{FF2B5EF4-FFF2-40B4-BE49-F238E27FC236}">
                <a16:creationId xmlns:a16="http://schemas.microsoft.com/office/drawing/2014/main" id="{2ED3AA82-9076-B185-D805-DCFA7B8F70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3" y="4899025"/>
            <a:ext cx="5032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70" name="Text Box 39">
            <a:extLst>
              <a:ext uri="{FF2B5EF4-FFF2-40B4-BE49-F238E27FC236}">
                <a16:creationId xmlns:a16="http://schemas.microsoft.com/office/drawing/2014/main" id="{AA4FD92D-B84A-2C92-A349-AA79A4488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949950"/>
            <a:ext cx="2133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  <p:sp>
        <p:nvSpPr>
          <p:cNvPr id="18471" name="Text Box 42">
            <a:extLst>
              <a:ext uri="{FF2B5EF4-FFF2-40B4-BE49-F238E27FC236}">
                <a16:creationId xmlns:a16="http://schemas.microsoft.com/office/drawing/2014/main" id="{C86713FE-DAB5-5E56-0ECD-07566B0A5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8472" name="Text Box 43">
            <a:extLst>
              <a:ext uri="{FF2B5EF4-FFF2-40B4-BE49-F238E27FC236}">
                <a16:creationId xmlns:a16="http://schemas.microsoft.com/office/drawing/2014/main" id="{B4B207D2-BD3E-EE23-8569-30F6B1095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8473" name="Text Box 44">
            <a:extLst>
              <a:ext uri="{FF2B5EF4-FFF2-40B4-BE49-F238E27FC236}">
                <a16:creationId xmlns:a16="http://schemas.microsoft.com/office/drawing/2014/main" id="{DB95C9F3-BA8A-381B-5BCC-6D572BF86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547813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8474" name="Text Box 45">
            <a:extLst>
              <a:ext uri="{FF2B5EF4-FFF2-40B4-BE49-F238E27FC236}">
                <a16:creationId xmlns:a16="http://schemas.microsoft.com/office/drawing/2014/main" id="{89009AB2-F450-5359-A4FC-E09E8A465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547813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18475" name="Text Box 46">
            <a:extLst>
              <a:ext uri="{FF2B5EF4-FFF2-40B4-BE49-F238E27FC236}">
                <a16:creationId xmlns:a16="http://schemas.microsoft.com/office/drawing/2014/main" id="{25F5EFF4-2254-A21E-DF27-C9E31E464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525713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18476" name="Text Box 47">
            <a:extLst>
              <a:ext uri="{FF2B5EF4-FFF2-40B4-BE49-F238E27FC236}">
                <a16:creationId xmlns:a16="http://schemas.microsoft.com/office/drawing/2014/main" id="{D918BFF1-836A-EBEC-3884-2D1207B32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013325"/>
            <a:ext cx="936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18477" name="Text Box 48">
            <a:extLst>
              <a:ext uri="{FF2B5EF4-FFF2-40B4-BE49-F238E27FC236}">
                <a16:creationId xmlns:a16="http://schemas.microsoft.com/office/drawing/2014/main" id="{22DB1180-E9DC-5E7C-174E-14995D0F5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14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18478" name="Text Box 49">
            <a:extLst>
              <a:ext uri="{FF2B5EF4-FFF2-40B4-BE49-F238E27FC236}">
                <a16:creationId xmlns:a16="http://schemas.microsoft.com/office/drawing/2014/main" id="{C0FF21F2-EAB1-A4CB-862B-F14FC623F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24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18479" name="Text Box 50">
            <a:extLst>
              <a:ext uri="{FF2B5EF4-FFF2-40B4-BE49-F238E27FC236}">
                <a16:creationId xmlns:a16="http://schemas.microsoft.com/office/drawing/2014/main" id="{F279B95A-FAEA-5005-DF84-50E1425E6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748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  <p:sp>
        <p:nvSpPr>
          <p:cNvPr id="18480" name="Text Box 51">
            <a:extLst>
              <a:ext uri="{FF2B5EF4-FFF2-40B4-BE49-F238E27FC236}">
                <a16:creationId xmlns:a16="http://schemas.microsoft.com/office/drawing/2014/main" id="{43E10BA2-4F65-C4F2-AC75-5276434C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18481" name="Text Box 53">
            <a:extLst>
              <a:ext uri="{FF2B5EF4-FFF2-40B4-BE49-F238E27FC236}">
                <a16:creationId xmlns:a16="http://schemas.microsoft.com/office/drawing/2014/main" id="{C6852436-6614-834D-726B-FE1386EB5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508500"/>
            <a:ext cx="11525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630F261-DB99-A941-7EBF-08417542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84263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Outras definições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28A150F-906E-0EE4-2C9B-4B1E136B2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pt-BR" altLang="pt-BR" sz="4400" b="1" i="1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de Dados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DD0D339-147D-57D6-A71C-2504FBC3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8599488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pt-BR" altLang="pt-BR" sz="2600" b="1">
                <a:latin typeface="Arial" panose="020B0604020202020204" pitchFamily="34" charset="0"/>
                <a:cs typeface="Times New Roman" panose="02020603050405020304" pitchFamily="18" charset="0"/>
              </a:rPr>
              <a:t>Projeto Lógico</a:t>
            </a:r>
          </a:p>
          <a:p>
            <a:pPr algn="just" eaLnBrk="1" hangingPunct="1">
              <a:spcBef>
                <a:spcPct val="20000"/>
              </a:spcBef>
            </a:pPr>
            <a:r>
              <a:rPr lang="pt-BR" altLang="pt-BR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Atividades e produtos obtidos durante o desenvolvimento de SI considerando desde a percepção do sistema Real até a representação única de dados e processos.</a:t>
            </a:r>
          </a:p>
          <a:p>
            <a:pPr algn="just" eaLnBrk="1" hangingPunct="1">
              <a:spcBef>
                <a:spcPct val="20000"/>
              </a:spcBef>
            </a:pPr>
            <a:endParaRPr lang="pt-BR" altLang="pt-BR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pt-BR" altLang="pt-BR" sz="2600" b="1">
                <a:latin typeface="Arial" panose="020B0604020202020204" pitchFamily="34" charset="0"/>
                <a:cs typeface="Times New Roman" panose="02020603050405020304" pitchFamily="18" charset="0"/>
              </a:rPr>
              <a:t>Projeto Físico</a:t>
            </a:r>
          </a:p>
          <a:p>
            <a:pPr algn="just" eaLnBrk="1" hangingPunct="1">
              <a:spcBef>
                <a:spcPct val="20000"/>
              </a:spcBef>
            </a:pPr>
            <a:r>
              <a:rPr lang="pt-BR" altLang="pt-BR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Atividades e produtos obtidos durante o desenvolvimento de SI considerando desde a fase de interpretação do Modelo lógico do sistema até a conclusão do desenvolvimento do Sistema de Informação.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3">
            <a:extLst>
              <a:ext uri="{FF2B5EF4-FFF2-40B4-BE49-F238E27FC236}">
                <a16:creationId xmlns:a16="http://schemas.microsoft.com/office/drawing/2014/main" id="{40FD2663-F1A2-7A6F-0C19-93612B8A3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4450"/>
            <a:ext cx="5089525" cy="836613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1261038C-9AC4-39A7-1DF4-3D47E27C7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0484" name="Text Box 5">
            <a:extLst>
              <a:ext uri="{FF2B5EF4-FFF2-40B4-BE49-F238E27FC236}">
                <a16:creationId xmlns:a16="http://schemas.microsoft.com/office/drawing/2014/main" id="{E6A94F7F-B01C-1350-3494-70CC57C71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0485" name="Text Box 6">
            <a:extLst>
              <a:ext uri="{FF2B5EF4-FFF2-40B4-BE49-F238E27FC236}">
                <a16:creationId xmlns:a16="http://schemas.microsoft.com/office/drawing/2014/main" id="{02A3556C-13A1-520F-7B24-2BAA91C4F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63513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0486" name="Text Box 7">
            <a:extLst>
              <a:ext uri="{FF2B5EF4-FFF2-40B4-BE49-F238E27FC236}">
                <a16:creationId xmlns:a16="http://schemas.microsoft.com/office/drawing/2014/main" id="{68956EBD-C815-4A77-B44B-408873DCC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63513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0487" name="Rectangle 8">
            <a:extLst>
              <a:ext uri="{FF2B5EF4-FFF2-40B4-BE49-F238E27FC236}">
                <a16:creationId xmlns:a16="http://schemas.microsoft.com/office/drawing/2014/main" id="{A0614CF3-657A-DD2E-45C0-1A0278772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1303338"/>
            <a:ext cx="540385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88" name="Line 9">
            <a:extLst>
              <a:ext uri="{FF2B5EF4-FFF2-40B4-BE49-F238E27FC236}">
                <a16:creationId xmlns:a16="http://schemas.microsoft.com/office/drawing/2014/main" id="{8F7F739E-056D-5694-52CB-5F0A53856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89" name="Line 10">
            <a:extLst>
              <a:ext uri="{FF2B5EF4-FFF2-40B4-BE49-F238E27FC236}">
                <a16:creationId xmlns:a16="http://schemas.microsoft.com/office/drawing/2014/main" id="{ADA165F5-88E6-4F01-BBED-C5D45A17B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0" name="Line 11">
            <a:extLst>
              <a:ext uri="{FF2B5EF4-FFF2-40B4-BE49-F238E27FC236}">
                <a16:creationId xmlns:a16="http://schemas.microsoft.com/office/drawing/2014/main" id="{6889328E-6E15-D8C4-34C1-05B840789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1" name="Line 12">
            <a:extLst>
              <a:ext uri="{FF2B5EF4-FFF2-40B4-BE49-F238E27FC236}">
                <a16:creationId xmlns:a16="http://schemas.microsoft.com/office/drawing/2014/main" id="{6BB9CC4C-7888-9ACE-FF75-11B24C696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8525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2" name="Line 13">
            <a:extLst>
              <a:ext uri="{FF2B5EF4-FFF2-40B4-BE49-F238E27FC236}">
                <a16:creationId xmlns:a16="http://schemas.microsoft.com/office/drawing/2014/main" id="{CDB95C3A-C271-7A11-F5F3-7C0874C09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3" name="Line 14">
            <a:extLst>
              <a:ext uri="{FF2B5EF4-FFF2-40B4-BE49-F238E27FC236}">
                <a16:creationId xmlns:a16="http://schemas.microsoft.com/office/drawing/2014/main" id="{4C086D7B-2415-1257-FE9E-4BF81D7E8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4275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4" name="Line 15">
            <a:extLst>
              <a:ext uri="{FF2B5EF4-FFF2-40B4-BE49-F238E27FC236}">
                <a16:creationId xmlns:a16="http://schemas.microsoft.com/office/drawing/2014/main" id="{9A6C3513-1274-B778-EBFF-DBB88C7D6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5" name="Line 16">
            <a:extLst>
              <a:ext uri="{FF2B5EF4-FFF2-40B4-BE49-F238E27FC236}">
                <a16:creationId xmlns:a16="http://schemas.microsoft.com/office/drawing/2014/main" id="{7DB3A84E-965F-376E-F087-DE34C1F53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6" name="Text Box 17">
            <a:extLst>
              <a:ext uri="{FF2B5EF4-FFF2-40B4-BE49-F238E27FC236}">
                <a16:creationId xmlns:a16="http://schemas.microsoft.com/office/drawing/2014/main" id="{99F5B3EA-4DC8-783E-EAF7-C49D24849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792288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20497" name="Oval 18">
            <a:extLst>
              <a:ext uri="{FF2B5EF4-FFF2-40B4-BE49-F238E27FC236}">
                <a16:creationId xmlns:a16="http://schemas.microsoft.com/office/drawing/2014/main" id="{AE79E839-796B-7F18-D15B-96A628809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2528888"/>
            <a:ext cx="5170488" cy="13858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98" name="Rectangle 19">
            <a:extLst>
              <a:ext uri="{FF2B5EF4-FFF2-40B4-BE49-F238E27FC236}">
                <a16:creationId xmlns:a16="http://schemas.microsoft.com/office/drawing/2014/main" id="{83A7D9A9-72C2-AD52-4B2C-C482262E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4208463"/>
            <a:ext cx="5499100" cy="105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99" name="Oval 20">
            <a:extLst>
              <a:ext uri="{FF2B5EF4-FFF2-40B4-BE49-F238E27FC236}">
                <a16:creationId xmlns:a16="http://schemas.microsoft.com/office/drawing/2014/main" id="{E85E5DC7-B640-D92B-20F6-27F77B1ED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5540375"/>
            <a:ext cx="5170487" cy="10572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500" name="Text Box 21">
            <a:extLst>
              <a:ext uri="{FF2B5EF4-FFF2-40B4-BE49-F238E27FC236}">
                <a16:creationId xmlns:a16="http://schemas.microsoft.com/office/drawing/2014/main" id="{429ECC28-D65A-C141-9E5A-BA480A6F2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936875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20501" name="Text Box 22">
            <a:extLst>
              <a:ext uri="{FF2B5EF4-FFF2-40B4-BE49-F238E27FC236}">
                <a16:creationId xmlns:a16="http://schemas.microsoft.com/office/drawing/2014/main" id="{775EA2C6-872E-618B-9348-86C91DB44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2936875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20502" name="Line 23">
            <a:extLst>
              <a:ext uri="{FF2B5EF4-FFF2-40B4-BE49-F238E27FC236}">
                <a16:creationId xmlns:a16="http://schemas.microsoft.com/office/drawing/2014/main" id="{FC4B19E8-52D1-7F92-B514-CF1AB6FF2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1793875"/>
            <a:ext cx="477837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3" name="Line 24">
            <a:extLst>
              <a:ext uri="{FF2B5EF4-FFF2-40B4-BE49-F238E27FC236}">
                <a16:creationId xmlns:a16="http://schemas.microsoft.com/office/drawing/2014/main" id="{B9E98508-6F65-9251-8B28-A2B99E917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938" y="1793875"/>
            <a:ext cx="4445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4" name="Line 25">
            <a:extLst>
              <a:ext uri="{FF2B5EF4-FFF2-40B4-BE49-F238E27FC236}">
                <a16:creationId xmlns:a16="http://schemas.microsoft.com/office/drawing/2014/main" id="{E36BDA67-F0A0-D917-C793-0282F03CFC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1793875"/>
            <a:ext cx="13589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5" name="Line 26">
            <a:extLst>
              <a:ext uri="{FF2B5EF4-FFF2-40B4-BE49-F238E27FC236}">
                <a16:creationId xmlns:a16="http://schemas.microsoft.com/office/drawing/2014/main" id="{0706B1D7-D24E-4C11-AFD6-6D83FA08BD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1876425"/>
            <a:ext cx="2198687" cy="976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6" name="Line 27">
            <a:extLst>
              <a:ext uri="{FF2B5EF4-FFF2-40B4-BE49-F238E27FC236}">
                <a16:creationId xmlns:a16="http://schemas.microsoft.com/office/drawing/2014/main" id="{67B67BC2-7367-4064-AD60-0566CC4F3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1793875"/>
            <a:ext cx="15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7" name="Line 28">
            <a:extLst>
              <a:ext uri="{FF2B5EF4-FFF2-40B4-BE49-F238E27FC236}">
                <a16:creationId xmlns:a16="http://schemas.microsoft.com/office/drawing/2014/main" id="{29AFF696-E2BF-69BB-2421-139AD364D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1793875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8" name="Line 29">
            <a:extLst>
              <a:ext uri="{FF2B5EF4-FFF2-40B4-BE49-F238E27FC236}">
                <a16:creationId xmlns:a16="http://schemas.microsoft.com/office/drawing/2014/main" id="{8AF0D735-27E9-01F6-CD40-6925F0F5C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1793875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09" name="Line 30">
            <a:extLst>
              <a:ext uri="{FF2B5EF4-FFF2-40B4-BE49-F238E27FC236}">
                <a16:creationId xmlns:a16="http://schemas.microsoft.com/office/drawing/2014/main" id="{C5471974-7E33-2A37-995E-812FDE720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1793875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0" name="Line 31">
            <a:extLst>
              <a:ext uri="{FF2B5EF4-FFF2-40B4-BE49-F238E27FC236}">
                <a16:creationId xmlns:a16="http://schemas.microsoft.com/office/drawing/2014/main" id="{785B3269-64FC-30F7-9B18-5028D0DC0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3429000"/>
            <a:ext cx="504825" cy="936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1" name="Line 32">
            <a:extLst>
              <a:ext uri="{FF2B5EF4-FFF2-40B4-BE49-F238E27FC236}">
                <a16:creationId xmlns:a16="http://schemas.microsoft.com/office/drawing/2014/main" id="{238B95E9-AF7B-3F15-19DD-2DA5C0548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424238"/>
            <a:ext cx="492125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2" name="Text Box 33">
            <a:extLst>
              <a:ext uri="{FF2B5EF4-FFF2-40B4-BE49-F238E27FC236}">
                <a16:creationId xmlns:a16="http://schemas.microsoft.com/office/drawing/2014/main" id="{3B9CFF62-A033-17D4-E6BD-F67F2EE65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4370388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20513" name="Text Box 34">
            <a:extLst>
              <a:ext uri="{FF2B5EF4-FFF2-40B4-BE49-F238E27FC236}">
                <a16:creationId xmlns:a16="http://schemas.microsoft.com/office/drawing/2014/main" id="{36620708-CC10-0A39-05A7-9FBAE53A0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4327525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20514" name="Line 35">
            <a:extLst>
              <a:ext uri="{FF2B5EF4-FFF2-40B4-BE49-F238E27FC236}">
                <a16:creationId xmlns:a16="http://schemas.microsoft.com/office/drawing/2014/main" id="{B182BD52-F3BE-F0DD-072C-96C1CDA5A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4325938"/>
            <a:ext cx="9032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5" name="Line 36">
            <a:extLst>
              <a:ext uri="{FF2B5EF4-FFF2-40B4-BE49-F238E27FC236}">
                <a16:creationId xmlns:a16="http://schemas.microsoft.com/office/drawing/2014/main" id="{9DBEB5E4-E6E6-AB04-DFD7-7C5CEC1C4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4327525"/>
            <a:ext cx="1588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6" name="Line 37">
            <a:extLst>
              <a:ext uri="{FF2B5EF4-FFF2-40B4-BE49-F238E27FC236}">
                <a16:creationId xmlns:a16="http://schemas.microsoft.com/office/drawing/2014/main" id="{9DCD84B6-5C29-30C2-0EF9-51F1F7F50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6738" y="4899025"/>
            <a:ext cx="9604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7" name="Line 38">
            <a:extLst>
              <a:ext uri="{FF2B5EF4-FFF2-40B4-BE49-F238E27FC236}">
                <a16:creationId xmlns:a16="http://schemas.microsoft.com/office/drawing/2014/main" id="{B9D787C0-2EAB-B2B5-B767-B29BBD3828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3" y="4899025"/>
            <a:ext cx="5032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518" name="Text Box 39">
            <a:extLst>
              <a:ext uri="{FF2B5EF4-FFF2-40B4-BE49-F238E27FC236}">
                <a16:creationId xmlns:a16="http://schemas.microsoft.com/office/drawing/2014/main" id="{DF07AD12-AD5A-D1EC-1941-123EDBCC2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949950"/>
            <a:ext cx="2133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  <p:sp>
        <p:nvSpPr>
          <p:cNvPr id="20519" name="Text Box 40">
            <a:extLst>
              <a:ext uri="{FF2B5EF4-FFF2-40B4-BE49-F238E27FC236}">
                <a16:creationId xmlns:a16="http://schemas.microsoft.com/office/drawing/2014/main" id="{5D2CB48B-AB7C-7214-A1CA-827BEE551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0350"/>
            <a:ext cx="328612" cy="37449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P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J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 </a:t>
            </a: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L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Ó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G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</p:txBody>
      </p:sp>
      <p:sp>
        <p:nvSpPr>
          <p:cNvPr id="20520" name="Text Box 41">
            <a:extLst>
              <a:ext uri="{FF2B5EF4-FFF2-40B4-BE49-F238E27FC236}">
                <a16:creationId xmlns:a16="http://schemas.microsoft.com/office/drawing/2014/main" id="{36C2B224-E044-3508-E90B-CB0CDA26B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005263"/>
            <a:ext cx="328612" cy="2517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P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J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F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Í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0521" name="Text Box 42">
            <a:extLst>
              <a:ext uri="{FF2B5EF4-FFF2-40B4-BE49-F238E27FC236}">
                <a16:creationId xmlns:a16="http://schemas.microsoft.com/office/drawing/2014/main" id="{EA956A49-E32A-C616-952A-8B7D79683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0522" name="Text Box 43">
            <a:extLst>
              <a:ext uri="{FF2B5EF4-FFF2-40B4-BE49-F238E27FC236}">
                <a16:creationId xmlns:a16="http://schemas.microsoft.com/office/drawing/2014/main" id="{DCC1469C-1335-FB39-4A6E-E462265E0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0523" name="Text Box 44">
            <a:extLst>
              <a:ext uri="{FF2B5EF4-FFF2-40B4-BE49-F238E27FC236}">
                <a16:creationId xmlns:a16="http://schemas.microsoft.com/office/drawing/2014/main" id="{8109437D-AF5F-579D-DDD7-CF52DE914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547813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0524" name="Text Box 45">
            <a:extLst>
              <a:ext uri="{FF2B5EF4-FFF2-40B4-BE49-F238E27FC236}">
                <a16:creationId xmlns:a16="http://schemas.microsoft.com/office/drawing/2014/main" id="{87720BD1-BD47-406A-02C8-74E97114F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547813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0525" name="Text Box 46">
            <a:extLst>
              <a:ext uri="{FF2B5EF4-FFF2-40B4-BE49-F238E27FC236}">
                <a16:creationId xmlns:a16="http://schemas.microsoft.com/office/drawing/2014/main" id="{D0AC8AA5-1AC6-A4E7-2BFC-A5C0E696B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525713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20526" name="Text Box 47">
            <a:extLst>
              <a:ext uri="{FF2B5EF4-FFF2-40B4-BE49-F238E27FC236}">
                <a16:creationId xmlns:a16="http://schemas.microsoft.com/office/drawing/2014/main" id="{CE9A26F5-2394-CDA2-74D1-B0D632F46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013325"/>
            <a:ext cx="936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20527" name="Text Box 48">
            <a:extLst>
              <a:ext uri="{FF2B5EF4-FFF2-40B4-BE49-F238E27FC236}">
                <a16:creationId xmlns:a16="http://schemas.microsoft.com/office/drawing/2014/main" id="{A01E8840-78AC-1655-4D3B-9299E009B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14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20528" name="Text Box 49">
            <a:extLst>
              <a:ext uri="{FF2B5EF4-FFF2-40B4-BE49-F238E27FC236}">
                <a16:creationId xmlns:a16="http://schemas.microsoft.com/office/drawing/2014/main" id="{67A9B849-4A32-2A1B-1138-B08B139D7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24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20529" name="Text Box 50">
            <a:extLst>
              <a:ext uri="{FF2B5EF4-FFF2-40B4-BE49-F238E27FC236}">
                <a16:creationId xmlns:a16="http://schemas.microsoft.com/office/drawing/2014/main" id="{88BB992F-9DE8-7C67-E9C1-8ADE94AE3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748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  <p:sp>
        <p:nvSpPr>
          <p:cNvPr id="20530" name="Text Box 51">
            <a:extLst>
              <a:ext uri="{FF2B5EF4-FFF2-40B4-BE49-F238E27FC236}">
                <a16:creationId xmlns:a16="http://schemas.microsoft.com/office/drawing/2014/main" id="{7B2F6041-CA67-7742-DB3A-A58761CC3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20531" name="Text Box 52">
            <a:extLst>
              <a:ext uri="{FF2B5EF4-FFF2-40B4-BE49-F238E27FC236}">
                <a16:creationId xmlns:a16="http://schemas.microsoft.com/office/drawing/2014/main" id="{C5C8A3F3-8E0C-1E11-2F91-728C20F6C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508500"/>
            <a:ext cx="11525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7FAF2D0-7C35-06EE-E02D-575F89B10F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514600"/>
            <a:ext cx="7772400" cy="1143000"/>
          </a:xfrm>
        </p:spPr>
        <p:txBody>
          <a:bodyPr/>
          <a:lstStyle/>
          <a:p>
            <a:pPr algn="ctr" eaLnBrk="1" hangingPunct="1"/>
            <a:r>
              <a:rPr lang="pt-BR" altLang="pt-BR" b="1">
                <a:cs typeface="Arial" panose="020B0604020202020204" pitchFamily="34" charset="0"/>
              </a:rPr>
              <a:t>Proposta three-schema (ANSI/X3/SPARC)</a:t>
            </a:r>
            <a:br>
              <a:rPr lang="pt-BR" altLang="pt-BR" b="1">
                <a:cs typeface="Arial" panose="020B0604020202020204" pitchFamily="34" charset="0"/>
              </a:rPr>
            </a:br>
            <a:endParaRPr lang="pt-BR" altLang="pt-BR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48D8DCD-3247-79F3-0C90-22A8DA21B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617538"/>
            <a:ext cx="5029200" cy="1135062"/>
          </a:xfrm>
        </p:spPr>
        <p:txBody>
          <a:bodyPr/>
          <a:lstStyle/>
          <a:p>
            <a:pPr eaLnBrk="1" hangingPunct="1"/>
            <a:r>
              <a:rPr lang="pt-BR" altLang="pt-BR" b="1">
                <a:latin typeface="Times New Roman" panose="02020603050405020304" pitchFamily="18" charset="0"/>
                <a:cs typeface="Arial" panose="020B0604020202020204" pitchFamily="34" charset="0"/>
              </a:rPr>
              <a:t>Histórico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9EF8315-E6DB-D5C9-E4D3-62FC9C7C714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539750" y="2133600"/>
            <a:ext cx="8153400" cy="3429000"/>
          </a:xfrm>
          <a:noFill/>
        </p:spPr>
        <p:txBody>
          <a:bodyPr/>
          <a:lstStyle/>
          <a:p>
            <a:pPr eaLnBrk="1" hangingPunct="1"/>
            <a:r>
              <a:rPr lang="pt-PT" altLang="pt-BR" sz="2800"/>
              <a:t>O que é ANSI/X3/SPARC?</a:t>
            </a:r>
          </a:p>
          <a:p>
            <a:pPr lvl="1" eaLnBrk="1" hangingPunct="1"/>
            <a:r>
              <a:rPr lang="pt-PT" altLang="pt-BR" sz="2000"/>
              <a:t>American National Standards Institute (ANSI)</a:t>
            </a:r>
          </a:p>
          <a:p>
            <a:pPr lvl="1" eaLnBrk="1" hangingPunct="1"/>
            <a:r>
              <a:rPr lang="pt-PT" altLang="pt-BR" sz="2000"/>
              <a:t>Comitê sobre Computador e Processamento de Informações (X3)</a:t>
            </a:r>
          </a:p>
          <a:p>
            <a:pPr lvl="1" eaLnBrk="1" hangingPunct="1"/>
            <a:r>
              <a:rPr lang="pt-PT" altLang="pt-BR" sz="2000"/>
              <a:t>Comitê de Planejamento e Requisitos de Padrões</a:t>
            </a:r>
            <a:br>
              <a:rPr lang="pt-PT" altLang="pt-BR" sz="2000"/>
            </a:br>
            <a:r>
              <a:rPr lang="pt-PT" altLang="pt-BR" sz="2000" i="1"/>
              <a:t>Standards Planning and Requirements Committee (</a:t>
            </a:r>
            <a:r>
              <a:rPr lang="pt-PT" altLang="pt-BR" sz="2000" b="1" i="1"/>
              <a:t>SPARC</a:t>
            </a:r>
            <a:r>
              <a:rPr lang="pt-PT" altLang="pt-BR" sz="2000" i="1"/>
              <a:t>)</a:t>
            </a:r>
          </a:p>
          <a:p>
            <a:pPr lvl="1" eaLnBrk="1" hangingPunct="1"/>
            <a:endParaRPr lang="pt-PT" altLang="pt-BR" sz="2000" i="1"/>
          </a:p>
          <a:p>
            <a:pPr eaLnBrk="1" hangingPunct="1"/>
            <a:r>
              <a:rPr lang="pt-BR" altLang="pt-BR" sz="2800"/>
              <a:t>Objetivo: Estabelecer um Padrão de SGBD</a:t>
            </a:r>
          </a:p>
          <a:p>
            <a:pPr lvl="1" eaLnBrk="1" hangingPunct="1"/>
            <a:r>
              <a:rPr lang="pt-PT" altLang="pt-BR" sz="2000"/>
              <a:t>1ª Aproximação: SGBD aplicativo para:</a:t>
            </a:r>
          </a:p>
          <a:p>
            <a:pPr lvl="1" eaLnBrk="1" hangingPunct="1"/>
            <a:r>
              <a:rPr lang="pt-PT" altLang="pt-BR" sz="2000"/>
              <a:t> Criar e Administrar BD e</a:t>
            </a:r>
          </a:p>
          <a:p>
            <a:pPr lvl="1" eaLnBrk="1" hangingPunct="1"/>
            <a:r>
              <a:rPr lang="pt-PT" altLang="pt-BR" sz="2000"/>
              <a:t> Dispor de um ambiente de desenvolvimento de Programas Aplicativos</a:t>
            </a:r>
            <a:endParaRPr lang="pt-BR" altLang="pt-BR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CD00F99-E57D-472A-DC8B-A609AB2C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815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br>
              <a:rPr lang="pt-BR" alt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CFDD85-DF94-FD07-1FE5-DB97D9AF5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8153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pt-BR" altLang="pt-B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BDC5CDAD-608E-7809-0B49-2A7BC0D32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624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Descrição da Proposta three-schema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DC0A059B-F849-779A-718C-3F63A0B05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9812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2075" indent="-920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714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531813" indent="-809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pt-PT" altLang="pt-BR" sz="2000"/>
              <a:t>O Projeto foi dividido em três partes ou etapas,  os esquemas do projeto:</a:t>
            </a:r>
          </a:p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§"/>
            </a:pPr>
            <a:endParaRPr lang="pt-PT" altLang="pt-BR" sz="2000"/>
          </a:p>
          <a:p>
            <a:pPr lvl="1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 b="1"/>
              <a:t>Externo</a:t>
            </a:r>
          </a:p>
          <a:p>
            <a:pPr lvl="2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/>
              <a:t>Ponto de vista mais próximo do usuário (permite que o SI seja visto por pedaços – correspondentes às AFs)</a:t>
            </a:r>
          </a:p>
          <a:p>
            <a:pPr lvl="2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endParaRPr lang="pt-PT" altLang="pt-BR" sz="2000"/>
          </a:p>
          <a:p>
            <a:pPr lvl="1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 b="1"/>
              <a:t>Conceitual</a:t>
            </a:r>
          </a:p>
          <a:p>
            <a:pPr lvl="2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/>
              <a:t>Ponto de vista da organização (é a etapa de consolidação das visões)</a:t>
            </a:r>
          </a:p>
          <a:p>
            <a:pPr lvl="2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endParaRPr lang="pt-PT" altLang="pt-BR" sz="2000"/>
          </a:p>
          <a:p>
            <a:pPr lvl="1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 b="1"/>
              <a:t>Interno</a:t>
            </a:r>
          </a:p>
          <a:p>
            <a:pPr lvl="2" algn="just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2"/>
              </a:buBlip>
            </a:pPr>
            <a:r>
              <a:rPr lang="pt-PT" altLang="pt-BR" sz="2000"/>
              <a:t>Ponto de vista dos métodos de implementação do projeto (mais voltado para a construção – programação do SI)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val 2">
            <a:extLst>
              <a:ext uri="{FF2B5EF4-FFF2-40B4-BE49-F238E27FC236}">
                <a16:creationId xmlns:a16="http://schemas.microsoft.com/office/drawing/2014/main" id="{AB079190-CF0D-EC8C-668E-F630C918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036763"/>
            <a:ext cx="5089525" cy="5762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9A92560B-43A2-3BC0-3E2B-8EE42006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208438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387D1A13-03EA-6ED2-CB05-89C639B5D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2084388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0B3DE5D7-6B8C-1002-54A0-4099941CE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084388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 P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4BDA563D-D4C7-0F0A-68C8-DA0810FBF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084388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DD005107-EF2D-D922-D391-491F6929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973388"/>
            <a:ext cx="54991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82670DAD-9025-5757-6962-97776ACC06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62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5" name="Line 9">
            <a:extLst>
              <a:ext uri="{FF2B5EF4-FFF2-40B4-BE49-F238E27FC236}">
                <a16:creationId xmlns:a16="http://schemas.microsoft.com/office/drawing/2014/main" id="{E913C435-7E77-D0FA-268C-CBD181CEF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CFF18008-3A08-3885-B095-4A8727C385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6325" y="2492375"/>
            <a:ext cx="0" cy="6969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7" name="Line 11">
            <a:extLst>
              <a:ext uri="{FF2B5EF4-FFF2-40B4-BE49-F238E27FC236}">
                <a16:creationId xmlns:a16="http://schemas.microsoft.com/office/drawing/2014/main" id="{A0737947-BD40-FAA0-05D4-16E6F8AA88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425" y="2470150"/>
            <a:ext cx="2540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8" name="Line 12">
            <a:extLst>
              <a:ext uri="{FF2B5EF4-FFF2-40B4-BE49-F238E27FC236}">
                <a16:creationId xmlns:a16="http://schemas.microsoft.com/office/drawing/2014/main" id="{5BDBBB28-5AE8-B9B4-C2FC-B3E8EFA0C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340BB8CD-462C-4E8F-81AC-2E5C411BD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1575" y="2470150"/>
            <a:ext cx="22225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07C2FAD5-72D9-5F8D-4336-A4ACFE67D6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B3703940-A561-C301-A593-6001050D2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470150"/>
            <a:ext cx="0" cy="71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92" name="Text Box 16">
            <a:extLst>
              <a:ext uri="{FF2B5EF4-FFF2-40B4-BE49-F238E27FC236}">
                <a16:creationId xmlns:a16="http://schemas.microsoft.com/office/drawing/2014/main" id="{838D6936-98C2-F84A-8BC2-7556AF484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3" y="3433763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24593" name="Text Box 17">
            <a:extLst>
              <a:ext uri="{FF2B5EF4-FFF2-40B4-BE49-F238E27FC236}">
                <a16:creationId xmlns:a16="http://schemas.microsoft.com/office/drawing/2014/main" id="{26811559-958A-0D7E-CAEB-7147796B4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189288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4594" name="Text Box 18">
            <a:extLst>
              <a:ext uri="{FF2B5EF4-FFF2-40B4-BE49-F238E27FC236}">
                <a16:creationId xmlns:a16="http://schemas.microsoft.com/office/drawing/2014/main" id="{1E5387D2-C63F-820F-595B-3E6E3028D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3189288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794D296A-FA3D-A36F-B021-AB4E3FD3E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3189288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AF53A5CB-9EEE-50A0-22B6-BBEC19F7C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3189288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4597" name="Text Box 21">
            <a:extLst>
              <a:ext uri="{FF2B5EF4-FFF2-40B4-BE49-F238E27FC236}">
                <a16:creationId xmlns:a16="http://schemas.microsoft.com/office/drawing/2014/main" id="{8F691267-788D-34AC-8572-502D2ADB3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65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24598" name="Rectangle 22">
            <a:extLst>
              <a:ext uri="{FF2B5EF4-FFF2-40B4-BE49-F238E27FC236}">
                <a16:creationId xmlns:a16="http://schemas.microsoft.com/office/drawing/2014/main" id="{853EDF37-5E8A-64B9-14F8-B612B487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chemeClr val="tx2"/>
                </a:solidFill>
              </a:rPr>
              <a:t>Descrição da Proposta – Esquema Externo</a:t>
            </a:r>
          </a:p>
        </p:txBody>
      </p:sp>
      <p:sp>
        <p:nvSpPr>
          <p:cNvPr id="24599" name="Rectangle 23">
            <a:extLst>
              <a:ext uri="{FF2B5EF4-FFF2-40B4-BE49-F238E27FC236}">
                <a16:creationId xmlns:a16="http://schemas.microsoft.com/office/drawing/2014/main" id="{27A0BE1A-C225-1E6F-944E-4CD4BF6E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8135938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2075" indent="-92075" defTabSz="1825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22325" indent="-285750" defTabSz="1825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825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825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825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82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82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82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82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SzPct val="50000"/>
              <a:buFontTx/>
              <a:buBlip>
                <a:blip r:embed="rId2"/>
              </a:buBlip>
            </a:pPr>
            <a:r>
              <a:rPr lang="pt-BR" altLang="pt-BR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altLang="pt-BR" sz="1800"/>
              <a:t>Atividades e produtos que se obtém desde a fase de aproximação com a organização até a conclusão do Modelo Conceitual.</a:t>
            </a:r>
          </a:p>
          <a:p>
            <a:pPr eaLnBrk="1" hangingPunct="1">
              <a:spcBef>
                <a:spcPct val="20000"/>
              </a:spcBef>
              <a:buSzPct val="50000"/>
              <a:buFontTx/>
              <a:buBlip>
                <a:blip r:embed="rId2"/>
              </a:buBlip>
            </a:pPr>
            <a:r>
              <a:rPr lang="pt-PT" altLang="pt-BR" sz="1800"/>
              <a:t> Atividades deste esquema: Perguntas e Respostas (levantamento de Dados)</a:t>
            </a:r>
          </a:p>
          <a:p>
            <a:pPr eaLnBrk="1" hangingPunct="1">
              <a:spcBef>
                <a:spcPct val="20000"/>
              </a:spcBef>
              <a:buSzPct val="50000"/>
              <a:buFontTx/>
              <a:buBlip>
                <a:blip r:embed="rId2"/>
              </a:buBlip>
            </a:pPr>
            <a:r>
              <a:rPr lang="pt-PT" altLang="pt-BR" sz="1800"/>
              <a:t> Produtos do Esquema:</a:t>
            </a:r>
          </a:p>
          <a:p>
            <a:pPr lvl="1" eaLnBrk="1" hangingPunct="1">
              <a:spcBef>
                <a:spcPct val="20000"/>
              </a:spcBef>
              <a:buSzPct val="50000"/>
              <a:buFontTx/>
              <a:buBlip>
                <a:blip r:embed="rId2"/>
              </a:buBlip>
            </a:pPr>
            <a:r>
              <a:rPr lang="pt-PT" altLang="pt-BR" sz="1800"/>
              <a:t> a representação de CADA AF e </a:t>
            </a:r>
          </a:p>
          <a:p>
            <a:pPr lvl="1" eaLnBrk="1" hangingPunct="1">
              <a:spcBef>
                <a:spcPct val="20000"/>
              </a:spcBef>
              <a:buSzPct val="50000"/>
              <a:buFontTx/>
              <a:buBlip>
                <a:blip r:embed="rId2"/>
              </a:buBlip>
            </a:pPr>
            <a:r>
              <a:rPr lang="pt-PT" altLang="pt-BR" sz="1800"/>
              <a:t>o Conjunto de representações de TODAS as AFs  - Modelo Conceitual</a:t>
            </a:r>
          </a:p>
        </p:txBody>
      </p:sp>
      <p:sp>
        <p:nvSpPr>
          <p:cNvPr id="24600" name="Text Box 24">
            <a:extLst>
              <a:ext uri="{FF2B5EF4-FFF2-40B4-BE49-F238E27FC236}">
                <a16:creationId xmlns:a16="http://schemas.microsoft.com/office/drawing/2014/main" id="{AAB4BD15-8F88-EAA9-40FA-10B002360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060575"/>
            <a:ext cx="328612" cy="19446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.</a:t>
            </a:r>
          </a:p>
          <a:p>
            <a:pPr algn="ctr"/>
            <a:endParaRPr lang="pt-BR" altLang="pt-BR" sz="10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X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10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7CD5069C-54A1-3825-7A81-F8F02D959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445125"/>
            <a:ext cx="8964612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1793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/>
            <a:r>
              <a:rPr lang="pt-PT" altLang="pt-BR" sz="1400"/>
              <a:t>Atividades e produtos obtidos desde a fase de Análise de Semântica até o fim do Modelo Lógico.</a:t>
            </a:r>
            <a:br>
              <a:rPr lang="pt-PT" altLang="pt-BR" sz="1400"/>
            </a:br>
            <a:r>
              <a:rPr lang="pt-PT" altLang="pt-BR" sz="1400"/>
              <a:t>Atividades do esquema:</a:t>
            </a:r>
          </a:p>
          <a:p>
            <a:pPr lvl="1" eaLnBrk="1" hangingPunct="1"/>
            <a:r>
              <a:rPr lang="pt-PT" altLang="pt-BR" sz="1400"/>
              <a:t>Análise de Semântica de Dados e Processos e construção do Modelo Lógico</a:t>
            </a:r>
            <a:br>
              <a:rPr lang="pt-PT" altLang="pt-BR" sz="1400"/>
            </a:br>
            <a:r>
              <a:rPr lang="pt-PT" altLang="pt-BR" sz="1400"/>
              <a:t>Produtos do Esquema:</a:t>
            </a:r>
          </a:p>
          <a:p>
            <a:pPr lvl="1" eaLnBrk="1" hangingPunct="1"/>
            <a:r>
              <a:rPr lang="pt-PT" altLang="pt-BR" sz="1400"/>
              <a:t>representação de D &amp; P que atendem a todas as AFs </a:t>
            </a:r>
            <a:r>
              <a:rPr lang="pt-PT" altLang="pt-BR" sz="1400">
                <a:sym typeface="Symbol" panose="05050102010706020507" pitchFamily="18" charset="2"/>
              </a:rPr>
              <a:t></a:t>
            </a:r>
            <a:r>
              <a:rPr lang="pt-PT" altLang="pt-BR" sz="1400"/>
              <a:t> toda a Organização MODELO LÓGICO</a:t>
            </a:r>
            <a:endParaRPr lang="pt-BR" altLang="pt-BR" sz="1400"/>
          </a:p>
        </p:txBody>
      </p:sp>
      <p:sp>
        <p:nvSpPr>
          <p:cNvPr id="25603" name="Oval 3">
            <a:extLst>
              <a:ext uri="{FF2B5EF4-FFF2-40B4-BE49-F238E27FC236}">
                <a16:creationId xmlns:a16="http://schemas.microsoft.com/office/drawing/2014/main" id="{1BB52688-B5A9-8D07-3807-5B0CA8B13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844675"/>
            <a:ext cx="5089525" cy="736600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99C42FB9-0011-165B-27A9-B673BBB26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1984375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BD6B3FBC-BB10-553E-3AA4-4E399BEC2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1984375"/>
            <a:ext cx="65563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A3B422ED-648F-1FF2-9268-E06285970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1984375"/>
            <a:ext cx="6572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E8ACF637-610C-0ECF-6CF6-BD4D1C752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1984375"/>
            <a:ext cx="655637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7C6AD523-0B6C-02B6-3E32-EAA5E4CC0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3032125"/>
            <a:ext cx="54991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C30B192C-F576-77CB-9F12-3EBE1D95D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BEDF5282-8868-F436-DFE9-FFF7CA625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8175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89BABEBB-5544-3577-5F48-A1F48F69C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2" name="Line 12">
            <a:extLst>
              <a:ext uri="{FF2B5EF4-FFF2-40B4-BE49-F238E27FC236}">
                <a16:creationId xmlns:a16="http://schemas.microsoft.com/office/drawing/2014/main" id="{63AC7A52-F884-EE0B-E231-9F869C423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3" name="Line 13">
            <a:extLst>
              <a:ext uri="{FF2B5EF4-FFF2-40B4-BE49-F238E27FC236}">
                <a16:creationId xmlns:a16="http://schemas.microsoft.com/office/drawing/2014/main" id="{5A82F14E-E1D2-A34B-6D8B-1A75175AC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4" name="Line 14">
            <a:extLst>
              <a:ext uri="{FF2B5EF4-FFF2-40B4-BE49-F238E27FC236}">
                <a16:creationId xmlns:a16="http://schemas.microsoft.com/office/drawing/2014/main" id="{8C193D32-88B3-DA94-9998-27B1E055A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5" name="Line 15">
            <a:extLst>
              <a:ext uri="{FF2B5EF4-FFF2-40B4-BE49-F238E27FC236}">
                <a16:creationId xmlns:a16="http://schemas.microsoft.com/office/drawing/2014/main" id="{315C6735-EF9D-7933-BDEE-1C5B0D32C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6" name="Line 16">
            <a:extLst>
              <a:ext uri="{FF2B5EF4-FFF2-40B4-BE49-F238E27FC236}">
                <a16:creationId xmlns:a16="http://schemas.microsoft.com/office/drawing/2014/main" id="{EB15C7FD-61E3-76BF-5FCF-2270A48EE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2381250"/>
            <a:ext cx="0" cy="896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B124E623-2D34-DFBB-C7D2-CC0B00900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3521075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25618" name="Oval 18">
            <a:extLst>
              <a:ext uri="{FF2B5EF4-FFF2-40B4-BE49-F238E27FC236}">
                <a16:creationId xmlns:a16="http://schemas.microsoft.com/office/drawing/2014/main" id="{9ACFE468-C66F-8FFC-A46B-28F1F25B6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4257675"/>
            <a:ext cx="5170488" cy="1098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5619" name="Text Box 19">
            <a:extLst>
              <a:ext uri="{FF2B5EF4-FFF2-40B4-BE49-F238E27FC236}">
                <a16:creationId xmlns:a16="http://schemas.microsoft.com/office/drawing/2014/main" id="{53DEC55F-CBCB-C8F5-720A-04652BCA5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63" y="4635500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9F11DB44-6F8D-C65A-DCF7-C3FB571BB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00" y="4635500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25621" name="Line 21">
            <a:extLst>
              <a:ext uri="{FF2B5EF4-FFF2-40B4-BE49-F238E27FC236}">
                <a16:creationId xmlns:a16="http://schemas.microsoft.com/office/drawing/2014/main" id="{B028B714-8267-6A0E-118E-5B6B914505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3522663"/>
            <a:ext cx="41592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3A41D5DB-4FD4-E384-91E3-B57498417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3522663"/>
            <a:ext cx="506413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F18F0015-FB1A-430F-16C1-1C0A2D6C0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3522663"/>
            <a:ext cx="1349375" cy="1041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4" name="Line 24">
            <a:extLst>
              <a:ext uri="{FF2B5EF4-FFF2-40B4-BE49-F238E27FC236}">
                <a16:creationId xmlns:a16="http://schemas.microsoft.com/office/drawing/2014/main" id="{8403F7E6-3316-9103-4AA4-E2C083A067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1275" y="3605213"/>
            <a:ext cx="2117725" cy="958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5" name="Line 25">
            <a:extLst>
              <a:ext uri="{FF2B5EF4-FFF2-40B4-BE49-F238E27FC236}">
                <a16:creationId xmlns:a16="http://schemas.microsoft.com/office/drawing/2014/main" id="{6463FF2B-4CBE-654C-224F-C27CB0BF2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3522663"/>
            <a:ext cx="0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6" name="Line 26">
            <a:extLst>
              <a:ext uri="{FF2B5EF4-FFF2-40B4-BE49-F238E27FC236}">
                <a16:creationId xmlns:a16="http://schemas.microsoft.com/office/drawing/2014/main" id="{F8549B20-CE9C-3302-1B20-B01FF5683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813" y="3522663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7" name="Line 27">
            <a:extLst>
              <a:ext uri="{FF2B5EF4-FFF2-40B4-BE49-F238E27FC236}">
                <a16:creationId xmlns:a16="http://schemas.microsoft.com/office/drawing/2014/main" id="{22946F31-E431-860D-5F77-463101477B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3522663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8" name="Line 28">
            <a:extLst>
              <a:ext uri="{FF2B5EF4-FFF2-40B4-BE49-F238E27FC236}">
                <a16:creationId xmlns:a16="http://schemas.microsoft.com/office/drawing/2014/main" id="{5B9030E9-62EA-DEF9-E1D4-221C9EAB3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3522663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9" name="Text Box 29">
            <a:extLst>
              <a:ext uri="{FF2B5EF4-FFF2-40B4-BE49-F238E27FC236}">
                <a16:creationId xmlns:a16="http://schemas.microsoft.com/office/drawing/2014/main" id="{95372CCC-CAE8-89D1-5980-8D030FC50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276600"/>
            <a:ext cx="655638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5630" name="Text Box 30">
            <a:extLst>
              <a:ext uri="{FF2B5EF4-FFF2-40B4-BE49-F238E27FC236}">
                <a16:creationId xmlns:a16="http://schemas.microsoft.com/office/drawing/2014/main" id="{857D559D-66C9-AA0C-3CF7-FD1A37FD0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3276600"/>
            <a:ext cx="655638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EDFD9311-9630-BF3B-BD43-7DDCF496C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3276600"/>
            <a:ext cx="657225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5632" name="Text Box 32">
            <a:extLst>
              <a:ext uri="{FF2B5EF4-FFF2-40B4-BE49-F238E27FC236}">
                <a16:creationId xmlns:a16="http://schemas.microsoft.com/office/drawing/2014/main" id="{610E7A8F-0375-08A7-2673-493B74372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3276600"/>
            <a:ext cx="655637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5633" name="Text Box 33">
            <a:extLst>
              <a:ext uri="{FF2B5EF4-FFF2-40B4-BE49-F238E27FC236}">
                <a16:creationId xmlns:a16="http://schemas.microsoft.com/office/drawing/2014/main" id="{F85730BF-0B47-5808-75FE-F9FC8AD2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19375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25634" name="Text Box 34">
            <a:extLst>
              <a:ext uri="{FF2B5EF4-FFF2-40B4-BE49-F238E27FC236}">
                <a16:creationId xmlns:a16="http://schemas.microsoft.com/office/drawing/2014/main" id="{7800385D-22C0-73C9-6924-40119EAD2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059238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25635" name="Text Box 35">
            <a:extLst>
              <a:ext uri="{FF2B5EF4-FFF2-40B4-BE49-F238E27FC236}">
                <a16:creationId xmlns:a16="http://schemas.microsoft.com/office/drawing/2014/main" id="{B5F2B554-6D95-4CB8-C659-C9C69C93A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4365625"/>
            <a:ext cx="1008063" cy="485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25636" name="Rectangle 36">
            <a:extLst>
              <a:ext uri="{FF2B5EF4-FFF2-40B4-BE49-F238E27FC236}">
                <a16:creationId xmlns:a16="http://schemas.microsoft.com/office/drawing/2014/main" id="{7C263D20-1B81-5ED6-4D9B-22C6946BB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chemeClr val="tx2"/>
                </a:solidFill>
              </a:rPr>
              <a:t>Descrição da Proposta – Esquema Conceitual</a:t>
            </a:r>
          </a:p>
        </p:txBody>
      </p:sp>
      <p:sp>
        <p:nvSpPr>
          <p:cNvPr id="25637" name="Text Box 37">
            <a:extLst>
              <a:ext uri="{FF2B5EF4-FFF2-40B4-BE49-F238E27FC236}">
                <a16:creationId xmlns:a16="http://schemas.microsoft.com/office/drawing/2014/main" id="{7D97DE27-D197-B86D-F8D7-FC1284730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917700"/>
            <a:ext cx="328613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X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  <p:sp>
        <p:nvSpPr>
          <p:cNvPr id="25638" name="Text Box 38">
            <a:extLst>
              <a:ext uri="{FF2B5EF4-FFF2-40B4-BE49-F238E27FC236}">
                <a16:creationId xmlns:a16="http://schemas.microsoft.com/office/drawing/2014/main" id="{016F334C-6265-C40E-6800-62106B69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717925"/>
            <a:ext cx="328612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U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A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L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0B71B3C-49F9-199F-7E02-96DFC3669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49275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chemeClr val="tx2"/>
                </a:solidFill>
              </a:rPr>
              <a:t>Descrição da Proposta – Esquema Interno</a:t>
            </a:r>
          </a:p>
        </p:txBody>
      </p:sp>
      <p:sp>
        <p:nvSpPr>
          <p:cNvPr id="26627" name="Oval 3">
            <a:extLst>
              <a:ext uri="{FF2B5EF4-FFF2-40B4-BE49-F238E27FC236}">
                <a16:creationId xmlns:a16="http://schemas.microsoft.com/office/drawing/2014/main" id="{678003CC-9443-CD28-E704-B2F76120A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1230313"/>
            <a:ext cx="5170488" cy="10874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D5EA8CB4-1F55-BE86-30EA-69635F4E0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2808288"/>
            <a:ext cx="5499100" cy="105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7FF078A3-BF8D-58BD-CC7A-B79EA3DA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1536700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1D92F47E-5A30-9E9F-DBE6-EC8783E49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1536700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CCC14CF3-17EE-89CA-D0A0-7C76C2DDFA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88" y="2024063"/>
            <a:ext cx="165100" cy="977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EB41AF7F-3F83-36CE-C173-1BEDC5386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024063"/>
            <a:ext cx="492125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BA6D3FF7-22C8-E51A-755B-B8DD0EA8F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2970213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B5E7FC26-E841-6C54-EEF2-BD0074A7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2927350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26635" name="Line 11">
            <a:extLst>
              <a:ext uri="{FF2B5EF4-FFF2-40B4-BE49-F238E27FC236}">
                <a16:creationId xmlns:a16="http://schemas.microsoft.com/office/drawing/2014/main" id="{E699D149-D81C-493D-5EB9-84625A983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2925763"/>
            <a:ext cx="9032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36" name="Line 12">
            <a:extLst>
              <a:ext uri="{FF2B5EF4-FFF2-40B4-BE49-F238E27FC236}">
                <a16:creationId xmlns:a16="http://schemas.microsoft.com/office/drawing/2014/main" id="{AB51D971-618D-92F3-6B2C-CBAEB225F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2927350"/>
            <a:ext cx="0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37" name="Text Box 13">
            <a:extLst>
              <a:ext uri="{FF2B5EF4-FFF2-40B4-BE49-F238E27FC236}">
                <a16:creationId xmlns:a16="http://schemas.microsoft.com/office/drawing/2014/main" id="{54E3DB38-1386-EA89-96C5-5CBDA2EE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125538"/>
            <a:ext cx="820738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26638" name="Text Box 14">
            <a:extLst>
              <a:ext uri="{FF2B5EF4-FFF2-40B4-BE49-F238E27FC236}">
                <a16:creationId xmlns:a16="http://schemas.microsoft.com/office/drawing/2014/main" id="{24379DE6-4CB0-DB96-A624-227891E28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141663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F6F1BE44-9E52-F78F-A5B1-B922D1361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347913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34C57FE1-E525-9344-9565-5AA0492D7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86113"/>
            <a:ext cx="1152525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  <p:sp>
        <p:nvSpPr>
          <p:cNvPr id="26641" name="Text Box 17">
            <a:extLst>
              <a:ext uri="{FF2B5EF4-FFF2-40B4-BE49-F238E27FC236}">
                <a16:creationId xmlns:a16="http://schemas.microsoft.com/office/drawing/2014/main" id="{06A5510A-B23F-B9EA-60F9-A1227A984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206625"/>
            <a:ext cx="328612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  <p:sp>
        <p:nvSpPr>
          <p:cNvPr id="26642" name="Oval 18">
            <a:extLst>
              <a:ext uri="{FF2B5EF4-FFF2-40B4-BE49-F238E27FC236}">
                <a16:creationId xmlns:a16="http://schemas.microsoft.com/office/drawing/2014/main" id="{066580AC-0129-DA85-D492-0421F88B9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221163"/>
            <a:ext cx="5170488" cy="10572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6643" name="Line 19">
            <a:extLst>
              <a:ext uri="{FF2B5EF4-FFF2-40B4-BE49-F238E27FC236}">
                <a16:creationId xmlns:a16="http://schemas.microsoft.com/office/drawing/2014/main" id="{4F98C21F-7171-AFB7-C125-0C819CDEB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4225" y="3579813"/>
            <a:ext cx="960438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44" name="Line 20">
            <a:extLst>
              <a:ext uri="{FF2B5EF4-FFF2-40B4-BE49-F238E27FC236}">
                <a16:creationId xmlns:a16="http://schemas.microsoft.com/office/drawing/2014/main" id="{6DE9EB77-3731-DB48-4E0E-90DBA4F847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5750" y="3579813"/>
            <a:ext cx="503238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F3B77ADD-E7D6-3FC5-DBD1-84A5D4361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4652963"/>
            <a:ext cx="2133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val 2">
            <a:extLst>
              <a:ext uri="{FF2B5EF4-FFF2-40B4-BE49-F238E27FC236}">
                <a16:creationId xmlns:a16="http://schemas.microsoft.com/office/drawing/2014/main" id="{7BBDCAD4-2336-DF9C-A675-1458A36C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276475"/>
            <a:ext cx="3527425" cy="8651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A5FFD8D-9CB5-E609-F32C-422B42B9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49275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chemeClr val="tx2"/>
                </a:solidFill>
              </a:rPr>
              <a:t>Descrição da Proposta – Esquema Interno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834FCB2C-5F39-44D5-6A66-E2CDFB2E5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44900"/>
            <a:ext cx="86423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pt-PT" altLang="pt-BR" sz="1600"/>
              <a:t>Atividades e produtos obtidos desde a fase de análise do modelo lógico até a conclusão do SI.</a:t>
            </a:r>
          </a:p>
          <a:p>
            <a:pPr lvl="1" eaLnBrk="1" hangingPunct="1">
              <a:buFontTx/>
              <a:buChar char="•"/>
            </a:pPr>
            <a:r>
              <a:rPr lang="pt-PT" altLang="pt-BR" sz="1600"/>
              <a:t>Atividades deste esquema: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Análise dos volumes de Dados esperados no SI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Determinação dos Tipos de Dados e tamanhos necessários nos Dados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Definição da forma de organização de acesso ao dado.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Determinação da Complexidade dos programas</a:t>
            </a:r>
          </a:p>
          <a:p>
            <a:pPr lvl="1" eaLnBrk="1" hangingPunct="1">
              <a:buFontTx/>
              <a:buChar char="•"/>
            </a:pPr>
            <a:r>
              <a:rPr lang="pt-PT" altLang="pt-BR" sz="1600"/>
              <a:t>São Produtos deste esquema: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Descrição das regras de construção de Dados e dos Processos (MODELO FÍSICO),</a:t>
            </a:r>
          </a:p>
          <a:p>
            <a:pPr lvl="2" eaLnBrk="1" hangingPunct="1">
              <a:buFontTx/>
              <a:buChar char="•"/>
            </a:pPr>
            <a:r>
              <a:rPr lang="pt-PT" altLang="pt-BR" sz="1400"/>
              <a:t>Sistema de Informação</a:t>
            </a:r>
            <a:endParaRPr lang="pt-BR" altLang="pt-BR" sz="1400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D590226B-0342-5F3D-6218-6A9FDA46E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2781300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70DF40C0-E09A-8352-1AC7-3E44A6A67C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781300"/>
            <a:ext cx="7191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3F358739-3AB1-682A-3457-9696F831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492375"/>
            <a:ext cx="820737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FE98AFD8-F5F1-C1D3-546F-735153C6E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492375"/>
            <a:ext cx="1066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ACC398FD-E5ED-7D21-BA96-9D9363084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213100"/>
            <a:ext cx="5832475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 b="1">
                <a:latin typeface="Comic Sans MS" panose="030F0702030302020204" pitchFamily="66" charset="0"/>
              </a:rPr>
              <a:t>E S Q.  I N T E R N O</a:t>
            </a:r>
          </a:p>
          <a:p>
            <a:pPr algn="ctr"/>
            <a:endParaRPr lang="pt-BR" altLang="pt-BR" sz="1600" b="1">
              <a:latin typeface="Comic Sans MS" panose="030F0702030302020204" pitchFamily="66" charset="0"/>
            </a:endParaRP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B02141F8-2429-B3BF-2276-D09AE6315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2565400"/>
            <a:ext cx="2133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61036005-086C-EF93-917E-DCA138D9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34950"/>
            <a:ext cx="66611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                                                                    </a:t>
            </a:r>
          </a:p>
        </p:txBody>
      </p:sp>
      <p:sp>
        <p:nvSpPr>
          <p:cNvPr id="28675" name="Oval 3">
            <a:extLst>
              <a:ext uri="{FF2B5EF4-FFF2-40B4-BE49-F238E27FC236}">
                <a16:creationId xmlns:a16="http://schemas.microsoft.com/office/drawing/2014/main" id="{CE5A5030-1545-6854-ABA9-1A9ADB2D3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4450"/>
            <a:ext cx="5089525" cy="836613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8AC13999-D211-4426-F668-CA166CFD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0C906683-B26B-5A2A-F738-5137820FB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63513"/>
            <a:ext cx="65563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AF2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F7FF4381-21D9-584F-C051-11274B58A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63513"/>
            <a:ext cx="657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AF3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523E456A-F317-6D55-16D0-188DEF437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63513"/>
            <a:ext cx="65563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AF1</a:t>
            </a:r>
          </a:p>
          <a:p>
            <a:r>
              <a:rPr lang="pt-BR" altLang="pt-BR" sz="1200">
                <a:latin typeface="Times New Roman" panose="02020603050405020304" pitchFamily="18" charset="0"/>
              </a:rPr>
              <a:t>D   P</a:t>
            </a:r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C1A33806-68C6-52A0-0935-5C0ED9EDB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1303338"/>
            <a:ext cx="540385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E68820B5-9AA7-7C17-DD0E-6177DE488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56068800-082B-E0EF-A95F-6561145B7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3" name="Line 11">
            <a:extLst>
              <a:ext uri="{FF2B5EF4-FFF2-40B4-BE49-F238E27FC236}">
                <a16:creationId xmlns:a16="http://schemas.microsoft.com/office/drawing/2014/main" id="{6EC32EB1-F18C-3642-9D00-A5186414BB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C1762DD7-9333-77D9-13A8-A70C87981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8525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5" name="Line 13">
            <a:extLst>
              <a:ext uri="{FF2B5EF4-FFF2-40B4-BE49-F238E27FC236}">
                <a16:creationId xmlns:a16="http://schemas.microsoft.com/office/drawing/2014/main" id="{6CDCD1F7-1E55-0266-B915-621BA1471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6" name="Line 14">
            <a:extLst>
              <a:ext uri="{FF2B5EF4-FFF2-40B4-BE49-F238E27FC236}">
                <a16:creationId xmlns:a16="http://schemas.microsoft.com/office/drawing/2014/main" id="{29940E7A-D5EF-D944-2AE9-D87EF087A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4275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7" name="Line 15">
            <a:extLst>
              <a:ext uri="{FF2B5EF4-FFF2-40B4-BE49-F238E27FC236}">
                <a16:creationId xmlns:a16="http://schemas.microsoft.com/office/drawing/2014/main" id="{96A47C16-0AF6-D8B2-2BA9-DC7AA2302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652463"/>
            <a:ext cx="1588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8" name="Line 16">
            <a:extLst>
              <a:ext uri="{FF2B5EF4-FFF2-40B4-BE49-F238E27FC236}">
                <a16:creationId xmlns:a16="http://schemas.microsoft.com/office/drawing/2014/main" id="{482AE735-668F-3CE3-28DC-781A81D91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652463"/>
            <a:ext cx="1587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89" name="Text Box 17">
            <a:extLst>
              <a:ext uri="{FF2B5EF4-FFF2-40B4-BE49-F238E27FC236}">
                <a16:creationId xmlns:a16="http://schemas.microsoft.com/office/drawing/2014/main" id="{57BA7C59-F190-25C3-7988-41019795B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792288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Conceitual</a:t>
            </a:r>
          </a:p>
        </p:txBody>
      </p:sp>
      <p:sp>
        <p:nvSpPr>
          <p:cNvPr id="28690" name="Oval 18">
            <a:extLst>
              <a:ext uri="{FF2B5EF4-FFF2-40B4-BE49-F238E27FC236}">
                <a16:creationId xmlns:a16="http://schemas.microsoft.com/office/drawing/2014/main" id="{A31D3ADD-F49D-644D-FF7D-2113A50FD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2528888"/>
            <a:ext cx="5170488" cy="13858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8691" name="Rectangle 19">
            <a:extLst>
              <a:ext uri="{FF2B5EF4-FFF2-40B4-BE49-F238E27FC236}">
                <a16:creationId xmlns:a16="http://schemas.microsoft.com/office/drawing/2014/main" id="{796E8AA1-DFBF-0585-A724-59B85231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4208463"/>
            <a:ext cx="5499100" cy="105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8692" name="Oval 20">
            <a:extLst>
              <a:ext uri="{FF2B5EF4-FFF2-40B4-BE49-F238E27FC236}">
                <a16:creationId xmlns:a16="http://schemas.microsoft.com/office/drawing/2014/main" id="{D30034C0-C665-FF69-5CB5-EFA10D09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5540375"/>
            <a:ext cx="5170487" cy="10572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8693" name="Text Box 21">
            <a:extLst>
              <a:ext uri="{FF2B5EF4-FFF2-40B4-BE49-F238E27FC236}">
                <a16:creationId xmlns:a16="http://schemas.microsoft.com/office/drawing/2014/main" id="{B76C14E3-D5C6-96A0-C084-B292707AB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2936875"/>
            <a:ext cx="1395412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hlink"/>
                </a:solidFill>
                <a:latin typeface="Times New Roman" panose="02020603050405020304" pitchFamily="18" charset="0"/>
              </a:rPr>
              <a:t>Dados</a:t>
            </a:r>
          </a:p>
        </p:txBody>
      </p:sp>
      <p:sp>
        <p:nvSpPr>
          <p:cNvPr id="28694" name="Text Box 22">
            <a:extLst>
              <a:ext uri="{FF2B5EF4-FFF2-40B4-BE49-F238E27FC236}">
                <a16:creationId xmlns:a16="http://schemas.microsoft.com/office/drawing/2014/main" id="{E732F1E8-3C96-5038-F18A-ED27B0EC0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2936875"/>
            <a:ext cx="1560513" cy="4889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b="1">
                <a:solidFill>
                  <a:schemeClr val="folHlink"/>
                </a:solidFill>
                <a:latin typeface="Times New Roman" panose="02020603050405020304" pitchFamily="18" charset="0"/>
              </a:rPr>
              <a:t>Processos</a:t>
            </a:r>
          </a:p>
        </p:txBody>
      </p:sp>
      <p:sp>
        <p:nvSpPr>
          <p:cNvPr id="28695" name="Line 23">
            <a:extLst>
              <a:ext uri="{FF2B5EF4-FFF2-40B4-BE49-F238E27FC236}">
                <a16:creationId xmlns:a16="http://schemas.microsoft.com/office/drawing/2014/main" id="{B6E2A0F4-D108-8E39-48C4-3E76D1CD0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1638" y="1793875"/>
            <a:ext cx="477837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96" name="Line 24">
            <a:extLst>
              <a:ext uri="{FF2B5EF4-FFF2-40B4-BE49-F238E27FC236}">
                <a16:creationId xmlns:a16="http://schemas.microsoft.com/office/drawing/2014/main" id="{221E3541-8CCA-AA27-F5B4-79344796C2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3938" y="1793875"/>
            <a:ext cx="4445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97" name="Line 25">
            <a:extLst>
              <a:ext uri="{FF2B5EF4-FFF2-40B4-BE49-F238E27FC236}">
                <a16:creationId xmlns:a16="http://schemas.microsoft.com/office/drawing/2014/main" id="{37E3A0B0-D841-76CD-D1B4-C96A6EDE88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1793875"/>
            <a:ext cx="1358900" cy="1058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98" name="Line 26">
            <a:extLst>
              <a:ext uri="{FF2B5EF4-FFF2-40B4-BE49-F238E27FC236}">
                <a16:creationId xmlns:a16="http://schemas.microsoft.com/office/drawing/2014/main" id="{1285C1F8-F6D7-3FF0-82D6-E243979151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1876425"/>
            <a:ext cx="2198687" cy="976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699" name="Line 27">
            <a:extLst>
              <a:ext uri="{FF2B5EF4-FFF2-40B4-BE49-F238E27FC236}">
                <a16:creationId xmlns:a16="http://schemas.microsoft.com/office/drawing/2014/main" id="{FF0446C1-1EDC-AFC7-8F31-98D8DB4A6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1793875"/>
            <a:ext cx="15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0" name="Line 28">
            <a:extLst>
              <a:ext uri="{FF2B5EF4-FFF2-40B4-BE49-F238E27FC236}">
                <a16:creationId xmlns:a16="http://schemas.microsoft.com/office/drawing/2014/main" id="{E9BAC250-8366-05B6-9A75-C3DBD1766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1793875"/>
            <a:ext cx="903287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1" name="Line 29">
            <a:extLst>
              <a:ext uri="{FF2B5EF4-FFF2-40B4-BE49-F238E27FC236}">
                <a16:creationId xmlns:a16="http://schemas.microsoft.com/office/drawing/2014/main" id="{8CF794B4-A5C0-F0FB-F42C-9A123429D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1793875"/>
            <a:ext cx="1724025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2" name="Line 30">
            <a:extLst>
              <a:ext uri="{FF2B5EF4-FFF2-40B4-BE49-F238E27FC236}">
                <a16:creationId xmlns:a16="http://schemas.microsoft.com/office/drawing/2014/main" id="{A79A9420-A484-18D1-49A7-09C22DE6C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1793875"/>
            <a:ext cx="2462213" cy="1060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3" name="Line 31">
            <a:extLst>
              <a:ext uri="{FF2B5EF4-FFF2-40B4-BE49-F238E27FC236}">
                <a16:creationId xmlns:a16="http://schemas.microsoft.com/office/drawing/2014/main" id="{737F2907-9909-EEE4-64C2-24272A25F0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3429000"/>
            <a:ext cx="504825" cy="936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4" name="Line 32">
            <a:extLst>
              <a:ext uri="{FF2B5EF4-FFF2-40B4-BE49-F238E27FC236}">
                <a16:creationId xmlns:a16="http://schemas.microsoft.com/office/drawing/2014/main" id="{B5B1AB77-E225-D2B4-AEA0-37D89A3EB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424238"/>
            <a:ext cx="492125" cy="896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5" name="Text Box 33">
            <a:extLst>
              <a:ext uri="{FF2B5EF4-FFF2-40B4-BE49-F238E27FC236}">
                <a16:creationId xmlns:a16="http://schemas.microsoft.com/office/drawing/2014/main" id="{1F1D4204-01A7-5D98-B896-033F363BE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450" y="4370388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Dados</a:t>
            </a:r>
          </a:p>
        </p:txBody>
      </p:sp>
      <p:sp>
        <p:nvSpPr>
          <p:cNvPr id="28706" name="Text Box 34">
            <a:extLst>
              <a:ext uri="{FF2B5EF4-FFF2-40B4-BE49-F238E27FC236}">
                <a16:creationId xmlns:a16="http://schemas.microsoft.com/office/drawing/2014/main" id="{7D8587B1-29C5-9885-F4F2-3BAB30042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4327525"/>
            <a:ext cx="21336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200">
                <a:latin typeface="Times New Roman" panose="02020603050405020304" pitchFamily="18" charset="0"/>
              </a:rPr>
              <a:t>Regras de Construção de Processos</a:t>
            </a:r>
          </a:p>
        </p:txBody>
      </p:sp>
      <p:sp>
        <p:nvSpPr>
          <p:cNvPr id="28707" name="Line 35">
            <a:extLst>
              <a:ext uri="{FF2B5EF4-FFF2-40B4-BE49-F238E27FC236}">
                <a16:creationId xmlns:a16="http://schemas.microsoft.com/office/drawing/2014/main" id="{DDEB679C-B814-C2AA-F44B-2303CF1BB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0" y="4325938"/>
            <a:ext cx="9032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8" name="Line 36">
            <a:extLst>
              <a:ext uri="{FF2B5EF4-FFF2-40B4-BE49-F238E27FC236}">
                <a16:creationId xmlns:a16="http://schemas.microsoft.com/office/drawing/2014/main" id="{91E5F122-68ED-0565-82D4-C32A6E86C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800" y="4327525"/>
            <a:ext cx="1588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09" name="Line 37">
            <a:extLst>
              <a:ext uri="{FF2B5EF4-FFF2-40B4-BE49-F238E27FC236}">
                <a16:creationId xmlns:a16="http://schemas.microsoft.com/office/drawing/2014/main" id="{BD9BC386-2760-589B-F5A0-2D08F4303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6738" y="4899025"/>
            <a:ext cx="9604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10" name="Line 38">
            <a:extLst>
              <a:ext uri="{FF2B5EF4-FFF2-40B4-BE49-F238E27FC236}">
                <a16:creationId xmlns:a16="http://schemas.microsoft.com/office/drawing/2014/main" id="{37E4ADA4-D779-D0C7-FF9F-A72EB911E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3" y="4899025"/>
            <a:ext cx="503237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711" name="Text Box 39">
            <a:extLst>
              <a:ext uri="{FF2B5EF4-FFF2-40B4-BE49-F238E27FC236}">
                <a16:creationId xmlns:a16="http://schemas.microsoft.com/office/drawing/2014/main" id="{B1C3534D-D2ED-DB7C-7AB2-F78B0CBC3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949950"/>
            <a:ext cx="2133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600">
                <a:latin typeface="Times New Roman" panose="02020603050405020304" pitchFamily="18" charset="0"/>
              </a:rPr>
              <a:t>Sistema de Informação</a:t>
            </a:r>
          </a:p>
        </p:txBody>
      </p:sp>
      <p:sp>
        <p:nvSpPr>
          <p:cNvPr id="28712" name="Text Box 40">
            <a:extLst>
              <a:ext uri="{FF2B5EF4-FFF2-40B4-BE49-F238E27FC236}">
                <a16:creationId xmlns:a16="http://schemas.microsoft.com/office/drawing/2014/main" id="{5008FFAE-199D-0E21-E5BF-BCDF42497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0350"/>
            <a:ext cx="328612" cy="37449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P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J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 </a:t>
            </a: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L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Ó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G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</p:txBody>
      </p:sp>
      <p:sp>
        <p:nvSpPr>
          <p:cNvPr id="28713" name="Text Box 41">
            <a:extLst>
              <a:ext uri="{FF2B5EF4-FFF2-40B4-BE49-F238E27FC236}">
                <a16:creationId xmlns:a16="http://schemas.microsoft.com/office/drawing/2014/main" id="{B621282A-8517-2A49-C57B-EBC2414E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005263"/>
            <a:ext cx="328612" cy="2517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pt-BR" altLang="pt-BR" sz="12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P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J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F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Í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1200" b="1"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8714" name="Text Box 42">
            <a:extLst>
              <a:ext uri="{FF2B5EF4-FFF2-40B4-BE49-F238E27FC236}">
                <a16:creationId xmlns:a16="http://schemas.microsoft.com/office/drawing/2014/main" id="{90C92FF2-7F48-7469-8830-367777B9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8715" name="Text Box 43">
            <a:extLst>
              <a:ext uri="{FF2B5EF4-FFF2-40B4-BE49-F238E27FC236}">
                <a16:creationId xmlns:a16="http://schemas.microsoft.com/office/drawing/2014/main" id="{DA20B1B6-3554-7258-2B40-7B4FFE60A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1547813"/>
            <a:ext cx="655638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8716" name="Text Box 44">
            <a:extLst>
              <a:ext uri="{FF2B5EF4-FFF2-40B4-BE49-F238E27FC236}">
                <a16:creationId xmlns:a16="http://schemas.microsoft.com/office/drawing/2014/main" id="{9D7558E9-E740-A2CE-0B00-698AF52BC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1547813"/>
            <a:ext cx="657225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8717" name="Text Box 45">
            <a:extLst>
              <a:ext uri="{FF2B5EF4-FFF2-40B4-BE49-F238E27FC236}">
                <a16:creationId xmlns:a16="http://schemas.microsoft.com/office/drawing/2014/main" id="{B41EC23E-D219-5A6C-C1EF-1F3D33195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1547813"/>
            <a:ext cx="655637" cy="3254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pt-BR" altLang="pt-BR" sz="1800" b="1">
                <a:latin typeface="Times New Roman" panose="02020603050405020304" pitchFamily="18" charset="0"/>
              </a:rPr>
              <a:t>D  P</a:t>
            </a:r>
          </a:p>
        </p:txBody>
      </p:sp>
      <p:sp>
        <p:nvSpPr>
          <p:cNvPr id="28718" name="Text Box 46">
            <a:extLst>
              <a:ext uri="{FF2B5EF4-FFF2-40B4-BE49-F238E27FC236}">
                <a16:creationId xmlns:a16="http://schemas.microsoft.com/office/drawing/2014/main" id="{F92DCD4F-06B4-89EF-E104-A635C7D88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525713"/>
            <a:ext cx="898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Lógico</a:t>
            </a:r>
          </a:p>
        </p:txBody>
      </p:sp>
      <p:sp>
        <p:nvSpPr>
          <p:cNvPr id="28719" name="Text Box 47">
            <a:extLst>
              <a:ext uri="{FF2B5EF4-FFF2-40B4-BE49-F238E27FC236}">
                <a16:creationId xmlns:a16="http://schemas.microsoft.com/office/drawing/2014/main" id="{246D742B-F299-4CA6-CE9D-52762A10F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013325"/>
            <a:ext cx="936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Mod.</a:t>
            </a:r>
          </a:p>
          <a:p>
            <a:pPr algn="ctr"/>
            <a:r>
              <a:rPr lang="pt-BR" altLang="pt-BR" sz="1200" b="1">
                <a:latin typeface="Times New Roman" panose="02020603050405020304" pitchFamily="18" charset="0"/>
              </a:rPr>
              <a:t>Físico</a:t>
            </a:r>
          </a:p>
        </p:txBody>
      </p:sp>
      <p:sp>
        <p:nvSpPr>
          <p:cNvPr id="28720" name="Text Box 48">
            <a:extLst>
              <a:ext uri="{FF2B5EF4-FFF2-40B4-BE49-F238E27FC236}">
                <a16:creationId xmlns:a16="http://schemas.microsoft.com/office/drawing/2014/main" id="{A7E9D786-F050-4AC7-6276-660F9EB5C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914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28721" name="Text Box 49">
            <a:extLst>
              <a:ext uri="{FF2B5EF4-FFF2-40B4-BE49-F238E27FC236}">
                <a16:creationId xmlns:a16="http://schemas.microsoft.com/office/drawing/2014/main" id="{1FDB8215-622E-E4BD-EAB9-CBAAD9682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24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28722" name="Text Box 50">
            <a:extLst>
              <a:ext uri="{FF2B5EF4-FFF2-40B4-BE49-F238E27FC236}">
                <a16:creationId xmlns:a16="http://schemas.microsoft.com/office/drawing/2014/main" id="{543D80E5-C79B-40DA-0F60-C5086565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7480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(3</a:t>
            </a:r>
            <a:r>
              <a:rPr lang="pt-BR" altLang="pt-BR" sz="1800"/>
              <a:t>)</a:t>
            </a:r>
          </a:p>
        </p:txBody>
      </p:sp>
      <p:sp>
        <p:nvSpPr>
          <p:cNvPr id="28723" name="Text Box 51">
            <a:extLst>
              <a:ext uri="{FF2B5EF4-FFF2-40B4-BE49-F238E27FC236}">
                <a16:creationId xmlns:a16="http://schemas.microsoft.com/office/drawing/2014/main" id="{E9DD67A1-0945-8443-2474-02EAB4671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800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28724" name="Text Box 52">
            <a:extLst>
              <a:ext uri="{FF2B5EF4-FFF2-40B4-BE49-F238E27FC236}">
                <a16:creationId xmlns:a16="http://schemas.microsoft.com/office/drawing/2014/main" id="{56618FB2-E3B7-8E7B-67AB-6EC17FC7F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508500"/>
            <a:ext cx="11525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Hw &amp; SO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SGBD</a:t>
            </a:r>
          </a:p>
          <a:p>
            <a:pPr algn="ctr" eaLnBrk="1" hangingPunct="1">
              <a:spcBef>
                <a:spcPct val="10000"/>
              </a:spcBef>
            </a:pPr>
            <a:r>
              <a:rPr lang="pt-BR" altLang="pt-BR" sz="1200">
                <a:latin typeface="Times New Roman" panose="02020603050405020304" pitchFamily="18" charset="0"/>
              </a:rPr>
              <a:t>Telas (int)</a:t>
            </a:r>
          </a:p>
        </p:txBody>
      </p:sp>
      <p:sp>
        <p:nvSpPr>
          <p:cNvPr id="28725" name="Text Box 53">
            <a:extLst>
              <a:ext uri="{FF2B5EF4-FFF2-40B4-BE49-F238E27FC236}">
                <a16:creationId xmlns:a16="http://schemas.microsoft.com/office/drawing/2014/main" id="{4C358AC8-73E3-D0B0-38B0-4C488260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260350"/>
            <a:ext cx="328613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X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  <p:sp>
        <p:nvSpPr>
          <p:cNvPr id="28726" name="Text Box 54">
            <a:extLst>
              <a:ext uri="{FF2B5EF4-FFF2-40B4-BE49-F238E27FC236}">
                <a16:creationId xmlns:a16="http://schemas.microsoft.com/office/drawing/2014/main" id="{BABB859C-21A7-75E9-5265-35A622DC9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963" y="2060575"/>
            <a:ext cx="328612" cy="1800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C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U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A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L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  <p:sp>
        <p:nvSpPr>
          <p:cNvPr id="28727" name="Text Box 55">
            <a:extLst>
              <a:ext uri="{FF2B5EF4-FFF2-40B4-BE49-F238E27FC236}">
                <a16:creationId xmlns:a16="http://schemas.microsoft.com/office/drawing/2014/main" id="{4CB32D07-DA43-8F9A-6584-36EA6D9F9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3860800"/>
            <a:ext cx="328613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S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Q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.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I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T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E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R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N</a:t>
            </a:r>
          </a:p>
          <a:p>
            <a:pPr algn="ctr"/>
            <a:r>
              <a:rPr lang="pt-BR" altLang="pt-BR" sz="800" b="1">
                <a:latin typeface="Comic Sans MS" panose="030F0702030302020204" pitchFamily="66" charset="0"/>
              </a:rPr>
              <a:t>O</a:t>
            </a:r>
          </a:p>
          <a:p>
            <a:pPr algn="ctr"/>
            <a:endParaRPr lang="pt-BR" altLang="pt-BR" sz="8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431</TotalTime>
  <Words>1713</Words>
  <Application>Microsoft Office PowerPoint</Application>
  <PresentationFormat>Apresentação na tela (4:3)</PresentationFormat>
  <Paragraphs>516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4" baseType="lpstr">
      <vt:lpstr>Tahoma</vt:lpstr>
      <vt:lpstr>Arial</vt:lpstr>
      <vt:lpstr>Wingdings</vt:lpstr>
      <vt:lpstr>Calibri</vt:lpstr>
      <vt:lpstr>Times New Roman</vt:lpstr>
      <vt:lpstr>Comic Sans MS</vt:lpstr>
      <vt:lpstr>Symbol</vt:lpstr>
      <vt:lpstr>Geometrico</vt:lpstr>
      <vt:lpstr>Modelos de Dados </vt:lpstr>
      <vt:lpstr>Abordagem inicial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Proposta three-schema (ANSI/X3/SPARC) </vt:lpstr>
      <vt:lpstr>Histórico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Personal Multimidia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Dados</dc:title>
  <dc:creator>Rogerio Ferreira Sgoti</dc:creator>
  <cp:lastModifiedBy>OSVALDO CESAR PINHEIRO DE ALMEIDA</cp:lastModifiedBy>
  <cp:revision>51</cp:revision>
  <dcterms:created xsi:type="dcterms:W3CDTF">2003-08-05T20:59:30Z</dcterms:created>
  <dcterms:modified xsi:type="dcterms:W3CDTF">2022-08-23T19:42:18Z</dcterms:modified>
</cp:coreProperties>
</file>