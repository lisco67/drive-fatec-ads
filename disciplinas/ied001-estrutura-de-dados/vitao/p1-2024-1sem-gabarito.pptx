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329" r:id="rId2"/>
    <p:sldId id="33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4" r:id="rId20"/>
    <p:sldId id="273" r:id="rId21"/>
    <p:sldId id="274" r:id="rId22"/>
    <p:sldId id="285" r:id="rId23"/>
    <p:sldId id="275" r:id="rId24"/>
    <p:sldId id="276" r:id="rId25"/>
    <p:sldId id="277" r:id="rId26"/>
    <p:sldId id="286" r:id="rId27"/>
    <p:sldId id="278" r:id="rId28"/>
    <p:sldId id="279" r:id="rId29"/>
    <p:sldId id="287" r:id="rId30"/>
    <p:sldId id="280" r:id="rId31"/>
    <p:sldId id="281" r:id="rId32"/>
    <p:sldId id="282" r:id="rId33"/>
    <p:sldId id="288" r:id="rId34"/>
    <p:sldId id="289" r:id="rId35"/>
    <p:sldId id="283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5" r:id="rId68"/>
    <p:sldId id="321" r:id="rId69"/>
    <p:sldId id="322" r:id="rId70"/>
    <p:sldId id="323" r:id="rId71"/>
    <p:sldId id="324" r:id="rId72"/>
    <p:sldId id="326" r:id="rId73"/>
    <p:sldId id="327" r:id="rId74"/>
    <p:sldId id="328" r:id="rId7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BAA77-CBEA-47ED-9179-61B86583C308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CBBA7-C9C6-446C-92D4-58504B87BA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05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369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6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569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623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29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301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934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270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BBA7-C9C6-446C-92D4-58504B87BA15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03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55E53-7C91-84DC-D815-A396D3DE2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1367F-5416-AA7B-B16E-45431A6F9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CD5C8-4CAC-197D-442D-969405FA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F30C80-EC1D-5D3A-2B3B-1AACB860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B0A345-6790-68CE-98BD-AEBE600E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90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48B07-CF05-B13E-FDE8-8820EA8A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9212FC-0FB1-B9AA-0485-272CD7A21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3677ED-083D-DAC6-A0D7-C9315260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F41E85-A8BB-52F2-1C41-A4B90F6E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563F1A-6981-CF57-7A1C-261D6E81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34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A75A4-A2A1-EB29-FB8B-F1552352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86320-1360-1A71-9596-B5A43774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F1EA9E-18CD-9C25-5A8A-7245DB15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851CB4-E8EF-60C2-9F51-229D7BCB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1FA0C0-EAE4-80D5-0822-78015A8B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70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D9BAD-701D-85E4-33A0-B433B3A8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93709-6CF4-5507-A771-5B559956F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92A850-58E7-132B-F09F-7A8B7852B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06CD1-B17A-2DF1-7824-F387D2A6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5587DF-88CB-8233-D8D9-9479FEBC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4A57D2-1C77-8F79-8276-65ED7F4D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94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7DCF2-AE64-E496-9C26-EEFCB7FF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15BD39-B793-F1E2-6B2E-0FF163C78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A8E7D3-61D8-2962-C17E-D77815A78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18651C-CF2A-9013-F6C5-6FD7BE6E2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326A30-0B21-0976-5E24-DA4C03E47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44D3DD7-76D7-FE45-AA14-EF75D552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6A0ACD-1C6B-9B34-619F-45EC94C6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5248A1-2D08-A139-ADFE-35533C15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63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E8F3B-7D05-80FB-26FB-F0E28E33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DC4ABA-F79E-9E50-4459-3D36B815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D98944-35A9-1861-076A-6CC1D48B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A85901-FC2C-443D-6525-18C2FDE2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78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D5411C-C495-3050-9E99-047E5874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CC8D10-153D-90B7-82E5-B5042CC1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2CF22C-6147-4778-9BE0-7C187121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87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83CE1-D812-355B-0BEE-E9F8AD99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FCD194-D008-A691-7204-626746E1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F58BBB-FD6C-0C1C-F0AC-19DECEF5C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BEDAF1-B27D-747F-990B-0441D363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2314C5-02F2-7680-8932-B152E876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E4EA5-715C-CA8C-6EA6-12002444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7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C9A68-CA21-F684-5EFD-F6F3AD35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95FB5D-ACD0-557E-55DF-42E3764B1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237D98-61F8-BB8B-0C4B-D7FC4F221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2483FC-E0EF-7658-006A-26D10B67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9D7D14-C23D-EC7C-EA67-03477FAB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36CD68-8452-1851-0C64-B4BBFB0F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4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39F2D-0441-8898-435D-6380B92F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DED754-816B-B7E8-25FA-E40C55352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C40B90-F691-DF0A-4AEE-50ABA93A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BAD81E-52E0-1C1B-1585-562FA743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8F1143-104E-1C0A-AB9A-AC62A67C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0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47A839-1AE7-1ED4-5DA2-E9B567A84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7E96F5-EA60-A17E-AA9E-64DC04E7F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CFE701-64E4-6E0B-94A2-92CD2F84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891A5F-E820-FFB3-902D-E7344EB11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93B3C8-C6D7-796E-2982-B79E96B6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70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25477E-C8F3-B8C1-069F-A4CD8D5E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A4373-A941-3646-8995-74B4E1FD1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629D7-AD70-8697-1F16-4F1224B78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3F586-EB39-452B-AB36-F740E4AD7EDD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10D7C-8227-3601-EF5F-268ADE034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3A1717-1061-E067-BEF3-546F19523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16042-5384-4D23-A834-B58FC39ABA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75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8085899-A030-F4DC-F543-47C48C0B806C}"/>
              </a:ext>
            </a:extLst>
          </p:cNvPr>
          <p:cNvSpPr txBox="1"/>
          <p:nvPr/>
        </p:nvSpPr>
        <p:spPr>
          <a:xfrm>
            <a:off x="717452" y="1445324"/>
            <a:ext cx="97489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GABARITO DETALHADO DA PROVA P1 DE ESTRUTURA DE DADOS</a:t>
            </a:r>
          </a:p>
          <a:p>
            <a:pPr algn="ctr"/>
            <a:endParaRPr lang="pt-BR" sz="4000" b="1" dirty="0">
              <a:solidFill>
                <a:srgbClr val="FF0000"/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algn="ctr"/>
            <a:endParaRPr lang="pt-BR" sz="4000" b="1" dirty="0">
              <a:solidFill>
                <a:srgbClr val="FF0000"/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COLOQUEM EM MODO DE APRESENTAÇÃO</a:t>
            </a:r>
            <a:endParaRPr lang="pt-B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3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36D8CF-D7B2-C0EB-36A8-A4976DB01ABB}"/>
              </a:ext>
            </a:extLst>
          </p:cNvPr>
          <p:cNvSpPr txBox="1"/>
          <p:nvPr/>
        </p:nvSpPr>
        <p:spPr>
          <a:xfrm>
            <a:off x="56272" y="71135"/>
            <a:ext cx="1204194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(1,0) TRANSFORMAR PARA NOTAÇÃO POSFIXA, A SEGUINTE EXPRESSÃO EM NOTAÇÃO INFIXA NÃO PARENTESEADA:</a:t>
            </a:r>
          </a:p>
          <a:p>
            <a:pPr algn="just"/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                                   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 + B * C – D / E + G * H – I / J</a:t>
            </a:r>
          </a:p>
          <a:p>
            <a:pPr marL="342900" indent="-342900" algn="just">
              <a:buAutoNum type="arabicParenR"/>
            </a:pPr>
            <a:endParaRPr lang="pt-B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</a:p>
          <a:p>
            <a:pPr algn="just"/>
            <a:r>
              <a:rPr lang="pt-BR" sz="1600" dirty="0">
                <a:latin typeface="Tahoma" panose="020B0604030504040204" pitchFamily="34" charset="0"/>
                <a:ea typeface="SimSun" panose="02010600030101010101" pitchFamily="2" charset="-122"/>
              </a:rPr>
              <a:t>                                      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5    2    8    -    6    2    *    +    1    +    *</a:t>
            </a:r>
          </a:p>
          <a:p>
            <a:pPr algn="just"/>
            <a:endParaRPr lang="pt-B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3) (3,0) EM PASCAL, CRIE UMA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PROCEDURE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PILHA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E UMA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LISTA ENCADEADA SIMPLES VAZIA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. A PROCEDURE DEVE CRIAR A LISTA ENCADEADA A PARTIR DOS ELEMENTOS CONTIDOS NA PILHA.</a:t>
            </a:r>
          </a:p>
          <a:p>
            <a:pPr algn="just"/>
            <a:endParaRPr lang="pt-B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4) (3,0) EM PASCAL, CRIE UMA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FUNÇÃO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LISTA LIGADA SIMPLES E DEVOLVA O NÚMERO TOTAL DE NODOS NEGATIVOS.</a:t>
            </a:r>
          </a:p>
          <a:p>
            <a:pPr algn="just"/>
            <a:endParaRPr lang="pt-B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5) (2,0) EM PASCAL, CRIE UMA </a:t>
            </a:r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FUNÇÃO</a:t>
            </a:r>
            <a:r>
              <a:rPr lang="pt-BR" sz="16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PILHA P E DEVOLVA A QUANTIDADE DE ELEMENTOS EXISTENTES NESSA PILHA.</a:t>
            </a:r>
            <a:endParaRPr lang="pt-BR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endParaRPr lang="pt-BR" sz="1600" b="1" dirty="0">
              <a:effectLst/>
              <a:latin typeface="Tahoma" panose="020B0604030504040204" pitchFamily="34" charset="0"/>
              <a:ea typeface="SimSun" panose="02010600030101010101" pitchFamily="2" charset="-122"/>
            </a:endParaRPr>
          </a:p>
          <a:p>
            <a:pPr algn="just"/>
            <a:r>
              <a:rPr lang="pt-BR" sz="16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PARA AS QUESTÕES 3, 4 e 5 USEM:</a:t>
            </a:r>
            <a:endParaRPr lang="pt-BR" sz="16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type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endnodo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= ^nodo;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      nodo =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record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info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: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prox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: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endnodo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type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vetor=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array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[1..10]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of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9580"/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pilha =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record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vet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: vetor;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topo : </a:t>
            </a:r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6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</a:t>
            </a:r>
            <a:r>
              <a:rPr lang="pt-BR" sz="16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6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F76FAAB-7E33-1DB4-9376-C16F4509DE56}"/>
              </a:ext>
            </a:extLst>
          </p:cNvPr>
          <p:cNvSpPr txBox="1"/>
          <p:nvPr/>
        </p:nvSpPr>
        <p:spPr>
          <a:xfrm>
            <a:off x="179363" y="0"/>
            <a:ext cx="1183444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1) (1,0) TRANSFORMAR PARA NOTAÇÃO POSFIXA, A SEGUINTE EXPRESSÃO EM NOTAÇÃO INFIXA NÃO PARENTESEADA: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 + B * C – D / E + G * H – I / J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02CFC7-79F7-B8D1-D050-B0CC5167B663}"/>
              </a:ext>
            </a:extLst>
          </p:cNvPr>
          <p:cNvSpPr txBox="1"/>
          <p:nvPr/>
        </p:nvSpPr>
        <p:spPr>
          <a:xfrm>
            <a:off x="1669953" y="1488672"/>
            <a:ext cx="9823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 + 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 * C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 / E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+ 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 * H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 / J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4D83C8-C2C3-F30E-F4A3-7F9B8E83C4E5}"/>
              </a:ext>
            </a:extLst>
          </p:cNvPr>
          <p:cNvSpPr txBox="1"/>
          <p:nvPr/>
        </p:nvSpPr>
        <p:spPr>
          <a:xfrm>
            <a:off x="1669953" y="2399232"/>
            <a:ext cx="9823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 + (B * C)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(D / E) + (G * H) – (I / J)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0B8B2A-2784-DCD5-97EF-5A071BE64027}"/>
              </a:ext>
            </a:extLst>
          </p:cNvPr>
          <p:cNvSpPr txBox="1"/>
          <p:nvPr/>
        </p:nvSpPr>
        <p:spPr>
          <a:xfrm>
            <a:off x="1669953" y="3335697"/>
            <a:ext cx="9823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(A + (B * C)) – (D / E)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+ (G * H) – (I / J)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4098C7-3C29-8F3E-3A7F-FFFB9A19B9CE}"/>
              </a:ext>
            </a:extLst>
          </p:cNvPr>
          <p:cNvSpPr txBox="1"/>
          <p:nvPr/>
        </p:nvSpPr>
        <p:spPr>
          <a:xfrm>
            <a:off x="1339362" y="4321861"/>
            <a:ext cx="10484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((A + (B * C)) – (D / E)) + (G * H)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(I / J)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64E1EB-7A1F-E024-3BA1-AFE188A1EC58}"/>
              </a:ext>
            </a:extLst>
          </p:cNvPr>
          <p:cNvSpPr txBox="1"/>
          <p:nvPr/>
        </p:nvSpPr>
        <p:spPr>
          <a:xfrm>
            <a:off x="1402666" y="5391513"/>
            <a:ext cx="10611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(((A + (B * C)) – (D / E)) + (G * H)) – (I / J)</a:t>
            </a:r>
            <a:r>
              <a:rPr lang="pt-BR" sz="32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316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((((A + (B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DDB226-857C-D39B-B43F-0C1406FF8A9E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21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 + (B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A560E3-CC3B-63CC-9B5D-016E48163721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9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+ (B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554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(B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750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783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*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391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C))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1339361" y="516891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2574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1339361" y="516891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961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1339361" y="591615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648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70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(D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7350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D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48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/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95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E))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1349913" y="516891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0298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1349913" y="516891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4182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1339361" y="576072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842744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2832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+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9172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(G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5805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4354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*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203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H))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1266099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104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1266099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0937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235617" y="56893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607639" y="510668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9215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–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042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(I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883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777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/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10403345" y="50301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54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J))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10403345" y="50301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BC5EF3F-D1A0-0E2C-8614-FEAF4BB9BCD2}"/>
              </a:ext>
            </a:extLst>
          </p:cNvPr>
          <p:cNvSpPr txBox="1"/>
          <p:nvPr/>
        </p:nvSpPr>
        <p:spPr>
          <a:xfrm>
            <a:off x="1392111" y="520504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9283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1" y="4895557"/>
            <a:ext cx="8542606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10403345" y="50301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BC5EF3F-D1A0-0E2C-8614-FEAF4BB9BCD2}"/>
              </a:ext>
            </a:extLst>
          </p:cNvPr>
          <p:cNvSpPr txBox="1"/>
          <p:nvPr/>
        </p:nvSpPr>
        <p:spPr>
          <a:xfrm>
            <a:off x="1392111" y="520504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FB07003-953F-1EB9-1651-B61A5AB6F7DD}"/>
              </a:ext>
            </a:extLst>
          </p:cNvPr>
          <p:cNvSpPr txBox="1"/>
          <p:nvPr/>
        </p:nvSpPr>
        <p:spPr>
          <a:xfrm>
            <a:off x="10857919" y="503014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J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471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FB6C21-6A49-DC2D-577A-C6713868F07B}"/>
              </a:ext>
            </a:extLst>
          </p:cNvPr>
          <p:cNvSpPr txBox="1"/>
          <p:nvPr/>
        </p:nvSpPr>
        <p:spPr>
          <a:xfrm>
            <a:off x="0" y="0"/>
            <a:ext cx="11834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0" y="4895557"/>
            <a:ext cx="8900159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339361" y="575368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10403345" y="50301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BC5EF3F-D1A0-0E2C-8614-FEAF4BB9BCD2}"/>
              </a:ext>
            </a:extLst>
          </p:cNvPr>
          <p:cNvSpPr txBox="1"/>
          <p:nvPr/>
        </p:nvSpPr>
        <p:spPr>
          <a:xfrm>
            <a:off x="11169742" y="502227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FB07003-953F-1EB9-1651-B61A5AB6F7DD}"/>
              </a:ext>
            </a:extLst>
          </p:cNvPr>
          <p:cNvSpPr txBox="1"/>
          <p:nvPr/>
        </p:nvSpPr>
        <p:spPr>
          <a:xfrm>
            <a:off x="10857919" y="503014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J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365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0" y="4895557"/>
            <a:ext cx="8900159" cy="8581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4" y="50322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6063180" y="50322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4100733" y="50322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5387928" y="5094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754882" y="50322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8159267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6669843" y="50362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7795849" y="501221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7302889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10002692" y="500820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8584804" y="504022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9594453" y="51046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9182102" y="50322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1424139" y="505429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10403345" y="50301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BC5EF3F-D1A0-0E2C-8614-FEAF4BB9BCD2}"/>
              </a:ext>
            </a:extLst>
          </p:cNvPr>
          <p:cNvSpPr txBox="1"/>
          <p:nvPr/>
        </p:nvSpPr>
        <p:spPr>
          <a:xfrm>
            <a:off x="11169742" y="502227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FB07003-953F-1EB9-1651-B61A5AB6F7DD}"/>
              </a:ext>
            </a:extLst>
          </p:cNvPr>
          <p:cNvSpPr txBox="1"/>
          <p:nvPr/>
        </p:nvSpPr>
        <p:spPr>
          <a:xfrm>
            <a:off x="10857919" y="503014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J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588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374EE20-0D21-02A9-3B98-B89078266505}"/>
              </a:ext>
            </a:extLst>
          </p:cNvPr>
          <p:cNvSpPr/>
          <p:nvPr/>
        </p:nvSpPr>
        <p:spPr>
          <a:xfrm>
            <a:off x="357554" y="1097280"/>
            <a:ext cx="2596661" cy="55426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055AF8-E6A3-B519-4477-976719DFD393}"/>
              </a:ext>
            </a:extLst>
          </p:cNvPr>
          <p:cNvSpPr/>
          <p:nvPr/>
        </p:nvSpPr>
        <p:spPr>
          <a:xfrm>
            <a:off x="3291840" y="2461845"/>
            <a:ext cx="8542606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628174-89AF-D09A-7970-46503444C965}"/>
              </a:ext>
            </a:extLst>
          </p:cNvPr>
          <p:cNvSpPr txBox="1"/>
          <p:nvPr/>
        </p:nvSpPr>
        <p:spPr>
          <a:xfrm>
            <a:off x="3446583" y="2851739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A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43725-A6C6-B359-3A39-988432DFB216}"/>
              </a:ext>
            </a:extLst>
          </p:cNvPr>
          <p:cNvSpPr txBox="1"/>
          <p:nvPr/>
        </p:nvSpPr>
        <p:spPr>
          <a:xfrm>
            <a:off x="5345426" y="2867710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FB420-5EDE-560D-A047-0796C08D1B07}"/>
              </a:ext>
            </a:extLst>
          </p:cNvPr>
          <p:cNvSpPr txBox="1"/>
          <p:nvPr/>
        </p:nvSpPr>
        <p:spPr>
          <a:xfrm>
            <a:off x="3960052" y="2851738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B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AEA7D-F9E7-A366-1419-983BE9741CA3}"/>
              </a:ext>
            </a:extLst>
          </p:cNvPr>
          <p:cNvSpPr txBox="1"/>
          <p:nvPr/>
        </p:nvSpPr>
        <p:spPr>
          <a:xfrm>
            <a:off x="4909621" y="2936247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C34D0-A190-C025-DB1A-364DDE918362}"/>
              </a:ext>
            </a:extLst>
          </p:cNvPr>
          <p:cNvSpPr txBox="1"/>
          <p:nvPr/>
        </p:nvSpPr>
        <p:spPr>
          <a:xfrm>
            <a:off x="4431317" y="2851737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C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4E1DC0-295F-E1DF-8235-3B0130B43CD1}"/>
              </a:ext>
            </a:extLst>
          </p:cNvPr>
          <p:cNvSpPr txBox="1"/>
          <p:nvPr/>
        </p:nvSpPr>
        <p:spPr>
          <a:xfrm>
            <a:off x="7174146" y="2895953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F7CEC2-3627-7C7E-D8C3-0C1C74014CE0}"/>
              </a:ext>
            </a:extLst>
          </p:cNvPr>
          <p:cNvSpPr txBox="1"/>
          <p:nvPr/>
        </p:nvSpPr>
        <p:spPr>
          <a:xfrm>
            <a:off x="5814014" y="2895955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1B45E7-8F5E-DEC8-958D-4B0C655AA475}"/>
              </a:ext>
            </a:extLst>
          </p:cNvPr>
          <p:cNvSpPr txBox="1"/>
          <p:nvPr/>
        </p:nvSpPr>
        <p:spPr>
          <a:xfrm>
            <a:off x="6797543" y="2859838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6021ED-BF2F-D79A-340B-2EF13F479D3D}"/>
              </a:ext>
            </a:extLst>
          </p:cNvPr>
          <p:cNvSpPr txBox="1"/>
          <p:nvPr/>
        </p:nvSpPr>
        <p:spPr>
          <a:xfrm>
            <a:off x="6286125" y="2895954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E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56936D-9BBB-FF3B-5001-C4E39FACAF42}"/>
              </a:ext>
            </a:extLst>
          </p:cNvPr>
          <p:cNvSpPr txBox="1"/>
          <p:nvPr/>
        </p:nvSpPr>
        <p:spPr>
          <a:xfrm>
            <a:off x="9073901" y="2940344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0F930F-9FED-DE53-20BE-084DE635FBB8}"/>
              </a:ext>
            </a:extLst>
          </p:cNvPr>
          <p:cNvSpPr txBox="1"/>
          <p:nvPr/>
        </p:nvSpPr>
        <p:spPr>
          <a:xfrm>
            <a:off x="7645060" y="2922031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G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225C1A3-003A-11F6-F23D-1F31ABB2C2D8}"/>
              </a:ext>
            </a:extLst>
          </p:cNvPr>
          <p:cNvSpPr txBox="1"/>
          <p:nvPr/>
        </p:nvSpPr>
        <p:spPr>
          <a:xfrm>
            <a:off x="8640422" y="3002632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AC4DDD-5A4F-AF24-6901-502B3C679C16}"/>
              </a:ext>
            </a:extLst>
          </p:cNvPr>
          <p:cNvSpPr txBox="1"/>
          <p:nvPr/>
        </p:nvSpPr>
        <p:spPr>
          <a:xfrm>
            <a:off x="8169508" y="2936246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H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1B34DF-A972-CDA4-4A76-3DC90196574D}"/>
              </a:ext>
            </a:extLst>
          </p:cNvPr>
          <p:cNvSpPr txBox="1"/>
          <p:nvPr/>
        </p:nvSpPr>
        <p:spPr>
          <a:xfrm>
            <a:off x="10767110" y="2895953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4D4AF2-A036-5B11-5009-94CBB803630C}"/>
              </a:ext>
            </a:extLst>
          </p:cNvPr>
          <p:cNvSpPr txBox="1"/>
          <p:nvPr/>
        </p:nvSpPr>
        <p:spPr>
          <a:xfrm>
            <a:off x="9556661" y="2936245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I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BC5EF3F-D1A0-0E2C-8614-FEAF4BB9BCD2}"/>
              </a:ext>
            </a:extLst>
          </p:cNvPr>
          <p:cNvSpPr txBox="1"/>
          <p:nvPr/>
        </p:nvSpPr>
        <p:spPr>
          <a:xfrm>
            <a:off x="10378625" y="2895953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/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FB07003-953F-1EB9-1651-B61A5AB6F7DD}"/>
              </a:ext>
            </a:extLst>
          </p:cNvPr>
          <p:cNvSpPr txBox="1"/>
          <p:nvPr/>
        </p:nvSpPr>
        <p:spPr>
          <a:xfrm>
            <a:off x="9990140" y="2918028"/>
            <a:ext cx="633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J</a:t>
            </a:r>
            <a:endParaRPr lang="pt-BR" sz="4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6ED4FA2-36FC-95E7-862E-88045F7929E5}"/>
              </a:ext>
            </a:extLst>
          </p:cNvPr>
          <p:cNvSpPr txBox="1"/>
          <p:nvPr/>
        </p:nvSpPr>
        <p:spPr>
          <a:xfrm>
            <a:off x="4386598" y="456162"/>
            <a:ext cx="54549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RESPOSTA</a:t>
            </a:r>
          </a:p>
          <a:p>
            <a:pPr algn="ctr"/>
            <a:r>
              <a:rPr lang="pt-BR" sz="40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DA QUESTÃO 1</a:t>
            </a:r>
            <a:endParaRPr lang="pt-B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300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5    2    8    -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0855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5    2    8    -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73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2    8    -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448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8    -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ABB287-EBE2-7932-E722-CED656F58CAB}"/>
              </a:ext>
            </a:extLst>
          </p:cNvPr>
          <p:cNvSpPr txBox="1"/>
          <p:nvPr/>
        </p:nvSpPr>
        <p:spPr>
          <a:xfrm>
            <a:off x="1719189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1985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-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ABB287-EBE2-7932-E722-CED656F58CAB}"/>
              </a:ext>
            </a:extLst>
          </p:cNvPr>
          <p:cNvSpPr txBox="1"/>
          <p:nvPr/>
        </p:nvSpPr>
        <p:spPr>
          <a:xfrm>
            <a:off x="1719189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867079-143B-59E8-FDA0-26219E410954}"/>
              </a:ext>
            </a:extLst>
          </p:cNvPr>
          <p:cNvSpPr txBox="1"/>
          <p:nvPr/>
        </p:nvSpPr>
        <p:spPr>
          <a:xfrm>
            <a:off x="1719189" y="468154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425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ABB287-EBE2-7932-E722-CED656F58CAB}"/>
              </a:ext>
            </a:extLst>
          </p:cNvPr>
          <p:cNvSpPr txBox="1"/>
          <p:nvPr/>
        </p:nvSpPr>
        <p:spPr>
          <a:xfrm>
            <a:off x="1719189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867079-143B-59E8-FDA0-26219E410954}"/>
              </a:ext>
            </a:extLst>
          </p:cNvPr>
          <p:cNvSpPr txBox="1"/>
          <p:nvPr/>
        </p:nvSpPr>
        <p:spPr>
          <a:xfrm>
            <a:off x="1719189" y="468154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D1B2D5-0C7D-C90A-F35D-AF4442EEB541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469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ABB287-EBE2-7932-E722-CED656F58CAB}"/>
              </a:ext>
            </a:extLst>
          </p:cNvPr>
          <p:cNvSpPr txBox="1"/>
          <p:nvPr/>
        </p:nvSpPr>
        <p:spPr>
          <a:xfrm>
            <a:off x="1719189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867079-143B-59E8-FDA0-26219E410954}"/>
              </a:ext>
            </a:extLst>
          </p:cNvPr>
          <p:cNvSpPr txBox="1"/>
          <p:nvPr/>
        </p:nvSpPr>
        <p:spPr>
          <a:xfrm>
            <a:off x="8226084" y="369883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D1B2D5-0C7D-C90A-F35D-AF4442EEB541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17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ABB287-EBE2-7932-E722-CED656F58CAB}"/>
              </a:ext>
            </a:extLst>
          </p:cNvPr>
          <p:cNvSpPr txBox="1"/>
          <p:nvPr/>
        </p:nvSpPr>
        <p:spPr>
          <a:xfrm>
            <a:off x="6975231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867079-143B-59E8-FDA0-26219E410954}"/>
              </a:ext>
            </a:extLst>
          </p:cNvPr>
          <p:cNvSpPr txBox="1"/>
          <p:nvPr/>
        </p:nvSpPr>
        <p:spPr>
          <a:xfrm>
            <a:off x="8226084" y="369883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D1B2D5-0C7D-C90A-F35D-AF4442EEB541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45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6975231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8226084" y="369883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508066" y="36988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8905437" y="369883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1501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6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1094936" y="49880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2345789" y="49739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727982" y="49216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27771" y="49739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3025142" y="49739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17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2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1094936" y="49880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2345789" y="49739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727982" y="49216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27771" y="49739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3025142" y="49739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C43FA60-ACDC-6190-0E77-13837C1C6508}"/>
              </a:ext>
            </a:extLst>
          </p:cNvPr>
          <p:cNvSpPr txBox="1"/>
          <p:nvPr/>
        </p:nvSpPr>
        <p:spPr>
          <a:xfrm>
            <a:off x="1712743" y="390675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6828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*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1094936" y="49880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2345789" y="49739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727982" y="49216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27771" y="49739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3025142" y="49739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C43FA60-ACDC-6190-0E77-13837C1C6508}"/>
              </a:ext>
            </a:extLst>
          </p:cNvPr>
          <p:cNvSpPr txBox="1"/>
          <p:nvPr/>
        </p:nvSpPr>
        <p:spPr>
          <a:xfrm>
            <a:off x="1712743" y="390675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2FE2E4-C73B-2A0B-17A8-3B6A8B297814}"/>
              </a:ext>
            </a:extLst>
          </p:cNvPr>
          <p:cNvSpPr txBox="1"/>
          <p:nvPr/>
        </p:nvSpPr>
        <p:spPr>
          <a:xfrm>
            <a:off x="1711570" y="306066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408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1094936" y="49880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2345789" y="49739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727982" y="49216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27771" y="49739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3025142" y="49739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6719668" y="362844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7970521" y="361437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7352714" y="356209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6252503" y="361437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8649874" y="361436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021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+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1094936" y="49880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2345789" y="497393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727982" y="49216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627771" y="497393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3025142" y="497393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1094936" y="416802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2345789" y="4153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1727982" y="410168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627771" y="415395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3025142" y="415395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679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5174273" y="367470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6425126" y="36606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5807319" y="360836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4707108" y="366063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7104479" y="36606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9009772" y="36606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10260625" y="364656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9642818" y="359429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8542607" y="364656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10939978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0640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5174273" y="367470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6425126" y="36606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5807319" y="360836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4707108" y="366063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7104479" y="366063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9009772" y="36606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10260625" y="364656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9642818" y="359429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8542607" y="364656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10939978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7608277" y="364656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6233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1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757015" y="519001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1389773" y="520407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094644" y="519704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430530" y="517594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1615739" y="519001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2466844" y="52312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3168759" y="52342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2823503" y="52915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2225928" y="520407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3525418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1924643" y="519001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68524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+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757015" y="519001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1389773" y="520407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094644" y="519704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430530" y="517594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1615739" y="519001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2466844" y="523124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3168759" y="52342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2823503" y="529150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2225928" y="520407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3525418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1924643" y="519001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A8D086-D6C2-DF2B-408D-F04A181DE51B}"/>
              </a:ext>
            </a:extLst>
          </p:cNvPr>
          <p:cNvSpPr txBox="1"/>
          <p:nvPr/>
        </p:nvSpPr>
        <p:spPr>
          <a:xfrm>
            <a:off x="1706296" y="437007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68568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5772742" y="372596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6405500" y="37400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6110371" y="373299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5446257" y="371189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6631466" y="372596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7482571" y="376720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8184486" y="37702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7839230" y="382745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7241655" y="37400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8541145" y="37571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6940370" y="372596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A8D086-D6C2-DF2B-408D-F04A181DE51B}"/>
              </a:ext>
            </a:extLst>
          </p:cNvPr>
          <p:cNvSpPr txBox="1"/>
          <p:nvPr/>
        </p:nvSpPr>
        <p:spPr>
          <a:xfrm>
            <a:off x="9608823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1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DE7232B-B74A-F33B-F193-04750340664B}"/>
              </a:ext>
            </a:extLst>
          </p:cNvPr>
          <p:cNvSpPr txBox="1"/>
          <p:nvPr/>
        </p:nvSpPr>
        <p:spPr>
          <a:xfrm>
            <a:off x="8991016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1738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57554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5772742" y="3725968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6405500" y="37400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6110371" y="373299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5289185" y="3711898"/>
            <a:ext cx="790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6631466" y="3725967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7482571" y="376720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8184486" y="37702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7839230" y="382745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7241655" y="374002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8541145" y="375713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6940370" y="372596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A8D086-D6C2-DF2B-408D-F04A181DE51B}"/>
              </a:ext>
            </a:extLst>
          </p:cNvPr>
          <p:cNvSpPr txBox="1"/>
          <p:nvPr/>
        </p:nvSpPr>
        <p:spPr>
          <a:xfrm>
            <a:off x="9608823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1)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DE7232B-B74A-F33B-F193-04750340664B}"/>
              </a:ext>
            </a:extLst>
          </p:cNvPr>
          <p:cNvSpPr txBox="1"/>
          <p:nvPr/>
        </p:nvSpPr>
        <p:spPr>
          <a:xfrm>
            <a:off x="8991016" y="3712905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0643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2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 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   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C20C-0FB2-BB05-2FFF-FEEBD2D584B1}"/>
              </a:ext>
            </a:extLst>
          </p:cNvPr>
          <p:cNvSpPr txBox="1"/>
          <p:nvPr/>
        </p:nvSpPr>
        <p:spPr>
          <a:xfrm>
            <a:off x="1719189" y="5805956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EE2B6-5398-60CF-8ED4-985C47D857EC}"/>
              </a:ext>
            </a:extLst>
          </p:cNvPr>
          <p:cNvSpPr txBox="1"/>
          <p:nvPr/>
        </p:nvSpPr>
        <p:spPr>
          <a:xfrm>
            <a:off x="812120" y="5119694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936649-4116-0425-0947-F44C6F22C65F}"/>
              </a:ext>
            </a:extLst>
          </p:cNvPr>
          <p:cNvSpPr txBox="1"/>
          <p:nvPr/>
        </p:nvSpPr>
        <p:spPr>
          <a:xfrm>
            <a:off x="1289618" y="513375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8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D7E62-3E06-F23B-84A4-58809C131EF7}"/>
              </a:ext>
            </a:extLst>
          </p:cNvPr>
          <p:cNvSpPr txBox="1"/>
          <p:nvPr/>
        </p:nvSpPr>
        <p:spPr>
          <a:xfrm>
            <a:off x="1065341" y="512672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-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E84335-B9E7-A0CD-FAFB-FF8E2784CD83}"/>
              </a:ext>
            </a:extLst>
          </p:cNvPr>
          <p:cNvSpPr txBox="1"/>
          <p:nvPr/>
        </p:nvSpPr>
        <p:spPr>
          <a:xfrm>
            <a:off x="328563" y="5105624"/>
            <a:ext cx="790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D36C64-4B70-0C85-98B1-BD917E283BB6}"/>
              </a:ext>
            </a:extLst>
          </p:cNvPr>
          <p:cNvSpPr txBox="1"/>
          <p:nvPr/>
        </p:nvSpPr>
        <p:spPr>
          <a:xfrm>
            <a:off x="1465262" y="512386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0653C6-E34B-3B18-9A72-94B4BB8915B0}"/>
              </a:ext>
            </a:extLst>
          </p:cNvPr>
          <p:cNvSpPr txBox="1"/>
          <p:nvPr/>
        </p:nvSpPr>
        <p:spPr>
          <a:xfrm>
            <a:off x="2240589" y="516092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05978B-B643-C79F-CB4E-FDB6AA9C47EF}"/>
              </a:ext>
            </a:extLst>
          </p:cNvPr>
          <p:cNvSpPr txBox="1"/>
          <p:nvPr/>
        </p:nvSpPr>
        <p:spPr>
          <a:xfrm>
            <a:off x="2724196" y="5159973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EA2E4C-C4D5-F590-A359-A2E834CD9151}"/>
              </a:ext>
            </a:extLst>
          </p:cNvPr>
          <p:cNvSpPr txBox="1"/>
          <p:nvPr/>
        </p:nvSpPr>
        <p:spPr>
          <a:xfrm>
            <a:off x="2498230" y="5221181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*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7D72E8-108C-6CAA-F7AF-14713BAFFDCA}"/>
              </a:ext>
            </a:extLst>
          </p:cNvPr>
          <p:cNvSpPr txBox="1"/>
          <p:nvPr/>
        </p:nvSpPr>
        <p:spPr>
          <a:xfrm>
            <a:off x="1999673" y="513375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F0248C-E711-1407-E302-9CEA88D474A8}"/>
              </a:ext>
            </a:extLst>
          </p:cNvPr>
          <p:cNvSpPr txBox="1"/>
          <p:nvPr/>
        </p:nvSpPr>
        <p:spPr>
          <a:xfrm>
            <a:off x="3060074" y="516093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58F9E7-AEF5-211E-DBC9-D483F4FDA42A}"/>
              </a:ext>
            </a:extLst>
          </p:cNvPr>
          <p:cNvSpPr txBox="1"/>
          <p:nvPr/>
        </p:nvSpPr>
        <p:spPr>
          <a:xfrm>
            <a:off x="1698388" y="5119692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A8D086-D6C2-DF2B-408D-F04A181DE51B}"/>
              </a:ext>
            </a:extLst>
          </p:cNvPr>
          <p:cNvSpPr txBox="1"/>
          <p:nvPr/>
        </p:nvSpPr>
        <p:spPr>
          <a:xfrm>
            <a:off x="3790917" y="5191059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1)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DE7232B-B74A-F33B-F193-04750340664B}"/>
              </a:ext>
            </a:extLst>
          </p:cNvPr>
          <p:cNvSpPr txBox="1"/>
          <p:nvPr/>
        </p:nvSpPr>
        <p:spPr>
          <a:xfrm>
            <a:off x="3395952" y="5191060"/>
            <a:ext cx="633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7651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(((2-8)+(6*2))+1)*5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99483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-6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)+(6*2))+1)*5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94983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-6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)+(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12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))+1)*5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56685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-6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12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5934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8717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6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+1)*5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311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5553240" y="3646564"/>
            <a:ext cx="5138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(</a:t>
            </a:r>
            <a:r>
              <a:rPr lang="pt-BR" sz="32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7</a:t>
            </a:r>
            <a:r>
              <a:rPr lang="pt-BR" sz="3200" b="1" dirty="0">
                <a:latin typeface="Tahoma" panose="020B0604030504040204" pitchFamily="34" charset="0"/>
                <a:ea typeface="SimSun" panose="02010600030101010101" pitchFamily="2" charset="-122"/>
              </a:rPr>
              <a:t>)*5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04238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5827FE-D96E-4223-C93C-AE49179D4E32}"/>
              </a:ext>
            </a:extLst>
          </p:cNvPr>
          <p:cNvSpPr txBox="1"/>
          <p:nvPr/>
        </p:nvSpPr>
        <p:spPr>
          <a:xfrm>
            <a:off x="-2344" y="0"/>
            <a:ext cx="1198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2) (1,0) TRANSFORME A EXPRESSÃO ABAIXO PARA NOTAÇÃO INFIXA E DEPOIS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RESPONDA: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QUAL O NÚMERO RESULTANTE DA EXPRESSÃO ARITMÉTICA.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 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5C0ED-691B-EB61-DC2F-2C08F98201F2}"/>
              </a:ext>
            </a:extLst>
          </p:cNvPr>
          <p:cNvSpPr/>
          <p:nvPr/>
        </p:nvSpPr>
        <p:spPr>
          <a:xfrm>
            <a:off x="343486" y="1955409"/>
            <a:ext cx="3989363" cy="46845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A438A8-4832-EE39-320C-8BB44ABFA8BB}"/>
              </a:ext>
            </a:extLst>
          </p:cNvPr>
          <p:cNvSpPr/>
          <p:nvPr/>
        </p:nvSpPr>
        <p:spPr>
          <a:xfrm>
            <a:off x="4648201" y="3235567"/>
            <a:ext cx="7186245" cy="1406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800">
              <a:solidFill>
                <a:srgbClr val="FF000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1087F6-7D88-12A5-F4BD-A6C5292F1255}"/>
              </a:ext>
            </a:extLst>
          </p:cNvPr>
          <p:cNvSpPr txBox="1"/>
          <p:nvPr/>
        </p:nvSpPr>
        <p:spPr>
          <a:xfrm>
            <a:off x="7382040" y="3477287"/>
            <a:ext cx="1227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4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35</a:t>
            </a:r>
            <a:endParaRPr lang="pt-BR" sz="5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73A1C2-EAD9-351F-F8EC-8C823B13CEA1}"/>
              </a:ext>
            </a:extLst>
          </p:cNvPr>
          <p:cNvSpPr txBox="1"/>
          <p:nvPr/>
        </p:nvSpPr>
        <p:spPr>
          <a:xfrm>
            <a:off x="5131684" y="1670408"/>
            <a:ext cx="54549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RESPOSTA</a:t>
            </a:r>
          </a:p>
          <a:p>
            <a:pPr algn="ctr"/>
            <a:r>
              <a:rPr lang="pt-BR" sz="40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DA QUESTÃO 2</a:t>
            </a:r>
            <a:endParaRPr lang="pt-B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1579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ABC78BE-80F6-E446-CB9D-99B771D22419}"/>
              </a:ext>
            </a:extLst>
          </p:cNvPr>
          <p:cNvSpPr txBox="1"/>
          <p:nvPr/>
        </p:nvSpPr>
        <p:spPr>
          <a:xfrm>
            <a:off x="0" y="0"/>
            <a:ext cx="1207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3) (3,0) EM PASCAL, CRIE UMA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PROCEDURE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PILHA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E UMA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LISTA ENCADEADA SIMPLES VAZIA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. A PROCEDURE DEVE CRIAR A LISTA ENCADEADA A PARTIR DOS ELEMENTOS CONTIDOS NA PILHA.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8D5026-019D-D886-66FD-E177C48C2116}"/>
              </a:ext>
            </a:extLst>
          </p:cNvPr>
          <p:cNvSpPr txBox="1"/>
          <p:nvPr/>
        </p:nvSpPr>
        <p:spPr>
          <a:xfrm>
            <a:off x="404446" y="814813"/>
            <a:ext cx="42941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type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endnodo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= ^nodo;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      nodo =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record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info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: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prox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: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endnodo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 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type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vetor=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array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[1..10]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of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9580"/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pilha =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record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vet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 : vetor;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topo :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integer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 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pt-BR" sz="1800" b="1" dirty="0" err="1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end</a:t>
            </a:r>
            <a:r>
              <a:rPr lang="pt-BR" sz="18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;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360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234DCC0-EB00-B9BD-4173-E6C7AA819B1C}"/>
              </a:ext>
            </a:extLst>
          </p:cNvPr>
          <p:cNvSpPr txBox="1"/>
          <p:nvPr/>
        </p:nvSpPr>
        <p:spPr>
          <a:xfrm>
            <a:off x="239150" y="117693"/>
            <a:ext cx="1055076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Procedure CRIALISTA(PILH: pilha; var p: </a:t>
            </a:r>
            <a:r>
              <a:rPr lang="pt-BR" dirty="0" err="1"/>
              <a:t>endnodo</a:t>
            </a:r>
            <a:r>
              <a:rPr lang="pt-BR" dirty="0"/>
              <a:t>);</a:t>
            </a:r>
          </a:p>
          <a:p>
            <a:r>
              <a:rPr lang="pt-BR" dirty="0"/>
              <a:t>Var  q, r : </a:t>
            </a:r>
            <a:r>
              <a:rPr lang="pt-BR" dirty="0" err="1"/>
              <a:t>endnodo</a:t>
            </a:r>
            <a:r>
              <a:rPr lang="pt-BR" dirty="0"/>
              <a:t>;</a:t>
            </a:r>
          </a:p>
          <a:p>
            <a:r>
              <a:rPr lang="pt-BR" dirty="0"/>
              <a:t>Begin</a:t>
            </a:r>
          </a:p>
          <a:p>
            <a:r>
              <a:rPr lang="pt-BR" dirty="0"/>
              <a:t>    </a:t>
            </a:r>
            <a:r>
              <a:rPr lang="pt-BR" dirty="0" err="1"/>
              <a:t>while</a:t>
            </a:r>
            <a:r>
              <a:rPr lang="pt-BR" dirty="0"/>
              <a:t> (ISEMPTY(PILH) &lt;&gt; </a:t>
            </a:r>
            <a:r>
              <a:rPr lang="pt-BR" dirty="0" err="1"/>
              <a:t>true</a:t>
            </a:r>
            <a:r>
              <a:rPr lang="pt-BR" dirty="0"/>
              <a:t>) do </a:t>
            </a:r>
          </a:p>
          <a:p>
            <a:r>
              <a:rPr lang="pt-BR" dirty="0"/>
              <a:t>       </a:t>
            </a:r>
            <a:r>
              <a:rPr lang="pt-BR" dirty="0" err="1"/>
              <a:t>begin</a:t>
            </a:r>
            <a:r>
              <a:rPr lang="pt-BR" dirty="0"/>
              <a:t> </a:t>
            </a:r>
          </a:p>
          <a:p>
            <a:r>
              <a:rPr lang="pt-BR" dirty="0"/>
              <a:t>            </a:t>
            </a:r>
            <a:r>
              <a:rPr lang="pt-BR" dirty="0" err="1"/>
              <a:t>writeln</a:t>
            </a:r>
            <a:r>
              <a:rPr lang="pt-BR" dirty="0"/>
              <a:t> ('PILHA posição ', </a:t>
            </a:r>
            <a:r>
              <a:rPr lang="pt-BR" dirty="0" err="1"/>
              <a:t>PILH.topo</a:t>
            </a:r>
            <a:r>
              <a:rPr lang="pt-BR" dirty="0"/>
              <a:t>, '=', </a:t>
            </a:r>
            <a:r>
              <a:rPr lang="pt-BR" dirty="0" err="1"/>
              <a:t>PILH.vet</a:t>
            </a:r>
            <a:r>
              <a:rPr lang="pt-BR" dirty="0"/>
              <a:t>[</a:t>
            </a:r>
            <a:r>
              <a:rPr lang="pt-BR" dirty="0" err="1"/>
              <a:t>PILH.topo</a:t>
            </a:r>
            <a:r>
              <a:rPr lang="pt-BR" dirty="0"/>
              <a:t>], '  ');</a:t>
            </a:r>
          </a:p>
          <a:p>
            <a:r>
              <a:rPr lang="pt-BR" dirty="0"/>
              <a:t>            IF (P = NIL) THEN</a:t>
            </a:r>
          </a:p>
          <a:p>
            <a:r>
              <a:rPr lang="pt-BR" dirty="0"/>
              <a:t>                  BEGIN</a:t>
            </a:r>
          </a:p>
          <a:p>
            <a:r>
              <a:rPr lang="pt-BR" dirty="0"/>
              <a:t>                      new(p);</a:t>
            </a:r>
          </a:p>
          <a:p>
            <a:r>
              <a:rPr lang="pt-BR" dirty="0"/>
              <a:t>                      p^.info := PILH.VET[PILH.TOPO];</a:t>
            </a:r>
          </a:p>
          <a:p>
            <a:r>
              <a:rPr lang="pt-BR" dirty="0"/>
              <a:t>                      p^.</a:t>
            </a:r>
            <a:r>
              <a:rPr lang="pt-BR" dirty="0" err="1"/>
              <a:t>prox</a:t>
            </a:r>
            <a:r>
              <a:rPr lang="pt-BR" dirty="0"/>
              <a:t> := </a:t>
            </a:r>
            <a:r>
              <a:rPr lang="pt-BR" dirty="0" err="1"/>
              <a:t>nil</a:t>
            </a:r>
            <a:r>
              <a:rPr lang="pt-BR" dirty="0"/>
              <a:t>;</a:t>
            </a:r>
          </a:p>
          <a:p>
            <a:r>
              <a:rPr lang="pt-BR" dirty="0"/>
              <a:t>                      q:=p;</a:t>
            </a:r>
          </a:p>
          <a:p>
            <a:r>
              <a:rPr lang="pt-BR" dirty="0"/>
              <a:t>                  END</a:t>
            </a:r>
          </a:p>
          <a:p>
            <a:r>
              <a:rPr lang="pt-BR" dirty="0"/>
              <a:t>            ELSE</a:t>
            </a:r>
          </a:p>
          <a:p>
            <a:r>
              <a:rPr lang="pt-BR" dirty="0"/>
              <a:t>                  BEGIN</a:t>
            </a:r>
          </a:p>
          <a:p>
            <a:r>
              <a:rPr lang="pt-BR" dirty="0"/>
              <a:t>                      new(r);</a:t>
            </a:r>
          </a:p>
          <a:p>
            <a:r>
              <a:rPr lang="pt-BR" dirty="0"/>
              <a:t>                      r^.info := PILH.VET[PILH.TOPO];</a:t>
            </a:r>
          </a:p>
          <a:p>
            <a:r>
              <a:rPr lang="pt-BR" dirty="0"/>
              <a:t>                      r^.</a:t>
            </a:r>
            <a:r>
              <a:rPr lang="pt-BR" dirty="0" err="1"/>
              <a:t>prox</a:t>
            </a:r>
            <a:r>
              <a:rPr lang="pt-BR" dirty="0"/>
              <a:t> := </a:t>
            </a:r>
            <a:r>
              <a:rPr lang="pt-BR" dirty="0" err="1"/>
              <a:t>nil</a:t>
            </a:r>
            <a:r>
              <a:rPr lang="pt-BR" dirty="0"/>
              <a:t>;</a:t>
            </a:r>
          </a:p>
          <a:p>
            <a:r>
              <a:rPr lang="pt-BR" dirty="0"/>
              <a:t>                      q^.</a:t>
            </a:r>
            <a:r>
              <a:rPr lang="pt-BR" dirty="0" err="1"/>
              <a:t>prox</a:t>
            </a:r>
            <a:r>
              <a:rPr lang="pt-BR" dirty="0"/>
              <a:t> := r;</a:t>
            </a:r>
          </a:p>
          <a:p>
            <a:r>
              <a:rPr lang="pt-BR" dirty="0"/>
              <a:t>                      q := r;</a:t>
            </a:r>
          </a:p>
          <a:p>
            <a:r>
              <a:rPr lang="pt-BR" dirty="0"/>
              <a:t>                  END;</a:t>
            </a:r>
          </a:p>
          <a:p>
            <a:r>
              <a:rPr lang="pt-BR" dirty="0"/>
              <a:t>            POP(PILH);</a:t>
            </a:r>
          </a:p>
          <a:p>
            <a:r>
              <a:rPr lang="pt-BR" dirty="0"/>
              <a:t>        </a:t>
            </a: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r>
              <a:rPr lang="pt-BR" dirty="0" err="1"/>
              <a:t>End</a:t>
            </a:r>
            <a:r>
              <a:rPr lang="pt-BR" dirty="0"/>
              <a:t>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9ECEDA-554C-E24E-89CA-6F4462F1B951}"/>
              </a:ext>
            </a:extLst>
          </p:cNvPr>
          <p:cNvSpPr txBox="1"/>
          <p:nvPr/>
        </p:nvSpPr>
        <p:spPr>
          <a:xfrm>
            <a:off x="6096000" y="3119380"/>
            <a:ext cx="54549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RESPOSTA</a:t>
            </a:r>
          </a:p>
          <a:p>
            <a:pPr algn="ctr"/>
            <a:r>
              <a:rPr lang="pt-BR" sz="40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DA QUESTÃO 3</a:t>
            </a:r>
            <a:endParaRPr lang="pt-B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2434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BEAAE4-1CE6-E1D5-1FB2-8CAEC38896B8}"/>
              </a:ext>
            </a:extLst>
          </p:cNvPr>
          <p:cNvSpPr txBox="1"/>
          <p:nvPr/>
        </p:nvSpPr>
        <p:spPr>
          <a:xfrm>
            <a:off x="180535" y="418383"/>
            <a:ext cx="118309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O PROGRAMA A SEGUIR É O PROGRAMA COMPLETO QUE CRIA UMA PILHA DE 10 ELEMENTOS E DEPOIS, A PARTIR DA PILHA, CRIA A LISTA ENCADEADA. ESTÁ INCLUIDO NO PROGRAMA A IMPRESSÃO DA PILHA E DA LISTA ENCADEADA RESULTANTE.</a:t>
            </a:r>
          </a:p>
          <a:p>
            <a:pPr algn="just"/>
            <a:r>
              <a:rPr lang="pt-BR" sz="40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REPAREM QUE A LISTA RESULTANTE APRESENTA OS DADOS NA ORDEM INVERSA DA PILHA (O QUE ERA DE SE ES</a:t>
            </a:r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PERAR).</a:t>
            </a:r>
            <a:endParaRPr lang="pt-B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9720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C24FC18-AF08-2E3C-C2DB-A51D32135D76}"/>
              </a:ext>
            </a:extLst>
          </p:cNvPr>
          <p:cNvSpPr txBox="1"/>
          <p:nvPr/>
        </p:nvSpPr>
        <p:spPr>
          <a:xfrm>
            <a:off x="3046828" y="295422"/>
            <a:ext cx="60983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program</a:t>
            </a:r>
            <a:r>
              <a:rPr lang="pt-BR" sz="2400" dirty="0"/>
              <a:t> </a:t>
            </a:r>
            <a:r>
              <a:rPr lang="pt-BR" sz="2400" dirty="0" err="1"/>
              <a:t>crialist</a:t>
            </a:r>
            <a:r>
              <a:rPr lang="pt-BR" sz="2400" dirty="0"/>
              <a:t>;</a:t>
            </a:r>
          </a:p>
          <a:p>
            <a:r>
              <a:rPr lang="pt-BR" sz="2400" dirty="0"/>
              <a:t>uses </a:t>
            </a:r>
            <a:r>
              <a:rPr lang="pt-BR" sz="2400" dirty="0" err="1"/>
              <a:t>crt</a:t>
            </a:r>
            <a:r>
              <a:rPr lang="pt-BR" sz="2400" dirty="0"/>
              <a:t>;</a:t>
            </a:r>
          </a:p>
          <a:p>
            <a:r>
              <a:rPr lang="pt-BR" sz="2400" dirty="0" err="1"/>
              <a:t>const</a:t>
            </a:r>
            <a:r>
              <a:rPr lang="pt-BR" sz="2400" dirty="0"/>
              <a:t> </a:t>
            </a:r>
            <a:r>
              <a:rPr lang="pt-BR" sz="2400" dirty="0" err="1"/>
              <a:t>max</a:t>
            </a:r>
            <a:r>
              <a:rPr lang="pt-BR" sz="2400" dirty="0"/>
              <a:t>=10;</a:t>
            </a:r>
          </a:p>
          <a:p>
            <a:r>
              <a:rPr lang="pt-BR" sz="2400" dirty="0" err="1"/>
              <a:t>type</a:t>
            </a:r>
            <a:r>
              <a:rPr lang="pt-BR" sz="2400" dirty="0"/>
              <a:t> vetor = </a:t>
            </a:r>
            <a:r>
              <a:rPr lang="pt-BR" sz="2400" dirty="0" err="1"/>
              <a:t>array</a:t>
            </a:r>
            <a:r>
              <a:rPr lang="pt-BR" sz="2400" dirty="0"/>
              <a:t>[1..10]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integer</a:t>
            </a:r>
            <a:r>
              <a:rPr lang="pt-BR" sz="2400" dirty="0"/>
              <a:t>;</a:t>
            </a:r>
          </a:p>
          <a:p>
            <a:r>
              <a:rPr lang="pt-BR" sz="2400" dirty="0"/>
              <a:t>     pilha = </a:t>
            </a:r>
            <a:r>
              <a:rPr lang="pt-BR" sz="2400" dirty="0" err="1"/>
              <a:t>record</a:t>
            </a:r>
            <a:endParaRPr lang="pt-BR" sz="2400" dirty="0"/>
          </a:p>
          <a:p>
            <a:r>
              <a:rPr lang="pt-BR" sz="2400" dirty="0"/>
              <a:t>        topo : </a:t>
            </a:r>
            <a:r>
              <a:rPr lang="pt-BR" sz="2400" dirty="0" err="1"/>
              <a:t>integer</a:t>
            </a:r>
            <a:r>
              <a:rPr lang="pt-BR" sz="2400" dirty="0"/>
              <a:t>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vet</a:t>
            </a:r>
            <a:r>
              <a:rPr lang="pt-BR" sz="2400" dirty="0"/>
              <a:t>  : vetor;</a:t>
            </a:r>
          </a:p>
          <a:p>
            <a:r>
              <a:rPr lang="pt-BR" sz="2400" dirty="0" err="1"/>
              <a:t>end</a:t>
            </a:r>
            <a:r>
              <a:rPr lang="pt-BR" sz="2400" dirty="0"/>
              <a:t>;</a:t>
            </a:r>
          </a:p>
          <a:p>
            <a:r>
              <a:rPr lang="pt-BR" sz="2400" dirty="0" err="1"/>
              <a:t>type</a:t>
            </a:r>
            <a:r>
              <a:rPr lang="pt-BR" sz="2400" dirty="0"/>
              <a:t> </a:t>
            </a:r>
            <a:r>
              <a:rPr lang="pt-BR" sz="2400" dirty="0" err="1"/>
              <a:t>endnodo</a:t>
            </a:r>
            <a:r>
              <a:rPr lang="pt-BR" sz="2400" dirty="0"/>
              <a:t> = ^nodo;</a:t>
            </a:r>
          </a:p>
          <a:p>
            <a:r>
              <a:rPr lang="pt-BR" sz="2400" dirty="0"/>
              <a:t>     nodo = </a:t>
            </a:r>
            <a:r>
              <a:rPr lang="pt-BR" sz="2400" dirty="0" err="1"/>
              <a:t>record</a:t>
            </a:r>
            <a:endParaRPr lang="pt-BR" sz="2400" dirty="0"/>
          </a:p>
          <a:p>
            <a:r>
              <a:rPr lang="pt-BR" sz="2400" dirty="0"/>
              <a:t>        </a:t>
            </a:r>
            <a:r>
              <a:rPr lang="pt-BR" sz="2400" dirty="0" err="1"/>
              <a:t>info</a:t>
            </a:r>
            <a:r>
              <a:rPr lang="pt-BR" sz="2400" dirty="0"/>
              <a:t> : </a:t>
            </a:r>
            <a:r>
              <a:rPr lang="pt-BR" sz="2400" dirty="0" err="1"/>
              <a:t>integer</a:t>
            </a:r>
            <a:r>
              <a:rPr lang="pt-BR" sz="2400" dirty="0"/>
              <a:t>;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prox</a:t>
            </a:r>
            <a:r>
              <a:rPr lang="pt-BR" sz="2400" dirty="0"/>
              <a:t> : </a:t>
            </a:r>
            <a:r>
              <a:rPr lang="pt-BR" sz="2400" dirty="0" err="1"/>
              <a:t>endnodo</a:t>
            </a:r>
            <a:r>
              <a:rPr lang="pt-BR" sz="2400" dirty="0"/>
              <a:t>;</a:t>
            </a:r>
          </a:p>
          <a:p>
            <a:r>
              <a:rPr lang="pt-BR" sz="2400" dirty="0" err="1"/>
              <a:t>end</a:t>
            </a:r>
            <a:r>
              <a:rPr lang="pt-BR" sz="2400" dirty="0"/>
              <a:t>;</a:t>
            </a:r>
          </a:p>
          <a:p>
            <a:r>
              <a:rPr lang="pt-BR" sz="2400" dirty="0"/>
              <a:t>var p : </a:t>
            </a:r>
            <a:r>
              <a:rPr lang="pt-BR" sz="2400" dirty="0" err="1"/>
              <a:t>endnodo</a:t>
            </a:r>
            <a:r>
              <a:rPr lang="pt-BR" sz="2400" dirty="0"/>
              <a:t>;</a:t>
            </a:r>
          </a:p>
          <a:p>
            <a:r>
              <a:rPr lang="pt-BR" sz="2400" dirty="0"/>
              <a:t>    num, I : </a:t>
            </a:r>
            <a:r>
              <a:rPr lang="pt-BR" sz="2400" dirty="0" err="1"/>
              <a:t>integer</a:t>
            </a:r>
            <a:r>
              <a:rPr lang="pt-BR" sz="2400" dirty="0"/>
              <a:t>;</a:t>
            </a:r>
          </a:p>
          <a:p>
            <a:r>
              <a:rPr lang="pt-BR" sz="2400" dirty="0"/>
              <a:t>    PIL : pilha; </a:t>
            </a:r>
          </a:p>
        </p:txBody>
      </p:sp>
    </p:spTree>
    <p:extLst>
      <p:ext uri="{BB962C8B-B14F-4D97-AF65-F5344CB8AC3E}">
        <p14:creationId xmlns:p14="http://schemas.microsoft.com/office/powerpoint/2010/main" val="34997541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2E2791-844D-1C9B-C834-B11E06D8AE0B}"/>
              </a:ext>
            </a:extLst>
          </p:cNvPr>
          <p:cNvSpPr txBox="1"/>
          <p:nvPr/>
        </p:nvSpPr>
        <p:spPr>
          <a:xfrm>
            <a:off x="2996419" y="181957"/>
            <a:ext cx="772316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Procedure PUSH(var x: pilha; y: </a:t>
            </a:r>
            <a:r>
              <a:rPr lang="pt-BR" sz="1600" b="1" dirty="0" err="1"/>
              <a:t>integer</a:t>
            </a:r>
            <a:r>
              <a:rPr lang="pt-BR" sz="1600" b="1" dirty="0"/>
              <a:t>);</a:t>
            </a:r>
          </a:p>
          <a:p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 </a:t>
            </a:r>
            <a:r>
              <a:rPr lang="pt-BR" sz="1600" dirty="0" err="1"/>
              <a:t>x.topo</a:t>
            </a:r>
            <a:r>
              <a:rPr lang="pt-BR" sz="1600" dirty="0"/>
              <a:t> := </a:t>
            </a:r>
            <a:r>
              <a:rPr lang="pt-BR" sz="1600" dirty="0" err="1"/>
              <a:t>x.topo</a:t>
            </a:r>
            <a:r>
              <a:rPr lang="pt-BR" sz="1600" dirty="0"/>
              <a:t> + 1;      </a:t>
            </a:r>
            <a:r>
              <a:rPr lang="pt-BR" sz="1600" dirty="0" err="1"/>
              <a:t>x.vet</a:t>
            </a:r>
            <a:r>
              <a:rPr lang="pt-BR" sz="1600" dirty="0"/>
              <a:t>[</a:t>
            </a:r>
            <a:r>
              <a:rPr lang="pt-BR" sz="1600" dirty="0" err="1"/>
              <a:t>x.topo</a:t>
            </a:r>
            <a:r>
              <a:rPr lang="pt-BR" sz="1600" dirty="0"/>
              <a:t>] := y;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b="1" dirty="0"/>
              <a:t>procedure POP (var x: pilha);</a:t>
            </a:r>
          </a:p>
          <a:p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 </a:t>
            </a:r>
            <a:r>
              <a:rPr lang="pt-BR" sz="1600" dirty="0" err="1"/>
              <a:t>x.topo</a:t>
            </a:r>
            <a:r>
              <a:rPr lang="pt-BR" sz="1600" dirty="0"/>
              <a:t> := </a:t>
            </a:r>
            <a:r>
              <a:rPr lang="pt-BR" sz="1600" dirty="0" err="1"/>
              <a:t>x.topo</a:t>
            </a:r>
            <a:r>
              <a:rPr lang="pt-BR" sz="1600" dirty="0"/>
              <a:t> - 1;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b="1" dirty="0" err="1"/>
              <a:t>function</a:t>
            </a:r>
            <a:r>
              <a:rPr lang="pt-BR" sz="1600" b="1" dirty="0"/>
              <a:t> ISEMPTY (x: pilha):</a:t>
            </a:r>
            <a:r>
              <a:rPr lang="pt-BR" sz="1600" b="1" dirty="0" err="1"/>
              <a:t>boolean</a:t>
            </a:r>
            <a:r>
              <a:rPr lang="pt-BR" sz="1600" b="1" dirty="0"/>
              <a:t>;</a:t>
            </a:r>
          </a:p>
          <a:p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</a:t>
            </a:r>
            <a:r>
              <a:rPr lang="pt-BR" sz="1600" dirty="0" err="1"/>
              <a:t>if</a:t>
            </a:r>
            <a:r>
              <a:rPr lang="pt-BR" sz="1600" dirty="0"/>
              <a:t> </a:t>
            </a:r>
            <a:r>
              <a:rPr lang="pt-BR" sz="1600" dirty="0" err="1"/>
              <a:t>x.topo</a:t>
            </a:r>
            <a:r>
              <a:rPr lang="pt-BR" sz="1600" dirty="0"/>
              <a:t> = 0 </a:t>
            </a:r>
            <a:r>
              <a:rPr lang="pt-BR" sz="1600" dirty="0" err="1"/>
              <a:t>then</a:t>
            </a:r>
            <a:endParaRPr lang="pt-BR" sz="1600" dirty="0"/>
          </a:p>
          <a:p>
            <a:r>
              <a:rPr lang="pt-BR" sz="1600" dirty="0"/>
              <a:t> 	ISEMPTY := </a:t>
            </a:r>
            <a:r>
              <a:rPr lang="pt-BR" sz="1600" dirty="0" err="1"/>
              <a:t>true</a:t>
            </a:r>
            <a:endParaRPr lang="pt-BR" sz="1600" dirty="0"/>
          </a:p>
          <a:p>
            <a:r>
              <a:rPr lang="pt-BR" sz="1600" dirty="0"/>
              <a:t>    </a:t>
            </a:r>
            <a:r>
              <a:rPr lang="pt-BR" sz="1600" dirty="0" err="1"/>
              <a:t>else</a:t>
            </a:r>
            <a:endParaRPr lang="pt-BR" sz="1600" dirty="0"/>
          </a:p>
          <a:p>
            <a:r>
              <a:rPr lang="pt-BR" sz="1600" dirty="0"/>
              <a:t> 	ISEMPTY := false;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b="1" dirty="0"/>
              <a:t>procedure INIT (var x: pilha);</a:t>
            </a:r>
          </a:p>
          <a:p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	</a:t>
            </a:r>
            <a:r>
              <a:rPr lang="pt-BR" sz="1600" dirty="0" err="1"/>
              <a:t>x.topo</a:t>
            </a:r>
            <a:r>
              <a:rPr lang="pt-BR" sz="1600" dirty="0"/>
              <a:t> := 0;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b="1" dirty="0" err="1"/>
              <a:t>function</a:t>
            </a:r>
            <a:r>
              <a:rPr lang="pt-BR" sz="1600" b="1" dirty="0"/>
              <a:t> ISFULL (x: pilha; </a:t>
            </a:r>
            <a:r>
              <a:rPr lang="pt-BR" sz="1600" b="1" dirty="0" err="1"/>
              <a:t>max:integer</a:t>
            </a:r>
            <a:r>
              <a:rPr lang="pt-BR" sz="1600" b="1" dirty="0"/>
              <a:t>):</a:t>
            </a:r>
            <a:r>
              <a:rPr lang="pt-BR" sz="1600" b="1" dirty="0" err="1"/>
              <a:t>boolean</a:t>
            </a:r>
            <a:r>
              <a:rPr lang="pt-BR" sz="1600" b="1" dirty="0"/>
              <a:t>;</a:t>
            </a:r>
          </a:p>
          <a:p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 err="1"/>
              <a:t>if</a:t>
            </a:r>
            <a:r>
              <a:rPr lang="pt-BR" sz="1600" dirty="0"/>
              <a:t> </a:t>
            </a:r>
            <a:r>
              <a:rPr lang="pt-BR" sz="1600" dirty="0" err="1"/>
              <a:t>x.topo</a:t>
            </a:r>
            <a:r>
              <a:rPr lang="pt-BR" sz="1600" dirty="0"/>
              <a:t> = </a:t>
            </a:r>
            <a:r>
              <a:rPr lang="pt-BR" sz="1600" dirty="0" err="1"/>
              <a:t>max</a:t>
            </a:r>
            <a:r>
              <a:rPr lang="pt-BR" sz="1600" dirty="0"/>
              <a:t> </a:t>
            </a:r>
            <a:r>
              <a:rPr lang="pt-BR" sz="1600" dirty="0" err="1"/>
              <a:t>then</a:t>
            </a:r>
            <a:endParaRPr lang="pt-BR" sz="1600" dirty="0"/>
          </a:p>
          <a:p>
            <a:r>
              <a:rPr lang="pt-BR" sz="1600" dirty="0"/>
              <a:t>	ISFULL := </a:t>
            </a:r>
            <a:r>
              <a:rPr lang="pt-BR" sz="1600" dirty="0" err="1"/>
              <a:t>true</a:t>
            </a:r>
            <a:endParaRPr lang="pt-BR" sz="1600" dirty="0"/>
          </a:p>
          <a:p>
            <a:r>
              <a:rPr lang="pt-BR" sz="1600" dirty="0" err="1"/>
              <a:t>else</a:t>
            </a:r>
            <a:endParaRPr lang="pt-BR" sz="1600" dirty="0"/>
          </a:p>
          <a:p>
            <a:r>
              <a:rPr lang="pt-BR" sz="1600" dirty="0"/>
              <a:t> 	ISFULL := false;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69453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89A291D-D10B-B4D2-339A-4C2DF2EA2DD8}"/>
              </a:ext>
            </a:extLst>
          </p:cNvPr>
          <p:cNvSpPr txBox="1"/>
          <p:nvPr/>
        </p:nvSpPr>
        <p:spPr>
          <a:xfrm>
            <a:off x="2011680" y="181957"/>
            <a:ext cx="789197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Procedure CRIALISTA(PILH: pilha; var p: </a:t>
            </a:r>
            <a:r>
              <a:rPr lang="pt-BR" sz="1600" b="1" dirty="0" err="1"/>
              <a:t>endnodo</a:t>
            </a:r>
            <a:r>
              <a:rPr lang="pt-BR" sz="1600" b="1" dirty="0"/>
              <a:t>);</a:t>
            </a:r>
          </a:p>
          <a:p>
            <a:r>
              <a:rPr lang="pt-BR" sz="1600" dirty="0"/>
              <a:t>Var  q, r:endnodo;</a:t>
            </a:r>
          </a:p>
          <a:p>
            <a:r>
              <a:rPr lang="pt-BR" sz="1600" dirty="0"/>
              <a:t>Begin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writeln</a:t>
            </a:r>
            <a:r>
              <a:rPr lang="pt-BR" sz="1600" dirty="0"/>
              <a:t> ('********* IMPRIMINDO ELEMENTOS DA PILHA *****************');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writeln</a:t>
            </a:r>
            <a:r>
              <a:rPr lang="pt-BR" sz="1600" dirty="0"/>
              <a:t> (' ');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while</a:t>
            </a:r>
            <a:r>
              <a:rPr lang="pt-BR" sz="1600" dirty="0"/>
              <a:t> (ISEMPTY(PILH) &lt;&gt; </a:t>
            </a:r>
            <a:r>
              <a:rPr lang="pt-BR" sz="1600" dirty="0" err="1"/>
              <a:t>true</a:t>
            </a:r>
            <a:r>
              <a:rPr lang="pt-BR" sz="1600" dirty="0"/>
              <a:t>) do </a:t>
            </a:r>
          </a:p>
          <a:p>
            <a:r>
              <a:rPr lang="pt-BR" sz="1600" dirty="0"/>
              <a:t>       </a:t>
            </a:r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         </a:t>
            </a:r>
            <a:r>
              <a:rPr lang="pt-BR" sz="1600" dirty="0" err="1"/>
              <a:t>write</a:t>
            </a:r>
            <a:r>
              <a:rPr lang="pt-BR" sz="1600" dirty="0"/>
              <a:t> ('</a:t>
            </a:r>
            <a:r>
              <a:rPr lang="pt-BR" sz="1600" dirty="0" err="1"/>
              <a:t>pos</a:t>
            </a:r>
            <a:r>
              <a:rPr lang="pt-BR" sz="1600" dirty="0"/>
              <a:t> ', </a:t>
            </a:r>
            <a:r>
              <a:rPr lang="pt-BR" sz="1600" dirty="0" err="1"/>
              <a:t>PILH.topo</a:t>
            </a:r>
            <a:r>
              <a:rPr lang="pt-BR" sz="1600" dirty="0"/>
              <a:t>, '=', </a:t>
            </a:r>
            <a:r>
              <a:rPr lang="pt-BR" sz="1600" dirty="0" err="1"/>
              <a:t>PILH.vet</a:t>
            </a:r>
            <a:r>
              <a:rPr lang="pt-BR" sz="1600" dirty="0"/>
              <a:t>[</a:t>
            </a:r>
            <a:r>
              <a:rPr lang="pt-BR" sz="1600" dirty="0" err="1"/>
              <a:t>PILH.topo</a:t>
            </a:r>
            <a:r>
              <a:rPr lang="pt-BR" sz="1600" dirty="0"/>
              <a:t>], ' ');</a:t>
            </a:r>
          </a:p>
          <a:p>
            <a:r>
              <a:rPr lang="pt-BR" sz="1600" dirty="0"/>
              <a:t>            IF (P = NIL) THEN</a:t>
            </a:r>
          </a:p>
          <a:p>
            <a:r>
              <a:rPr lang="pt-BR" sz="1600" dirty="0"/>
              <a:t>               BEGIN</a:t>
            </a:r>
          </a:p>
          <a:p>
            <a:r>
              <a:rPr lang="pt-BR" sz="1600" dirty="0"/>
              <a:t>                   new(p);</a:t>
            </a:r>
          </a:p>
          <a:p>
            <a:r>
              <a:rPr lang="pt-BR" sz="1600" dirty="0"/>
              <a:t>                   p^.info := PILH.VET[PILH.TOPO];</a:t>
            </a:r>
          </a:p>
          <a:p>
            <a:r>
              <a:rPr lang="pt-BR" sz="1600" dirty="0"/>
              <a:t>                   p^.</a:t>
            </a:r>
            <a:r>
              <a:rPr lang="pt-BR" sz="1600" dirty="0" err="1"/>
              <a:t>prox</a:t>
            </a:r>
            <a:r>
              <a:rPr lang="pt-BR" sz="1600" dirty="0"/>
              <a:t> := </a:t>
            </a:r>
            <a:r>
              <a:rPr lang="pt-BR" sz="1600" dirty="0" err="1"/>
              <a:t>nil</a:t>
            </a:r>
            <a:r>
              <a:rPr lang="pt-BR" sz="1600" dirty="0"/>
              <a:t>;</a:t>
            </a:r>
          </a:p>
          <a:p>
            <a:r>
              <a:rPr lang="pt-BR" sz="1600" dirty="0"/>
              <a:t>                   q:=p;</a:t>
            </a:r>
          </a:p>
          <a:p>
            <a:r>
              <a:rPr lang="pt-BR" sz="1600" dirty="0"/>
              <a:t>               END</a:t>
            </a:r>
          </a:p>
          <a:p>
            <a:r>
              <a:rPr lang="pt-BR" sz="1600" dirty="0"/>
              <a:t>            ELSE</a:t>
            </a:r>
          </a:p>
          <a:p>
            <a:r>
              <a:rPr lang="pt-BR" sz="1600" dirty="0"/>
              <a:t>               BEGIN</a:t>
            </a:r>
          </a:p>
          <a:p>
            <a:r>
              <a:rPr lang="pt-BR" sz="1600" dirty="0"/>
              <a:t>                   new(r);</a:t>
            </a:r>
          </a:p>
          <a:p>
            <a:r>
              <a:rPr lang="pt-BR" sz="1600" dirty="0"/>
              <a:t>                   r^.info := PILH.VET[PILH.TOPO];</a:t>
            </a:r>
          </a:p>
          <a:p>
            <a:r>
              <a:rPr lang="pt-BR" sz="1600" dirty="0"/>
              <a:t>                   r^.</a:t>
            </a:r>
            <a:r>
              <a:rPr lang="pt-BR" sz="1600" dirty="0" err="1"/>
              <a:t>prox</a:t>
            </a:r>
            <a:r>
              <a:rPr lang="pt-BR" sz="1600" dirty="0"/>
              <a:t> := </a:t>
            </a:r>
            <a:r>
              <a:rPr lang="pt-BR" sz="1600" dirty="0" err="1"/>
              <a:t>nil</a:t>
            </a:r>
            <a:r>
              <a:rPr lang="pt-BR" sz="1600" dirty="0"/>
              <a:t>;</a:t>
            </a:r>
          </a:p>
          <a:p>
            <a:r>
              <a:rPr lang="pt-BR" sz="1600" dirty="0"/>
              <a:t>                   q^.</a:t>
            </a:r>
            <a:r>
              <a:rPr lang="pt-BR" sz="1600" dirty="0" err="1"/>
              <a:t>prox</a:t>
            </a:r>
            <a:r>
              <a:rPr lang="pt-BR" sz="1600" dirty="0"/>
              <a:t> := r;</a:t>
            </a:r>
          </a:p>
          <a:p>
            <a:r>
              <a:rPr lang="pt-BR" sz="1600" dirty="0"/>
              <a:t>                   q := r;</a:t>
            </a:r>
          </a:p>
          <a:p>
            <a:r>
              <a:rPr lang="pt-BR" sz="1600" dirty="0"/>
              <a:t>               END;</a:t>
            </a:r>
          </a:p>
          <a:p>
            <a:r>
              <a:rPr lang="pt-BR" sz="1600" dirty="0"/>
              <a:t>            POP(PILH);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dirty="0" err="1"/>
              <a:t>End</a:t>
            </a:r>
            <a:r>
              <a:rPr lang="pt-BR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26664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D21C300-7EC4-6EFA-3894-0FE838DF6062}"/>
              </a:ext>
            </a:extLst>
          </p:cNvPr>
          <p:cNvSpPr txBox="1"/>
          <p:nvPr/>
        </p:nvSpPr>
        <p:spPr>
          <a:xfrm>
            <a:off x="2602523" y="58846"/>
            <a:ext cx="745587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/>
              <a:t>begin</a:t>
            </a:r>
            <a:endParaRPr lang="pt-BR" sz="1600" b="1" dirty="0"/>
          </a:p>
          <a:p>
            <a:r>
              <a:rPr lang="pt-BR" sz="1600" dirty="0"/>
              <a:t>    </a:t>
            </a:r>
            <a:r>
              <a:rPr lang="pt-BR" sz="1600" dirty="0" err="1"/>
              <a:t>clrscr</a:t>
            </a:r>
            <a:r>
              <a:rPr lang="pt-BR" sz="1600" dirty="0"/>
              <a:t>;</a:t>
            </a:r>
          </a:p>
          <a:p>
            <a:r>
              <a:rPr lang="pt-BR" sz="1600" dirty="0"/>
              <a:t>    p := </a:t>
            </a:r>
            <a:r>
              <a:rPr lang="pt-BR" sz="1600" dirty="0" err="1"/>
              <a:t>nil</a:t>
            </a:r>
            <a:r>
              <a:rPr lang="pt-BR" sz="1600" dirty="0"/>
              <a:t>;</a:t>
            </a:r>
          </a:p>
          <a:p>
            <a:r>
              <a:rPr lang="pt-BR" sz="1600" dirty="0"/>
              <a:t>    INIT(PIL);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repeat</a:t>
            </a:r>
            <a:endParaRPr lang="pt-BR" sz="1600" dirty="0"/>
          </a:p>
          <a:p>
            <a:r>
              <a:rPr lang="pt-BR" sz="1600" dirty="0"/>
              <a:t>          </a:t>
            </a:r>
            <a:r>
              <a:rPr lang="pt-BR" sz="1600" dirty="0" err="1"/>
              <a:t>writeln</a:t>
            </a:r>
            <a:r>
              <a:rPr lang="pt-BR" sz="1600" dirty="0"/>
              <a:t> ('Tecle número ou 0 para sair: '); </a:t>
            </a:r>
          </a:p>
          <a:p>
            <a:r>
              <a:rPr lang="pt-BR" sz="1600" dirty="0"/>
              <a:t>          </a:t>
            </a:r>
            <a:r>
              <a:rPr lang="pt-BR" sz="1600" dirty="0" err="1"/>
              <a:t>readln</a:t>
            </a:r>
            <a:r>
              <a:rPr lang="pt-BR" sz="1600" dirty="0"/>
              <a:t> (num);</a:t>
            </a:r>
          </a:p>
          <a:p>
            <a:r>
              <a:rPr lang="pt-BR" sz="1600" dirty="0"/>
              <a:t>          </a:t>
            </a:r>
            <a:r>
              <a:rPr lang="pt-BR" sz="1600" dirty="0" err="1"/>
              <a:t>if</a:t>
            </a:r>
            <a:r>
              <a:rPr lang="pt-BR" sz="1600" dirty="0"/>
              <a:t> (num &lt;&gt; = 0) </a:t>
            </a:r>
            <a:r>
              <a:rPr lang="pt-BR" sz="1600" dirty="0" err="1"/>
              <a:t>then</a:t>
            </a:r>
            <a:r>
              <a:rPr lang="pt-BR" sz="1600" dirty="0"/>
              <a:t>   </a:t>
            </a:r>
          </a:p>
          <a:p>
            <a:r>
              <a:rPr lang="pt-BR" sz="1600" dirty="0"/>
              <a:t>             PUSH (PIL, num);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until</a:t>
            </a:r>
            <a:r>
              <a:rPr lang="pt-BR" sz="1600" dirty="0"/>
              <a:t> ((num = 0) </a:t>
            </a:r>
            <a:r>
              <a:rPr lang="pt-BR" sz="1600" dirty="0" err="1"/>
              <a:t>or</a:t>
            </a:r>
            <a:r>
              <a:rPr lang="pt-BR" sz="1600" dirty="0"/>
              <a:t> (ISFULL(</a:t>
            </a:r>
            <a:r>
              <a:rPr lang="pt-BR" sz="1600" dirty="0" err="1"/>
              <a:t>PIL,max</a:t>
            </a:r>
            <a:r>
              <a:rPr lang="pt-BR" sz="1600" dirty="0"/>
              <a:t>)=</a:t>
            </a:r>
            <a:r>
              <a:rPr lang="pt-BR" sz="1600" dirty="0" err="1"/>
              <a:t>true</a:t>
            </a:r>
            <a:r>
              <a:rPr lang="pt-BR" sz="1600" dirty="0"/>
              <a:t>));</a:t>
            </a:r>
          </a:p>
          <a:p>
            <a:r>
              <a:rPr lang="pt-BR" sz="1600" b="1" dirty="0">
                <a:solidFill>
                  <a:srgbClr val="FF0000"/>
                </a:solidFill>
              </a:rPr>
              <a:t>    CRIALISTA(PIL, p);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if</a:t>
            </a:r>
            <a:r>
              <a:rPr lang="pt-BR" sz="1600" dirty="0"/>
              <a:t> (p=</a:t>
            </a:r>
            <a:r>
              <a:rPr lang="pt-BR" sz="1600" dirty="0" err="1"/>
              <a:t>nil</a:t>
            </a:r>
            <a:r>
              <a:rPr lang="pt-BR" sz="1600" dirty="0"/>
              <a:t>) </a:t>
            </a:r>
            <a:r>
              <a:rPr lang="pt-BR" sz="1600" dirty="0" err="1"/>
              <a:t>then</a:t>
            </a:r>
            <a:endParaRPr lang="pt-BR" sz="1600" dirty="0"/>
          </a:p>
          <a:p>
            <a:r>
              <a:rPr lang="pt-BR" sz="1600" dirty="0"/>
              <a:t>          </a:t>
            </a:r>
            <a:r>
              <a:rPr lang="pt-BR" sz="1600" dirty="0" err="1"/>
              <a:t>writeln</a:t>
            </a:r>
            <a:r>
              <a:rPr lang="pt-BR" sz="1600" dirty="0"/>
              <a:t>('***** LISTA VAZIA - NAO EXISTEM NODOS ********')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else</a:t>
            </a:r>
            <a:endParaRPr lang="pt-BR" sz="1600" dirty="0"/>
          </a:p>
          <a:p>
            <a:r>
              <a:rPr lang="pt-BR" sz="1600" dirty="0"/>
              <a:t>          </a:t>
            </a:r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          </a:t>
            </a:r>
            <a:r>
              <a:rPr lang="pt-BR" sz="1600" dirty="0" err="1"/>
              <a:t>writeln</a:t>
            </a:r>
            <a:r>
              <a:rPr lang="pt-BR" sz="1600" dirty="0"/>
              <a:t> ('** IMPRIMINDO ELEMENTOS DA LISTA ***');</a:t>
            </a:r>
          </a:p>
          <a:p>
            <a:r>
              <a:rPr lang="pt-BR" sz="1600" dirty="0"/>
              <a:t>              </a:t>
            </a:r>
            <a:r>
              <a:rPr lang="pt-BR" sz="1600" dirty="0" err="1"/>
              <a:t>writeln</a:t>
            </a:r>
            <a:r>
              <a:rPr lang="pt-BR" sz="1600" dirty="0"/>
              <a:t>(' ');</a:t>
            </a:r>
          </a:p>
          <a:p>
            <a:r>
              <a:rPr lang="pt-BR" sz="1600" dirty="0"/>
              <a:t>              I := 1;</a:t>
            </a:r>
          </a:p>
          <a:p>
            <a:r>
              <a:rPr lang="pt-BR" sz="1600" dirty="0"/>
              <a:t>              </a:t>
            </a:r>
            <a:r>
              <a:rPr lang="pt-BR" sz="1600" dirty="0" err="1"/>
              <a:t>while</a:t>
            </a:r>
            <a:r>
              <a:rPr lang="pt-BR" sz="1600" dirty="0"/>
              <a:t> (p &lt;&gt; </a:t>
            </a:r>
            <a:r>
              <a:rPr lang="pt-BR" sz="1600" dirty="0" err="1"/>
              <a:t>nil</a:t>
            </a:r>
            <a:r>
              <a:rPr lang="pt-BR" sz="1600" dirty="0"/>
              <a:t>)</a:t>
            </a:r>
          </a:p>
          <a:p>
            <a:r>
              <a:rPr lang="pt-BR" sz="1600" dirty="0"/>
              <a:t>                 do</a:t>
            </a:r>
          </a:p>
          <a:p>
            <a:r>
              <a:rPr lang="pt-BR" sz="1600" dirty="0"/>
              <a:t>                   </a:t>
            </a:r>
            <a:r>
              <a:rPr lang="pt-BR" sz="1600" dirty="0" err="1"/>
              <a:t>begin</a:t>
            </a:r>
            <a:endParaRPr lang="pt-BR" sz="1600" dirty="0"/>
          </a:p>
          <a:p>
            <a:r>
              <a:rPr lang="pt-BR" sz="1600" dirty="0"/>
              <a:t>                       </a:t>
            </a:r>
            <a:r>
              <a:rPr lang="pt-BR" sz="1600" dirty="0" err="1"/>
              <a:t>write</a:t>
            </a:r>
            <a:r>
              <a:rPr lang="pt-BR" sz="1600" dirty="0"/>
              <a:t> (' NODO ',I,'=',p^.info);</a:t>
            </a:r>
          </a:p>
          <a:p>
            <a:r>
              <a:rPr lang="pt-BR" sz="1600" dirty="0"/>
              <a:t>                       p := p^.</a:t>
            </a:r>
            <a:r>
              <a:rPr lang="pt-BR" sz="1600" dirty="0" err="1"/>
              <a:t>prox</a:t>
            </a:r>
            <a:r>
              <a:rPr lang="pt-BR" sz="1600" dirty="0"/>
              <a:t>;</a:t>
            </a:r>
          </a:p>
          <a:p>
            <a:r>
              <a:rPr lang="pt-BR" sz="1600" dirty="0"/>
              <a:t>                       i:=I+1;</a:t>
            </a:r>
          </a:p>
          <a:p>
            <a:r>
              <a:rPr lang="pt-BR" sz="1600" dirty="0"/>
              <a:t>                   </a:t>
            </a:r>
            <a:r>
              <a:rPr lang="pt-BR" sz="1600" dirty="0" err="1"/>
              <a:t>end</a:t>
            </a:r>
            <a:endParaRPr lang="pt-BR" sz="1600" dirty="0"/>
          </a:p>
          <a:p>
            <a:r>
              <a:rPr lang="pt-BR" sz="1600" dirty="0"/>
              <a:t>          </a:t>
            </a:r>
            <a:r>
              <a:rPr lang="pt-BR" sz="1600" dirty="0" err="1"/>
              <a:t>end</a:t>
            </a:r>
            <a:r>
              <a:rPr lang="pt-BR" sz="1600" dirty="0"/>
              <a:t>;</a:t>
            </a:r>
          </a:p>
          <a:p>
            <a:r>
              <a:rPr lang="pt-BR" sz="1600" b="1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31690758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7E81160-C6AD-ADB0-22B8-7506D145B487}"/>
              </a:ext>
            </a:extLst>
          </p:cNvPr>
          <p:cNvSpPr txBox="1"/>
          <p:nvPr/>
        </p:nvSpPr>
        <p:spPr>
          <a:xfrm>
            <a:off x="126609" y="4104249"/>
            <a:ext cx="119387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********* IMPRIMINDO ELEMENTOS DA PILHA *****************</a:t>
            </a:r>
          </a:p>
          <a:p>
            <a:r>
              <a:rPr lang="pt-BR" dirty="0"/>
              <a:t> </a:t>
            </a:r>
          </a:p>
          <a:p>
            <a:r>
              <a:rPr lang="pt-BR" dirty="0" err="1"/>
              <a:t>pos</a:t>
            </a:r>
            <a:r>
              <a:rPr lang="pt-BR" dirty="0"/>
              <a:t> 10=10   </a:t>
            </a:r>
            <a:r>
              <a:rPr lang="pt-BR" dirty="0" err="1"/>
              <a:t>pos</a:t>
            </a:r>
            <a:r>
              <a:rPr lang="pt-BR" dirty="0"/>
              <a:t> 9=9   </a:t>
            </a:r>
            <a:r>
              <a:rPr lang="pt-BR" dirty="0" err="1"/>
              <a:t>pos</a:t>
            </a:r>
            <a:r>
              <a:rPr lang="pt-BR" dirty="0"/>
              <a:t> 8=8   </a:t>
            </a:r>
            <a:r>
              <a:rPr lang="pt-BR" dirty="0" err="1"/>
              <a:t>pos</a:t>
            </a:r>
            <a:r>
              <a:rPr lang="pt-BR" dirty="0"/>
              <a:t> 7=7   </a:t>
            </a:r>
            <a:r>
              <a:rPr lang="pt-BR" dirty="0" err="1"/>
              <a:t>pos</a:t>
            </a:r>
            <a:r>
              <a:rPr lang="pt-BR" dirty="0"/>
              <a:t> 6=6   </a:t>
            </a:r>
            <a:r>
              <a:rPr lang="pt-BR" dirty="0" err="1"/>
              <a:t>pos</a:t>
            </a:r>
            <a:r>
              <a:rPr lang="pt-BR" dirty="0"/>
              <a:t> 5=5   </a:t>
            </a:r>
            <a:r>
              <a:rPr lang="pt-BR" dirty="0" err="1"/>
              <a:t>pos</a:t>
            </a:r>
            <a:r>
              <a:rPr lang="pt-BR" dirty="0"/>
              <a:t> 4=4   </a:t>
            </a:r>
            <a:r>
              <a:rPr lang="pt-BR" dirty="0" err="1"/>
              <a:t>pos</a:t>
            </a:r>
            <a:r>
              <a:rPr lang="pt-BR" dirty="0"/>
              <a:t> 3=3   </a:t>
            </a:r>
            <a:r>
              <a:rPr lang="pt-BR" dirty="0" err="1"/>
              <a:t>pos</a:t>
            </a:r>
            <a:r>
              <a:rPr lang="pt-BR" dirty="0"/>
              <a:t> 2=2   </a:t>
            </a:r>
            <a:r>
              <a:rPr lang="pt-BR" dirty="0" err="1"/>
              <a:t>pos</a:t>
            </a:r>
            <a:r>
              <a:rPr lang="pt-BR" dirty="0"/>
              <a:t> 1= 1 </a:t>
            </a:r>
          </a:p>
          <a:p>
            <a:endParaRPr lang="pt-BR" dirty="0"/>
          </a:p>
          <a:p>
            <a:r>
              <a:rPr lang="pt-BR" dirty="0"/>
              <a:t>** IMPRIMINDO ELEMENTOS DA LISTA ***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 NODO 1=10 NODO 2=9 NODO 3=8 NODO 4=7 NODO 5=6 NODO 6=5 NODO 7=4 NODO 8=3 NODO 9=2 NODO 10=1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7D0F4E-E70C-D348-4338-19ABC5D654CA}"/>
              </a:ext>
            </a:extLst>
          </p:cNvPr>
          <p:cNvSpPr txBox="1"/>
          <p:nvPr/>
        </p:nvSpPr>
        <p:spPr>
          <a:xfrm>
            <a:off x="126609" y="566678"/>
            <a:ext cx="4145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Tecle número ou 0 para sair:    1</a:t>
            </a:r>
          </a:p>
          <a:p>
            <a:r>
              <a:rPr lang="pt-BR" dirty="0"/>
              <a:t>Tecle número ou 0 para sair:    2</a:t>
            </a:r>
          </a:p>
          <a:p>
            <a:r>
              <a:rPr lang="pt-BR" dirty="0"/>
              <a:t>Tecle número ou 0 para sair:    3</a:t>
            </a:r>
          </a:p>
          <a:p>
            <a:r>
              <a:rPr lang="pt-BR" dirty="0"/>
              <a:t>Tecle número ou 0 para sair:    4</a:t>
            </a:r>
          </a:p>
          <a:p>
            <a:r>
              <a:rPr lang="pt-BR" dirty="0"/>
              <a:t>Tecle número ou 0 para sair:    5</a:t>
            </a:r>
          </a:p>
          <a:p>
            <a:r>
              <a:rPr lang="pt-BR" dirty="0"/>
              <a:t>Tecle número ou 0 para sair:    6</a:t>
            </a:r>
          </a:p>
          <a:p>
            <a:r>
              <a:rPr lang="pt-BR" dirty="0"/>
              <a:t>Tecle número ou 0 para sair:    7</a:t>
            </a:r>
          </a:p>
          <a:p>
            <a:r>
              <a:rPr lang="pt-BR" dirty="0"/>
              <a:t>Tecle número ou 0 para sair:    8</a:t>
            </a:r>
          </a:p>
          <a:p>
            <a:r>
              <a:rPr lang="pt-BR" dirty="0"/>
              <a:t>Tecle número ou 0 para sair:    9</a:t>
            </a:r>
          </a:p>
          <a:p>
            <a:r>
              <a:rPr lang="pt-BR" dirty="0"/>
              <a:t>Tecle número ou 0 para sair:    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C01099-9DFA-ED94-B11F-E65B28195E8E}"/>
              </a:ext>
            </a:extLst>
          </p:cNvPr>
          <p:cNvSpPr txBox="1"/>
          <p:nvPr/>
        </p:nvSpPr>
        <p:spPr>
          <a:xfrm>
            <a:off x="4271889" y="258901"/>
            <a:ext cx="779350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EXEMPLO DA EXECUÇÃO DO PROGRAMA ANTERIOR COMPROVANDO A CRIAÇÃO DA LISTA A PARTIR DA PILHA</a:t>
            </a:r>
          </a:p>
        </p:txBody>
      </p:sp>
    </p:spTree>
    <p:extLst>
      <p:ext uri="{BB962C8B-B14F-4D97-AF65-F5344CB8AC3E}">
        <p14:creationId xmlns:p14="http://schemas.microsoft.com/office/powerpoint/2010/main" val="380664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66EB926-B3CB-546D-B500-269EFC28F7AC}"/>
              </a:ext>
            </a:extLst>
          </p:cNvPr>
          <p:cNvSpPr txBox="1"/>
          <p:nvPr/>
        </p:nvSpPr>
        <p:spPr>
          <a:xfrm>
            <a:off x="-1" y="0"/>
            <a:ext cx="12013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4) (3,0) EM PASCAL, CRIE UMA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FUNÇÃO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LISTA LIGADA SIMPLES E DEVOLVA O NÚMERO TOTAL DE NODOS NEGATIVOS.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F43575-CA69-BED2-9E2F-AB2BB3616138}"/>
              </a:ext>
            </a:extLst>
          </p:cNvPr>
          <p:cNvSpPr txBox="1"/>
          <p:nvPr/>
        </p:nvSpPr>
        <p:spPr>
          <a:xfrm>
            <a:off x="793064" y="646331"/>
            <a:ext cx="104276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FUNCTION CONTADOR (p: </a:t>
            </a:r>
            <a:r>
              <a:rPr lang="pt-BR" sz="3200" b="1" dirty="0" err="1">
                <a:solidFill>
                  <a:srgbClr val="0070C0"/>
                </a:solidFill>
                <a:latin typeface="Arial Narrow" panose="020B0606020202030204" pitchFamily="34" charset="0"/>
              </a:rPr>
              <a:t>Endnodo</a:t>
            </a:r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): INTEGER;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Var  CONT : INTEGER;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BEGIN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CONT := 0;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WHILE (p &lt;&gt; NIL) DO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      BEGIN 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               IF (P^.INFO &lt; 0) THEN            </a:t>
            </a:r>
            <a:endParaRPr lang="pt-BR" sz="32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                   CONT := CONT + 1;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               p := p^.</a:t>
            </a:r>
            <a:r>
              <a:rPr lang="pt-BR" sz="3200" b="1" dirty="0" err="1">
                <a:solidFill>
                  <a:srgbClr val="0070C0"/>
                </a:solidFill>
                <a:latin typeface="Arial Narrow" panose="020B0606020202030204" pitchFamily="34" charset="0"/>
              </a:rPr>
              <a:t>prox</a:t>
            </a:r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;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      END</a:t>
            </a: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CONTADOR := CONT;</a:t>
            </a:r>
            <a:endParaRPr lang="pt-BR" sz="32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pt-BR" sz="3200" b="1" dirty="0">
                <a:solidFill>
                  <a:srgbClr val="0070C0"/>
                </a:solidFill>
                <a:latin typeface="Arial Narrow" panose="020B0606020202030204" pitchFamily="34" charset="0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409746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49DA8-B208-A925-6C05-66846E16B2E4}"/>
              </a:ext>
            </a:extLst>
          </p:cNvPr>
          <p:cNvSpPr txBox="1"/>
          <p:nvPr/>
        </p:nvSpPr>
        <p:spPr>
          <a:xfrm>
            <a:off x="0" y="0"/>
            <a:ext cx="12056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5) (2,0) EM PASCAL, CRIE UMA </a:t>
            </a:r>
            <a:r>
              <a:rPr lang="pt-BR" sz="1800" b="1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FUNÇÃO</a:t>
            </a:r>
            <a:r>
              <a:rPr lang="pt-BR" sz="1800" dirty="0">
                <a:effectLst/>
                <a:latin typeface="Tahoma" panose="020B0604030504040204" pitchFamily="34" charset="0"/>
                <a:ea typeface="SimSun" panose="02010600030101010101" pitchFamily="2" charset="-122"/>
              </a:rPr>
              <a:t> QUE RECEBA UMA PILHA P E DEVOLVA A QUANTIDADE DE ELEMENTOS EXISTENTES NESSA PILHA.</a:t>
            </a:r>
            <a:endParaRPr lang="pt-BR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44A175-3A07-D717-686F-0006DD007FBD}"/>
              </a:ext>
            </a:extLst>
          </p:cNvPr>
          <p:cNvSpPr txBox="1"/>
          <p:nvPr/>
        </p:nvSpPr>
        <p:spPr>
          <a:xfrm>
            <a:off x="559188" y="1812444"/>
            <a:ext cx="96258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 FUNCTION Q(X: PILHA): INTEGER;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BEGIN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   Q:= X.TOPO;</a:t>
            </a:r>
          </a:p>
          <a:p>
            <a:r>
              <a:rPr lang="pt-BR" sz="3600" b="1" dirty="0">
                <a:solidFill>
                  <a:srgbClr val="FF0000"/>
                </a:solidFill>
              </a:rPr>
              <a:t>  END;</a:t>
            </a:r>
          </a:p>
        </p:txBody>
      </p:sp>
    </p:spTree>
    <p:extLst>
      <p:ext uri="{BB962C8B-B14F-4D97-AF65-F5344CB8AC3E}">
        <p14:creationId xmlns:p14="http://schemas.microsoft.com/office/powerpoint/2010/main" val="274766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FFD415C46D954BAB57799EDAC30B41" ma:contentTypeVersion="4" ma:contentTypeDescription="Create a new document." ma:contentTypeScope="" ma:versionID="42ff374485d17b71180c0928990b0d16">
  <xsd:schema xmlns:xsd="http://www.w3.org/2001/XMLSchema" xmlns:xs="http://www.w3.org/2001/XMLSchema" xmlns:p="http://schemas.microsoft.com/office/2006/metadata/properties" xmlns:ns2="da9381d8-a194-499f-a7a2-655ad2fbaf30" targetNamespace="http://schemas.microsoft.com/office/2006/metadata/properties" ma:root="true" ma:fieldsID="580cafdfa37272185ecb60b16098fb0b" ns2:_="">
    <xsd:import namespace="da9381d8-a194-499f-a7a2-655ad2fbaf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381d8-a194-499f-a7a2-655ad2fba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FFAB96-22A1-4C8A-AFB9-13E9426F8612}"/>
</file>

<file path=customXml/itemProps2.xml><?xml version="1.0" encoding="utf-8"?>
<ds:datastoreItem xmlns:ds="http://schemas.openxmlformats.org/officeDocument/2006/customXml" ds:itemID="{1ED40D8B-6BA6-4889-9DD8-C239A102AF90}"/>
</file>

<file path=customXml/itemProps3.xml><?xml version="1.0" encoding="utf-8"?>
<ds:datastoreItem xmlns:ds="http://schemas.openxmlformats.org/officeDocument/2006/customXml" ds:itemID="{98A7CCF5-7029-4A3F-AFDA-C8F5B1BD9A01}"/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3315</Words>
  <Application>Microsoft Office PowerPoint</Application>
  <PresentationFormat>Widescreen</PresentationFormat>
  <Paragraphs>783</Paragraphs>
  <Slides>74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74</vt:i4>
      </vt:variant>
    </vt:vector>
  </HeadingPairs>
  <TitlesOfParts>
    <vt:vector size="82" baseType="lpstr">
      <vt:lpstr>Aptos</vt:lpstr>
      <vt:lpstr>Aptos Display</vt:lpstr>
      <vt:lpstr>Arial</vt:lpstr>
      <vt:lpstr>Arial Narrow</vt:lpstr>
      <vt:lpstr>Arial Nova</vt:lpstr>
      <vt:lpstr>Tahoma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Joyce Santos</dc:creator>
  <cp:lastModifiedBy>Joyce Santos</cp:lastModifiedBy>
  <cp:revision>19</cp:revision>
  <dcterms:created xsi:type="dcterms:W3CDTF">2024-04-13T05:44:57Z</dcterms:created>
  <dcterms:modified xsi:type="dcterms:W3CDTF">2024-04-18T00:27:00Z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0x0101006CFFD415C46D954BAB57799EDAC30B41</vt:lpwstr>
  </property>
</Properties>
</file>