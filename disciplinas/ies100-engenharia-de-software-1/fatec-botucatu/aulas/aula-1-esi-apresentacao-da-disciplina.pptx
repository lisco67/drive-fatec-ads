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60" r:id="rId3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014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43F550-1273-4907-B334-19400C915557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33A5A-BF61-4BE4-BE5C-A78B7F70C6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8848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502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502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502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502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502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5026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502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90A7-46A6-48DA-9662-D0F072F40A16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A5452-13D2-4F41-AE37-DDFFAD2D822D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27" y="176266"/>
            <a:ext cx="2232248" cy="99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6" descr="http://4.bp.blogspot.com/-6v69azihsxM/T20v5BecQzI/AAAAAAAAAQQ/vcoCpt3sCYU/s1600/FATEC%2BBOTUCATU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0527" y="52695"/>
            <a:ext cx="2448272" cy="1392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64839"/>
            <a:ext cx="9144000" cy="139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7435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90A7-46A6-48DA-9662-D0F072F40A16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A5452-13D2-4F41-AE37-DDFFAD2D822D}" type="slidenum">
              <a:rPr lang="pt-BR" smtClean="0"/>
              <a:t>‹nº›</a:t>
            </a:fld>
            <a:endParaRPr lang="pt-BR" dirty="0"/>
          </a:p>
        </p:txBody>
      </p:sp>
      <p:cxnSp>
        <p:nvCxnSpPr>
          <p:cNvPr id="9" name="Conector reto 8"/>
          <p:cNvCxnSpPr/>
          <p:nvPr userDrawn="1"/>
        </p:nvCxnSpPr>
        <p:spPr>
          <a:xfrm>
            <a:off x="153791" y="6185060"/>
            <a:ext cx="8810697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 userDrawn="1"/>
        </p:nvSpPr>
        <p:spPr>
          <a:xfrm>
            <a:off x="3491880" y="6384068"/>
            <a:ext cx="15518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 smtClean="0"/>
              <a:t>Aula 1 - Apresentação</a:t>
            </a:r>
            <a:endParaRPr lang="pt-BR" sz="1200" dirty="0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9035" y="6243614"/>
            <a:ext cx="1218764" cy="54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9297" y="6213957"/>
            <a:ext cx="936103" cy="70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2971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90A7-46A6-48DA-9662-D0F072F40A16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A5452-13D2-4F41-AE37-DDFFAD2D8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7236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90A7-46A6-48DA-9662-D0F072F40A16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A5452-13D2-4F41-AE37-DDFFAD2D8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7650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90A7-46A6-48DA-9662-D0F072F40A16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A5452-13D2-4F41-AE37-DDFFAD2D8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8840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90A7-46A6-48DA-9662-D0F072F40A16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A5452-13D2-4F41-AE37-DDFFAD2D8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0512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90A7-46A6-48DA-9662-D0F072F40A16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A5452-13D2-4F41-AE37-DDFFAD2D8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0781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90A7-46A6-48DA-9662-D0F072F40A16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A5452-13D2-4F41-AE37-DDFFAD2D8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372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90A7-46A6-48DA-9662-D0F072F40A16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A5452-13D2-4F41-AE37-DDFFAD2D8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0465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90A7-46A6-48DA-9662-D0F072F40A16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A5452-13D2-4F41-AE37-DDFFAD2D8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1206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90A7-46A6-48DA-9662-D0F072F40A16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A5452-13D2-4F41-AE37-DDFFAD2D8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23473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4150-EBD3-4834-BA37-BA7EE794A3EA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4115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4150-EBD3-4834-BA37-BA7EE794A3EA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07525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4150-EBD3-4834-BA37-BA7EE794A3EA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2050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4150-EBD3-4834-BA37-BA7EE794A3EA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6347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4150-EBD3-4834-BA37-BA7EE794A3EA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05914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4150-EBD3-4834-BA37-BA7EE794A3EA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69560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4150-EBD3-4834-BA37-BA7EE794A3EA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72424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4150-EBD3-4834-BA37-BA7EE794A3EA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1279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4150-EBD3-4834-BA37-BA7EE794A3EA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13701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4150-EBD3-4834-BA37-BA7EE794A3EA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1606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4150-EBD3-4834-BA37-BA7EE794A3EA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31051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14A8-D46F-4EA9-9455-19D9793B594C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287" y="6243614"/>
            <a:ext cx="24765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65" y="6243614"/>
            <a:ext cx="1218764" cy="54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Conector reto 8"/>
          <p:cNvCxnSpPr/>
          <p:nvPr userDrawn="1"/>
        </p:nvCxnSpPr>
        <p:spPr>
          <a:xfrm>
            <a:off x="153791" y="6185060"/>
            <a:ext cx="8810697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 userDrawn="1"/>
        </p:nvSpPr>
        <p:spPr>
          <a:xfrm>
            <a:off x="2267744" y="6361572"/>
            <a:ext cx="504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dobe Arabic" pitchFamily="18" charset="-78"/>
                <a:cs typeface="Adobe Arabic" pitchFamily="18" charset="-78"/>
              </a:rPr>
              <a:t>Aula 1 – Gestão da Qualidade de Software</a:t>
            </a:r>
          </a:p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Adobe Arabic" pitchFamily="18" charset="-78"/>
              <a:cs typeface="Adobe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96133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14A8-D46F-4EA9-9455-19D9793B594C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29605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14A8-D46F-4EA9-9455-19D9793B594C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6440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14A8-D46F-4EA9-9455-19D9793B594C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02128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14A8-D46F-4EA9-9455-19D9793B594C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56195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14A8-D46F-4EA9-9455-19D9793B594C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25199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14A8-D46F-4EA9-9455-19D9793B594C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395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14A8-D46F-4EA9-9455-19D9793B594C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14211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14A8-D46F-4EA9-9455-19D9793B594C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662696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14A8-D46F-4EA9-9455-19D9793B594C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1684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14A8-D46F-4EA9-9455-19D9793B594C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1248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890A7-46A6-48DA-9662-D0F072F40A16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A5452-13D2-4F41-AE37-DDFFAD2D8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3522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604150-EBD3-4834-BA37-BA7EE794A3EA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7830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114A8-D46F-4EA9-9455-19D9793B594C}" type="datetimeFigureOut">
              <a:rPr lang="pt-BR" smtClean="0"/>
              <a:t>10/02/2016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631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 smtClean="0"/>
              <a:t>ENGENHARIA DE SOFTWARE </a:t>
            </a:r>
            <a:r>
              <a:rPr lang="pt-BR" b="1" dirty="0" smtClean="0"/>
              <a:t>I</a:t>
            </a:r>
            <a:endParaRPr lang="pt-BR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694928"/>
          </a:xfrm>
        </p:spPr>
        <p:txBody>
          <a:bodyPr>
            <a:normAutofit fontScale="92500"/>
          </a:bodyPr>
          <a:lstStyle/>
          <a:p>
            <a:r>
              <a:rPr lang="pt-BR" dirty="0" smtClean="0"/>
              <a:t>Análise e Desenvolvimento de Sistemas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27" y="176266"/>
            <a:ext cx="2232248" cy="99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 descr="http://4.bp.blogspot.com/-6v69azihsxM/T20v5BecQzI/AAAAAAAAAQQ/vcoCpt3sCYU/s1600/FATEC%2BBOTUCATU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0527" y="52695"/>
            <a:ext cx="2448272" cy="1392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/>
          <p:cNvSpPr txBox="1">
            <a:spLocks/>
          </p:cNvSpPr>
          <p:nvPr/>
        </p:nvSpPr>
        <p:spPr>
          <a:xfrm>
            <a:off x="1267544" y="5013176"/>
            <a:ext cx="6400800" cy="694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i="1" dirty="0" smtClean="0">
                <a:solidFill>
                  <a:schemeClr val="tx1"/>
                </a:solidFill>
              </a:rPr>
              <a:t>Prof. Gustavo Kimura Montanha</a:t>
            </a:r>
            <a:endParaRPr lang="pt-BR" sz="24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80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Área de Conhecimento</a:t>
            </a:r>
            <a:endParaRPr lang="pt-BR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3284984"/>
            <a:ext cx="9045677" cy="2502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752584" y="1456759"/>
            <a:ext cx="779539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800" dirty="0" smtClean="0">
                <a:latin typeface="Adobe Hebrew" pitchFamily="18" charset="-79"/>
                <a:ea typeface="Adobe Fangsong Std R" pitchFamily="18" charset="-128"/>
                <a:cs typeface="Adobe Hebrew" pitchFamily="18" charset="-79"/>
              </a:rPr>
              <a:t>Engenharia de Software </a:t>
            </a:r>
            <a:r>
              <a:rPr lang="pt-BR" sz="2800" dirty="0" smtClean="0">
                <a:latin typeface="Adobe Hebrew" pitchFamily="18" charset="-79"/>
                <a:ea typeface="Adobe Fangsong Std R" pitchFamily="18" charset="-128"/>
                <a:cs typeface="Adobe Hebrew" pitchFamily="18" charset="-79"/>
              </a:rPr>
              <a:t>I (80 </a:t>
            </a:r>
            <a:r>
              <a:rPr lang="pt-BR" sz="2800" dirty="0" smtClean="0">
                <a:latin typeface="Adobe Hebrew" pitchFamily="18" charset="-79"/>
                <a:ea typeface="Adobe Fangsong Std R" pitchFamily="18" charset="-128"/>
                <a:cs typeface="Adobe Hebrew" pitchFamily="18" charset="-79"/>
              </a:rPr>
              <a:t>horas)</a:t>
            </a:r>
          </a:p>
          <a:p>
            <a:pPr algn="just">
              <a:lnSpc>
                <a:spcPct val="150000"/>
              </a:lnSpc>
            </a:pPr>
            <a:r>
              <a:rPr lang="pt-BR" sz="2800" dirty="0" smtClean="0">
                <a:latin typeface="Adobe Hebrew" pitchFamily="18" charset="-79"/>
                <a:ea typeface="Adobe Fangsong Std R" pitchFamily="18" charset="-128"/>
                <a:cs typeface="Adobe Hebrew" pitchFamily="18" charset="-79"/>
              </a:rPr>
              <a:t>Engenharia de Software e Programação (760 horas)</a:t>
            </a:r>
            <a:endParaRPr lang="pt-BR" sz="2800" dirty="0">
              <a:latin typeface="Adobe Hebrew" pitchFamily="18" charset="-79"/>
              <a:ea typeface="Adobe Fangsong Std R" pitchFamily="18" charset="-128"/>
              <a:cs typeface="Adobe Hebrew" pitchFamily="18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70882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Objetivos</a:t>
            </a:r>
            <a:endParaRPr lang="pt-BR" b="1" dirty="0"/>
          </a:p>
        </p:txBody>
      </p:sp>
      <p:sp>
        <p:nvSpPr>
          <p:cNvPr id="3" name="Retângulo 2"/>
          <p:cNvSpPr/>
          <p:nvPr/>
        </p:nvSpPr>
        <p:spPr>
          <a:xfrm>
            <a:off x="752584" y="1456759"/>
            <a:ext cx="7795393" cy="3706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pt-BR" sz="3200" dirty="0"/>
              <a:t>Aplicar os princípios e conceitos da Engenharia de Software na implementação do componente software, como parte dos Sistemas de Informação e iniciar a modelagem de software (requisitos). </a:t>
            </a:r>
            <a:endParaRPr lang="pt-BR" sz="3200" dirty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758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Ementa</a:t>
            </a:r>
            <a:endParaRPr lang="pt-BR" b="1" dirty="0"/>
          </a:p>
        </p:txBody>
      </p:sp>
      <p:sp>
        <p:nvSpPr>
          <p:cNvPr id="3" name="Retângulo 2"/>
          <p:cNvSpPr/>
          <p:nvPr/>
        </p:nvSpPr>
        <p:spPr>
          <a:xfrm>
            <a:off x="467544" y="1494156"/>
            <a:ext cx="7795393" cy="4815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2000" dirty="0"/>
              <a:t>Objetivos, conceitos e evolução da Engenharia de Software. </a:t>
            </a:r>
            <a:endParaRPr lang="pt-BR" sz="2000" dirty="0" smtClean="0"/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2000" dirty="0"/>
              <a:t>Paradigmas de desenvolvimento de software. </a:t>
            </a:r>
            <a:endParaRPr lang="pt-BR" sz="2000" dirty="0" smtClean="0"/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2000" dirty="0"/>
              <a:t>Evolução das metodologias de sistemas e suas principais técnicas. </a:t>
            </a:r>
            <a:endParaRPr lang="pt-BR" sz="2000" dirty="0" smtClean="0"/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2000" dirty="0"/>
              <a:t>Processo de desenvolvimento de software. </a:t>
            </a:r>
            <a:endParaRPr lang="pt-BR" sz="2000" dirty="0" smtClean="0"/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2000" dirty="0"/>
              <a:t>Ciclo de vida. </a:t>
            </a: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2000" dirty="0"/>
              <a:t>Qualidade de software e seus modelos.</a:t>
            </a: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2000" dirty="0"/>
              <a:t>Melhores práticas no desenvolvimento de software.</a:t>
            </a: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2000" dirty="0"/>
              <a:t>Modelos de software. 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endParaRPr lang="pt-BR" sz="2000" dirty="0" smtClean="0"/>
          </a:p>
        </p:txBody>
      </p:sp>
    </p:spTree>
    <p:extLst>
      <p:ext uri="{BB962C8B-B14F-4D97-AF65-F5344CB8AC3E}">
        <p14:creationId xmlns:p14="http://schemas.microsoft.com/office/powerpoint/2010/main" val="3056485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Bibliografia</a:t>
            </a:r>
            <a:endParaRPr lang="pt-BR" b="1" dirty="0"/>
          </a:p>
        </p:txBody>
      </p:sp>
      <p:sp>
        <p:nvSpPr>
          <p:cNvPr id="3" name="Retângulo 2"/>
          <p:cNvSpPr/>
          <p:nvPr/>
        </p:nvSpPr>
        <p:spPr>
          <a:xfrm>
            <a:off x="1356259" y="1700808"/>
            <a:ext cx="23172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1600" dirty="0"/>
              <a:t>PRESSMAN, R. S. Engenharia de software. 6.ed. McGraw-Hill, 2006. </a:t>
            </a:r>
            <a:endParaRPr lang="pt-BR" sz="1600" dirty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5292080" y="1700064"/>
            <a:ext cx="28083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a-DK" sz="1600" dirty="0"/>
              <a:t>SOMMERVILLE, I. Engenharia de software. 8.ed. Addison Wesley, 2007. </a:t>
            </a:r>
            <a:endParaRPr lang="pt-BR" sz="1600" dirty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2058" name="Picture 10" descr="http://www.pearsonhighered.com/sommerville_br/images/en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2708920"/>
            <a:ext cx="2101210" cy="2855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www.casasbahia-imagens.com.br/Control/ArquivoExibir.aspx?IdArquivo=551487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708920"/>
            <a:ext cx="2855174" cy="2855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306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Critérios de Avaliação</a:t>
            </a:r>
            <a:endParaRPr lang="pt-BR" b="1" dirty="0"/>
          </a:p>
        </p:txBody>
      </p:sp>
      <p:sp>
        <p:nvSpPr>
          <p:cNvPr id="3" name="Retângulo 2"/>
          <p:cNvSpPr/>
          <p:nvPr/>
        </p:nvSpPr>
        <p:spPr>
          <a:xfrm>
            <a:off x="539553" y="1681276"/>
            <a:ext cx="828092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000" b="1" dirty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Média Final </a:t>
            </a:r>
            <a:r>
              <a:rPr lang="pt-BR" sz="3000" dirty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= (P1 + P2)/2 &gt;=</a:t>
            </a:r>
            <a:r>
              <a:rPr lang="pt-BR" sz="3000" b="1" dirty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 </a:t>
            </a:r>
            <a:r>
              <a:rPr lang="pt-BR" sz="30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6,0 e Faltas         &lt;= 25% (20 faltas)</a:t>
            </a:r>
            <a:endParaRPr lang="pt-BR" sz="3000" dirty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000" b="1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P3 </a:t>
            </a:r>
            <a:r>
              <a:rPr lang="pt-BR" sz="3000" dirty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– </a:t>
            </a:r>
            <a:r>
              <a:rPr lang="pt-BR" sz="30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Substitui toda a matéria do semestre.</a:t>
            </a: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000" b="1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Atividades complementares </a:t>
            </a:r>
            <a:r>
              <a:rPr lang="pt-BR" sz="3000" dirty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durante o semestre poderão valer pontos nas provas P1 e P2.</a:t>
            </a:r>
          </a:p>
          <a:p>
            <a:pPr algn="just">
              <a:lnSpc>
                <a:spcPct val="150000"/>
              </a:lnSpc>
            </a:pPr>
            <a:endParaRPr lang="pt-BR" sz="3000" dirty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BR" sz="30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.</a:t>
            </a:r>
            <a:endParaRPr lang="pt-BR" sz="3000" dirty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621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Metodologia</a:t>
            </a:r>
            <a:endParaRPr lang="pt-BR" b="1" dirty="0"/>
          </a:p>
        </p:txBody>
      </p:sp>
      <p:sp>
        <p:nvSpPr>
          <p:cNvPr id="3" name="Retângulo 2"/>
          <p:cNvSpPr/>
          <p:nvPr/>
        </p:nvSpPr>
        <p:spPr>
          <a:xfrm>
            <a:off x="539553" y="1484784"/>
            <a:ext cx="828092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000" b="1" dirty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Aulas expositivas </a:t>
            </a:r>
            <a:r>
              <a:rPr lang="pt-BR" sz="3000" dirty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utilizando o projetor multimídia e o quadro negro</a:t>
            </a:r>
            <a:r>
              <a:rPr lang="pt-BR" sz="30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000" b="1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Aulas práticas </a:t>
            </a:r>
            <a:r>
              <a:rPr lang="pt-BR" sz="30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utilizando o Laboratório de Informática.</a:t>
            </a:r>
            <a:endParaRPr lang="pt-BR" sz="3000" dirty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000" b="1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Atividades </a:t>
            </a:r>
            <a:r>
              <a:rPr lang="pt-BR" sz="3000" b="1" dirty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complementares </a:t>
            </a:r>
            <a:r>
              <a:rPr lang="pt-BR" sz="3000" dirty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(análise de artigos, resolução de exercícios, </a:t>
            </a:r>
            <a:r>
              <a:rPr lang="pt-BR" sz="30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estudos de caso...)</a:t>
            </a:r>
            <a:endParaRPr lang="pt-BR" sz="3000" dirty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endParaRPr lang="pt-BR" sz="3000" dirty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pt-BR" sz="30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.</a:t>
            </a:r>
            <a:endParaRPr lang="pt-BR" sz="3000" dirty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57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Material</a:t>
            </a:r>
            <a:endParaRPr lang="pt-BR" b="1" dirty="0"/>
          </a:p>
        </p:txBody>
      </p:sp>
      <p:sp>
        <p:nvSpPr>
          <p:cNvPr id="3" name="Retângulo 2"/>
          <p:cNvSpPr/>
          <p:nvPr/>
        </p:nvSpPr>
        <p:spPr>
          <a:xfrm>
            <a:off x="539553" y="1484784"/>
            <a:ext cx="8280920" cy="601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000" dirty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As aulas serão disponibilizadas no diretório de conteúdo didático da faculdade, referente à disciplina</a:t>
            </a:r>
            <a:r>
              <a:rPr lang="pt-BR" sz="30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pt-BR" sz="3000" dirty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pt-BR" sz="30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e-mail– </a:t>
            </a:r>
            <a:r>
              <a:rPr lang="pt-BR" sz="3000" u="sng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gmontanha@fatecbt.edu.br</a:t>
            </a: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pt-BR" sz="3000" dirty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OBRIGADO!</a:t>
            </a: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3000" dirty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0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.</a:t>
            </a:r>
            <a:endParaRPr lang="pt-BR" sz="3000" dirty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803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265</Words>
  <Application>Microsoft Office PowerPoint</Application>
  <PresentationFormat>Apresentação na tela (4:3)</PresentationFormat>
  <Paragraphs>46</Paragraphs>
  <Slides>8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8</vt:i4>
      </vt:variant>
    </vt:vector>
  </HeadingPairs>
  <TitlesOfParts>
    <vt:vector size="18" baseType="lpstr">
      <vt:lpstr>Adobe Arabic</vt:lpstr>
      <vt:lpstr>Adobe Fangsong Std R</vt:lpstr>
      <vt:lpstr>Adobe Hebrew</vt:lpstr>
      <vt:lpstr>Arial</vt:lpstr>
      <vt:lpstr>Calibri</vt:lpstr>
      <vt:lpstr>Times New Roman</vt:lpstr>
      <vt:lpstr>Wingdings</vt:lpstr>
      <vt:lpstr>Tema do Office</vt:lpstr>
      <vt:lpstr>1_Personalizar design</vt:lpstr>
      <vt:lpstr>Personalizar design</vt:lpstr>
      <vt:lpstr>ENGENHARIA DE SOFTWARE I</vt:lpstr>
      <vt:lpstr>Área de Conhecimento</vt:lpstr>
      <vt:lpstr>Objetivos</vt:lpstr>
      <vt:lpstr>Ementa</vt:lpstr>
      <vt:lpstr>Bibliografia</vt:lpstr>
      <vt:lpstr>Critérios de Avaliação</vt:lpstr>
      <vt:lpstr>Metodologia</vt:lpstr>
      <vt:lpstr>Material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Gustavo</dc:creator>
  <cp:lastModifiedBy>Gu Montanha</cp:lastModifiedBy>
  <cp:revision>23</cp:revision>
  <dcterms:created xsi:type="dcterms:W3CDTF">2013-10-21T12:10:37Z</dcterms:created>
  <dcterms:modified xsi:type="dcterms:W3CDTF">2016-02-10T17:12:15Z</dcterms:modified>
</cp:coreProperties>
</file>