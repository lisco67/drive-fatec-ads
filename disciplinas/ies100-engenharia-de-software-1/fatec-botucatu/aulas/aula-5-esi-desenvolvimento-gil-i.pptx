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46"/>
  </p:notesMasterIdLst>
  <p:sldIdLst>
    <p:sldId id="256" r:id="rId4"/>
    <p:sldId id="415" r:id="rId5"/>
    <p:sldId id="414" r:id="rId6"/>
    <p:sldId id="375" r:id="rId7"/>
    <p:sldId id="386" r:id="rId8"/>
    <p:sldId id="371" r:id="rId9"/>
    <p:sldId id="331" r:id="rId10"/>
    <p:sldId id="376" r:id="rId11"/>
    <p:sldId id="383" r:id="rId12"/>
    <p:sldId id="372" r:id="rId13"/>
    <p:sldId id="373" r:id="rId14"/>
    <p:sldId id="377" r:id="rId15"/>
    <p:sldId id="378" r:id="rId16"/>
    <p:sldId id="379" r:id="rId17"/>
    <p:sldId id="380" r:id="rId18"/>
    <p:sldId id="381" r:id="rId19"/>
    <p:sldId id="382" r:id="rId20"/>
    <p:sldId id="384" r:id="rId21"/>
    <p:sldId id="385" r:id="rId22"/>
    <p:sldId id="387" r:id="rId23"/>
    <p:sldId id="388" r:id="rId24"/>
    <p:sldId id="389" r:id="rId25"/>
    <p:sldId id="391" r:id="rId26"/>
    <p:sldId id="392" r:id="rId27"/>
    <p:sldId id="393" r:id="rId28"/>
    <p:sldId id="407" r:id="rId29"/>
    <p:sldId id="408" r:id="rId30"/>
    <p:sldId id="409" r:id="rId31"/>
    <p:sldId id="410" r:id="rId32"/>
    <p:sldId id="412" r:id="rId33"/>
    <p:sldId id="411" r:id="rId34"/>
    <p:sldId id="394" r:id="rId35"/>
    <p:sldId id="395" r:id="rId36"/>
    <p:sldId id="396" r:id="rId37"/>
    <p:sldId id="397" r:id="rId38"/>
    <p:sldId id="398" r:id="rId39"/>
    <p:sldId id="399" r:id="rId40"/>
    <p:sldId id="400" r:id="rId41"/>
    <p:sldId id="401" r:id="rId42"/>
    <p:sldId id="402" r:id="rId43"/>
    <p:sldId id="403" r:id="rId44"/>
    <p:sldId id="413" r:id="rId4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6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3F550-1273-4907-B334-19400C915557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33A5A-BF61-4BE4-BE5C-A78B7F70C6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8848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48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291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6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140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510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729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912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011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653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3304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5835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610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04355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963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65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9049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401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0037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50572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83820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10455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7013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599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82258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6743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3648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6061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8431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8272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6308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6663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6757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1586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98018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9360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3860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0465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9493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6336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F33A5A-BF61-4BE4-BE5C-A78B7F70C635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381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6327" y="176266"/>
            <a:ext cx="2232248" cy="99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3064" y="5438172"/>
            <a:ext cx="9157989" cy="142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 descr="http://4.bp.blogspot.com/-6v69azihsxM/T20v5BecQzI/AAAAAAAAAQQ/vcoCpt3sCYU/s1600/FATEC%2BBOTUCATU.jp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70527" y="52695"/>
            <a:ext cx="2448272" cy="139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7435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01287" y="6243614"/>
            <a:ext cx="24765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665" y="6243614"/>
            <a:ext cx="1218764" cy="54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Conector reto 8"/>
          <p:cNvCxnSpPr/>
          <p:nvPr userDrawn="1"/>
        </p:nvCxnSpPr>
        <p:spPr>
          <a:xfrm>
            <a:off x="153791" y="6185060"/>
            <a:ext cx="8810697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 userDrawn="1"/>
        </p:nvSpPr>
        <p:spPr>
          <a:xfrm>
            <a:off x="3059832" y="6400765"/>
            <a:ext cx="2152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Aula 5 </a:t>
            </a:r>
            <a:r>
              <a:rPr lang="pt-B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Desenvolvimento </a:t>
            </a:r>
            <a:r>
              <a:rPr lang="pt-B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Ágil I</a:t>
            </a:r>
            <a:endParaRPr lang="pt-B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297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236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65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84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51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78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7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46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120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347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115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0752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205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6347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591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956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242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1279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3701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60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1051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01287" y="6243614"/>
            <a:ext cx="24765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665" y="6243614"/>
            <a:ext cx="1218764" cy="54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Conector reto 8"/>
          <p:cNvCxnSpPr/>
          <p:nvPr userDrawn="1"/>
        </p:nvCxnSpPr>
        <p:spPr>
          <a:xfrm>
            <a:off x="153791" y="6185060"/>
            <a:ext cx="8810697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 userDrawn="1"/>
        </p:nvSpPr>
        <p:spPr>
          <a:xfrm>
            <a:off x="2267744" y="6361572"/>
            <a:ext cx="50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dobe Arabic" pitchFamily="18" charset="-78"/>
                <a:cs typeface="Adobe Arabic" pitchFamily="18" charset="-78"/>
              </a:rPr>
              <a:t>Aula 1 – Gestão da Qualidade de Software</a:t>
            </a: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Adobe Arabic" pitchFamily="18" charset="-78"/>
              <a:cs typeface="Adobe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96133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960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440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2128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56195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5199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95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4211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6269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1684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248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890A7-46A6-48DA-9662-D0F072F40A16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A5452-13D2-4F41-AE37-DDFFAD2D8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52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04150-EBD3-4834-BA37-BA7EE794A3EA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33746-935C-475A-B36C-F79B991F6D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83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114A8-D46F-4EA9-9455-19D9793B594C}" type="datetimeFigureOut">
              <a:rPr lang="pt-BR" smtClean="0"/>
              <a:t>02/05/2016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6B38A-4E1B-413D-A4EA-B1FE80DB3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3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Aula </a:t>
            </a:r>
            <a:r>
              <a:rPr lang="pt-BR" b="1" dirty="0">
                <a:solidFill>
                  <a:srgbClr val="C00000"/>
                </a:solidFill>
              </a:rPr>
              <a:t>5</a:t>
            </a:r>
            <a:r>
              <a:rPr lang="pt-BR" b="1" dirty="0" smtClean="0">
                <a:solidFill>
                  <a:srgbClr val="C00000"/>
                </a:solidFill>
              </a:rPr>
              <a:t> – Desenvolvimento Ágil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694928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Análise e Desenvolvimento de Sistemas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6327" y="176266"/>
            <a:ext cx="2232248" cy="99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http://4.bp.blogspot.com/-6v69azihsxM/T20v5BecQzI/AAAAAAAAAQQ/vcoCpt3sCYU/s1600/FATEC%2BBOTUCATU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70527" y="52695"/>
            <a:ext cx="2448272" cy="139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/>
          <p:cNvSpPr txBox="1">
            <a:spLocks/>
          </p:cNvSpPr>
          <p:nvPr/>
        </p:nvSpPr>
        <p:spPr>
          <a:xfrm>
            <a:off x="1267544" y="5013176"/>
            <a:ext cx="6400800" cy="694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i="1" dirty="0" smtClean="0">
                <a:solidFill>
                  <a:schemeClr val="tx1"/>
                </a:solidFill>
              </a:rPr>
              <a:t>Prof. Gustavo Kimura Montanha</a:t>
            </a:r>
            <a:endParaRPr lang="pt-BR" sz="24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80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Principais Tópicos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90364" y="1268760"/>
            <a:ext cx="8363272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pt-BR" sz="2800" b="1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Desenvolvimento Ágil</a:t>
            </a:r>
            <a:endParaRPr lang="pt-BR" sz="2800" b="1" dirty="0" smtClean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1.1 </a:t>
            </a:r>
            <a:r>
              <a:rPr lang="pt-BR" sz="2400" dirty="0" err="1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Agile</a:t>
            </a: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 Alliance</a:t>
            </a:r>
          </a:p>
          <a:p>
            <a:pPr lvl="1" algn="just">
              <a:lnSpc>
                <a:spcPct val="150000"/>
              </a:lnSpc>
            </a:pP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1.2 Principais valores e cenário</a:t>
            </a:r>
          </a:p>
          <a:p>
            <a:pPr lvl="1" algn="just">
              <a:lnSpc>
                <a:spcPct val="150000"/>
              </a:lnSpc>
            </a:pP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1.3 Panorama do </a:t>
            </a:r>
            <a:r>
              <a:rPr lang="pt-BR" sz="24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Desenvolvimento Ágil</a:t>
            </a:r>
          </a:p>
          <a:p>
            <a:pPr lvl="1" algn="just">
              <a:lnSpc>
                <a:spcPct val="150000"/>
              </a:lnSpc>
            </a:pP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1.4 Agilidade e Custos</a:t>
            </a:r>
          </a:p>
          <a:p>
            <a:pPr lvl="1" algn="just">
              <a:lnSpc>
                <a:spcPct val="150000"/>
              </a:lnSpc>
            </a:pP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1.5 Princípios da Agilidade</a:t>
            </a:r>
          </a:p>
          <a:p>
            <a:pPr lvl="1" algn="just">
              <a:lnSpc>
                <a:spcPct val="150000"/>
              </a:lnSpc>
            </a:pP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1.6 Fatores Humanos</a:t>
            </a:r>
            <a:endParaRPr lang="pt-BR" sz="2400" dirty="0" smtClean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7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Principais Tópicos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90364" y="1268760"/>
            <a:ext cx="8363272" cy="10248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2"/>
            </a:pPr>
            <a:r>
              <a:rPr lang="pt-BR" sz="2800" b="1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XP - Extreme </a:t>
            </a:r>
            <a:r>
              <a:rPr lang="pt-BR" sz="2800" b="1" dirty="0" err="1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Programming</a:t>
            </a:r>
            <a:r>
              <a:rPr lang="pt-BR" sz="2800" b="1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 </a:t>
            </a:r>
            <a:endParaRPr lang="pt-BR" sz="2800" b="1" dirty="0" smtClean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2.1 </a:t>
            </a: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Valores da XP</a:t>
            </a:r>
            <a:endParaRPr lang="pt-BR" sz="24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2.2 </a:t>
            </a: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Processo da XP</a:t>
            </a:r>
            <a:endParaRPr lang="pt-BR" sz="2400" dirty="0" smtClean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2.3 </a:t>
            </a:r>
            <a:r>
              <a:rPr lang="pt-BR" sz="2400" dirty="0" err="1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Pair</a:t>
            </a: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 </a:t>
            </a:r>
            <a:r>
              <a:rPr lang="pt-BR" sz="2400" dirty="0" err="1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Programming</a:t>
            </a: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 (artigo)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2"/>
            </a:pPr>
            <a:r>
              <a:rPr lang="pt-BR" sz="2800" b="1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IXP – Industrial Extreme </a:t>
            </a:r>
            <a:r>
              <a:rPr lang="pt-BR" sz="2800" b="1" dirty="0" err="1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Programming</a:t>
            </a:r>
            <a:r>
              <a:rPr lang="pt-BR" sz="2800" b="1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3.1 Introdução IXP</a:t>
            </a:r>
          </a:p>
          <a:p>
            <a:pPr lvl="1" algn="just">
              <a:lnSpc>
                <a:spcPct val="150000"/>
              </a:lnSpc>
            </a:pP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3.2 </a:t>
            </a:r>
            <a:r>
              <a:rPr lang="pt-BR" sz="2400" dirty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Valores da IXP</a:t>
            </a:r>
          </a:p>
          <a:p>
            <a:pPr lvl="1" algn="just">
              <a:lnSpc>
                <a:spcPct val="150000"/>
              </a:lnSpc>
            </a:pPr>
            <a:r>
              <a:rPr lang="pt-BR" sz="2400" dirty="0" smtClean="0">
                <a:latin typeface="Times New Roman" panose="02020603050405020304" pitchFamily="18" charset="0"/>
                <a:ea typeface="Adobe Fangsong Std R" pitchFamily="18" charset="-128"/>
                <a:cs typeface="Times New Roman" panose="02020603050405020304" pitchFamily="18" charset="0"/>
              </a:rPr>
              <a:t>3.3 Debate IXP</a:t>
            </a:r>
            <a:endParaRPr lang="pt-BR" sz="24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pt-BR" sz="2400" dirty="0" smtClean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pt-BR" sz="2400" dirty="0" smtClean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pt-BR" sz="24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2"/>
            </a:pPr>
            <a:endParaRPr lang="pt-BR" sz="28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2"/>
            </a:pPr>
            <a:endParaRPr lang="pt-BR" sz="2800" dirty="0" smtClean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pt-BR" sz="2800" dirty="0" smtClean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pt-BR" sz="2800" dirty="0" smtClean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pt-BR" sz="2800" dirty="0" smtClean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pt-BR" sz="2800" dirty="0">
              <a:latin typeface="Times New Roman" panose="02020603050405020304" pitchFamily="18" charset="0"/>
              <a:ea typeface="Adobe Fangsong Std R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06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photos.prnewswire.com/prn/20131119/DC20276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61380"/>
            <a:ext cx="2472209" cy="156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Desenvolvimento Ágil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18234" y="1556792"/>
            <a:ext cx="7869560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buFont typeface="Wingdings 3" panose="05040102010807070707" pitchFamily="18" charset="2"/>
              <a:buChar char=""/>
            </a:pPr>
            <a:r>
              <a:rPr lang="pt-BR" b="1" dirty="0" smtClean="0"/>
              <a:t>2001 – </a:t>
            </a:r>
            <a:r>
              <a:rPr lang="pt-BR" dirty="0" smtClean="0"/>
              <a:t>Kent Beck e outros 16 renomados especialistas da área – </a:t>
            </a:r>
            <a:r>
              <a:rPr lang="pt-BR" i="1" dirty="0" err="1" smtClean="0"/>
              <a:t>Agile</a:t>
            </a:r>
            <a:r>
              <a:rPr lang="pt-BR" i="1" dirty="0" smtClean="0"/>
              <a:t> Alliance</a:t>
            </a:r>
          </a:p>
          <a:p>
            <a:pPr>
              <a:buFont typeface="Wingdings 3" panose="05040102010807070707" pitchFamily="18" charset="2"/>
              <a:buChar char=""/>
            </a:pPr>
            <a:r>
              <a:rPr lang="pt-BR" dirty="0" smtClean="0"/>
              <a:t>Assinam o “</a:t>
            </a:r>
            <a:r>
              <a:rPr lang="pt-BR" u="sng" dirty="0" smtClean="0"/>
              <a:t>Manifesto para o Desenvolvimento Ágil de Software</a:t>
            </a:r>
            <a:r>
              <a:rPr lang="pt-BR" dirty="0" smtClean="0"/>
              <a:t>”.</a:t>
            </a:r>
          </a:p>
          <a:p>
            <a:pPr>
              <a:buFont typeface="Wingdings 3" panose="05040102010807070707" pitchFamily="18" charset="2"/>
              <a:buChar char=""/>
            </a:pPr>
            <a:r>
              <a:rPr lang="pt-BR" i="1" dirty="0" smtClean="0"/>
              <a:t>“Desenvolvendo e ajudando os outros a desenvolver, estamos desvendando formas melhores de desenvolvimento”.</a:t>
            </a:r>
          </a:p>
          <a:p>
            <a:pPr>
              <a:buFont typeface="Wingdings 3" panose="05040102010807070707" pitchFamily="18" charset="2"/>
              <a:buChar char=""/>
            </a:pPr>
            <a:endParaRPr lang="pt-BR" i="1" dirty="0" smtClean="0"/>
          </a:p>
          <a:p>
            <a:pPr marL="0" indent="0">
              <a:buNone/>
            </a:pPr>
            <a:endParaRPr lang="pt-BR" dirty="0"/>
          </a:p>
          <a:p>
            <a:pPr>
              <a:buFont typeface="Wingdings 3" panose="05040102010807070707" pitchFamily="18" charset="2"/>
              <a:buChar char="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412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323528" y="-27384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Desenvolvimento Ágil</a:t>
            </a:r>
            <a:endParaRPr lang="pt-BR" sz="3600" b="1" dirty="0">
              <a:solidFill>
                <a:srgbClr val="C00000"/>
              </a:solidFill>
            </a:endParaRPr>
          </a:p>
        </p:txBody>
      </p:sp>
      <p:pic>
        <p:nvPicPr>
          <p:cNvPr id="3080" name="Picture 8" descr="http://forintus.com/wp-content/uploads/2013/09/agile-manifesto-screensho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944" y="883903"/>
            <a:ext cx="7334472" cy="526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10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O manifesto valoriza: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08981" y="1364432"/>
            <a:ext cx="7995467" cy="4983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spcAft>
                <a:spcPts val="1800"/>
              </a:spcAft>
            </a:pPr>
            <a:r>
              <a:rPr lang="pt-BR" dirty="0" smtClean="0">
                <a:solidFill>
                  <a:schemeClr val="accent1"/>
                </a:solidFill>
              </a:rPr>
              <a:t>Indivíduos e interações</a:t>
            </a:r>
            <a:r>
              <a:rPr lang="pt-BR" dirty="0" smtClean="0"/>
              <a:t> acima de processos e ferramentas.</a:t>
            </a:r>
          </a:p>
          <a:p>
            <a:pPr>
              <a:spcAft>
                <a:spcPts val="1800"/>
              </a:spcAft>
            </a:pPr>
            <a:r>
              <a:rPr lang="pt-BR" dirty="0" smtClean="0">
                <a:solidFill>
                  <a:schemeClr val="accent1"/>
                </a:solidFill>
              </a:rPr>
              <a:t>Software operacional </a:t>
            </a:r>
            <a:r>
              <a:rPr lang="pt-BR" dirty="0" smtClean="0"/>
              <a:t>acima de documentação completa.</a:t>
            </a:r>
          </a:p>
          <a:p>
            <a:pPr>
              <a:spcAft>
                <a:spcPts val="1800"/>
              </a:spcAft>
            </a:pPr>
            <a:r>
              <a:rPr lang="pt-BR" dirty="0" smtClean="0">
                <a:solidFill>
                  <a:schemeClr val="accent1"/>
                </a:solidFill>
              </a:rPr>
              <a:t>Colaboração dos clientes </a:t>
            </a:r>
            <a:r>
              <a:rPr lang="pt-BR" dirty="0" smtClean="0"/>
              <a:t>acima de negociação contratual</a:t>
            </a:r>
          </a:p>
          <a:p>
            <a:pPr>
              <a:spcAft>
                <a:spcPts val="1800"/>
              </a:spcAft>
            </a:pPr>
            <a:r>
              <a:rPr lang="pt-BR" dirty="0" smtClean="0">
                <a:solidFill>
                  <a:schemeClr val="accent1"/>
                </a:solidFill>
              </a:rPr>
              <a:t>Respostas e mudanças </a:t>
            </a:r>
            <a:r>
              <a:rPr lang="pt-BR" dirty="0" smtClean="0"/>
              <a:t>acima de seguir um plano.</a:t>
            </a:r>
            <a:endParaRPr lang="pt-BR" dirty="0"/>
          </a:p>
          <a:p>
            <a:pPr>
              <a:spcAft>
                <a:spcPts val="1800"/>
              </a:spcAft>
              <a:buFont typeface="Wingdings 3" panose="05040102010807070707" pitchFamily="18" charset="2"/>
              <a:buChar char="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829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Desenvolvimento Ágil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18234" y="1340768"/>
            <a:ext cx="786956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buFont typeface="Wingdings 3" panose="05040102010807070707" pitchFamily="18" charset="2"/>
              <a:buChar char=""/>
            </a:pPr>
            <a:r>
              <a:rPr lang="pt-BR" b="1" dirty="0" smtClean="0"/>
              <a:t>Economia moderna – </a:t>
            </a:r>
            <a:r>
              <a:rPr lang="pt-BR" dirty="0" smtClean="0"/>
              <a:t>impossível prever como um sistema computacional evoluirá no tempo.</a:t>
            </a:r>
          </a:p>
          <a:p>
            <a:pPr>
              <a:buFont typeface="Wingdings 3" panose="05040102010807070707" pitchFamily="18" charset="2"/>
              <a:buChar char=""/>
            </a:pPr>
            <a:r>
              <a:rPr lang="pt-BR" b="1" dirty="0" smtClean="0"/>
              <a:t>Agilidade</a:t>
            </a:r>
            <a:r>
              <a:rPr lang="pt-BR" dirty="0" smtClean="0"/>
              <a:t> – dar respostas ao ambiente de negócios.</a:t>
            </a:r>
          </a:p>
          <a:p>
            <a:pPr>
              <a:buFont typeface="Wingdings 3" panose="05040102010807070707" pitchFamily="18" charset="2"/>
              <a:buChar char=""/>
            </a:pPr>
            <a:r>
              <a:rPr lang="pt-BR" b="1" dirty="0" smtClean="0"/>
              <a:t>Abordagem ágil </a:t>
            </a:r>
            <a:r>
              <a:rPr lang="pt-BR" dirty="0" smtClean="0"/>
              <a:t>– habilidade em reduzir custos decorrentes das mudanças ao longo de todo o processo de software.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 3" panose="05040102010807070707" pitchFamily="18" charset="2"/>
              <a:buChar char=""/>
            </a:pPr>
            <a:endParaRPr lang="pt-BR" dirty="0"/>
          </a:p>
        </p:txBody>
      </p:sp>
      <p:sp>
        <p:nvSpPr>
          <p:cNvPr id="3" name="Retângulo de cantos arredondados 2"/>
          <p:cNvSpPr/>
          <p:nvPr/>
        </p:nvSpPr>
        <p:spPr>
          <a:xfrm>
            <a:off x="200720" y="5301208"/>
            <a:ext cx="8712968" cy="576064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latin typeface="Calibri Light" panose="020F0302020204030204" pitchFamily="34" charset="0"/>
              </a:rPr>
              <a:t>E os princípios, métodos e ferramentas da Engenharia de Software?</a:t>
            </a:r>
          </a:p>
        </p:txBody>
      </p:sp>
    </p:spTree>
    <p:extLst>
      <p:ext uri="{BB962C8B-B14F-4D97-AF65-F5344CB8AC3E}">
        <p14:creationId xmlns:p14="http://schemas.microsoft.com/office/powerpoint/2010/main" val="188387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Desenvolvimento Ágil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18233" y="1331640"/>
            <a:ext cx="78695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buNone/>
            </a:pPr>
            <a:r>
              <a:rPr lang="pt-BR" dirty="0" smtClean="0"/>
              <a:t>Segundo Cockburn (2002): </a:t>
            </a:r>
            <a:r>
              <a:rPr lang="pt-BR" dirty="0" smtClean="0">
                <a:latin typeface="Calibri Light" panose="020F0302020204030204" pitchFamily="34" charset="0"/>
              </a:rPr>
              <a:t>o modelo de processo prescritivo tem uma falha essencial: esquece das fragilidades das pessoas que desenvolvem o software. Essas pessoas não são robôs, apresentam variação nos níveis de habilidade, criatividade, organização, consistência e espontaneidade.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 3" panose="05040102010807070707" pitchFamily="18" charset="2"/>
              <a:buChar char=""/>
            </a:pPr>
            <a:endParaRPr lang="pt-BR" dirty="0"/>
          </a:p>
        </p:txBody>
      </p:sp>
      <p:sp>
        <p:nvSpPr>
          <p:cNvPr id="5" name="Arredondar Retângulo em um Canto Único 4"/>
          <p:cNvSpPr/>
          <p:nvPr/>
        </p:nvSpPr>
        <p:spPr>
          <a:xfrm>
            <a:off x="1235596" y="4797152"/>
            <a:ext cx="2808312" cy="914400"/>
          </a:xfrm>
          <a:prstGeom prst="round1Rect">
            <a:avLst>
              <a:gd name="adj" fmla="val 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DISCIPLINA</a:t>
            </a:r>
            <a:endParaRPr lang="pt-BR" sz="2800" b="1" dirty="0"/>
          </a:p>
        </p:txBody>
      </p:sp>
      <p:sp>
        <p:nvSpPr>
          <p:cNvPr id="6" name="Multiplicar 5"/>
          <p:cNvSpPr/>
          <p:nvPr/>
        </p:nvSpPr>
        <p:spPr>
          <a:xfrm>
            <a:off x="4187924" y="4797152"/>
            <a:ext cx="914400" cy="914400"/>
          </a:xfrm>
          <a:prstGeom prst="mathMultiply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b="1"/>
          </a:p>
        </p:txBody>
      </p:sp>
      <p:sp>
        <p:nvSpPr>
          <p:cNvPr id="7" name="Arredondar Retângulo em um Canto Único 6"/>
          <p:cNvSpPr/>
          <p:nvPr/>
        </p:nvSpPr>
        <p:spPr>
          <a:xfrm>
            <a:off x="5246340" y="4797152"/>
            <a:ext cx="2782044" cy="914400"/>
          </a:xfrm>
          <a:prstGeom prst="round1Rect">
            <a:avLst>
              <a:gd name="adj" fmla="val 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TOLERÂNCIA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31531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Desenvolvimento Ágil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18233" y="1412776"/>
            <a:ext cx="786956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pt-BR" sz="3200" i="1" dirty="0" smtClean="0"/>
              <a:t>Não cometa o erro de assumir que a agilidade lhe dará licença para abreviar soluções.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3200" i="1" dirty="0" smtClean="0"/>
              <a:t>Processo é um requisito e disciplina é essencial.</a:t>
            </a:r>
            <a:endParaRPr lang="pt-BR" sz="3200" i="1" dirty="0" smtClean="0">
              <a:latin typeface="Calibri Light" panose="020F03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pt-BR" dirty="0"/>
          </a:p>
          <a:p>
            <a:pPr>
              <a:lnSpc>
                <a:spcPct val="150000"/>
              </a:lnSpc>
              <a:buFont typeface="Wingdings 3" panose="05040102010807070707" pitchFamily="18" charset="2"/>
              <a:buChar char="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635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-27384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Panorama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18233" y="980728"/>
            <a:ext cx="8066855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buNone/>
            </a:pPr>
            <a:r>
              <a:rPr lang="pt-BR" b="1" dirty="0" smtClean="0"/>
              <a:t>Desenvolvimento Ágil:</a:t>
            </a:r>
            <a:r>
              <a:rPr lang="pt-BR" dirty="0" smtClean="0"/>
              <a:t> combina </a:t>
            </a:r>
            <a:r>
              <a:rPr lang="pt-BR" u="sng" dirty="0" smtClean="0"/>
              <a:t>filosofia</a:t>
            </a:r>
            <a:r>
              <a:rPr lang="pt-BR" dirty="0" smtClean="0"/>
              <a:t> com um conjunto de </a:t>
            </a:r>
            <a:r>
              <a:rPr lang="pt-BR" u="sng" dirty="0" smtClean="0"/>
              <a:t>princípios</a:t>
            </a:r>
            <a:r>
              <a:rPr lang="pt-BR" dirty="0" smtClean="0"/>
              <a:t> de desenvolvimento. </a:t>
            </a:r>
          </a:p>
          <a:p>
            <a:pPr marL="0" indent="0" algn="just">
              <a:buNone/>
            </a:pPr>
            <a:r>
              <a:rPr lang="pt-BR" b="1" dirty="0" smtClean="0"/>
              <a:t>Filosofia</a:t>
            </a:r>
            <a:r>
              <a:rPr lang="pt-BR" dirty="0" smtClean="0"/>
              <a:t> - </a:t>
            </a:r>
            <a:r>
              <a:rPr lang="pt-BR" sz="2400" dirty="0" smtClean="0"/>
              <a:t>defende a satisfação do cliente e a entrega de incremental prévio; equipes pequenas de projetos e altamente motivadas; métodos informais; artefato mínimo de engenharia de software; </a:t>
            </a:r>
            <a:r>
              <a:rPr lang="pt-BR" sz="2400" u="sng" dirty="0" smtClean="0"/>
              <a:t>simplicidade</a:t>
            </a:r>
            <a:r>
              <a:rPr lang="pt-BR" sz="2400" dirty="0" smtClean="0"/>
              <a:t> no desenvolvimento geral. </a:t>
            </a:r>
          </a:p>
          <a:p>
            <a:pPr marL="0" indent="0">
              <a:buNone/>
            </a:pPr>
            <a:r>
              <a:rPr lang="pt-BR" dirty="0" smtClean="0"/>
              <a:t>Priorizam mais a entrega que a análise e projeto, priorizam a comunicação ativa e contínua entre desenvolvedores e clientes.</a:t>
            </a:r>
            <a:endParaRPr lang="pt-BR" dirty="0"/>
          </a:p>
          <a:p>
            <a:pPr>
              <a:buFont typeface="Wingdings 3" panose="05040102010807070707" pitchFamily="18" charset="2"/>
              <a:buChar char="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448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-27384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Panorama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18233" y="908720"/>
            <a:ext cx="8058223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buNone/>
            </a:pPr>
            <a:r>
              <a:rPr lang="pt-BR" b="1" dirty="0" smtClean="0"/>
              <a:t>Quem realiza: </a:t>
            </a:r>
            <a:r>
              <a:rPr lang="pt-BR" dirty="0" smtClean="0"/>
              <a:t>engenheiros de software e outros envolvidos no projeto trabalham conjuntamente em uma equipe ágil (auto-organização e controle).</a:t>
            </a:r>
          </a:p>
          <a:p>
            <a:pPr marL="0" indent="0">
              <a:buNone/>
            </a:pPr>
            <a:r>
              <a:rPr lang="pt-BR" b="1" dirty="0" smtClean="0"/>
              <a:t>Importância: </a:t>
            </a:r>
            <a:r>
              <a:rPr lang="pt-BR" dirty="0" smtClean="0"/>
              <a:t>moderno ambiente dos sistemas e produtos da área é acelerado e está em constante mudança (engenharia convencional x ágil).</a:t>
            </a:r>
          </a:p>
          <a:p>
            <a:pPr marL="0" indent="0">
              <a:buNone/>
            </a:pPr>
            <a:r>
              <a:rPr lang="pt-BR" b="1" dirty="0" smtClean="0"/>
              <a:t>Etapas envolvidas: </a:t>
            </a:r>
            <a:r>
              <a:rPr lang="pt-BR" dirty="0" smtClean="0"/>
              <a:t>atividades metodológicas básicas permanecem (comunicação – emprego) entretanto, transformam-se em um conjunto de tarefas mínimas.</a:t>
            </a:r>
            <a:endParaRPr lang="pt-BR" b="1" dirty="0"/>
          </a:p>
          <a:p>
            <a:pPr>
              <a:buFont typeface="Wingdings 3" panose="05040102010807070707" pitchFamily="18" charset="2"/>
              <a:buChar char="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643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Agilidade e o Custo das Mudanças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39552" y="1484784"/>
            <a:ext cx="8352928" cy="7658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lnSpc>
                <a:spcPts val="4000"/>
              </a:lnSpc>
              <a:spcAft>
                <a:spcPts val="3000"/>
              </a:spcAft>
              <a:buFont typeface="Courier New" panose="02070309020205020404" pitchFamily="49" charset="0"/>
              <a:buChar char="o"/>
            </a:pPr>
            <a:r>
              <a:rPr lang="pt-BR" b="1" dirty="0" smtClean="0"/>
              <a:t>Engenharia Convencional – </a:t>
            </a:r>
            <a:r>
              <a:rPr lang="pt-BR" dirty="0" smtClean="0"/>
              <a:t>custos de mudanças aumentam de forma não linear com o avanço do projeto.</a:t>
            </a:r>
          </a:p>
          <a:p>
            <a:pPr>
              <a:lnSpc>
                <a:spcPts val="4000"/>
              </a:lnSpc>
              <a:spcAft>
                <a:spcPts val="3000"/>
              </a:spcAft>
              <a:buFont typeface="Courier New" panose="02070309020205020404" pitchFamily="49" charset="0"/>
              <a:buChar char="o"/>
            </a:pPr>
            <a:r>
              <a:rPr lang="pt-BR" b="1" dirty="0" smtClean="0"/>
              <a:t>Agilidade</a:t>
            </a:r>
            <a:r>
              <a:rPr lang="pt-BR" dirty="0" smtClean="0"/>
              <a:t> </a:t>
            </a:r>
            <a:r>
              <a:rPr lang="pt-BR" b="1" dirty="0" smtClean="0"/>
              <a:t>– </a:t>
            </a:r>
            <a:r>
              <a:rPr lang="pt-BR" dirty="0" smtClean="0"/>
              <a:t>“achata” o custo da curva de mudança, permite assimilar alterações, realizadas posteriormente em um projeto, sem impacto significativo no custo e tempo.</a:t>
            </a:r>
          </a:p>
          <a:p>
            <a:pPr>
              <a:lnSpc>
                <a:spcPts val="4000"/>
              </a:lnSpc>
              <a:spcAft>
                <a:spcPts val="3000"/>
              </a:spcAft>
              <a:buFont typeface="Courier New" panose="02070309020205020404" pitchFamily="49" charset="0"/>
              <a:buChar char="o"/>
            </a:pPr>
            <a:endParaRPr lang="pt-BR" i="1" dirty="0" smtClean="0"/>
          </a:p>
          <a:p>
            <a:pPr>
              <a:lnSpc>
                <a:spcPts val="4000"/>
              </a:lnSpc>
              <a:spcAft>
                <a:spcPts val="3000"/>
              </a:spcAft>
              <a:buFont typeface="Wingdings 3" panose="05040102010807070707" pitchFamily="18" charset="2"/>
              <a:buChar char=""/>
            </a:pPr>
            <a:endParaRPr lang="pt-BR" i="1" dirty="0" smtClean="0"/>
          </a:p>
          <a:p>
            <a:pPr marL="0" indent="0">
              <a:lnSpc>
                <a:spcPts val="4000"/>
              </a:lnSpc>
              <a:spcAft>
                <a:spcPts val="3000"/>
              </a:spcAft>
              <a:buNone/>
            </a:pPr>
            <a:endParaRPr lang="pt-BR" dirty="0"/>
          </a:p>
          <a:p>
            <a:pPr>
              <a:lnSpc>
                <a:spcPts val="4000"/>
              </a:lnSpc>
              <a:spcAft>
                <a:spcPts val="3000"/>
              </a:spcAft>
              <a:buFont typeface="Wingdings 3" panose="05040102010807070707" pitchFamily="18" charset="2"/>
              <a:buChar char="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095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44624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Agilidade e o Custo das Mudanças</a:t>
            </a:r>
            <a:endParaRPr lang="pt-BR" sz="3600" b="1" dirty="0">
              <a:solidFill>
                <a:srgbClr val="C00000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1" t="20601" r="14300" b="13600"/>
          <a:stretch/>
        </p:blipFill>
        <p:spPr>
          <a:xfrm>
            <a:off x="1043608" y="1988840"/>
            <a:ext cx="6696744" cy="408945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632793" y="1034234"/>
            <a:ext cx="802024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dirty="0" smtClean="0"/>
              <a:t>Um processo ágil reduz custo das alterações porque o software é entregue de forma incremental e as alterações podem ser mais bem controladas dentre de incrementais.</a:t>
            </a:r>
            <a:endParaRPr lang="pt-BR" sz="21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7298604" y="5866641"/>
            <a:ext cx="1756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smtClean="0"/>
              <a:t>(PRESSMAN, 2011)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67029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Princípios da Agilidade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67544" y="1331640"/>
            <a:ext cx="8208912" cy="796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buNone/>
            </a:pPr>
            <a:r>
              <a:rPr lang="pt-BR" dirty="0" err="1" smtClean="0"/>
              <a:t>Agile</a:t>
            </a:r>
            <a:r>
              <a:rPr lang="pt-BR" dirty="0" smtClean="0"/>
              <a:t> Alliance estabelece 12 princípios para se obter agilidade:</a:t>
            </a:r>
          </a:p>
          <a:p>
            <a:pPr>
              <a:lnSpc>
                <a:spcPts val="33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pt-BR" sz="2000" dirty="0" smtClean="0">
                <a:latin typeface="Calibri Light" panose="020F0302020204030204" pitchFamily="34" charset="0"/>
              </a:rPr>
              <a:t>A maior prioridade é satisfazer o cliente por meio de entrega adiantada e contínua de software valioso.</a:t>
            </a:r>
          </a:p>
          <a:p>
            <a:pPr>
              <a:lnSpc>
                <a:spcPts val="33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pt-BR" sz="2000" dirty="0" smtClean="0">
                <a:latin typeface="Calibri Light" panose="020F0302020204030204" pitchFamily="34" charset="0"/>
              </a:rPr>
              <a:t>Acolha bem os pedidos de alteração. Os processos ágeis se aproveitam das mudanças como uma vantagem competitiva na relação com o cliente.</a:t>
            </a:r>
          </a:p>
          <a:p>
            <a:pPr>
              <a:lnSpc>
                <a:spcPts val="33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pt-BR" sz="2000" dirty="0">
                <a:latin typeface="Calibri Light" panose="020F0302020204030204" pitchFamily="34" charset="0"/>
              </a:rPr>
              <a:t>Entregue software em funcionamento frequentemente, de algumas semanas para alguns meses, dando preferência a intervalos mais curtos.</a:t>
            </a:r>
          </a:p>
          <a:p>
            <a:pPr>
              <a:lnSpc>
                <a:spcPts val="3800"/>
              </a:lnSpc>
              <a:spcAft>
                <a:spcPts val="1200"/>
              </a:spcAft>
              <a:buFont typeface="+mj-lt"/>
              <a:buAutoNum type="arabicPeriod"/>
            </a:pPr>
            <a:endParaRPr lang="pt-BR" sz="2400" dirty="0" smtClean="0">
              <a:latin typeface="Calibri Light" panose="020F0302020204030204" pitchFamily="34" charset="0"/>
            </a:endParaRP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i="1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972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67544" y="498291"/>
            <a:ext cx="8208912" cy="897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lnSpc>
                <a:spcPts val="3000"/>
              </a:lnSpc>
              <a:spcAft>
                <a:spcPts val="1800"/>
              </a:spcAft>
              <a:buFont typeface="+mj-lt"/>
              <a:buAutoNum type="arabicPeriod" startAt="4"/>
            </a:pPr>
            <a:r>
              <a:rPr lang="pt-BR" sz="2000" dirty="0">
                <a:latin typeface="Calibri Light" panose="020F0302020204030204" pitchFamily="34" charset="0"/>
              </a:rPr>
              <a:t>O pessoal comercial e os desenvolvedores devem trabalhar em conjunto diariamente ao longo de todo o processo.</a:t>
            </a:r>
          </a:p>
          <a:p>
            <a:pPr>
              <a:lnSpc>
                <a:spcPts val="3000"/>
              </a:lnSpc>
              <a:spcAft>
                <a:spcPts val="1800"/>
              </a:spcAft>
              <a:buFont typeface="+mj-lt"/>
              <a:buAutoNum type="arabicPeriod" startAt="4"/>
            </a:pPr>
            <a:r>
              <a:rPr lang="pt-BR" sz="2000" dirty="0">
                <a:latin typeface="Calibri Light" panose="020F0302020204030204" pitchFamily="34" charset="0"/>
              </a:rPr>
              <a:t>Construa projetos em torno de indivíduos motivados. Dê a eles o ambiente e apoio necessários e confie neles para ter o trabalho feito.</a:t>
            </a:r>
          </a:p>
          <a:p>
            <a:pPr>
              <a:lnSpc>
                <a:spcPts val="3000"/>
              </a:lnSpc>
              <a:spcAft>
                <a:spcPts val="1800"/>
              </a:spcAft>
              <a:buFont typeface="+mj-lt"/>
              <a:buAutoNum type="arabicPeriod" startAt="4"/>
            </a:pPr>
            <a:r>
              <a:rPr lang="pt-BR" sz="2000" dirty="0">
                <a:latin typeface="Calibri Light" panose="020F0302020204030204" pitchFamily="34" charset="0"/>
              </a:rPr>
              <a:t>O método mais eficiente e efetivo de transmitir informações para e dentro de uma equipe de desenvolvimento é uma conversa aberta, de forma presencial</a:t>
            </a:r>
            <a:r>
              <a:rPr lang="pt-BR" sz="2000" dirty="0" smtClean="0">
                <a:latin typeface="Calibri Light" panose="020F0302020204030204" pitchFamily="34" charset="0"/>
              </a:rPr>
              <a:t>.</a:t>
            </a:r>
          </a:p>
          <a:p>
            <a:pPr>
              <a:lnSpc>
                <a:spcPts val="3000"/>
              </a:lnSpc>
              <a:spcAft>
                <a:spcPts val="1800"/>
              </a:spcAft>
              <a:buFont typeface="+mj-lt"/>
              <a:buAutoNum type="arabicPeriod" startAt="4"/>
            </a:pPr>
            <a:r>
              <a:rPr lang="pt-BR" sz="2000" dirty="0">
                <a:latin typeface="Calibri Light" panose="020F0302020204030204" pitchFamily="34" charset="0"/>
              </a:rPr>
              <a:t>Software em funcionamento é a principal medida de progresso.</a:t>
            </a:r>
          </a:p>
          <a:p>
            <a:pPr>
              <a:lnSpc>
                <a:spcPts val="3000"/>
              </a:lnSpc>
              <a:spcAft>
                <a:spcPts val="1800"/>
              </a:spcAft>
              <a:buFont typeface="+mj-lt"/>
              <a:buAutoNum type="arabicPeriod" startAt="4"/>
            </a:pPr>
            <a:r>
              <a:rPr lang="pt-BR" sz="2000" dirty="0">
                <a:latin typeface="Calibri Light" panose="020F0302020204030204" pitchFamily="34" charset="0"/>
              </a:rPr>
              <a:t>Os processos ágeis promovem desenvolvimento sustentável. Os proponentes, desenvolvedores e usuários devem estar capacitados para manter um ritmo constante indefinidamente.</a:t>
            </a:r>
          </a:p>
          <a:p>
            <a:pPr>
              <a:lnSpc>
                <a:spcPts val="3300"/>
              </a:lnSpc>
              <a:spcAft>
                <a:spcPts val="1200"/>
              </a:spcAft>
              <a:buFont typeface="+mj-lt"/>
              <a:buAutoNum type="arabicPeriod" startAt="4"/>
            </a:pPr>
            <a:endParaRPr lang="pt-BR" sz="2000" dirty="0">
              <a:latin typeface="Calibri Light" panose="020F0302020204030204" pitchFamily="34" charset="0"/>
            </a:endParaRPr>
          </a:p>
          <a:p>
            <a:pPr>
              <a:buFont typeface="+mj-lt"/>
              <a:buAutoNum type="arabicPeriod" startAt="4"/>
            </a:pPr>
            <a:endParaRPr lang="pt-BR" dirty="0" smtClean="0"/>
          </a:p>
          <a:p>
            <a:pPr>
              <a:buFont typeface="+mj-lt"/>
              <a:buAutoNum type="arabicPeriod" startAt="4"/>
            </a:pPr>
            <a:endParaRPr lang="pt-BR" i="1" dirty="0" smtClean="0"/>
          </a:p>
          <a:p>
            <a:pPr>
              <a:buFont typeface="+mj-lt"/>
              <a:buAutoNum type="arabicPeriod" startAt="4"/>
            </a:pPr>
            <a:endParaRPr lang="pt-BR" dirty="0"/>
          </a:p>
          <a:p>
            <a:pPr>
              <a:buFont typeface="+mj-lt"/>
              <a:buAutoNum type="arabicPeriod" startAt="4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258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67544" y="412541"/>
            <a:ext cx="8208912" cy="6748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lnSpc>
                <a:spcPts val="2900"/>
              </a:lnSpc>
              <a:spcAft>
                <a:spcPts val="1800"/>
              </a:spcAft>
              <a:buFont typeface="+mj-lt"/>
              <a:buAutoNum type="arabicPeriod" startAt="9"/>
            </a:pPr>
            <a:r>
              <a:rPr lang="pt-BR" sz="2000" dirty="0">
                <a:latin typeface="Calibri Light" panose="020F0302020204030204" pitchFamily="34" charset="0"/>
              </a:rPr>
              <a:t>Atenção contínua para com a excelência técnica e para com bons projetos aumenta a agilidade.</a:t>
            </a:r>
          </a:p>
          <a:p>
            <a:pPr>
              <a:lnSpc>
                <a:spcPts val="2900"/>
              </a:lnSpc>
              <a:spcAft>
                <a:spcPts val="1800"/>
              </a:spcAft>
              <a:buFont typeface="+mj-lt"/>
              <a:buAutoNum type="arabicPeriod" startAt="9"/>
            </a:pPr>
            <a:r>
              <a:rPr lang="pt-BR" sz="2000" dirty="0">
                <a:latin typeface="Calibri Light" panose="020F0302020204030204" pitchFamily="34" charset="0"/>
              </a:rPr>
              <a:t>Simplicidade – a arte de maximizar o volume de trabalho não efetuado – é </a:t>
            </a:r>
            <a:r>
              <a:rPr lang="pt-BR" sz="2000" dirty="0" smtClean="0">
                <a:latin typeface="Calibri Light" panose="020F0302020204030204" pitchFamily="34" charset="0"/>
              </a:rPr>
              <a:t>essencial</a:t>
            </a:r>
          </a:p>
          <a:p>
            <a:pPr>
              <a:lnSpc>
                <a:spcPts val="2900"/>
              </a:lnSpc>
              <a:spcAft>
                <a:spcPts val="1800"/>
              </a:spcAft>
              <a:buFont typeface="+mj-lt"/>
              <a:buAutoNum type="arabicPeriod" startAt="9"/>
            </a:pPr>
            <a:r>
              <a:rPr lang="pt-BR" sz="2000" dirty="0">
                <a:latin typeface="Calibri Light" panose="020F0302020204030204" pitchFamily="34" charset="0"/>
              </a:rPr>
              <a:t>As melhores arquiteturas, requisitos e projetos emergem de equipes que se </a:t>
            </a:r>
            <a:r>
              <a:rPr lang="pt-BR" sz="2000" dirty="0" err="1">
                <a:latin typeface="Calibri Light" panose="020F0302020204030204" pitchFamily="34" charset="0"/>
              </a:rPr>
              <a:t>auto-organizam</a:t>
            </a:r>
            <a:r>
              <a:rPr lang="pt-BR" sz="2000" dirty="0">
                <a:latin typeface="Calibri Light" panose="020F0302020204030204" pitchFamily="34" charset="0"/>
              </a:rPr>
              <a:t>.</a:t>
            </a:r>
          </a:p>
          <a:p>
            <a:pPr>
              <a:lnSpc>
                <a:spcPts val="2900"/>
              </a:lnSpc>
              <a:spcAft>
                <a:spcPts val="1800"/>
              </a:spcAft>
              <a:buFont typeface="+mj-lt"/>
              <a:buAutoNum type="arabicPeriod" startAt="9"/>
            </a:pPr>
            <a:r>
              <a:rPr lang="pt-BR" sz="2000" dirty="0">
                <a:latin typeface="Calibri Light" panose="020F0302020204030204" pitchFamily="34" charset="0"/>
              </a:rPr>
              <a:t>A intervalos regulares, a equipe se avalia para ver como tornar-se mais eficiente, então sintoniza e ajusta seu comportamento de acordo.</a:t>
            </a:r>
            <a:endParaRPr lang="pt-BR" sz="2000" dirty="0"/>
          </a:p>
          <a:p>
            <a:pPr>
              <a:lnSpc>
                <a:spcPts val="3800"/>
              </a:lnSpc>
              <a:spcAft>
                <a:spcPts val="1200"/>
              </a:spcAft>
              <a:buFont typeface="+mj-lt"/>
              <a:buAutoNum type="arabicPeriod" startAt="9"/>
            </a:pPr>
            <a:endParaRPr lang="pt-BR" sz="2000" dirty="0">
              <a:latin typeface="Calibri Light" panose="020F0302020204030204" pitchFamily="34" charset="0"/>
            </a:endParaRPr>
          </a:p>
          <a:p>
            <a:pPr>
              <a:buFont typeface="+mj-lt"/>
              <a:buAutoNum type="arabicPeriod" startAt="9"/>
            </a:pPr>
            <a:endParaRPr lang="pt-BR" i="1" dirty="0" smtClean="0"/>
          </a:p>
          <a:p>
            <a:pPr>
              <a:buFont typeface="+mj-lt"/>
              <a:buAutoNum type="arabicPeriod" startAt="9"/>
            </a:pPr>
            <a:endParaRPr lang="pt-BR" dirty="0"/>
          </a:p>
          <a:p>
            <a:pPr>
              <a:buFont typeface="+mj-lt"/>
              <a:buAutoNum type="arabicPeriod" startAt="9"/>
            </a:pP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467544" y="4365104"/>
            <a:ext cx="8208912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buNone/>
            </a:pPr>
            <a:r>
              <a:rPr lang="pt-BR" dirty="0" smtClean="0"/>
              <a:t>Nem todo modelo de processo ágil aplica os 12 princípios. Alguns modelos preferem ignorar um ou outro princípio, contudo, sempre mantendo o </a:t>
            </a:r>
            <a:r>
              <a:rPr lang="pt-BR" i="1" dirty="0" smtClean="0"/>
              <a:t>espírito ágil</a:t>
            </a:r>
            <a:r>
              <a:rPr lang="pt-B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099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Fatores humanos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67544" y="1331640"/>
            <a:ext cx="8208912" cy="4208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r>
              <a:rPr lang="pt-BR" dirty="0" smtClean="0"/>
              <a:t>Os defensores do desenvolvimento ágil enfatizam a </a:t>
            </a:r>
            <a:r>
              <a:rPr lang="pt-BR" u="sng" dirty="0" smtClean="0"/>
              <a:t>importância</a:t>
            </a:r>
            <a:r>
              <a:rPr lang="pt-BR" dirty="0" smtClean="0"/>
              <a:t> dos fatores humanos.</a:t>
            </a:r>
          </a:p>
          <a:p>
            <a:r>
              <a:rPr lang="pt-BR" dirty="0" smtClean="0"/>
              <a:t>O desenvolvimento ágil foca </a:t>
            </a:r>
            <a:r>
              <a:rPr lang="pt-BR" u="sng" dirty="0" smtClean="0"/>
              <a:t>talento e habilidades de indivíduos</a:t>
            </a:r>
            <a:r>
              <a:rPr lang="pt-BR" dirty="0" smtClean="0"/>
              <a:t>, </a:t>
            </a:r>
            <a:r>
              <a:rPr lang="pt-BR" b="1" dirty="0" smtClean="0"/>
              <a:t>moldando o processo </a:t>
            </a:r>
            <a:r>
              <a:rPr lang="pt-BR" dirty="0" smtClean="0"/>
              <a:t>de acordo com as pessoas e equipes.</a:t>
            </a:r>
          </a:p>
          <a:p>
            <a:r>
              <a:rPr lang="pt-BR" dirty="0" smtClean="0"/>
              <a:t>Existem, a partir dessa ênfase, um certo número de traços-chave entre as pessoas de uma equipe ágil: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438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95536" y="404664"/>
            <a:ext cx="8496944" cy="539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buNone/>
            </a:pPr>
            <a:r>
              <a:rPr lang="pt-BR" sz="2400" b="1" u="sng" dirty="0" smtClean="0"/>
              <a:t>Competência</a:t>
            </a:r>
            <a:r>
              <a:rPr lang="pt-BR" sz="2400" dirty="0" smtClean="0"/>
              <a:t> </a:t>
            </a:r>
            <a:r>
              <a:rPr lang="pt-BR" sz="2400" b="1" dirty="0" smtClean="0"/>
              <a:t>-</a:t>
            </a:r>
            <a:r>
              <a:rPr lang="pt-BR" sz="2400" dirty="0" smtClean="0"/>
              <a:t> </a:t>
            </a:r>
            <a:r>
              <a:rPr lang="pt-BR" sz="2400" i="1" dirty="0" smtClean="0"/>
              <a:t>habilidades específicas, processo, talento.</a:t>
            </a:r>
          </a:p>
          <a:p>
            <a:pPr marL="0" indent="0">
              <a:buNone/>
            </a:pPr>
            <a:r>
              <a:rPr lang="pt-BR" sz="2400" b="1" u="sng" dirty="0" smtClean="0"/>
              <a:t>Foco comum </a:t>
            </a:r>
            <a:r>
              <a:rPr lang="pt-BR" sz="2400" b="1" dirty="0" smtClean="0"/>
              <a:t>- </a:t>
            </a:r>
            <a:r>
              <a:rPr lang="pt-BR" sz="2400" i="1" dirty="0" smtClean="0"/>
              <a:t>incremento entregue funcionando no prazo.</a:t>
            </a:r>
          </a:p>
          <a:p>
            <a:pPr marL="0" indent="0">
              <a:buNone/>
            </a:pPr>
            <a:r>
              <a:rPr lang="pt-BR" sz="2400" b="1" u="sng" dirty="0" smtClean="0"/>
              <a:t>Colaboração</a:t>
            </a:r>
            <a:r>
              <a:rPr lang="pt-BR" sz="2400" b="1" dirty="0" smtClean="0"/>
              <a:t> - </a:t>
            </a:r>
            <a:r>
              <a:rPr lang="pt-BR" sz="2400" i="1" dirty="0" smtClean="0"/>
              <a:t>trabalho em equipe, valor de negócio ao cliente.</a:t>
            </a:r>
          </a:p>
          <a:p>
            <a:pPr marL="0" indent="0">
              <a:buNone/>
            </a:pPr>
            <a:r>
              <a:rPr lang="pt-BR" sz="2400" b="1" u="sng" dirty="0" smtClean="0"/>
              <a:t>Tomada de Decisão </a:t>
            </a:r>
            <a:r>
              <a:rPr lang="pt-BR" sz="2400" b="1" dirty="0" smtClean="0"/>
              <a:t>- </a:t>
            </a:r>
            <a:r>
              <a:rPr lang="pt-BR" sz="2400" i="1" dirty="0" smtClean="0"/>
              <a:t>liberdade para controlar seu destino.</a:t>
            </a:r>
          </a:p>
          <a:p>
            <a:pPr marL="0" indent="0">
              <a:buNone/>
            </a:pPr>
            <a:r>
              <a:rPr lang="pt-BR" sz="2400" b="1" u="sng" dirty="0" smtClean="0"/>
              <a:t>Solução de Problemas </a:t>
            </a:r>
            <a:r>
              <a:rPr lang="pt-BR" sz="2400" b="1" dirty="0" smtClean="0"/>
              <a:t>- </a:t>
            </a:r>
            <a:r>
              <a:rPr lang="pt-BR" sz="2400" i="1" dirty="0" smtClean="0"/>
              <a:t>mudanças</a:t>
            </a:r>
            <a:r>
              <a:rPr lang="pt-BR" sz="2400" i="1" dirty="0"/>
              <a:t> </a:t>
            </a:r>
            <a:r>
              <a:rPr lang="pt-BR" sz="2400" i="1" dirty="0" smtClean="0"/>
              <a:t>e </a:t>
            </a:r>
            <a:r>
              <a:rPr lang="pt-BR" sz="2400" i="1" dirty="0"/>
              <a:t>problemas </a:t>
            </a:r>
            <a:r>
              <a:rPr lang="pt-BR" sz="2400" i="1" dirty="0" smtClean="0"/>
              <a:t>contínuos.</a:t>
            </a:r>
          </a:p>
          <a:p>
            <a:pPr marL="0" indent="0">
              <a:buNone/>
            </a:pPr>
            <a:r>
              <a:rPr lang="pt-BR" sz="2400" b="1" u="sng" dirty="0" smtClean="0"/>
              <a:t>Confiança mútua e respeito </a:t>
            </a:r>
            <a:r>
              <a:rPr lang="pt-BR" sz="2400" b="1" dirty="0" smtClean="0"/>
              <a:t>- </a:t>
            </a:r>
            <a:r>
              <a:rPr lang="pt-BR" sz="2400" i="1" dirty="0" smtClean="0"/>
              <a:t>o todo maior que a soma das partes.</a:t>
            </a:r>
          </a:p>
          <a:p>
            <a:pPr marL="0" indent="0">
              <a:buNone/>
            </a:pPr>
            <a:r>
              <a:rPr lang="pt-BR" sz="2400" b="1" u="sng" dirty="0" smtClean="0"/>
              <a:t>Auto-organização</a:t>
            </a:r>
            <a:r>
              <a:rPr lang="pt-BR" sz="2400" b="1" dirty="0" smtClean="0"/>
              <a:t> - </a:t>
            </a:r>
            <a:r>
              <a:rPr lang="pt-BR" sz="2400" i="1" dirty="0" smtClean="0"/>
              <a:t>organiza equipe, processo e cronograma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262660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Extreme </a:t>
            </a:r>
            <a:r>
              <a:rPr lang="pt-BR" sz="3600" b="1" dirty="0" err="1" smtClean="0">
                <a:solidFill>
                  <a:srgbClr val="C00000"/>
                </a:solidFill>
              </a:rPr>
              <a:t>Programming</a:t>
            </a:r>
            <a:r>
              <a:rPr lang="pt-BR" sz="3600" b="1" dirty="0" smtClean="0">
                <a:solidFill>
                  <a:srgbClr val="C00000"/>
                </a:solidFill>
              </a:rPr>
              <a:t> -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33267" y="1331640"/>
            <a:ext cx="5393926" cy="5824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buFont typeface="Wingdings 3" panose="05040102010807070707" pitchFamily="18" charset="2"/>
              <a:buChar char=""/>
            </a:pPr>
            <a:r>
              <a:rPr lang="pt-BR" b="1" dirty="0" smtClean="0"/>
              <a:t>Programação Extrema –</a:t>
            </a:r>
            <a:r>
              <a:rPr lang="pt-BR" dirty="0" smtClean="0"/>
              <a:t> abordagem mais utilizada para desenvolvimento ágil.</a:t>
            </a:r>
          </a:p>
          <a:p>
            <a:pPr>
              <a:buFont typeface="Wingdings 3" panose="05040102010807070707" pitchFamily="18" charset="2"/>
              <a:buChar char=""/>
            </a:pPr>
            <a:r>
              <a:rPr lang="pt-BR" b="1" dirty="0" smtClean="0"/>
              <a:t>1980</a:t>
            </a:r>
            <a:r>
              <a:rPr lang="pt-BR" dirty="0" smtClean="0"/>
              <a:t> </a:t>
            </a:r>
            <a:r>
              <a:rPr lang="pt-BR" b="1" dirty="0" smtClean="0"/>
              <a:t>–</a:t>
            </a:r>
            <a:r>
              <a:rPr lang="pt-BR" dirty="0" smtClean="0"/>
              <a:t> Proposto por Kent </a:t>
            </a:r>
            <a:r>
              <a:rPr lang="pt-BR" dirty="0"/>
              <a:t>Beck </a:t>
            </a:r>
          </a:p>
          <a:p>
            <a:pPr>
              <a:buFont typeface="Wingdings 3" panose="05040102010807070707" pitchFamily="18" charset="2"/>
              <a:buChar char=""/>
            </a:pPr>
            <a:r>
              <a:rPr lang="pt-BR" b="1" dirty="0" smtClean="0"/>
              <a:t>IXP – Industrial XP – </a:t>
            </a:r>
            <a:r>
              <a:rPr lang="pt-BR" dirty="0" smtClean="0"/>
              <a:t>variação proposta para uso em grandes organizações.</a:t>
            </a:r>
            <a:endParaRPr lang="pt-BR" i="1" dirty="0" smtClean="0"/>
          </a:p>
          <a:p>
            <a:pPr marL="0" indent="0">
              <a:buNone/>
            </a:pPr>
            <a:endParaRPr lang="pt-BR" dirty="0" smtClean="0"/>
          </a:p>
          <a:p>
            <a:pPr>
              <a:buFont typeface="Wingdings 3" panose="05040102010807070707" pitchFamily="18" charset="2"/>
              <a:buChar char=""/>
            </a:pPr>
            <a:endParaRPr lang="pt-BR" dirty="0"/>
          </a:p>
        </p:txBody>
      </p:sp>
      <p:pic>
        <p:nvPicPr>
          <p:cNvPr id="1028" name="Picture 4" descr="http://curso_sin2.blogia.com/upload/german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5445224"/>
            <a:ext cx="3810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ecx.images-amazon.com/images/I/51FL897hirL._SX258_BO1,204,203,200_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820764"/>
            <a:ext cx="1725305" cy="214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hacksummit.s3.amazonaws.com/img/speakers/kent-beck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692697"/>
            <a:ext cx="1736700" cy="173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7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Valores da Extreme </a:t>
            </a:r>
            <a:r>
              <a:rPr lang="pt-BR" sz="3600" b="1" dirty="0" err="1" smtClean="0">
                <a:solidFill>
                  <a:srgbClr val="C00000"/>
                </a:solidFill>
              </a:rPr>
              <a:t>Programming</a:t>
            </a:r>
            <a:r>
              <a:rPr lang="pt-BR" sz="3600" b="1" dirty="0" smtClean="0">
                <a:solidFill>
                  <a:srgbClr val="C00000"/>
                </a:solidFill>
              </a:rPr>
              <a:t> -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9291" y="1331640"/>
            <a:ext cx="7811141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 algn="just">
              <a:buNone/>
            </a:pPr>
            <a:r>
              <a:rPr lang="pt-BR" dirty="0" smtClean="0"/>
              <a:t>Beck define um conjunto de cinco valores: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pt-BR" b="1" dirty="0"/>
              <a:t>Comunicação </a:t>
            </a:r>
            <a:r>
              <a:rPr lang="pt-BR" dirty="0"/>
              <a:t>– para um projeto de sucesso é necessária muita interação entre os membros da </a:t>
            </a:r>
            <a:r>
              <a:rPr lang="pt-BR" dirty="0" smtClean="0"/>
              <a:t>equipe. Enfatiza colaboração estreita, embora informal (verbal) entre clientes e desenvolvedores. Evita a documentação excessiva.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008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Valores da Extreme </a:t>
            </a:r>
            <a:r>
              <a:rPr lang="pt-BR" sz="3600" b="1" dirty="0" err="1" smtClean="0">
                <a:solidFill>
                  <a:srgbClr val="C00000"/>
                </a:solidFill>
              </a:rPr>
              <a:t>Programming</a:t>
            </a:r>
            <a:r>
              <a:rPr lang="pt-BR" sz="3600" b="1" dirty="0" smtClean="0">
                <a:solidFill>
                  <a:srgbClr val="C00000"/>
                </a:solidFill>
              </a:rPr>
              <a:t> -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9291" y="1331640"/>
            <a:ext cx="781114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571500" indent="-571500" algn="just">
              <a:buFont typeface="+mj-lt"/>
              <a:buAutoNum type="romanUcPeriod" startAt="2"/>
            </a:pPr>
            <a:r>
              <a:rPr lang="pt-BR" b="1" dirty="0" smtClean="0"/>
              <a:t>Simplicidade</a:t>
            </a:r>
            <a:r>
              <a:rPr lang="pt-BR" b="1" dirty="0"/>
              <a:t> </a:t>
            </a:r>
            <a:r>
              <a:rPr lang="pt-BR" dirty="0"/>
              <a:t>– </a:t>
            </a:r>
            <a:r>
              <a:rPr lang="pt-BR" dirty="0" smtClean="0"/>
              <a:t>restringe os desenvolvedores a projetar necessidades imediatas, em vez de considerarem as futuras. Projeto simples que possa ser facilmente implementado em código.</a:t>
            </a:r>
          </a:p>
          <a:p>
            <a:pPr marL="571500" indent="-571500" algn="just">
              <a:buFont typeface="+mj-lt"/>
              <a:buAutoNum type="romanUcPeriod" startAt="2"/>
            </a:pPr>
            <a:r>
              <a:rPr lang="pt-BR" b="1" dirty="0" smtClean="0"/>
              <a:t>Feedback</a:t>
            </a:r>
            <a:r>
              <a:rPr lang="pt-BR" dirty="0" smtClean="0"/>
              <a:t> – do software, do cliente e da equipe. Conforme novas necessidades surgem a equipe dá rápido feedback ao cliente referentes aos custos e cronogramas.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387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Valores da Extreme </a:t>
            </a:r>
            <a:r>
              <a:rPr lang="pt-BR" sz="3600" b="1" dirty="0" err="1" smtClean="0">
                <a:solidFill>
                  <a:srgbClr val="C00000"/>
                </a:solidFill>
              </a:rPr>
              <a:t>Programming</a:t>
            </a:r>
            <a:r>
              <a:rPr lang="pt-BR" sz="3600" b="1" dirty="0" smtClean="0">
                <a:solidFill>
                  <a:srgbClr val="C00000"/>
                </a:solidFill>
              </a:rPr>
              <a:t> -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9291" y="1268760"/>
            <a:ext cx="7811141" cy="682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571500" indent="-571500" algn="just">
              <a:buFont typeface="+mj-lt"/>
              <a:buAutoNum type="romanUcPeriod" startAt="4"/>
            </a:pPr>
            <a:r>
              <a:rPr lang="pt-BR" b="1" dirty="0" smtClean="0"/>
              <a:t>Coragem </a:t>
            </a:r>
            <a:r>
              <a:rPr lang="pt-BR" dirty="0" smtClean="0"/>
              <a:t>– pressão no projeto pensando em requisitos futuros. Uma equipe deve ter disciplina para projetar para hoje, reconhecendo que as necessidades futuras podem mudar (retrabalho).</a:t>
            </a:r>
          </a:p>
          <a:p>
            <a:pPr marL="571500" indent="-571500" algn="just">
              <a:buFont typeface="+mj-lt"/>
              <a:buAutoNum type="romanUcPeriod" startAt="4"/>
            </a:pPr>
            <a:r>
              <a:rPr lang="pt-BR" b="1" dirty="0" smtClean="0"/>
              <a:t>Respeito</a:t>
            </a:r>
            <a:r>
              <a:rPr lang="pt-BR" b="1" dirty="0"/>
              <a:t> </a:t>
            </a:r>
            <a:r>
              <a:rPr lang="pt-BR" dirty="0"/>
              <a:t>– todos têm sua importância dentro da equipe e devem ser respeitados e valorizados. Isso mantém o trabalho </a:t>
            </a:r>
            <a:r>
              <a:rPr lang="pt-BR" dirty="0" smtClean="0"/>
              <a:t>energizado a cada nova entrega de incremento de software.</a:t>
            </a:r>
            <a:endParaRPr lang="pt-BR" dirty="0"/>
          </a:p>
          <a:p>
            <a:pPr marL="571500" indent="-571500" algn="just">
              <a:buFont typeface="+mj-lt"/>
              <a:buAutoNum type="romanUcPeriod" startAt="4"/>
            </a:pPr>
            <a:endParaRPr lang="pt-BR" i="1" dirty="0" smtClean="0"/>
          </a:p>
          <a:p>
            <a:pPr marL="571500" indent="-571500" algn="just">
              <a:buFont typeface="+mj-lt"/>
              <a:buAutoNum type="romanUcPeriod" startAt="4"/>
            </a:pPr>
            <a:endParaRPr lang="pt-BR" dirty="0" smtClean="0"/>
          </a:p>
          <a:p>
            <a:pPr marL="571500" indent="-571500" algn="just">
              <a:buFont typeface="+mj-lt"/>
              <a:buAutoNum type="romanUcPeriod" startAt="4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653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O Processo da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9291" y="1595529"/>
            <a:ext cx="7811141" cy="4713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algn="just">
              <a:spcAft>
                <a:spcPts val="3000"/>
              </a:spcAft>
              <a:buFont typeface="Courier New" panose="02070309020205020404" pitchFamily="49" charset="0"/>
              <a:buChar char="o"/>
            </a:pPr>
            <a:r>
              <a:rPr lang="pt-BR" dirty="0" smtClean="0"/>
              <a:t>Abordagem </a:t>
            </a:r>
            <a:r>
              <a:rPr lang="pt-BR" u="sng" dirty="0" smtClean="0"/>
              <a:t>orientada a objetos</a:t>
            </a:r>
            <a:r>
              <a:rPr lang="pt-BR" dirty="0" smtClean="0"/>
              <a:t> como paradigma preferido.</a:t>
            </a:r>
          </a:p>
          <a:p>
            <a:pPr algn="just">
              <a:spcAft>
                <a:spcPts val="3000"/>
              </a:spcAft>
              <a:buFont typeface="Courier New" panose="02070309020205020404" pitchFamily="49" charset="0"/>
              <a:buChar char="o"/>
            </a:pPr>
            <a:r>
              <a:rPr lang="pt-BR" dirty="0" smtClean="0"/>
              <a:t>Envolve um conjunto de regras e práticas constantes no contexto de </a:t>
            </a:r>
            <a:r>
              <a:rPr lang="pt-BR" u="sng" dirty="0" smtClean="0"/>
              <a:t>4 atividades metodológicas</a:t>
            </a:r>
            <a:r>
              <a:rPr lang="pt-BR" dirty="0" smtClean="0"/>
              <a:t>: </a:t>
            </a:r>
          </a:p>
          <a:p>
            <a:pPr algn="just">
              <a:spcAft>
                <a:spcPts val="3000"/>
              </a:spcAft>
              <a:buFont typeface="Courier New" panose="02070309020205020404" pitchFamily="49" charset="0"/>
              <a:buChar char="o"/>
            </a:pPr>
            <a:r>
              <a:rPr lang="pt-BR" sz="2800" b="1" dirty="0" smtClean="0"/>
              <a:t>Planejamento, </a:t>
            </a:r>
            <a:r>
              <a:rPr lang="pt-BR" sz="2800" b="1" dirty="0" smtClean="0">
                <a:solidFill>
                  <a:schemeClr val="accent6">
                    <a:lumMod val="75000"/>
                  </a:schemeClr>
                </a:solidFill>
              </a:rPr>
              <a:t>Projeto</a:t>
            </a:r>
            <a:r>
              <a:rPr lang="pt-BR" sz="2800" b="1" dirty="0"/>
              <a:t>, </a:t>
            </a:r>
            <a:r>
              <a:rPr lang="pt-BR" sz="2800" b="1" dirty="0">
                <a:solidFill>
                  <a:srgbClr val="00B050"/>
                </a:solidFill>
              </a:rPr>
              <a:t>Codificação</a:t>
            </a:r>
            <a:r>
              <a:rPr lang="pt-BR" sz="2800" b="1" dirty="0"/>
              <a:t> </a:t>
            </a:r>
            <a:r>
              <a:rPr lang="pt-BR" sz="2800" b="1" dirty="0" smtClean="0"/>
              <a:t>e </a:t>
            </a:r>
            <a:r>
              <a:rPr lang="pt-BR" sz="2800" b="1" dirty="0" smtClean="0">
                <a:solidFill>
                  <a:schemeClr val="accent5">
                    <a:lumMod val="75000"/>
                  </a:schemeClr>
                </a:solidFill>
              </a:rPr>
              <a:t>Testes</a:t>
            </a:r>
            <a:r>
              <a:rPr lang="pt-BR" sz="2800" b="1" dirty="0" smtClean="0"/>
              <a:t>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07988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O Processo da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7442" y="1347540"/>
            <a:ext cx="7811141" cy="6055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 algn="just">
              <a:spcAft>
                <a:spcPts val="1200"/>
              </a:spcAft>
              <a:buNone/>
            </a:pPr>
            <a:r>
              <a:rPr lang="pt-BR" sz="3200" b="1" dirty="0" smtClean="0"/>
              <a:t>Planejamento</a:t>
            </a:r>
            <a:endParaRPr lang="pt-BR" sz="2800" b="1" dirty="0" smtClean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Inicia com a atividade  de </a:t>
            </a:r>
            <a:r>
              <a:rPr lang="pt-BR" sz="2400" i="1" u="sng" dirty="0" smtClean="0"/>
              <a:t>ouvir</a:t>
            </a:r>
            <a:r>
              <a:rPr lang="pt-BR" sz="2400" dirty="0" smtClean="0"/>
              <a:t> – entender o ambiente de negócios e possibilita que se consiga ter uma percepção ampla.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A atividade de ouvir conduz à criação de um conjunto de </a:t>
            </a:r>
            <a:r>
              <a:rPr lang="pt-BR" sz="2400" i="1" u="sng" dirty="0" smtClean="0"/>
              <a:t>histórias</a:t>
            </a:r>
            <a:r>
              <a:rPr lang="pt-BR" sz="2400" dirty="0" smtClean="0"/>
              <a:t>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Cada história  é escrita pelo cliente.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O cliente atribui um </a:t>
            </a:r>
            <a:r>
              <a:rPr lang="pt-BR" sz="2400" u="sng" dirty="0" smtClean="0"/>
              <a:t>valor</a:t>
            </a:r>
            <a:r>
              <a:rPr lang="pt-BR" sz="2400" dirty="0" smtClean="0"/>
              <a:t> à história baseando-se no valor de negócio global.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3200" dirty="0" smtClean="0"/>
          </a:p>
          <a:p>
            <a:pPr marL="0" indent="0" algn="just">
              <a:buNone/>
            </a:pPr>
            <a:endParaRPr lang="pt-BR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32106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O Processo da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7442" y="1347540"/>
            <a:ext cx="7811141" cy="5978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 algn="just">
              <a:spcAft>
                <a:spcPts val="1200"/>
              </a:spcAft>
              <a:buNone/>
            </a:pPr>
            <a:r>
              <a:rPr lang="pt-BR" sz="3200" b="1" dirty="0" smtClean="0"/>
              <a:t>Planejamento</a:t>
            </a:r>
            <a:endParaRPr lang="pt-BR" sz="2800" b="1" dirty="0" smtClean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Os membros XP avaliam a história e atribuem um </a:t>
            </a:r>
            <a:r>
              <a:rPr lang="pt-BR" sz="2400" u="sng" dirty="0" smtClean="0"/>
              <a:t>custo</a:t>
            </a:r>
            <a:r>
              <a:rPr lang="pt-BR" sz="2400" dirty="0" smtClean="0"/>
              <a:t>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Se a história extrapolar </a:t>
            </a:r>
            <a:r>
              <a:rPr lang="pt-BR" sz="2400" u="sng" dirty="0" smtClean="0"/>
              <a:t>3 semanas</a:t>
            </a:r>
            <a:r>
              <a:rPr lang="pt-BR" sz="2400" dirty="0" smtClean="0"/>
              <a:t>, na estimativa, é solicitado ao cliente </a:t>
            </a:r>
            <a:r>
              <a:rPr lang="pt-BR" sz="2400" u="sng" dirty="0" smtClean="0"/>
              <a:t>dividi-la</a:t>
            </a:r>
            <a:r>
              <a:rPr lang="pt-BR" sz="2400" dirty="0" smtClean="0"/>
              <a:t> em histórias menores.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Clientes e desenvolvedores trabalham juntos para decidir como </a:t>
            </a:r>
            <a:r>
              <a:rPr lang="pt-BR" sz="2400" u="sng" dirty="0" smtClean="0"/>
              <a:t>agrupar as histórias</a:t>
            </a:r>
            <a:r>
              <a:rPr lang="pt-BR" sz="2400" dirty="0" smtClean="0"/>
              <a:t> para próxima versão.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Conforme prossegue, o cliente pode acrescentar, mudar valores, dividir ou eliminar histórias.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2400" dirty="0" smtClean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3200" dirty="0" smtClean="0"/>
          </a:p>
          <a:p>
            <a:pPr marL="0" indent="0" algn="just">
              <a:buNone/>
            </a:pPr>
            <a:endParaRPr lang="pt-BR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98026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3" t="11150" r="12988" b="13250"/>
          <a:stretch/>
        </p:blipFill>
        <p:spPr>
          <a:xfrm>
            <a:off x="899592" y="836712"/>
            <a:ext cx="7776864" cy="51845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O Processo da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7298604" y="5866641"/>
            <a:ext cx="1756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smtClean="0"/>
              <a:t>(PRESSMAN, 2011)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33845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O Processo da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7442" y="1347540"/>
            <a:ext cx="7811141" cy="6978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 algn="just">
              <a:spcAft>
                <a:spcPts val="1200"/>
              </a:spcAft>
              <a:buNone/>
            </a:pPr>
            <a:r>
              <a:rPr lang="pt-BR" sz="3200" b="1" dirty="0" smtClean="0">
                <a:solidFill>
                  <a:schemeClr val="accent6">
                    <a:lumMod val="75000"/>
                  </a:schemeClr>
                </a:solidFill>
              </a:rPr>
              <a:t>Projeto</a:t>
            </a:r>
            <a:endParaRPr lang="pt-BR" sz="28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Segue rigorosamente o princípio </a:t>
            </a:r>
            <a:r>
              <a:rPr lang="pt-BR" sz="2400" u="sng" dirty="0" smtClean="0"/>
              <a:t>KISS</a:t>
            </a:r>
            <a:r>
              <a:rPr lang="pt-BR" sz="2400" dirty="0" smtClean="0"/>
              <a:t>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Encoraja o usos de </a:t>
            </a:r>
            <a:r>
              <a:rPr lang="pt-BR" sz="2400" u="sng" dirty="0" smtClean="0"/>
              <a:t>cartões CRC </a:t>
            </a:r>
            <a:r>
              <a:rPr lang="pt-BR" sz="2400" dirty="0" smtClean="0"/>
              <a:t>(mecanismo O.O.)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 </a:t>
            </a:r>
            <a:r>
              <a:rPr lang="pt-BR" sz="2400" u="sng" dirty="0" smtClean="0"/>
              <a:t>CRC</a:t>
            </a:r>
            <a:r>
              <a:rPr lang="pt-BR" sz="2400" dirty="0" smtClean="0"/>
              <a:t> – classe-responsabilidade-colaborador – identificam e organizam as classes relevantes para o incremento.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b="1" u="sng" dirty="0" smtClean="0"/>
              <a:t>Solução pontal</a:t>
            </a:r>
            <a:r>
              <a:rPr lang="pt-BR" sz="2400" b="1" dirty="0" smtClean="0"/>
              <a:t>: </a:t>
            </a:r>
            <a:r>
              <a:rPr lang="pt-BR" sz="2400" dirty="0" smtClean="0"/>
              <a:t>- se um difícil problema de projeto é encontrado, recomenda-se a criação de um protótipo operacional que é implementado e avaliado (</a:t>
            </a:r>
            <a:r>
              <a:rPr lang="pt-BR" sz="2400" dirty="0"/>
              <a:t>reduzir riscos para  a verdadeira </a:t>
            </a:r>
            <a:r>
              <a:rPr lang="pt-BR" sz="2400" dirty="0" smtClean="0"/>
              <a:t>versão)</a:t>
            </a:r>
            <a:endParaRPr lang="pt-BR" sz="2400" dirty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2400" dirty="0" smtClean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2400" dirty="0" smtClean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3200" dirty="0" smtClean="0"/>
          </a:p>
          <a:p>
            <a:pPr marL="0" indent="0" algn="just">
              <a:buNone/>
            </a:pPr>
            <a:endParaRPr lang="pt-BR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0533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O Processo da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7442" y="1347540"/>
            <a:ext cx="781114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 algn="just">
              <a:spcAft>
                <a:spcPts val="1200"/>
              </a:spcAft>
              <a:buNone/>
            </a:pPr>
            <a:r>
              <a:rPr lang="pt-BR" sz="3200" b="1" dirty="0" smtClean="0">
                <a:solidFill>
                  <a:schemeClr val="accent6">
                    <a:lumMod val="75000"/>
                  </a:schemeClr>
                </a:solidFill>
              </a:rPr>
              <a:t>Projeto</a:t>
            </a:r>
            <a:endParaRPr lang="pt-BR" sz="28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ts val="3300"/>
              </a:lnSpc>
              <a:spcAft>
                <a:spcPts val="1800"/>
              </a:spcAft>
            </a:pPr>
            <a:r>
              <a:rPr lang="pt-BR" sz="2400" b="1" dirty="0" err="1" smtClean="0"/>
              <a:t>Refabricação</a:t>
            </a:r>
            <a:r>
              <a:rPr lang="pt-BR" sz="2400" b="1" dirty="0" smtClean="0"/>
              <a:t>:</a:t>
            </a:r>
            <a:r>
              <a:rPr lang="pt-BR" sz="2400" dirty="0" smtClean="0"/>
              <a:t> - processo de alteração do software  (estrutura interna ou código fonte) de tal forma que comportamento externo ou funcionalidade não se altere.</a:t>
            </a:r>
          </a:p>
          <a:p>
            <a:pPr algn="just">
              <a:lnSpc>
                <a:spcPts val="3300"/>
              </a:lnSpc>
              <a:spcAft>
                <a:spcPts val="1800"/>
              </a:spcAft>
            </a:pPr>
            <a:r>
              <a:rPr lang="pt-BR" sz="2400" dirty="0" smtClean="0"/>
              <a:t>A elaboração do </a:t>
            </a:r>
            <a:r>
              <a:rPr lang="pt-BR" sz="2400" u="sng" dirty="0" smtClean="0"/>
              <a:t>Projeto</a:t>
            </a:r>
            <a:r>
              <a:rPr lang="pt-BR" sz="2400" dirty="0" smtClean="0"/>
              <a:t> ocorre tanto antes como depois de ter iniciado a codificação.</a:t>
            </a:r>
          </a:p>
          <a:p>
            <a:pPr algn="just">
              <a:lnSpc>
                <a:spcPts val="3300"/>
              </a:lnSpc>
              <a:spcAft>
                <a:spcPts val="1800"/>
              </a:spcAft>
            </a:pPr>
            <a:r>
              <a:rPr lang="pt-BR" sz="2400" u="sng" dirty="0" err="1" smtClean="0"/>
              <a:t>Refabricação</a:t>
            </a:r>
            <a:r>
              <a:rPr lang="pt-BR" sz="2400" dirty="0" smtClean="0"/>
              <a:t> = projetar é realizado continuamente enquanto o sistema estiver em elaboração.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3200" dirty="0" smtClean="0"/>
          </a:p>
          <a:p>
            <a:pPr marL="0" indent="0" algn="just">
              <a:buNone/>
            </a:pPr>
            <a:endParaRPr lang="pt-BR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80726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O Processo da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7442" y="1347540"/>
            <a:ext cx="7811141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 algn="just">
              <a:spcAft>
                <a:spcPts val="1200"/>
              </a:spcAft>
              <a:buNone/>
            </a:pPr>
            <a:r>
              <a:rPr lang="pt-BR" sz="3200" b="1" dirty="0" smtClean="0">
                <a:solidFill>
                  <a:srgbClr val="00B050"/>
                </a:solidFill>
              </a:rPr>
              <a:t>Codificação</a:t>
            </a:r>
            <a:endParaRPr lang="pt-BR" sz="2800" b="1" dirty="0" smtClean="0">
              <a:solidFill>
                <a:srgbClr val="00B050"/>
              </a:solidFill>
            </a:endParaRP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Após desenvolvidas as </a:t>
            </a:r>
            <a:r>
              <a:rPr lang="pt-BR" sz="2400" i="1" dirty="0" smtClean="0"/>
              <a:t>histórias</a:t>
            </a:r>
            <a:r>
              <a:rPr lang="pt-BR" sz="2400" dirty="0" smtClean="0"/>
              <a:t> e o trabalho preliminar de elaboração, a equipe não passa para a codificação.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dirty="0" smtClean="0"/>
              <a:t>Desenvolve-se uma série de </a:t>
            </a:r>
            <a:r>
              <a:rPr lang="pt-BR" sz="2400" u="sng" dirty="0" smtClean="0"/>
              <a:t>testes de unidade</a:t>
            </a:r>
            <a:r>
              <a:rPr lang="pt-BR" sz="2400" dirty="0" smtClean="0"/>
              <a:t>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b="1" dirty="0" smtClean="0"/>
              <a:t>Programação em dupla (par): </a:t>
            </a:r>
            <a:r>
              <a:rPr lang="pt-BR" sz="2400" dirty="0" smtClean="0"/>
              <a:t>- a XP recomenda que duas pessoas trabalhem juntas para criar códigos para uma </a:t>
            </a:r>
            <a:r>
              <a:rPr lang="pt-BR" sz="2400" i="1" dirty="0" smtClean="0"/>
              <a:t>história.</a:t>
            </a:r>
            <a:endParaRPr lang="pt-BR" sz="2400" i="1" dirty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r>
              <a:rPr lang="pt-BR" sz="2400" b="1" dirty="0" smtClean="0"/>
              <a:t>Integração de códigos </a:t>
            </a:r>
            <a:r>
              <a:rPr lang="pt-BR" sz="2400" dirty="0" smtClean="0"/>
              <a:t>(equipe de integração ou a própria dupla de desenvolvedores)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2400" dirty="0" smtClean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3200" dirty="0" smtClean="0"/>
          </a:p>
          <a:p>
            <a:pPr marL="0" indent="0" algn="just">
              <a:buNone/>
            </a:pPr>
            <a:endParaRPr lang="pt-BR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76527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O Processo da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7442" y="1196752"/>
            <a:ext cx="7811141" cy="43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 algn="just">
              <a:spcAft>
                <a:spcPts val="1200"/>
              </a:spcAft>
              <a:buNone/>
            </a:pPr>
            <a:r>
              <a:rPr lang="pt-BR" sz="3200" b="1" dirty="0" smtClean="0">
                <a:solidFill>
                  <a:srgbClr val="00B050"/>
                </a:solidFill>
              </a:rPr>
              <a:t>Codificação</a:t>
            </a:r>
            <a:endParaRPr lang="pt-BR" sz="2800" b="1" dirty="0" smtClean="0">
              <a:solidFill>
                <a:srgbClr val="00B050"/>
              </a:solidFill>
            </a:endParaRPr>
          </a:p>
          <a:p>
            <a:pPr marL="0" indent="0" algn="just">
              <a:lnSpc>
                <a:spcPts val="3500"/>
              </a:lnSpc>
              <a:spcAft>
                <a:spcPts val="1200"/>
              </a:spcAft>
              <a:buNone/>
            </a:pPr>
            <a:r>
              <a:rPr lang="pt-BR" sz="2400" i="1" dirty="0" smtClean="0"/>
              <a:t>“Muitas equipes de software são constituídas por individualistas. Deverá haver empenho para modificar tal cultura, para que a programação em dupla funcione efetivamente”.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2400" dirty="0" smtClean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3200" dirty="0" smtClean="0"/>
          </a:p>
          <a:p>
            <a:pPr marL="0" indent="0" algn="just">
              <a:buNone/>
            </a:pPr>
            <a:endParaRPr lang="pt-BR" sz="2800" b="1" dirty="0" smtClean="0"/>
          </a:p>
        </p:txBody>
      </p:sp>
      <p:pic>
        <p:nvPicPr>
          <p:cNvPr id="1026" name="Picture 2" descr="http://image.slidesharecdn.com/pairprogramming-120415162145-phpapp01/95/pair-programming-1-728.jpg?cb=136378149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2" t="26620" r="3176" b="16015"/>
          <a:stretch/>
        </p:blipFill>
        <p:spPr bwMode="auto">
          <a:xfrm>
            <a:off x="3563888" y="3522494"/>
            <a:ext cx="5472608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pair programm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89" y="4095074"/>
            <a:ext cx="2581275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28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O Processo da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47442" y="1347540"/>
            <a:ext cx="7811141" cy="6055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 algn="just">
              <a:spcAft>
                <a:spcPts val="1200"/>
              </a:spcAft>
              <a:buNone/>
            </a:pPr>
            <a:r>
              <a:rPr lang="pt-BR" sz="3200" b="1" dirty="0" smtClean="0">
                <a:solidFill>
                  <a:schemeClr val="accent5">
                    <a:lumMod val="75000"/>
                  </a:schemeClr>
                </a:solidFill>
              </a:rPr>
              <a:t>Testes</a:t>
            </a:r>
            <a:endParaRPr lang="pt-BR" sz="28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just">
              <a:lnSpc>
                <a:spcPts val="3300"/>
              </a:lnSpc>
              <a:spcAft>
                <a:spcPts val="1800"/>
              </a:spcAft>
            </a:pPr>
            <a:r>
              <a:rPr lang="pt-BR" sz="2400" dirty="0" smtClean="0"/>
              <a:t>Corrigir pequenos problemas em intervalos de poucas horas leva menos tempo que corrigir problemas enormes próximos ao prazo de entrega.</a:t>
            </a:r>
          </a:p>
          <a:p>
            <a:pPr algn="just">
              <a:lnSpc>
                <a:spcPts val="3300"/>
              </a:lnSpc>
              <a:spcAft>
                <a:spcPts val="1800"/>
              </a:spcAft>
            </a:pPr>
            <a:r>
              <a:rPr lang="pt-BR" sz="2400" dirty="0" smtClean="0"/>
              <a:t>Testes de unidade, integração, aceitação</a:t>
            </a:r>
          </a:p>
          <a:p>
            <a:pPr algn="just">
              <a:lnSpc>
                <a:spcPts val="3300"/>
              </a:lnSpc>
              <a:spcAft>
                <a:spcPts val="1800"/>
              </a:spcAft>
            </a:pPr>
            <a:r>
              <a:rPr lang="pt-BR" sz="2400" dirty="0" smtClean="0"/>
              <a:t>Teste de aceitação (cliente) foca as características e funcionalidades do sistema total, que podem ser revistas pelos clientes.</a:t>
            </a:r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2400" dirty="0" smtClean="0"/>
          </a:p>
          <a:p>
            <a:pPr algn="just">
              <a:lnSpc>
                <a:spcPts val="3300"/>
              </a:lnSpc>
              <a:spcAft>
                <a:spcPts val="1200"/>
              </a:spcAft>
            </a:pPr>
            <a:endParaRPr lang="pt-BR" sz="3200" dirty="0" smtClean="0"/>
          </a:p>
          <a:p>
            <a:pPr marL="0" indent="0" algn="just">
              <a:buNone/>
            </a:pPr>
            <a:endParaRPr lang="pt-BR" sz="2800" b="1" dirty="0" smtClean="0"/>
          </a:p>
        </p:txBody>
      </p:sp>
      <p:sp>
        <p:nvSpPr>
          <p:cNvPr id="3" name="CaixaDeTexto 2"/>
          <p:cNvSpPr txBox="1"/>
          <p:nvPr/>
        </p:nvSpPr>
        <p:spPr>
          <a:xfrm>
            <a:off x="5974185" y="5589240"/>
            <a:ext cx="2537682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Artigo </a:t>
            </a:r>
            <a:r>
              <a:rPr lang="pt-BR" b="1" dirty="0" err="1" smtClean="0">
                <a:solidFill>
                  <a:schemeClr val="bg1"/>
                </a:solidFill>
              </a:rPr>
              <a:t>Pair</a:t>
            </a:r>
            <a:r>
              <a:rPr lang="pt-BR" b="1" dirty="0" smtClean="0">
                <a:solidFill>
                  <a:schemeClr val="bg1"/>
                </a:solidFill>
              </a:rPr>
              <a:t> </a:t>
            </a:r>
            <a:r>
              <a:rPr lang="pt-BR" b="1" dirty="0" err="1" smtClean="0">
                <a:solidFill>
                  <a:schemeClr val="bg1"/>
                </a:solidFill>
              </a:rPr>
              <a:t>Programming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88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Industrial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18233" y="1556792"/>
            <a:ext cx="8066855" cy="3059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buNone/>
            </a:pPr>
            <a:r>
              <a:rPr lang="pt-BR" dirty="0" smtClean="0"/>
              <a:t>“A IXP (</a:t>
            </a:r>
            <a:r>
              <a:rPr lang="pt-BR" i="1" dirty="0" smtClean="0"/>
              <a:t>Industrial Extreme </a:t>
            </a:r>
            <a:r>
              <a:rPr lang="pt-BR" i="1" dirty="0" err="1" smtClean="0"/>
              <a:t>Programming</a:t>
            </a:r>
            <a:r>
              <a:rPr lang="pt-BR" dirty="0" smtClean="0"/>
              <a:t>) é uma evolução orgânica da XP. Ela é imbuída do espírito minimalista, centrado no cliente e orientado a testes da XP. Difere Principalmente da XP original por sua maior inclusão do gerenciamento, por seu papel expandido para os </a:t>
            </a:r>
            <a:r>
              <a:rPr lang="pt-BR" dirty="0"/>
              <a:t>c</a:t>
            </a:r>
            <a:r>
              <a:rPr lang="pt-BR" dirty="0" smtClean="0"/>
              <a:t>lientes e por suas práticas técnicas atualizadas”</a:t>
            </a:r>
            <a:endParaRPr lang="pt-BR" dirty="0"/>
          </a:p>
        </p:txBody>
      </p:sp>
      <p:pic>
        <p:nvPicPr>
          <p:cNvPr id="1026" name="Picture 2" descr="http://www.industrialxp.org/in_xp_smalle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476672"/>
            <a:ext cx="123825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cdn.electric-cloud.com/wp-content/uploads/2015/02/joshu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41" y="4774737"/>
            <a:ext cx="1185546" cy="120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979712" y="5029616"/>
            <a:ext cx="1905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smtClean="0"/>
              <a:t>Joshua </a:t>
            </a:r>
            <a:r>
              <a:rPr lang="pt-BR" b="1" dirty="0" err="1" smtClean="0"/>
              <a:t>Kerievsky</a:t>
            </a:r>
            <a:r>
              <a:rPr lang="pt-BR" b="1" dirty="0" smtClean="0"/>
              <a:t>  </a:t>
            </a:r>
            <a:endParaRPr lang="pt-BR" b="1" dirty="0"/>
          </a:p>
        </p:txBody>
      </p:sp>
      <p:sp>
        <p:nvSpPr>
          <p:cNvPr id="5" name="Retângulo 4"/>
          <p:cNvSpPr/>
          <p:nvPr/>
        </p:nvSpPr>
        <p:spPr>
          <a:xfrm>
            <a:off x="1979712" y="5367977"/>
            <a:ext cx="4572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 smtClean="0">
                <a:solidFill>
                  <a:srgbClr val="0088CC"/>
                </a:solidFill>
                <a:latin typeface="Helvetica Neue"/>
              </a:rPr>
              <a:t>Refactoring </a:t>
            </a:r>
            <a:r>
              <a:rPr lang="en-US" sz="1600" dirty="0">
                <a:solidFill>
                  <a:srgbClr val="0088CC"/>
                </a:solidFill>
                <a:latin typeface="Helvetica Neue"/>
              </a:rPr>
              <a:t>to Patterns</a:t>
            </a:r>
            <a:r>
              <a:rPr lang="en-US" sz="1600" dirty="0">
                <a:solidFill>
                  <a:srgbClr val="333333"/>
                </a:solidFill>
                <a:latin typeface="Helvetica Neue"/>
              </a:rPr>
              <a:t>, and a guru-level practitioner of Lean/Agile methods.</a:t>
            </a:r>
            <a:r>
              <a:rPr lang="en-US" dirty="0">
                <a:solidFill>
                  <a:srgbClr val="333333"/>
                </a:solidFill>
                <a:latin typeface="Helvetica Neue"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344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20688"/>
            <a:ext cx="3456384" cy="381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46" b="13189"/>
          <a:stretch/>
        </p:blipFill>
        <p:spPr bwMode="auto">
          <a:xfrm>
            <a:off x="5436096" y="3212977"/>
            <a:ext cx="345638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Práticas da IXP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67544" y="1329099"/>
            <a:ext cx="5112568" cy="477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algn="just">
              <a:spcAft>
                <a:spcPts val="600"/>
              </a:spcAft>
              <a:buFont typeface="+mj-lt"/>
              <a:buAutoNum type="arabicPeriod"/>
            </a:pPr>
            <a:r>
              <a:rPr lang="pt-BR" b="1" dirty="0" smtClean="0"/>
              <a:t>Avaliação imediata </a:t>
            </a:r>
          </a:p>
          <a:p>
            <a:pPr marL="0" indent="0" algn="just">
              <a:lnSpc>
                <a:spcPts val="4000"/>
              </a:lnSpc>
              <a:spcAft>
                <a:spcPts val="600"/>
              </a:spcAft>
              <a:buNone/>
            </a:pPr>
            <a:r>
              <a:rPr lang="pt-BR" sz="2400" dirty="0" smtClean="0"/>
              <a:t>Antes do início do projeto a avaliação imediata verifica se (a) existe um ambiente apropriado (2) equipe apropriada (3) programa de qualidade na empresa (4) apoio da empresa em novos valores de uma equipe ágil (5) a comunidade de projeto ampliada será composta apropriadamente.</a:t>
            </a:r>
            <a:endParaRPr lang="pt-BR" sz="24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5940152" y="1188616"/>
            <a:ext cx="280831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latin typeface="Maiandra GD" panose="020E0502030308020204" pitchFamily="34" charset="0"/>
              </a:rPr>
              <a:t>Práticas IXP</a:t>
            </a:r>
          </a:p>
          <a:p>
            <a:endParaRPr lang="pt-BR" dirty="0"/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u="sng" dirty="0" smtClean="0">
                <a:latin typeface="Maiandra GD" panose="020E0502030308020204" pitchFamily="34" charset="0"/>
              </a:rPr>
              <a:t>Avaliação imediata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Comunidade de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Mapeamento do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Gerenciamento orientado a testes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Retrospectivas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Aprendizagem contínua</a:t>
            </a:r>
          </a:p>
          <a:p>
            <a:pPr marL="342900" indent="-34290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877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20688"/>
            <a:ext cx="3456384" cy="381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46" b="13189"/>
          <a:stretch/>
        </p:blipFill>
        <p:spPr bwMode="auto">
          <a:xfrm>
            <a:off x="5436096" y="3212977"/>
            <a:ext cx="345638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Práticas da IXP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67545" y="1340768"/>
            <a:ext cx="5040559" cy="477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algn="just">
              <a:spcAft>
                <a:spcPts val="600"/>
              </a:spcAft>
              <a:buFont typeface="+mj-lt"/>
              <a:buAutoNum type="arabicPeriod" startAt="2"/>
            </a:pPr>
            <a:r>
              <a:rPr lang="pt-BR" b="1" dirty="0" smtClean="0"/>
              <a:t>Comunidade de projeto</a:t>
            </a:r>
          </a:p>
          <a:p>
            <a:pPr marL="0" indent="0" algn="just">
              <a:lnSpc>
                <a:spcPts val="4000"/>
              </a:lnSpc>
              <a:spcAft>
                <a:spcPts val="600"/>
              </a:spcAft>
              <a:buNone/>
            </a:pPr>
            <a:r>
              <a:rPr lang="pt-BR" sz="2400" dirty="0" smtClean="0"/>
              <a:t>O conceito de equipe deve se transformar em comunidade na IXP (tecnólogos, clientes, auditores, produção, vendas e outros) Os membros devem ter papéis explicitamente definidos bem como mecanismos de comunicação e coordenação.</a:t>
            </a:r>
            <a:endParaRPr lang="pt-BR" sz="24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5940152" y="1188616"/>
            <a:ext cx="280831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latin typeface="Maiandra GD" panose="020E0502030308020204" pitchFamily="34" charset="0"/>
              </a:rPr>
              <a:t>Práticas IXP</a:t>
            </a:r>
          </a:p>
          <a:p>
            <a:endParaRPr lang="pt-BR" dirty="0"/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Avaliação imediata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u="sng" dirty="0" smtClean="0">
                <a:latin typeface="Maiandra GD" panose="020E0502030308020204" pitchFamily="34" charset="0"/>
              </a:rPr>
              <a:t>Comunidade de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Mapeamento do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Gerenciamento orientado a testes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Retrospectivas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Aprendizagem contínua</a:t>
            </a:r>
          </a:p>
          <a:p>
            <a:pPr marL="342900" indent="-34290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444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46" b="13189"/>
          <a:stretch/>
        </p:blipFill>
        <p:spPr bwMode="auto">
          <a:xfrm>
            <a:off x="5436096" y="3212977"/>
            <a:ext cx="345638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20688"/>
            <a:ext cx="3456384" cy="381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Práticas da IXP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67544" y="1340768"/>
            <a:ext cx="4968552" cy="477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spcAft>
                <a:spcPts val="600"/>
              </a:spcAft>
              <a:buFont typeface="+mj-lt"/>
              <a:buAutoNum type="arabicPeriod" startAt="3"/>
            </a:pPr>
            <a:r>
              <a:rPr lang="pt-BR" b="1" dirty="0" smtClean="0"/>
              <a:t>Mapeamento do projeto</a:t>
            </a:r>
          </a:p>
          <a:p>
            <a:pPr marL="0" indent="0" algn="just">
              <a:lnSpc>
                <a:spcPts val="4000"/>
              </a:lnSpc>
              <a:spcAft>
                <a:spcPts val="600"/>
              </a:spcAft>
              <a:buNone/>
            </a:pPr>
            <a:r>
              <a:rPr lang="pt-BR" sz="2400" dirty="0" smtClean="0"/>
              <a:t>A própria comunidade avalia o projeto para determinar se este se justifica aos negócios (metas e objetivos). O mapeamento também examina o contexto do projeto para estabelecer como este complementa, amplia ou substitui sistemas ou processos existentes.</a:t>
            </a:r>
            <a:endParaRPr lang="pt-BR" sz="24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5940152" y="1188616"/>
            <a:ext cx="280831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latin typeface="Maiandra GD" panose="020E0502030308020204" pitchFamily="34" charset="0"/>
              </a:rPr>
              <a:t>Práticas IXP</a:t>
            </a:r>
          </a:p>
          <a:p>
            <a:endParaRPr lang="pt-BR" dirty="0"/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Avaliação imediata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Comunidade de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u="sng" dirty="0" smtClean="0">
                <a:latin typeface="Maiandra GD" panose="020E0502030308020204" pitchFamily="34" charset="0"/>
              </a:rPr>
              <a:t>Mapeamento do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Gerenciamento orientado a testes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Retrospectivas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Aprendizagem contínua</a:t>
            </a:r>
          </a:p>
          <a:p>
            <a:pPr marL="342900" indent="-34290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44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Práticas da IXP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67544" y="1340768"/>
            <a:ext cx="4968551" cy="477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spcAft>
                <a:spcPts val="600"/>
              </a:spcAft>
              <a:buFont typeface="+mj-lt"/>
              <a:buAutoNum type="arabicPeriod" startAt="4"/>
            </a:pPr>
            <a:r>
              <a:rPr lang="pt-BR" b="1" dirty="0" smtClean="0"/>
              <a:t>Gerenciamento a testes</a:t>
            </a:r>
          </a:p>
          <a:p>
            <a:pPr marL="0" indent="0" algn="just">
              <a:lnSpc>
                <a:spcPts val="4000"/>
              </a:lnSpc>
              <a:spcAft>
                <a:spcPts val="600"/>
              </a:spcAft>
              <a:buNone/>
            </a:pPr>
            <a:r>
              <a:rPr lang="pt-BR" sz="2400" dirty="0" smtClean="0"/>
              <a:t>Requer critérios mensuráveis para avaliar o estado do projeto e do progresso obtido até então. O gerenciamento orientado a testes estabelece uma série de “destinos” mensuráveis e define mecanismos determinar se esses foram atingidos ou não.</a:t>
            </a:r>
            <a:endParaRPr lang="pt-BR" sz="2400" dirty="0"/>
          </a:p>
        </p:txBody>
      </p:sp>
      <p:pic>
        <p:nvPicPr>
          <p:cNvPr id="5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20688"/>
            <a:ext cx="3456384" cy="381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46" b="13189"/>
          <a:stretch/>
        </p:blipFill>
        <p:spPr bwMode="auto">
          <a:xfrm>
            <a:off x="5436096" y="3212977"/>
            <a:ext cx="345638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5940152" y="1188616"/>
            <a:ext cx="280831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latin typeface="Maiandra GD" panose="020E0502030308020204" pitchFamily="34" charset="0"/>
              </a:rPr>
              <a:t>Práticas IXP</a:t>
            </a:r>
          </a:p>
          <a:p>
            <a:endParaRPr lang="pt-BR" dirty="0"/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Avaliação imediata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Comunidade de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Mapeamento do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u="sng" dirty="0" smtClean="0">
                <a:latin typeface="Maiandra GD" panose="020E0502030308020204" pitchFamily="34" charset="0"/>
              </a:rPr>
              <a:t>Gerenciamento orientado a testes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Retrospectivas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Aprendizagem contínua</a:t>
            </a:r>
          </a:p>
          <a:p>
            <a:pPr marL="342900" indent="-34290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204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Práticas da IXP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67544" y="1340768"/>
            <a:ext cx="4968551" cy="4260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spcAft>
                <a:spcPts val="600"/>
              </a:spcAft>
              <a:buFont typeface="+mj-lt"/>
              <a:buAutoNum type="arabicPeriod" startAt="5"/>
            </a:pPr>
            <a:r>
              <a:rPr lang="pt-BR" b="1" dirty="0" smtClean="0"/>
              <a:t>Retrospectivas</a:t>
            </a:r>
          </a:p>
          <a:p>
            <a:pPr marL="0" indent="0" algn="just">
              <a:lnSpc>
                <a:spcPts val="4000"/>
              </a:lnSpc>
              <a:spcAft>
                <a:spcPts val="600"/>
              </a:spcAft>
              <a:buNone/>
            </a:pPr>
            <a:r>
              <a:rPr lang="pt-BR" sz="2400" dirty="0" smtClean="0"/>
              <a:t>Conduz uma revisão técnica especializada após a entrega de cada incremento. A retrospectiva</a:t>
            </a:r>
            <a:r>
              <a:rPr lang="pt-BR" sz="2400" dirty="0"/>
              <a:t> </a:t>
            </a:r>
            <a:r>
              <a:rPr lang="pt-BR" sz="2400" dirty="0" smtClean="0"/>
              <a:t>é a revisão que examina itens, eventos e lições aprendidas a cada incremento. O objetivo é aprimorar o processo da IXP. </a:t>
            </a:r>
            <a:endParaRPr lang="pt-BR" sz="2400" dirty="0"/>
          </a:p>
        </p:txBody>
      </p:sp>
      <p:pic>
        <p:nvPicPr>
          <p:cNvPr id="5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20688"/>
            <a:ext cx="3456384" cy="381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46" b="13189"/>
          <a:stretch/>
        </p:blipFill>
        <p:spPr bwMode="auto">
          <a:xfrm>
            <a:off x="5436096" y="3212977"/>
            <a:ext cx="345638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5940152" y="1188616"/>
            <a:ext cx="280831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latin typeface="Maiandra GD" panose="020E0502030308020204" pitchFamily="34" charset="0"/>
              </a:rPr>
              <a:t>Práticas IXP</a:t>
            </a:r>
          </a:p>
          <a:p>
            <a:endParaRPr lang="pt-BR" dirty="0"/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Avaliação imediata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Comunidade de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Mapeamento do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Gerenciamento orientado a testes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u="sng" dirty="0" smtClean="0">
                <a:latin typeface="Maiandra GD" panose="020E0502030308020204" pitchFamily="34" charset="0"/>
              </a:rPr>
              <a:t>Retrospectivas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latin typeface="Maiandra GD" panose="020E0502030308020204" pitchFamily="34" charset="0"/>
              </a:rPr>
              <a:t>Aprendizagem contínua</a:t>
            </a:r>
          </a:p>
          <a:p>
            <a:pPr marL="342900" indent="-34290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923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Debate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67544" y="1340768"/>
            <a:ext cx="4968551" cy="4260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spcAft>
                <a:spcPts val="600"/>
              </a:spcAft>
              <a:buFont typeface="+mj-lt"/>
              <a:buAutoNum type="arabicPeriod" startAt="6"/>
            </a:pPr>
            <a:r>
              <a:rPr lang="pt-BR" b="1" dirty="0" smtClean="0"/>
              <a:t>Aprendizagem contínua</a:t>
            </a:r>
          </a:p>
          <a:p>
            <a:pPr marL="0" indent="0" algn="just">
              <a:lnSpc>
                <a:spcPts val="4000"/>
              </a:lnSpc>
              <a:spcAft>
                <a:spcPts val="600"/>
              </a:spcAft>
              <a:buNone/>
            </a:pPr>
            <a:r>
              <a:rPr lang="pt-BR" sz="2400" dirty="0" smtClean="0"/>
              <a:t>É parte vital para o aperfeiçoamento contínuo do processo, os membros da equipe de desenvolvimento são encorajados a aprender novos métodos e técnicas que possam conduzir a um produto de melhor qualidade.</a:t>
            </a:r>
            <a:endParaRPr lang="pt-BR" sz="2400" dirty="0"/>
          </a:p>
        </p:txBody>
      </p:sp>
      <p:pic>
        <p:nvPicPr>
          <p:cNvPr id="5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20688"/>
            <a:ext cx="3456384" cy="381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d2hi2evq802yi8.cloudfront.net/media/catalog/product/cache/1/image/490x/9df78eab33525d08d6e5fb8d27136e95/f/i/filofax-yellow-ruled-notepad-personal-yellow-larg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46" b="13189"/>
          <a:stretch/>
        </p:blipFill>
        <p:spPr bwMode="auto">
          <a:xfrm>
            <a:off x="5436096" y="3212977"/>
            <a:ext cx="345638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5940152" y="1188616"/>
            <a:ext cx="280831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latin typeface="Maiandra GD" panose="020E0502030308020204" pitchFamily="34" charset="0"/>
              </a:rPr>
              <a:t>Práticas IXP</a:t>
            </a:r>
          </a:p>
          <a:p>
            <a:endParaRPr lang="pt-BR" dirty="0"/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Avaliação imediata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Comunidade de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Mapeamento do projeto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Gerenciamento orientado a testes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iandra GD" panose="020E0502030308020204" pitchFamily="34" charset="0"/>
              </a:rPr>
              <a:t>Retrospectivas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pt-BR" u="sng" dirty="0" smtClean="0">
                <a:latin typeface="Maiandra GD" panose="020E0502030308020204" pitchFamily="34" charset="0"/>
              </a:rPr>
              <a:t>Aprendizagem contínua</a:t>
            </a:r>
          </a:p>
          <a:p>
            <a:pPr marL="342900" indent="-34290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344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Debate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39552" y="1412776"/>
            <a:ext cx="8066855" cy="3901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buNone/>
            </a:pPr>
            <a:r>
              <a:rPr lang="pt-BR" dirty="0" smtClean="0"/>
              <a:t>Alguns autores questionam e examinam a eficácia da XP (</a:t>
            </a:r>
            <a:r>
              <a:rPr lang="pt-BR" dirty="0" err="1" smtClean="0"/>
              <a:t>Stephens</a:t>
            </a:r>
            <a:r>
              <a:rPr lang="pt-BR" dirty="0" smtClean="0"/>
              <a:t> e Rosenberg, 2003). Dentre os itens que continuam a incomodar alguns crítico estão:</a:t>
            </a:r>
          </a:p>
          <a:p>
            <a:pPr marL="0" indent="0">
              <a:buNone/>
            </a:pPr>
            <a:r>
              <a:rPr lang="pt-BR" b="1" i="1" dirty="0" smtClean="0">
                <a:latin typeface="Calibri Light" panose="020F0302020204030204" pitchFamily="34" charset="0"/>
              </a:rPr>
              <a:t>Volatilidade de requisitos – </a:t>
            </a:r>
            <a:r>
              <a:rPr lang="pt-BR" sz="2400" i="1" dirty="0" smtClean="0">
                <a:latin typeface="Calibri Light" panose="020F0302020204030204" pitchFamily="34" charset="0"/>
              </a:rPr>
              <a:t>cliente membro ativo, alterações são solicitadas informalmente. Como consequência o escopo do projeto pode mudar e trabalhos podem ser alterados afim de acomodar tais necessidades.</a:t>
            </a:r>
            <a:endParaRPr lang="pt-BR" sz="2400" b="1" i="1" dirty="0" smtClean="0">
              <a:latin typeface="Calibri Light" panose="020F0302020204030204" pitchFamily="34" charset="0"/>
            </a:endParaRPr>
          </a:p>
        </p:txBody>
      </p:sp>
      <p:pic>
        <p:nvPicPr>
          <p:cNvPr id="1026" name="Picture 2" descr="http://www.industrialxp.org/in_xp_smalle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0770" y="467335"/>
            <a:ext cx="963465" cy="108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://scrumbrasil.com.br/wp-content/uploads/2015/04/XP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11776"/>
            <a:ext cx="1143000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14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Debate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39552" y="1340768"/>
            <a:ext cx="8066855" cy="490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buNone/>
            </a:pPr>
            <a:r>
              <a:rPr lang="pt-BR" b="1" i="1" dirty="0" smtClean="0">
                <a:latin typeface="Calibri Light" panose="020F0302020204030204" pitchFamily="34" charset="0"/>
              </a:rPr>
              <a:t>Necessidade conflitantes de clientes – </a:t>
            </a:r>
            <a:r>
              <a:rPr lang="pt-BR" sz="2400" i="1" dirty="0" smtClean="0">
                <a:latin typeface="Calibri Light" panose="020F0302020204030204" pitchFamily="34" charset="0"/>
              </a:rPr>
              <a:t>projetos grandes envolvem múltiplos clientes , cada qual com seu próprio conjunto de necessidades. Na XP, a própria equipe tem a tarefa de assimilar tais necessidades, o que pode fugir de seu escopo de autoridade.</a:t>
            </a:r>
          </a:p>
          <a:p>
            <a:pPr marL="0" indent="0">
              <a:buNone/>
            </a:pPr>
            <a:r>
              <a:rPr lang="pt-BR" sz="2800" b="1" i="1" dirty="0" smtClean="0">
                <a:latin typeface="Calibri Light" panose="020F0302020204030204" pitchFamily="34" charset="0"/>
              </a:rPr>
              <a:t>Requisitos levantados informalmente – </a:t>
            </a:r>
            <a:r>
              <a:rPr lang="pt-BR" sz="2400" i="1" dirty="0" smtClean="0">
                <a:latin typeface="Calibri Light" panose="020F0302020204030204" pitchFamily="34" charset="0"/>
              </a:rPr>
              <a:t>necessário um modelo mais formal para assegurar que omissões, inconsistências e erros sejam descobertos antes que o sistema seja construído.</a:t>
            </a:r>
            <a:endParaRPr lang="pt-BR" sz="2800" b="1" i="1" dirty="0" smtClean="0">
              <a:latin typeface="Calibri Light" panose="020F0302020204030204" pitchFamily="34" charset="0"/>
            </a:endParaRPr>
          </a:p>
        </p:txBody>
      </p:sp>
      <p:pic>
        <p:nvPicPr>
          <p:cNvPr id="1026" name="Picture 2" descr="http://www.industrialxp.org/in_xp_smalle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0770" y="467335"/>
            <a:ext cx="963465" cy="108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://scrumbrasil.com.br/wp-content/uploads/2015/04/XP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11776"/>
            <a:ext cx="1143000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82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8233" y="188640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sz="3600" b="1" dirty="0" smtClean="0">
                <a:solidFill>
                  <a:srgbClr val="C00000"/>
                </a:solidFill>
              </a:rPr>
              <a:t>Debate XP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39552" y="1484784"/>
            <a:ext cx="8066855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 marL="0" indent="0">
              <a:buNone/>
            </a:pPr>
            <a:r>
              <a:rPr lang="pt-BR" b="1" i="1" dirty="0" smtClean="0">
                <a:latin typeface="Calibri Light" panose="020F0302020204030204" pitchFamily="34" charset="0"/>
              </a:rPr>
              <a:t>Falta de projeto formal – </a:t>
            </a:r>
            <a:r>
              <a:rPr lang="pt-BR" sz="2400" i="1" dirty="0" smtClean="0">
                <a:latin typeface="Calibri Light" panose="020F0302020204030204" pitchFamily="34" charset="0"/>
              </a:rPr>
              <a:t>a XP tira a ênfase da necessidade do projeto de arquitetura e sugere, em muitos casos, que todos os tipos de projetos devam ser relativamente informais (simplicidade valor fundamental). Defensores da XP sugerem que a natureza incremental do processo limita a complexidade reduzindo a necessidade de um projeto extenso.</a:t>
            </a:r>
          </a:p>
        </p:txBody>
      </p:sp>
      <p:pic>
        <p:nvPicPr>
          <p:cNvPr id="1026" name="Picture 2" descr="http://www.industrialxp.org/in_xp_smalle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0770" y="467335"/>
            <a:ext cx="963465" cy="108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://scrumbrasil.com.br/wp-content/uploads/2015/04/XP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11776"/>
            <a:ext cx="1143000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23528" y="4943490"/>
            <a:ext cx="8496943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ys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pt-BR" sz="2400" dirty="0" smtClean="0">
                <a:latin typeface="Gabriola" panose="04040605051002020D02" pitchFamily="82" charset="0"/>
              </a:rPr>
              <a:t>Muitos processos de software tem suas falhas. O segredo é reconhecer onde um processo pode apresentar fraquezas e adaptá-lo às necessidades específicas da organização.</a:t>
            </a:r>
            <a:endParaRPr lang="pt-BR" sz="2400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3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8199" y="476672"/>
            <a:ext cx="7869560" cy="1143000"/>
          </a:xfrm>
        </p:spPr>
        <p:txBody>
          <a:bodyPr>
            <a:normAutofit/>
          </a:bodyPr>
          <a:lstStyle/>
          <a:p>
            <a:pPr algn="l"/>
            <a:r>
              <a:rPr lang="pt-BR" b="1" dirty="0" smtClean="0">
                <a:solidFill>
                  <a:srgbClr val="C00000"/>
                </a:solidFill>
              </a:rPr>
              <a:t>Atividades </a:t>
            </a:r>
            <a:endParaRPr lang="pt-BR" sz="3600" b="1" dirty="0">
              <a:solidFill>
                <a:srgbClr val="C00000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827584" y="1916832"/>
            <a:ext cx="8066855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514350" indent="-514350">
              <a:lnSpc>
                <a:spcPts val="3900"/>
              </a:lnSpc>
              <a:spcAft>
                <a:spcPts val="2400"/>
              </a:spcAft>
              <a:buFont typeface="Wingdings" panose="05000000000000000000" pitchFamily="2" charset="2"/>
              <a:buChar char="ü"/>
              <a:defRPr sz="2700"/>
            </a:lvl1pPr>
          </a:lstStyle>
          <a:p>
            <a:pPr>
              <a:buFont typeface="+mj-lt"/>
              <a:buAutoNum type="arabicPeriod"/>
            </a:pPr>
            <a:r>
              <a:rPr lang="pt-BR" sz="3600" b="1" i="1" dirty="0" smtClean="0">
                <a:latin typeface="Calibri Light" panose="020F0302020204030204" pitchFamily="34" charset="0"/>
              </a:rPr>
              <a:t>Lista de Exercícios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600" b="1" i="1" dirty="0" smtClean="0">
                <a:latin typeface="Calibri Light" panose="020F0302020204030204" pitchFamily="34" charset="0"/>
              </a:rPr>
              <a:t>Artigo</a:t>
            </a:r>
            <a:endParaRPr lang="pt-BR" sz="3600" i="1" dirty="0" smtClean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82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6726</TotalTime>
  <Words>2161</Words>
  <Application>Microsoft Office PowerPoint</Application>
  <PresentationFormat>Apresentação na tela (4:3)</PresentationFormat>
  <Paragraphs>286</Paragraphs>
  <Slides>42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42</vt:i4>
      </vt:variant>
    </vt:vector>
  </HeadingPairs>
  <TitlesOfParts>
    <vt:vector size="57" baseType="lpstr">
      <vt:lpstr>Adobe Arabic</vt:lpstr>
      <vt:lpstr>Adobe Fangsong Std R</vt:lpstr>
      <vt:lpstr>Arial</vt:lpstr>
      <vt:lpstr>Calibri</vt:lpstr>
      <vt:lpstr>Calibri Light</vt:lpstr>
      <vt:lpstr>Courier New</vt:lpstr>
      <vt:lpstr>Gabriola</vt:lpstr>
      <vt:lpstr>Helvetica Neue</vt:lpstr>
      <vt:lpstr>Maiandra GD</vt:lpstr>
      <vt:lpstr>Times New Roman</vt:lpstr>
      <vt:lpstr>Wingdings</vt:lpstr>
      <vt:lpstr>Wingdings 3</vt:lpstr>
      <vt:lpstr>Tema do Office</vt:lpstr>
      <vt:lpstr>1_Personalizar design</vt:lpstr>
      <vt:lpstr>Personalizar design</vt:lpstr>
      <vt:lpstr>Aula 5 – Desenvolvimento Ágil</vt:lpstr>
      <vt:lpstr>Principais Tópicos</vt:lpstr>
      <vt:lpstr>Principais Tópicos</vt:lpstr>
      <vt:lpstr>Desenvolvimento Ágil</vt:lpstr>
      <vt:lpstr>Desenvolvimento Ágil</vt:lpstr>
      <vt:lpstr>O manifesto valoriza:</vt:lpstr>
      <vt:lpstr>Desenvolvimento Ágil</vt:lpstr>
      <vt:lpstr>Desenvolvimento Ágil</vt:lpstr>
      <vt:lpstr>Desenvolvimento Ágil</vt:lpstr>
      <vt:lpstr>Panorama</vt:lpstr>
      <vt:lpstr>Panorama</vt:lpstr>
      <vt:lpstr>Agilidade e o Custo das Mudanças</vt:lpstr>
      <vt:lpstr>Agilidade e o Custo das Mudanças</vt:lpstr>
      <vt:lpstr>Princípios da Agilidade</vt:lpstr>
      <vt:lpstr>Apresentação do PowerPoint</vt:lpstr>
      <vt:lpstr>Apresentação do PowerPoint</vt:lpstr>
      <vt:lpstr>Fatores humanos</vt:lpstr>
      <vt:lpstr>Apresentação do PowerPoint</vt:lpstr>
      <vt:lpstr>Extreme Programming - XP</vt:lpstr>
      <vt:lpstr>Valores da Extreme Programming - XP</vt:lpstr>
      <vt:lpstr>Valores da Extreme Programming - XP</vt:lpstr>
      <vt:lpstr>Valores da Extreme Programming - XP</vt:lpstr>
      <vt:lpstr>O Processo da XP</vt:lpstr>
      <vt:lpstr>O Processo da XP</vt:lpstr>
      <vt:lpstr>O Processo da XP</vt:lpstr>
      <vt:lpstr>O Processo da XP</vt:lpstr>
      <vt:lpstr>O Processo da XP</vt:lpstr>
      <vt:lpstr>O Processo da XP</vt:lpstr>
      <vt:lpstr>O Processo da XP</vt:lpstr>
      <vt:lpstr>O Processo da XP</vt:lpstr>
      <vt:lpstr>O Processo da XP</vt:lpstr>
      <vt:lpstr>Industrial XP</vt:lpstr>
      <vt:lpstr>Práticas da IXP</vt:lpstr>
      <vt:lpstr>Práticas da IXP</vt:lpstr>
      <vt:lpstr>Práticas da IXP</vt:lpstr>
      <vt:lpstr>Práticas da IXP</vt:lpstr>
      <vt:lpstr>Práticas da IXP</vt:lpstr>
      <vt:lpstr>Debate XP</vt:lpstr>
      <vt:lpstr>Debate XP</vt:lpstr>
      <vt:lpstr>Debate XP</vt:lpstr>
      <vt:lpstr>Debate XP</vt:lpstr>
      <vt:lpstr>Atividades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Gustavo</dc:creator>
  <cp:lastModifiedBy>Gustavo Kimura Montanha</cp:lastModifiedBy>
  <cp:revision>348</cp:revision>
  <dcterms:created xsi:type="dcterms:W3CDTF">2013-10-21T12:10:37Z</dcterms:created>
  <dcterms:modified xsi:type="dcterms:W3CDTF">2016-05-02T11:16:07Z</dcterms:modified>
</cp:coreProperties>
</file>