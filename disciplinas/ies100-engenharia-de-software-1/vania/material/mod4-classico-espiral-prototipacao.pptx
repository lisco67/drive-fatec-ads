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40"/>
  </p:notesMasterIdLst>
  <p:sldIdLst>
    <p:sldId id="312" r:id="rId2"/>
    <p:sldId id="314" r:id="rId3"/>
    <p:sldId id="304" r:id="rId4"/>
    <p:sldId id="263" r:id="rId5"/>
    <p:sldId id="258" r:id="rId6"/>
    <p:sldId id="265" r:id="rId7"/>
    <p:sldId id="259" r:id="rId8"/>
    <p:sldId id="260" r:id="rId9"/>
    <p:sldId id="261" r:id="rId10"/>
    <p:sldId id="267" r:id="rId11"/>
    <p:sldId id="268" r:id="rId12"/>
    <p:sldId id="269" r:id="rId13"/>
    <p:sldId id="270" r:id="rId14"/>
    <p:sldId id="271" r:id="rId15"/>
    <p:sldId id="279" r:id="rId16"/>
    <p:sldId id="280" r:id="rId17"/>
    <p:sldId id="281" r:id="rId18"/>
    <p:sldId id="289" r:id="rId19"/>
    <p:sldId id="283" r:id="rId20"/>
    <p:sldId id="290" r:id="rId21"/>
    <p:sldId id="291" r:id="rId22"/>
    <p:sldId id="285" r:id="rId23"/>
    <p:sldId id="286" r:id="rId24"/>
    <p:sldId id="287" r:id="rId25"/>
    <p:sldId id="292" r:id="rId26"/>
    <p:sldId id="305" r:id="rId27"/>
    <p:sldId id="310" r:id="rId28"/>
    <p:sldId id="294" r:id="rId29"/>
    <p:sldId id="295" r:id="rId30"/>
    <p:sldId id="296" r:id="rId31"/>
    <p:sldId id="297" r:id="rId32"/>
    <p:sldId id="311" r:id="rId33"/>
    <p:sldId id="293" r:id="rId34"/>
    <p:sldId id="306" r:id="rId35"/>
    <p:sldId id="307" r:id="rId36"/>
    <p:sldId id="298" r:id="rId37"/>
    <p:sldId id="308" r:id="rId38"/>
    <p:sldId id="309" r:id="rId39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94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34B0B9D-8FD1-4CBB-A39C-F79971298C8E}" type="datetimeFigureOut">
              <a:rPr lang="pt-BR"/>
              <a:pPr>
                <a:defRPr/>
              </a:pPr>
              <a:t>10/03/2019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 smtClean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 smtClean="0"/>
              <a:t>Clique para editar os estilos do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4EB6516-B8C6-4276-B084-58922B13458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01144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5B1948-7B3E-4C95-A8FF-98F8389CF802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8F112B-3317-4DF1-B1A2-12E4A8238E88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877FA77-B76B-4F0C-8F46-DB21D5733229}" type="slidenum">
              <a:rPr lang="en-US" smtClean="0"/>
              <a:pPr>
                <a:defRPr/>
              </a:pPr>
              <a:t>3</a:t>
            </a:fld>
            <a:endParaRPr lang="en-US" smtClean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D8FC5D-AB92-4B5D-81E7-6B12EB8F6D11}" type="slidenum">
              <a:rPr lang="en-US" smtClean="0"/>
              <a:pPr>
                <a:defRPr/>
              </a:pPr>
              <a:t>20</a:t>
            </a:fld>
            <a:endParaRPr lang="en-US" smtClean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31171B0-29AC-4CE3-BA91-B38B9060E779}" type="slidenum">
              <a:rPr lang="en-US" smtClean="0"/>
              <a:pPr>
                <a:defRPr/>
              </a:pPr>
              <a:t>21</a:t>
            </a:fld>
            <a:endParaRPr lang="en-US" smtClean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043D283-420C-4D9B-94D9-CD7B9434D4F2}" type="slidenum">
              <a:rPr lang="en-US" smtClean="0"/>
              <a:pPr>
                <a:defRPr/>
              </a:pPr>
              <a:t>25</a:t>
            </a:fld>
            <a:endParaRPr lang="en-US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F58E45F-84F8-4F95-AED8-C7DE9B8AC365}" type="slidenum">
              <a:rPr lang="en-US" smtClean="0"/>
              <a:pPr>
                <a:defRPr/>
              </a:pPr>
              <a:t>28</a:t>
            </a:fld>
            <a:endParaRPr lang="en-US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DB3B1FA-1F83-4374-AAB0-AB10027711D0}" type="slidenum">
              <a:rPr lang="en-US" smtClean="0"/>
              <a:pPr>
                <a:defRPr/>
              </a:pPr>
              <a:t>29</a:t>
            </a:fld>
            <a:endParaRPr lang="en-US" smtClean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AE9914-30CC-4D06-B0B2-3A15C57A1DE3}" type="slidenum">
              <a:rPr lang="en-US" smtClean="0"/>
              <a:pPr>
                <a:defRPr/>
              </a:pPr>
              <a:t>30</a:t>
            </a:fld>
            <a:endParaRPr lang="en-US" smtClean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F093FB-4AA4-47CE-BD35-D2E92AFEFE48}" type="slidenum">
              <a:rPr lang="en-US" smtClean="0"/>
              <a:pPr>
                <a:defRPr/>
              </a:pPr>
              <a:t>31</a:t>
            </a:fld>
            <a:endParaRPr lang="en-US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B40172-5083-43A4-BB97-7AAE1584C0DF}" type="slidenum">
              <a:rPr lang="en-US" smtClean="0"/>
              <a:pPr>
                <a:defRPr/>
              </a:pPr>
              <a:t>33</a:t>
            </a:fld>
            <a:endParaRPr lang="en-US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EFD8A6-991F-4790-9F53-928963105515}" type="slidenum">
              <a:rPr lang="en-US" smtClean="0"/>
              <a:pPr>
                <a:defRPr/>
              </a:pPr>
              <a:t>36</a:t>
            </a:fld>
            <a:endParaRPr lang="en-US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63875D3-2F04-4ECF-AD59-778D38FB9173}" type="datetimeFigureOut">
              <a:rPr lang="pt-BR" smtClean="0"/>
              <a:pPr>
                <a:defRPr/>
              </a:pPr>
              <a:t>10/03/2019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6E8C57-A721-4974-BF7B-072BE1D5657D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01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74135A9-3009-4D0F-A961-26362A3A2DE4}" type="datetimeFigureOut">
              <a:rPr lang="pt-BR" smtClean="0"/>
              <a:pPr>
                <a:defRPr/>
              </a:pPr>
              <a:t>10/03/2019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BC4F64-CEE2-48F7-AA1F-7C19953CAF40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6038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FB04120-103E-4995-A315-5199A3F63FA3}" type="datetimeFigureOut">
              <a:rPr lang="pt-BR" smtClean="0"/>
              <a:pPr>
                <a:defRPr/>
              </a:pPr>
              <a:t>10/03/2019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4E482B-FA18-4F8E-95C1-C168A5C51E4E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2583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841670-623A-45C6-A4F3-7BF17C6A2B36}" type="datetimeFigureOut">
              <a:rPr lang="pt-BR" smtClean="0"/>
              <a:pPr>
                <a:defRPr/>
              </a:pPr>
              <a:t>10/03/2019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6201A5-50C7-4D11-B55E-CC90E80D3DD7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3009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E59E54-B6FB-4427-A28C-EB0351F5A269}" type="datetimeFigureOut">
              <a:rPr lang="pt-BR" smtClean="0"/>
              <a:pPr>
                <a:defRPr/>
              </a:pPr>
              <a:t>10/03/2019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B13E63-1E89-4623-A700-444193254260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47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59A58B-10F7-4D2D-82D2-D5984752E503}" type="datetimeFigureOut">
              <a:rPr lang="pt-BR" smtClean="0"/>
              <a:pPr>
                <a:defRPr/>
              </a:pPr>
              <a:t>10/03/2019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CD3C34-31D3-43F7-BE32-3C203A0FFEED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760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B607B1-1A80-4A5C-9556-3E9AE6EA7CBC}" type="datetimeFigureOut">
              <a:rPr lang="pt-BR" smtClean="0"/>
              <a:pPr>
                <a:defRPr/>
              </a:pPr>
              <a:t>10/03/2019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F7E859-ABB7-46C9-9E0F-6007879E96CB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4120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04092F-D449-46FF-96CE-4C046FA35993}" type="datetimeFigureOut">
              <a:rPr lang="pt-BR" smtClean="0"/>
              <a:pPr>
                <a:defRPr/>
              </a:pPr>
              <a:t>10/03/2019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DCF427-4216-49C0-A8A4-C9480FA58E07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3941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7644800-2BA5-42E0-8C69-24C1529513CB}" type="datetimeFigureOut">
              <a:rPr lang="pt-BR" smtClean="0"/>
              <a:pPr>
                <a:defRPr/>
              </a:pPr>
              <a:t>10/03/2019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EC7DCA-4B28-4E1B-8866-52CB17C7993F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6151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02F3A9-DCD4-4D6F-ACE9-2FA9CA6B78A1}" type="datetimeFigureOut">
              <a:rPr lang="pt-BR" smtClean="0"/>
              <a:pPr>
                <a:defRPr/>
              </a:pPr>
              <a:t>10/03/2019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EBAF2B-41E2-4EDB-BD14-2ABDAABEBE09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5971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DEDD549-4A19-43EB-93BC-1079D8BA1B2A}" type="datetimeFigureOut">
              <a:rPr lang="pt-BR" smtClean="0"/>
              <a:pPr>
                <a:defRPr/>
              </a:pPr>
              <a:t>10/03/2019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ADDF76-9120-4BE7-893C-46EAC9D74AEF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4696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ítulo, clip-art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7500" y="52388"/>
            <a:ext cx="8637588" cy="14319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lip-art 2"/>
          <p:cNvSpPr>
            <a:spLocks noGrp="1"/>
          </p:cNvSpPr>
          <p:nvPr>
            <p:ph type="clipArt" sz="half" idx="1"/>
          </p:nvPr>
        </p:nvSpPr>
        <p:spPr>
          <a:xfrm>
            <a:off x="328613" y="1941513"/>
            <a:ext cx="4027487" cy="4114800"/>
          </a:xfrm>
        </p:spPr>
        <p:txBody>
          <a:bodyPr rtlCol="0">
            <a:normAutofit/>
          </a:bodyPr>
          <a:lstStyle/>
          <a:p>
            <a:pPr lvl="0"/>
            <a:endParaRPr lang="pt-BR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08500" y="1941513"/>
            <a:ext cx="4029075" cy="41148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754614-A361-4B04-B6CA-2458FC48AAF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9D595FD-D805-471B-BBD2-41A62C939A28}" type="datetimeFigureOut">
              <a:rPr lang="pt-BR" smtClean="0"/>
              <a:pPr>
                <a:defRPr/>
              </a:pPr>
              <a:t>10/03/2019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51842AC-12C3-4EBD-9D2B-31A756926762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3773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02096" y="1066800"/>
            <a:ext cx="8534400" cy="2616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sz="4000" b="1" dirty="0" smtClean="0"/>
              <a:t>Engenharia de Software</a:t>
            </a:r>
            <a:br>
              <a:rPr lang="pt-BR" sz="4000" b="1" dirty="0" smtClean="0"/>
            </a:br>
            <a:r>
              <a:rPr lang="pt-BR" sz="4000" b="1" dirty="0" smtClean="0"/>
              <a:t/>
            </a:r>
            <a:br>
              <a:rPr lang="pt-BR" sz="4000" b="1" dirty="0" smtClean="0"/>
            </a:br>
            <a:r>
              <a:rPr lang="pt-BR" sz="4000" b="1" dirty="0" smtClean="0">
                <a:solidFill>
                  <a:srgbClr val="0070C0"/>
                </a:solidFill>
              </a:rPr>
              <a:t>Módulo 4 </a:t>
            </a:r>
            <a:r>
              <a:rPr lang="pt-BR" sz="4000" b="1" dirty="0" smtClean="0">
                <a:solidFill>
                  <a:srgbClr val="0070C0"/>
                </a:solidFill>
              </a:rPr>
              <a:t/>
            </a:r>
            <a:br>
              <a:rPr lang="pt-BR" sz="4000" b="1" dirty="0" smtClean="0">
                <a:solidFill>
                  <a:srgbClr val="0070C0"/>
                </a:solidFill>
              </a:rPr>
            </a:br>
            <a:r>
              <a:rPr lang="pt-BR" sz="4000" b="1" dirty="0" smtClean="0">
                <a:solidFill>
                  <a:srgbClr val="0070C0"/>
                </a:solidFill>
              </a:rPr>
              <a:t>Modelo Clássico</a:t>
            </a:r>
            <a:br>
              <a:rPr lang="pt-BR" sz="4000" b="1" dirty="0" smtClean="0">
                <a:solidFill>
                  <a:srgbClr val="0070C0"/>
                </a:solidFill>
              </a:rPr>
            </a:br>
            <a:r>
              <a:rPr lang="pt-BR" sz="4000" b="1" dirty="0" smtClean="0">
                <a:solidFill>
                  <a:srgbClr val="0070C0"/>
                </a:solidFill>
              </a:rPr>
              <a:t>Modelo </a:t>
            </a:r>
            <a:r>
              <a:rPr lang="pt-BR" sz="4000" b="1" dirty="0" smtClean="0">
                <a:solidFill>
                  <a:srgbClr val="0070C0"/>
                </a:solidFill>
              </a:rPr>
              <a:t>Espiral</a:t>
            </a:r>
            <a:br>
              <a:rPr lang="pt-BR" sz="4000" b="1" dirty="0" smtClean="0">
                <a:solidFill>
                  <a:srgbClr val="0070C0"/>
                </a:solidFill>
              </a:rPr>
            </a:br>
            <a:r>
              <a:rPr lang="pt-BR" sz="4000" b="1" dirty="0" smtClean="0">
                <a:solidFill>
                  <a:srgbClr val="0070C0"/>
                </a:solidFill>
              </a:rPr>
              <a:t>Pro</a:t>
            </a:r>
            <a:r>
              <a:rPr lang="pt-BR" sz="4000" b="1" dirty="0" smtClean="0">
                <a:solidFill>
                  <a:srgbClr val="0070C0"/>
                </a:solidFill>
              </a:rPr>
              <a:t>totipação</a:t>
            </a:r>
            <a:endParaRPr lang="pt-BR" dirty="0" smtClean="0">
              <a:solidFill>
                <a:srgbClr val="0070C0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4114800"/>
            <a:ext cx="7162800" cy="1905000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13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pt-BR" sz="4000" smtClean="0">
              <a:latin typeface="Comic Sans MS" pitchFamily="66" charset="0"/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pt-BR" sz="2800" dirty="0" smtClean="0">
                <a:latin typeface="Comic Sans MS" pitchFamily="66" charset="0"/>
              </a:rPr>
              <a:t>Profa. Vânia </a:t>
            </a:r>
            <a:r>
              <a:rPr lang="pt-BR" sz="2800" dirty="0" err="1" smtClean="0">
                <a:latin typeface="Comic Sans MS" pitchFamily="66" charset="0"/>
              </a:rPr>
              <a:t>Franciscon</a:t>
            </a:r>
            <a:r>
              <a:rPr lang="pt-BR" sz="2800" dirty="0" smtClean="0">
                <a:latin typeface="Comic Sans MS" pitchFamily="66" charset="0"/>
              </a:rPr>
              <a:t> Vieira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pt-BR" sz="2000" b="1" dirty="0" smtClean="0">
              <a:latin typeface="Modern" pitchFamily="5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6450"/>
            <a:ext cx="8458200" cy="946150"/>
          </a:xfrm>
        </p:spPr>
        <p:txBody>
          <a:bodyPr/>
          <a:lstStyle/>
          <a:p>
            <a:pPr eaLnBrk="1" hangingPunct="1"/>
            <a:r>
              <a:rPr lang="pt-BR" sz="2800" b="1" smtClean="0"/>
              <a:t>A escolha de um Ciclo de Vida de software depende :</a:t>
            </a:r>
            <a:endParaRPr lang="pt-BR" smtClean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900"/>
              </a:spcBef>
              <a:spcAft>
                <a:spcPts val="300"/>
              </a:spcAft>
              <a:buFont typeface="Wingdings" pitchFamily="2" charset="2"/>
              <a:buNone/>
            </a:pPr>
            <a:endParaRPr lang="pt-BR" dirty="0" smtClean="0"/>
          </a:p>
          <a:p>
            <a:pPr eaLnBrk="1" hangingPunct="1">
              <a:lnSpc>
                <a:spcPct val="110000"/>
              </a:lnSpc>
              <a:spcBef>
                <a:spcPts val="9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pt-BR" b="1" dirty="0" smtClean="0"/>
              <a:t>da natureza do projeto </a:t>
            </a:r>
          </a:p>
          <a:p>
            <a:pPr eaLnBrk="1" hangingPunct="1">
              <a:lnSpc>
                <a:spcPct val="110000"/>
              </a:lnSpc>
              <a:spcBef>
                <a:spcPts val="9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b="1" dirty="0" smtClean="0"/>
              <a:t>dos </a:t>
            </a:r>
            <a:r>
              <a:rPr lang="en-US" b="1" dirty="0" err="1" smtClean="0"/>
              <a:t>prazos</a:t>
            </a:r>
            <a:r>
              <a:rPr lang="en-US" b="1" dirty="0" smtClean="0"/>
              <a:t> e </a:t>
            </a:r>
            <a:r>
              <a:rPr lang="en-US" b="1" dirty="0" err="1" smtClean="0"/>
              <a:t>recursos</a:t>
            </a:r>
            <a:r>
              <a:rPr lang="en-US" b="1" dirty="0" smtClean="0"/>
              <a:t> </a:t>
            </a:r>
            <a:r>
              <a:rPr lang="en-US" b="1" dirty="0" err="1" smtClean="0"/>
              <a:t>disponíveis</a:t>
            </a:r>
            <a:endParaRPr lang="pt-BR" b="1" dirty="0" smtClean="0"/>
          </a:p>
          <a:p>
            <a:pPr eaLnBrk="1" hangingPunct="1">
              <a:lnSpc>
                <a:spcPct val="110000"/>
              </a:lnSpc>
              <a:spcBef>
                <a:spcPts val="9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pt-BR" b="1" dirty="0" smtClean="0"/>
              <a:t>dos métodos e ferramentas a serem usados</a:t>
            </a:r>
          </a:p>
          <a:p>
            <a:pPr eaLnBrk="1" hangingPunct="1">
              <a:lnSpc>
                <a:spcPct val="110000"/>
              </a:lnSpc>
              <a:spcBef>
                <a:spcPts val="9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pt-BR" b="1" dirty="0" smtClean="0"/>
              <a:t>dos controles e produtos que precisam ser entregues.</a:t>
            </a:r>
            <a:endParaRPr lang="pt-BR" dirty="0" smtClean="0"/>
          </a:p>
          <a:p>
            <a:pPr eaLnBrk="1" hangingPunct="1"/>
            <a:endParaRPr lang="pt-BR" dirty="0" smtClean="0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426A30-22D7-44D7-BC70-EF98A0C735E5}" type="slidenum">
              <a:rPr lang="pt-BR"/>
              <a:pPr>
                <a:defRPr/>
              </a:pPr>
              <a:t>2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COT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build="p" autoUpdateAnimBg="0"/>
      <p:bldP spid="36867" grpId="0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0" y="914400"/>
            <a:ext cx="8839200" cy="5562600"/>
          </a:xfrm>
        </p:spPr>
        <p:txBody>
          <a:bodyPr rtlCol="0">
            <a:normAutofit/>
          </a:bodyPr>
          <a:lstStyle/>
          <a:p>
            <a:pPr marL="941388" lvl="1" indent="-484188" algn="ctr" eaLnBrk="1" fontAlgn="auto" hangingPunct="1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Font typeface="Wingdings" pitchFamily="2" charset="2"/>
              <a:buNone/>
              <a:defRPr/>
            </a:pPr>
            <a:endParaRPr lang="pt-BR" dirty="0" smtClean="0"/>
          </a:p>
          <a:p>
            <a:pPr marL="941388" lvl="1" indent="-484188" eaLnBrk="1" fontAlgn="auto" hangingPunct="1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Font typeface="Wingdings" pitchFamily="2" charset="2"/>
              <a:buChar char="F"/>
              <a:defRPr/>
            </a:pPr>
            <a:endParaRPr lang="pt-BR" b="1" dirty="0" smtClean="0"/>
          </a:p>
          <a:p>
            <a:pPr marL="941388" lvl="1" indent="-484188" eaLnBrk="1" fontAlgn="auto" hangingPunct="1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Font typeface="Wingdings" pitchFamily="2" charset="2"/>
              <a:buNone/>
              <a:defRPr/>
            </a:pPr>
            <a:r>
              <a:rPr lang="pt-BR" sz="32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Modelos abordados neste módulo :</a:t>
            </a:r>
            <a:r>
              <a:rPr lang="pt-BR" dirty="0" smtClean="0"/>
              <a:t> </a:t>
            </a:r>
          </a:p>
          <a:p>
            <a:pPr lvl="1" eaLnBrk="1" fontAlgn="auto" hangingPunct="1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Font typeface="Wingdings" panose="05000000000000000000" pitchFamily="2" charset="2"/>
              <a:buChar char="q"/>
              <a:defRPr/>
            </a:pPr>
            <a:r>
              <a:rPr lang="pt-BR" i="1" dirty="0" smtClean="0"/>
              <a:t>Ciclo de Vida Clássico ou em cascata</a:t>
            </a:r>
          </a:p>
          <a:p>
            <a:pPr lvl="1" eaLnBrk="1" fontAlgn="auto" hangingPunct="1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Font typeface="Wingdings" panose="05000000000000000000" pitchFamily="2" charset="2"/>
              <a:buChar char="q"/>
              <a:defRPr/>
            </a:pPr>
            <a:r>
              <a:rPr lang="pt-BR" i="1" dirty="0" smtClean="0"/>
              <a:t>Modelo Espiral</a:t>
            </a:r>
          </a:p>
          <a:p>
            <a:pPr lvl="1" eaLnBrk="1" fontAlgn="auto" hangingPunct="1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Font typeface="Wingdings" panose="05000000000000000000" pitchFamily="2" charset="2"/>
              <a:buChar char="q"/>
              <a:defRPr/>
            </a:pPr>
            <a:r>
              <a:rPr lang="pt-BR" i="1" dirty="0" smtClean="0"/>
              <a:t>Prototipação</a:t>
            </a:r>
            <a:endParaRPr lang="pt-BR" dirty="0" smtClean="0"/>
          </a:p>
          <a:p>
            <a:pPr marL="941388" lvl="1" indent="-484188" eaLnBrk="1" fontAlgn="auto" hangingPunct="1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Font typeface="Wingdings" pitchFamily="2" charset="2"/>
              <a:buChar char="F"/>
              <a:defRPr/>
            </a:pPr>
            <a:endParaRPr lang="pt-BR" dirty="0" smtClean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10243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 rot="5400000">
            <a:off x="6989763" y="3736975"/>
            <a:ext cx="3200400" cy="365125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l"/>
            <a:fld id="{DF103933-5D43-477F-BA1A-7581852282FE}" type="slidenum">
              <a:rPr lang="pt-BR" sz="1200" b="0" smtClean="0">
                <a:solidFill>
                  <a:schemeClr val="tx2"/>
                </a:solidFill>
              </a:rPr>
              <a:pPr algn="l"/>
              <a:t>3</a:t>
            </a:fld>
            <a:endParaRPr lang="pt-BR" sz="1200" b="0" smtClean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 bldLvl="2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/>
          <p:cNvSpPr>
            <a:spLocks noGrp="1"/>
          </p:cNvSpPr>
          <p:nvPr>
            <p:ph type="title"/>
          </p:nvPr>
        </p:nvSpPr>
        <p:spPr>
          <a:xfrm>
            <a:off x="179512" y="0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b="1" dirty="0" smtClean="0"/>
              <a:t>Nomenclaturas Utilizadas</a:t>
            </a:r>
          </a:p>
        </p:txBody>
      </p:sp>
      <p:sp>
        <p:nvSpPr>
          <p:cNvPr id="9219" name="Espaço Reservado para Conteúdo 2"/>
          <p:cNvSpPr>
            <a:spLocks noGrp="1"/>
          </p:cNvSpPr>
          <p:nvPr>
            <p:ph idx="1"/>
          </p:nvPr>
        </p:nvSpPr>
        <p:spPr>
          <a:xfrm>
            <a:off x="1115616" y="1988840"/>
            <a:ext cx="8229600" cy="4525962"/>
          </a:xfrm>
        </p:spPr>
        <p:txBody>
          <a:bodyPr/>
          <a:lstStyle/>
          <a:p>
            <a:pPr eaLnBrk="1" hangingPunct="1"/>
            <a:r>
              <a:rPr lang="pt-BR" dirty="0" smtClean="0"/>
              <a:t>Modelo Cascata ou</a:t>
            </a:r>
          </a:p>
          <a:p>
            <a:pPr eaLnBrk="1" hangingPunct="1"/>
            <a:r>
              <a:rPr lang="pt-BR" dirty="0" smtClean="0"/>
              <a:t>Modelo Clássico ou </a:t>
            </a:r>
          </a:p>
          <a:p>
            <a:pPr eaLnBrk="1" hangingPunct="1"/>
            <a:r>
              <a:rPr lang="pt-BR" dirty="0" smtClean="0"/>
              <a:t>Modelo de Desenvolvimento Sequencial</a:t>
            </a: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1115616" y="4077072"/>
            <a:ext cx="6172200" cy="1008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pt-BR" sz="2000" dirty="0" smtClean="0"/>
              <a:t>É um dos importantes modelos de desenvolvimento, sendo referência para </a:t>
            </a:r>
            <a:r>
              <a:rPr lang="pt-BR" sz="2000" smtClean="0"/>
              <a:t>outros  modelos </a:t>
            </a:r>
            <a:r>
              <a:rPr lang="pt-BR" sz="2000" dirty="0" smtClean="0"/>
              <a:t>e servindo de base para outros  projetos.</a:t>
            </a:r>
          </a:p>
          <a:p>
            <a:pPr fontAlgn="auto">
              <a:spcAft>
                <a:spcPts val="0"/>
              </a:spcAft>
              <a:buFont typeface="Arial" charset="0"/>
              <a:buNone/>
            </a:pP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5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9" dur="indefinite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b="1" dirty="0" smtClean="0"/>
              <a:t>Proposta original</a:t>
            </a:r>
          </a:p>
        </p:txBody>
      </p:sp>
      <p:sp>
        <p:nvSpPr>
          <p:cNvPr id="14339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eaLnBrk="1" hangingPunct="1">
              <a:buFont typeface="Arial" charset="0"/>
              <a:buChar char="•"/>
            </a:pPr>
            <a:endParaRPr lang="pt-BR" smtClean="0"/>
          </a:p>
          <a:p>
            <a:pPr eaLnBrk="1" hangingPunct="1">
              <a:buFont typeface="Arial" charset="0"/>
              <a:buChar char="•"/>
            </a:pPr>
            <a:r>
              <a:rPr lang="pt-BR" b="1" smtClean="0"/>
              <a:t>Conceito: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mtClean="0"/>
              <a:t>O </a:t>
            </a:r>
            <a:r>
              <a:rPr lang="pt-BR" b="1" smtClean="0"/>
              <a:t>modelo sequencial </a:t>
            </a:r>
            <a:r>
              <a:rPr lang="pt-BR" smtClean="0"/>
              <a:t>de etapas era um conceito inicial, 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mtClean="0"/>
              <a:t>Até mesmo Royce argumentava ser defeituoso (sujeito à falhas).</a:t>
            </a:r>
          </a:p>
          <a:p>
            <a:pPr eaLnBrk="1" hangingPunct="1">
              <a:buFont typeface="Arial" charset="0"/>
              <a:buChar char="•"/>
            </a:pPr>
            <a:endParaRPr lang="pt-BR" smtClean="0"/>
          </a:p>
          <a:p>
            <a:pPr eaLnBrk="1" hangingPunct="1">
              <a:buFont typeface="Arial" charset="0"/>
              <a:buChar char="•"/>
            </a:pPr>
            <a:r>
              <a:rPr lang="pt-BR" b="1" smtClean="0"/>
              <a:t>Sugestão: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mtClean="0"/>
              <a:t>Projeto iterativo, com feedback de cada fase, similar ao Modelo Espiral. 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mtClean="0"/>
              <a:t>Esta foi ignorada, sendo utilizada somente o </a:t>
            </a:r>
            <a:r>
              <a:rPr lang="pt-BR" b="1" smtClean="0"/>
              <a:t>esquema de desenvolvimento em Cascata </a:t>
            </a:r>
            <a:r>
              <a:rPr lang="pt-BR" smtClean="0"/>
              <a:t>(Waterfall).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b="1" dirty="0" smtClean="0"/>
              <a:t>Proposta Original</a:t>
            </a:r>
          </a:p>
        </p:txBody>
      </p:sp>
      <p:sp>
        <p:nvSpPr>
          <p:cNvPr id="7171" name="Espaço Reservado para Conteúdo 2"/>
          <p:cNvSpPr>
            <a:spLocks noGrp="1"/>
          </p:cNvSpPr>
          <p:nvPr>
            <p:ph idx="1"/>
          </p:nvPr>
        </p:nvSpPr>
        <p:spPr>
          <a:xfrm>
            <a:off x="428625" y="1643063"/>
            <a:ext cx="7467600" cy="993849"/>
          </a:xfrm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pt-BR" dirty="0" err="1" smtClean="0"/>
              <a:t>Royce</a:t>
            </a:r>
            <a:r>
              <a:rPr lang="pt-BR" dirty="0" smtClean="0"/>
              <a:t> (1970) identificou  </a:t>
            </a:r>
            <a:r>
              <a:rPr lang="pt-BR" b="1" dirty="0" smtClean="0"/>
              <a:t>duas  grandes  etapas  </a:t>
            </a:r>
            <a:r>
              <a:rPr lang="pt-BR" dirty="0" smtClean="0"/>
              <a:t>atendidas</a:t>
            </a:r>
            <a:r>
              <a:rPr lang="pt-BR" b="1" dirty="0" smtClean="0"/>
              <a:t>  </a:t>
            </a:r>
            <a:r>
              <a:rPr lang="pt-BR" dirty="0" smtClean="0"/>
              <a:t>em  todos  os  projetos  de software:</a:t>
            </a:r>
          </a:p>
          <a:p>
            <a:pPr eaLnBrk="1" hangingPunct="1"/>
            <a:endParaRPr lang="pt-BR" dirty="0" smtClean="0"/>
          </a:p>
        </p:txBody>
      </p:sp>
      <p:sp>
        <p:nvSpPr>
          <p:cNvPr id="9" name="Seta em curva para baixo 8"/>
          <p:cNvSpPr/>
          <p:nvPr/>
        </p:nvSpPr>
        <p:spPr>
          <a:xfrm>
            <a:off x="2890299" y="2821482"/>
            <a:ext cx="2000250" cy="714375"/>
          </a:xfrm>
          <a:prstGeom prst="curvedDownArrow">
            <a:avLst>
              <a:gd name="adj1" fmla="val 25000"/>
              <a:gd name="adj2" fmla="val 50000"/>
              <a:gd name="adj3" fmla="val 370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chemeClr val="tx1"/>
              </a:solidFill>
            </a:endParaRPr>
          </a:p>
        </p:txBody>
      </p:sp>
      <p:sp>
        <p:nvSpPr>
          <p:cNvPr id="4" name="Retângulo de cantos arredondados 3"/>
          <p:cNvSpPr/>
          <p:nvPr/>
        </p:nvSpPr>
        <p:spPr>
          <a:xfrm>
            <a:off x="971600" y="2392854"/>
            <a:ext cx="1918566" cy="114300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2400" b="1" dirty="0"/>
              <a:t>Análise</a:t>
            </a:r>
          </a:p>
        </p:txBody>
      </p:sp>
      <p:sp>
        <p:nvSpPr>
          <p:cNvPr id="5" name="Retângulo de cantos arredondados 4"/>
          <p:cNvSpPr/>
          <p:nvPr/>
        </p:nvSpPr>
        <p:spPr>
          <a:xfrm>
            <a:off x="3924521" y="3554296"/>
            <a:ext cx="2088232" cy="93610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2400" b="1" dirty="0"/>
              <a:t>Codificação</a:t>
            </a:r>
          </a:p>
        </p:txBody>
      </p:sp>
      <p:sp>
        <p:nvSpPr>
          <p:cNvPr id="2" name="Retângulo 1"/>
          <p:cNvSpPr/>
          <p:nvPr/>
        </p:nvSpPr>
        <p:spPr>
          <a:xfrm>
            <a:off x="971600" y="4941168"/>
            <a:ext cx="65527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pt-BR" dirty="0" smtClean="0"/>
              <a:t>Naquele momento poderia ser útil  </a:t>
            </a:r>
            <a:r>
              <a:rPr lang="pt-BR" dirty="0"/>
              <a:t>para  projetos  pequenos  e  com  </a:t>
            </a:r>
            <a:r>
              <a:rPr lang="pt-BR" b="1" u="sng" dirty="0"/>
              <a:t>baixa  complexidade</a:t>
            </a:r>
            <a:r>
              <a:rPr lang="pt-BR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3200" b="1" dirty="0" smtClean="0"/>
              <a:t>Características Fundamentais</a:t>
            </a:r>
          </a:p>
        </p:txBody>
      </p:sp>
      <p:sp>
        <p:nvSpPr>
          <p:cNvPr id="18435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28750"/>
            <a:ext cx="7467600" cy="4873625"/>
          </a:xfrm>
        </p:spPr>
        <p:txBody>
          <a:bodyPr>
            <a:normAutofit fontScale="70000" lnSpcReduction="20000"/>
          </a:bodyPr>
          <a:lstStyle/>
          <a:p>
            <a:pPr eaLnBrk="1" hangingPunct="1"/>
            <a:endParaRPr lang="pt-BR" dirty="0" smtClean="0"/>
          </a:p>
          <a:p>
            <a:pPr eaLnBrk="1" hangingPunct="1"/>
            <a:r>
              <a:rPr lang="pt-BR" b="1" dirty="0" smtClean="0"/>
              <a:t>Fases:</a:t>
            </a:r>
          </a:p>
          <a:p>
            <a:pPr lvl="1"/>
            <a:r>
              <a:rPr lang="pt-BR" dirty="0"/>
              <a:t>Para  projetos  de </a:t>
            </a:r>
            <a:r>
              <a:rPr lang="pt-BR" b="1" u="sng" dirty="0"/>
              <a:t>maior complexidade</a:t>
            </a:r>
            <a:r>
              <a:rPr lang="pt-BR" dirty="0"/>
              <a:t>, </a:t>
            </a:r>
            <a:r>
              <a:rPr lang="pt-BR" dirty="0" err="1"/>
              <a:t>Royce</a:t>
            </a:r>
            <a:r>
              <a:rPr lang="pt-BR" dirty="0"/>
              <a:t>  desenvolveu e  </a:t>
            </a:r>
            <a:r>
              <a:rPr lang="pt-BR" b="1" dirty="0"/>
              <a:t>expandiu seu modelo</a:t>
            </a:r>
            <a:r>
              <a:rPr lang="pt-BR" dirty="0"/>
              <a:t>,  que também conta  com as  etapas  de  análise  e  codificação,  porém  sucedidas  e  precedidas  por  outras  etapas  bem especificadas.</a:t>
            </a:r>
          </a:p>
          <a:p>
            <a:pPr lvl="1" eaLnBrk="1" hangingPunct="1"/>
            <a:r>
              <a:rPr lang="pt-BR" dirty="0" smtClean="0"/>
              <a:t>Composta de várias fases que são executadas de forma </a:t>
            </a:r>
            <a:r>
              <a:rPr lang="pt-BR" b="1" u="sng" dirty="0" smtClean="0"/>
              <a:t>sistemática e </a:t>
            </a:r>
            <a:r>
              <a:rPr lang="pt-BR" b="1" u="sng" dirty="0" err="1" smtClean="0"/>
              <a:t>seqüencial</a:t>
            </a:r>
            <a:r>
              <a:rPr lang="pt-BR" u="sng" dirty="0" smtClean="0"/>
              <a:t>.</a:t>
            </a:r>
          </a:p>
          <a:p>
            <a:pPr eaLnBrk="1" hangingPunct="1"/>
            <a:endParaRPr lang="pt-BR" dirty="0" smtClean="0"/>
          </a:p>
          <a:p>
            <a:pPr eaLnBrk="1" hangingPunct="1"/>
            <a:r>
              <a:rPr lang="pt-BR" b="1" dirty="0" smtClean="0"/>
              <a:t>Documentação:</a:t>
            </a:r>
          </a:p>
          <a:p>
            <a:pPr lvl="1" eaLnBrk="1" hangingPunct="1"/>
            <a:r>
              <a:rPr lang="pt-BR" dirty="0" smtClean="0"/>
              <a:t>Orientado para </a:t>
            </a:r>
            <a:r>
              <a:rPr lang="pt-BR" u="sng" dirty="0" smtClean="0"/>
              <a:t>documentação</a:t>
            </a:r>
          </a:p>
          <a:p>
            <a:pPr eaLnBrk="1" hangingPunct="1">
              <a:buFont typeface="Arial" charset="0"/>
              <a:buNone/>
            </a:pPr>
            <a:r>
              <a:rPr lang="pt-BR" dirty="0" smtClean="0"/>
              <a:t>  </a:t>
            </a:r>
          </a:p>
          <a:p>
            <a:pPr lvl="1"/>
            <a:r>
              <a:rPr lang="pt-BR" sz="2900" dirty="0" smtClean="0"/>
              <a:t>Abrange </a:t>
            </a:r>
            <a:r>
              <a:rPr lang="pt-BR" sz="2900" dirty="0"/>
              <a:t>representações gráficas e mesmo simulação.</a:t>
            </a:r>
          </a:p>
          <a:p>
            <a:pPr eaLnBrk="1" hangingPunct="1">
              <a:buFont typeface="Arial" charset="0"/>
              <a:buNone/>
            </a:pPr>
            <a:endParaRPr lang="pt-BR" sz="2000" dirty="0" smtClean="0"/>
          </a:p>
          <a:p>
            <a:pPr eaLnBrk="1" hangingPunct="1">
              <a:buFont typeface="Arial" charset="0"/>
              <a:buNone/>
            </a:pPr>
            <a:r>
              <a:rPr lang="pt-BR" sz="2000" dirty="0" smtClean="0"/>
              <a:t>	</a:t>
            </a: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b="1" dirty="0" smtClean="0"/>
              <a:t>Etapas</a:t>
            </a:r>
          </a:p>
        </p:txBody>
      </p:sp>
      <p:sp>
        <p:nvSpPr>
          <p:cNvPr id="19459" name="Espaço Reservado para Conteúdo 2"/>
          <p:cNvSpPr>
            <a:spLocks noGrp="1"/>
          </p:cNvSpPr>
          <p:nvPr>
            <p:ph idx="1"/>
          </p:nvPr>
        </p:nvSpPr>
        <p:spPr>
          <a:xfrm>
            <a:off x="462047" y="5572125"/>
            <a:ext cx="8229600" cy="1285875"/>
          </a:xfrm>
        </p:spPr>
        <p:txBody>
          <a:bodyPr>
            <a:normAutofit/>
          </a:bodyPr>
          <a:lstStyle/>
          <a:p>
            <a:pPr marL="0" indent="0" algn="ctr" eaLnBrk="1" hangingPunct="1">
              <a:buNone/>
            </a:pPr>
            <a:r>
              <a:rPr lang="pt-BR" sz="2000" dirty="0" smtClean="0"/>
              <a:t>Representação gráfica  do  modelo  cascata,  </a:t>
            </a:r>
          </a:p>
          <a:p>
            <a:pPr marL="0" indent="0" algn="ctr" eaLnBrk="1" hangingPunct="1">
              <a:buNone/>
            </a:pPr>
            <a:r>
              <a:rPr lang="pt-BR" sz="2000" dirty="0" smtClean="0"/>
              <a:t>apresentando  as etapas que compõem  o modelo</a:t>
            </a:r>
            <a:endParaRPr lang="pt-BR" dirty="0" smtClean="0"/>
          </a:p>
        </p:txBody>
      </p:sp>
      <p:sp>
        <p:nvSpPr>
          <p:cNvPr id="4" name="AutoShape 57"/>
          <p:cNvSpPr>
            <a:spLocks noChangeArrowheads="1"/>
          </p:cNvSpPr>
          <p:nvPr/>
        </p:nvSpPr>
        <p:spPr bwMode="auto">
          <a:xfrm>
            <a:off x="467544" y="695325"/>
            <a:ext cx="2076450" cy="9271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r>
              <a:rPr lang="pt-BR" sz="2100" b="1" dirty="0" smtClean="0">
                <a:solidFill>
                  <a:schemeClr val="tx1"/>
                </a:solidFill>
                <a:latin typeface="Arial Narrow" pitchFamily="34" charset="0"/>
              </a:rPr>
              <a:t>Viabilidade</a:t>
            </a:r>
            <a:endParaRPr lang="pt-BR" sz="2100" b="1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5" name="AutoShape 58"/>
          <p:cNvSpPr>
            <a:spLocks noChangeArrowheads="1"/>
          </p:cNvSpPr>
          <p:nvPr/>
        </p:nvSpPr>
        <p:spPr bwMode="auto">
          <a:xfrm>
            <a:off x="1622424" y="1417638"/>
            <a:ext cx="2076450" cy="9271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r>
              <a:rPr lang="pt-BR" sz="2100" b="1" dirty="0">
                <a:solidFill>
                  <a:schemeClr val="tx1"/>
                </a:solidFill>
                <a:latin typeface="Arial Narrow" pitchFamily="34" charset="0"/>
              </a:rPr>
              <a:t>Análise  de Requisitos </a:t>
            </a:r>
          </a:p>
        </p:txBody>
      </p:sp>
      <p:sp>
        <p:nvSpPr>
          <p:cNvPr id="6" name="AutoShape 59"/>
          <p:cNvSpPr>
            <a:spLocks noChangeArrowheads="1"/>
          </p:cNvSpPr>
          <p:nvPr/>
        </p:nvSpPr>
        <p:spPr bwMode="auto">
          <a:xfrm>
            <a:off x="3114722" y="2138363"/>
            <a:ext cx="2076450" cy="9271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r>
              <a:rPr lang="pt-BR" sz="2100" b="1" dirty="0">
                <a:solidFill>
                  <a:schemeClr val="tx1"/>
                </a:solidFill>
                <a:latin typeface="Arial Narrow" pitchFamily="34" charset="0"/>
              </a:rPr>
              <a:t>Projeto  </a:t>
            </a:r>
          </a:p>
        </p:txBody>
      </p:sp>
      <p:sp>
        <p:nvSpPr>
          <p:cNvPr id="7" name="AutoShape 60"/>
          <p:cNvSpPr>
            <a:spLocks noChangeArrowheads="1"/>
          </p:cNvSpPr>
          <p:nvPr/>
        </p:nvSpPr>
        <p:spPr bwMode="auto">
          <a:xfrm>
            <a:off x="4062413" y="2601913"/>
            <a:ext cx="2076450" cy="9271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r>
              <a:rPr lang="pt-BR" sz="2100" b="1" dirty="0">
                <a:solidFill>
                  <a:schemeClr val="tx1"/>
                </a:solidFill>
                <a:latin typeface="Arial Narrow" pitchFamily="34" charset="0"/>
              </a:rPr>
              <a:t>Codificação </a:t>
            </a:r>
          </a:p>
        </p:txBody>
      </p:sp>
      <p:sp>
        <p:nvSpPr>
          <p:cNvPr id="8" name="AutoShape 61"/>
          <p:cNvSpPr>
            <a:spLocks noChangeArrowheads="1"/>
          </p:cNvSpPr>
          <p:nvPr/>
        </p:nvSpPr>
        <p:spPr bwMode="auto">
          <a:xfrm>
            <a:off x="4836520" y="3322638"/>
            <a:ext cx="2076450" cy="9271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r>
              <a:rPr lang="pt-BR" sz="2100" b="1" dirty="0">
                <a:solidFill>
                  <a:schemeClr val="tx1"/>
                </a:solidFill>
                <a:latin typeface="Arial Narrow" pitchFamily="34" charset="0"/>
              </a:rPr>
              <a:t>Testes </a:t>
            </a:r>
          </a:p>
        </p:txBody>
      </p:sp>
      <p:sp>
        <p:nvSpPr>
          <p:cNvPr id="9" name="AutoShape 62"/>
          <p:cNvSpPr>
            <a:spLocks noChangeArrowheads="1"/>
          </p:cNvSpPr>
          <p:nvPr/>
        </p:nvSpPr>
        <p:spPr bwMode="auto">
          <a:xfrm>
            <a:off x="5650783" y="3962026"/>
            <a:ext cx="2076450" cy="9271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r>
              <a:rPr lang="pt-BR" sz="2100" b="1" dirty="0" smtClean="0">
                <a:solidFill>
                  <a:schemeClr val="tx1"/>
                </a:solidFill>
                <a:latin typeface="Arial Narrow" pitchFamily="34" charset="0"/>
              </a:rPr>
              <a:t>Implantação </a:t>
            </a:r>
            <a:endParaRPr lang="pt-BR" sz="2100" b="1" dirty="0">
              <a:solidFill>
                <a:schemeClr val="tx1"/>
              </a:solidFill>
              <a:latin typeface="Arial Narrow" pitchFamily="34" charset="0"/>
            </a:endParaRPr>
          </a:p>
        </p:txBody>
      </p:sp>
      <p:grpSp>
        <p:nvGrpSpPr>
          <p:cNvPr id="2" name="Grupo 24"/>
          <p:cNvGrpSpPr>
            <a:grpSpLocks/>
          </p:cNvGrpSpPr>
          <p:nvPr/>
        </p:nvGrpSpPr>
        <p:grpSpPr bwMode="auto">
          <a:xfrm>
            <a:off x="2660649" y="1173685"/>
            <a:ext cx="546100" cy="204787"/>
            <a:chOff x="2861675" y="1880598"/>
            <a:chExt cx="546288" cy="205990"/>
          </a:xfrm>
        </p:grpSpPr>
        <p:sp>
          <p:nvSpPr>
            <p:cNvPr id="19487" name="Line 63"/>
            <p:cNvSpPr>
              <a:spLocks noChangeShapeType="1"/>
            </p:cNvSpPr>
            <p:nvPr/>
          </p:nvSpPr>
          <p:spPr bwMode="auto">
            <a:xfrm>
              <a:off x="2861675" y="1880598"/>
              <a:ext cx="54628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88" name="Line 68"/>
            <p:cNvSpPr>
              <a:spLocks noChangeShapeType="1"/>
            </p:cNvSpPr>
            <p:nvPr/>
          </p:nvSpPr>
          <p:spPr bwMode="auto">
            <a:xfrm>
              <a:off x="3407963" y="1880598"/>
              <a:ext cx="0" cy="2059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" name="Grupo 32"/>
          <p:cNvGrpSpPr>
            <a:grpSpLocks/>
          </p:cNvGrpSpPr>
          <p:nvPr/>
        </p:nvGrpSpPr>
        <p:grpSpPr bwMode="auto">
          <a:xfrm>
            <a:off x="3824335" y="1726406"/>
            <a:ext cx="328612" cy="309563"/>
            <a:chOff x="4282022" y="2292578"/>
            <a:chExt cx="327772" cy="308986"/>
          </a:xfrm>
        </p:grpSpPr>
        <p:sp>
          <p:nvSpPr>
            <p:cNvPr id="19485" name="Line 64"/>
            <p:cNvSpPr>
              <a:spLocks noChangeShapeType="1"/>
            </p:cNvSpPr>
            <p:nvPr/>
          </p:nvSpPr>
          <p:spPr bwMode="auto">
            <a:xfrm>
              <a:off x="4282022" y="2292578"/>
              <a:ext cx="3277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86" name="Line 69"/>
            <p:cNvSpPr>
              <a:spLocks noChangeShapeType="1"/>
            </p:cNvSpPr>
            <p:nvPr/>
          </p:nvSpPr>
          <p:spPr bwMode="auto">
            <a:xfrm>
              <a:off x="4609793" y="2292578"/>
              <a:ext cx="0" cy="3089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upo 33"/>
          <p:cNvGrpSpPr>
            <a:grpSpLocks/>
          </p:cNvGrpSpPr>
          <p:nvPr/>
        </p:nvGrpSpPr>
        <p:grpSpPr bwMode="auto">
          <a:xfrm>
            <a:off x="5246720" y="2321448"/>
            <a:ext cx="328612" cy="307975"/>
            <a:chOff x="5593109" y="2807553"/>
            <a:chExt cx="327773" cy="308986"/>
          </a:xfrm>
        </p:grpSpPr>
        <p:sp>
          <p:nvSpPr>
            <p:cNvPr id="19483" name="Line 65"/>
            <p:cNvSpPr>
              <a:spLocks noChangeShapeType="1"/>
            </p:cNvSpPr>
            <p:nvPr/>
          </p:nvSpPr>
          <p:spPr bwMode="auto">
            <a:xfrm>
              <a:off x="5593109" y="2807553"/>
              <a:ext cx="3277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84" name="Line 70"/>
            <p:cNvSpPr>
              <a:spLocks noChangeShapeType="1"/>
            </p:cNvSpPr>
            <p:nvPr/>
          </p:nvSpPr>
          <p:spPr bwMode="auto">
            <a:xfrm>
              <a:off x="5920882" y="2807553"/>
              <a:ext cx="0" cy="3089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upo 34"/>
          <p:cNvGrpSpPr>
            <a:grpSpLocks/>
          </p:cNvGrpSpPr>
          <p:nvPr/>
        </p:nvGrpSpPr>
        <p:grpSpPr bwMode="auto">
          <a:xfrm>
            <a:off x="6194425" y="2910682"/>
            <a:ext cx="327025" cy="309562"/>
            <a:chOff x="6357911" y="3322528"/>
            <a:chExt cx="327772" cy="308986"/>
          </a:xfrm>
        </p:grpSpPr>
        <p:sp>
          <p:nvSpPr>
            <p:cNvPr id="19481" name="Line 66"/>
            <p:cNvSpPr>
              <a:spLocks noChangeShapeType="1"/>
            </p:cNvSpPr>
            <p:nvPr/>
          </p:nvSpPr>
          <p:spPr bwMode="auto">
            <a:xfrm>
              <a:off x="6357911" y="3322528"/>
              <a:ext cx="3277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82" name="Line 71"/>
            <p:cNvSpPr>
              <a:spLocks noChangeShapeType="1"/>
            </p:cNvSpPr>
            <p:nvPr/>
          </p:nvSpPr>
          <p:spPr bwMode="auto">
            <a:xfrm>
              <a:off x="6685683" y="3322528"/>
              <a:ext cx="0" cy="3089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upo 35"/>
          <p:cNvGrpSpPr>
            <a:grpSpLocks/>
          </p:cNvGrpSpPr>
          <p:nvPr/>
        </p:nvGrpSpPr>
        <p:grpSpPr bwMode="auto">
          <a:xfrm>
            <a:off x="6912970" y="3731355"/>
            <a:ext cx="436563" cy="206375"/>
            <a:chOff x="7231970" y="3837504"/>
            <a:chExt cx="437029" cy="205990"/>
          </a:xfrm>
        </p:grpSpPr>
        <p:sp>
          <p:nvSpPr>
            <p:cNvPr id="19479" name="Line 67"/>
            <p:cNvSpPr>
              <a:spLocks noChangeShapeType="1"/>
            </p:cNvSpPr>
            <p:nvPr/>
          </p:nvSpPr>
          <p:spPr bwMode="auto">
            <a:xfrm>
              <a:off x="7231970" y="3837504"/>
              <a:ext cx="4370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80" name="Line 72"/>
            <p:cNvSpPr>
              <a:spLocks noChangeShapeType="1"/>
            </p:cNvSpPr>
            <p:nvPr/>
          </p:nvSpPr>
          <p:spPr bwMode="auto">
            <a:xfrm>
              <a:off x="7668999" y="3837504"/>
              <a:ext cx="0" cy="2059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3" name="Grupo 36"/>
          <p:cNvGrpSpPr>
            <a:grpSpLocks/>
          </p:cNvGrpSpPr>
          <p:nvPr/>
        </p:nvGrpSpPr>
        <p:grpSpPr bwMode="auto">
          <a:xfrm>
            <a:off x="683569" y="1726406"/>
            <a:ext cx="5929772" cy="3532523"/>
            <a:chOff x="1622031" y="2571744"/>
            <a:chExt cx="5572164" cy="2781311"/>
          </a:xfrm>
        </p:grpSpPr>
        <p:sp>
          <p:nvSpPr>
            <p:cNvPr id="19472" name="Line 73"/>
            <p:cNvSpPr>
              <a:spLocks noChangeShapeType="1"/>
            </p:cNvSpPr>
            <p:nvPr/>
          </p:nvSpPr>
          <p:spPr bwMode="auto">
            <a:xfrm>
              <a:off x="7194195" y="5044020"/>
              <a:ext cx="0" cy="3090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73" name="Line 74"/>
            <p:cNvSpPr>
              <a:spLocks noChangeShapeType="1"/>
            </p:cNvSpPr>
            <p:nvPr/>
          </p:nvSpPr>
          <p:spPr bwMode="auto">
            <a:xfrm>
              <a:off x="1622031" y="5353055"/>
              <a:ext cx="55721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74" name="Line 75"/>
            <p:cNvSpPr>
              <a:spLocks noChangeShapeType="1"/>
            </p:cNvSpPr>
            <p:nvPr/>
          </p:nvSpPr>
          <p:spPr bwMode="auto">
            <a:xfrm>
              <a:off x="1622031" y="2571744"/>
              <a:ext cx="0" cy="2781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75" name="Line 76"/>
            <p:cNvSpPr>
              <a:spLocks noChangeShapeType="1"/>
            </p:cNvSpPr>
            <p:nvPr/>
          </p:nvSpPr>
          <p:spPr bwMode="auto">
            <a:xfrm>
              <a:off x="3042386" y="3086801"/>
              <a:ext cx="0" cy="22662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76" name="Line 77"/>
            <p:cNvSpPr>
              <a:spLocks noChangeShapeType="1"/>
            </p:cNvSpPr>
            <p:nvPr/>
          </p:nvSpPr>
          <p:spPr bwMode="auto">
            <a:xfrm>
              <a:off x="4134968" y="3601859"/>
              <a:ext cx="0" cy="17511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77" name="Line 78"/>
            <p:cNvSpPr>
              <a:spLocks noChangeShapeType="1"/>
            </p:cNvSpPr>
            <p:nvPr/>
          </p:nvSpPr>
          <p:spPr bwMode="auto">
            <a:xfrm>
              <a:off x="4899774" y="4116917"/>
              <a:ext cx="0" cy="1236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78" name="Line 79"/>
            <p:cNvSpPr>
              <a:spLocks noChangeShapeType="1"/>
            </p:cNvSpPr>
            <p:nvPr/>
          </p:nvSpPr>
          <p:spPr bwMode="auto">
            <a:xfrm>
              <a:off x="5773839" y="4631974"/>
              <a:ext cx="0" cy="7210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4" name="AutoShape 62"/>
          <p:cNvSpPr>
            <a:spLocks noChangeArrowheads="1"/>
          </p:cNvSpPr>
          <p:nvPr/>
        </p:nvSpPr>
        <p:spPr bwMode="auto">
          <a:xfrm>
            <a:off x="6630988" y="4616396"/>
            <a:ext cx="2076450" cy="9271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r>
              <a:rPr lang="pt-BR" sz="2100" b="1" dirty="0" smtClean="0">
                <a:solidFill>
                  <a:schemeClr val="tx1"/>
                </a:solidFill>
                <a:latin typeface="Arial Narrow" pitchFamily="34" charset="0"/>
              </a:rPr>
              <a:t>Operação e Manutenção </a:t>
            </a:r>
            <a:endParaRPr lang="pt-BR" sz="2100" b="1" dirty="0">
              <a:solidFill>
                <a:schemeClr val="tx1"/>
              </a:solidFill>
              <a:latin typeface="Arial Narrow" pitchFamily="34" charset="0"/>
            </a:endParaRPr>
          </a:p>
        </p:txBody>
      </p:sp>
      <p:grpSp>
        <p:nvGrpSpPr>
          <p:cNvPr id="35" name="Grupo 35"/>
          <p:cNvGrpSpPr>
            <a:grpSpLocks/>
          </p:cNvGrpSpPr>
          <p:nvPr/>
        </p:nvGrpSpPr>
        <p:grpSpPr bwMode="auto">
          <a:xfrm>
            <a:off x="7795892" y="4407576"/>
            <a:ext cx="436563" cy="206375"/>
            <a:chOff x="7231970" y="3837504"/>
            <a:chExt cx="437029" cy="205990"/>
          </a:xfrm>
        </p:grpSpPr>
        <p:sp>
          <p:nvSpPr>
            <p:cNvPr id="36" name="Line 67"/>
            <p:cNvSpPr>
              <a:spLocks noChangeShapeType="1"/>
            </p:cNvSpPr>
            <p:nvPr/>
          </p:nvSpPr>
          <p:spPr bwMode="auto">
            <a:xfrm>
              <a:off x="7231970" y="3837504"/>
              <a:ext cx="4370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Line 72"/>
            <p:cNvSpPr>
              <a:spLocks noChangeShapeType="1"/>
            </p:cNvSpPr>
            <p:nvPr/>
          </p:nvSpPr>
          <p:spPr bwMode="auto">
            <a:xfrm>
              <a:off x="7668999" y="3837504"/>
              <a:ext cx="0" cy="2059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9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1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2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3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4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ço Reservado para Conteúdo 2"/>
          <p:cNvSpPr>
            <a:spLocks noGrp="1"/>
          </p:cNvSpPr>
          <p:nvPr>
            <p:ph idx="1"/>
          </p:nvPr>
        </p:nvSpPr>
        <p:spPr>
          <a:xfrm>
            <a:off x="385713" y="1357313"/>
            <a:ext cx="7786687" cy="5500687"/>
          </a:xfrm>
        </p:spPr>
        <p:txBody>
          <a:bodyPr>
            <a:normAutofit/>
          </a:bodyPr>
          <a:lstStyle/>
          <a:p>
            <a:pPr eaLnBrk="1" hangingPunct="1">
              <a:spcBef>
                <a:spcPts val="0"/>
              </a:spcBef>
            </a:pPr>
            <a:r>
              <a:rPr lang="pt-BR" sz="2400" b="1" dirty="0" smtClean="0"/>
              <a:t>Desenvolvimento do escopo do sistema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pt-BR" dirty="0" smtClean="0"/>
              <a:t>		</a:t>
            </a:r>
            <a:r>
              <a:rPr lang="pt-BR" sz="2000" dirty="0" smtClean="0"/>
              <a:t>Contém as informações obtidas com o usuário e identificar as 	possíveis deficiências no ambiente da empresa.</a:t>
            </a:r>
          </a:p>
          <a:p>
            <a:r>
              <a:rPr lang="pt-BR" sz="2600" b="1" dirty="0" smtClean="0"/>
              <a:t>Definir as atividades a serem executadas de forma correta  e de modo que outras pessoas possam acompanhar o projeto.</a:t>
            </a:r>
          </a:p>
          <a:p>
            <a:r>
              <a:rPr lang="pt-BR" sz="2600" b="1" dirty="0" smtClean="0"/>
              <a:t>Objetivos, funções e restrições são definidos, com o auxilio de clientes e usuários </a:t>
            </a:r>
          </a:p>
          <a:p>
            <a:r>
              <a:rPr lang="pt-BR" sz="2600" b="1" dirty="0" smtClean="0"/>
              <a:t>Estudo da viabilidade técnica e econômica</a:t>
            </a:r>
          </a:p>
          <a:p>
            <a:pPr eaLnBrk="1" hangingPunct="1"/>
            <a:r>
              <a:rPr lang="pt-BR" sz="2600" b="1" dirty="0" smtClean="0"/>
              <a:t>Definição de prazos e metas para a implementação do sistema.</a:t>
            </a:r>
          </a:p>
          <a:p>
            <a:pPr eaLnBrk="1" hangingPunct="1"/>
            <a:endParaRPr lang="pt-BR" dirty="0" smtClean="0"/>
          </a:p>
          <a:p>
            <a:pPr eaLnBrk="1" hangingPunct="1"/>
            <a:endParaRPr lang="pt-BR" dirty="0" smtClean="0"/>
          </a:p>
          <a:p>
            <a:pPr eaLnBrk="1" hangingPunct="1"/>
            <a:endParaRPr lang="pt-BR" sz="2000" dirty="0" smtClean="0"/>
          </a:p>
          <a:p>
            <a:pPr eaLnBrk="1" hangingPunct="1"/>
            <a:endParaRPr lang="pt-BR" dirty="0" smtClean="0"/>
          </a:p>
        </p:txBody>
      </p:sp>
      <p:grpSp>
        <p:nvGrpSpPr>
          <p:cNvPr id="20483" name="Grupo 5"/>
          <p:cNvGrpSpPr>
            <a:grpSpLocks/>
          </p:cNvGrpSpPr>
          <p:nvPr/>
        </p:nvGrpSpPr>
        <p:grpSpPr bwMode="auto">
          <a:xfrm>
            <a:off x="285750" y="571500"/>
            <a:ext cx="1700213" cy="679450"/>
            <a:chOff x="1037" y="1692038"/>
            <a:chExt cx="1699809" cy="679923"/>
          </a:xfrm>
        </p:grpSpPr>
        <p:sp>
          <p:nvSpPr>
            <p:cNvPr id="22" name="Pentágono 21"/>
            <p:cNvSpPr/>
            <p:nvPr/>
          </p:nvSpPr>
          <p:spPr>
            <a:xfrm>
              <a:off x="1037" y="1692038"/>
              <a:ext cx="1699809" cy="679923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dirty="0" smtClean="0"/>
            </a:p>
            <a:p>
              <a:r>
                <a:rPr lang="pt-BR" dirty="0" smtClean="0"/>
                <a:t>Viabilidade</a:t>
              </a:r>
              <a:endParaRPr lang="pt-BR" dirty="0"/>
            </a:p>
          </p:txBody>
        </p:sp>
        <p:sp>
          <p:nvSpPr>
            <p:cNvPr id="23" name="Pentágono 4"/>
            <p:cNvSpPr/>
            <p:nvPr/>
          </p:nvSpPr>
          <p:spPr>
            <a:xfrm>
              <a:off x="1037" y="1692038"/>
              <a:ext cx="1529986" cy="6799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74676" tIns="37338" rIns="18669" bIns="37338" spcCol="1270" anchor="ctr"/>
            <a:lstStyle/>
            <a:p>
              <a:pPr algn="ctr" defTabSz="6223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1600" b="1" dirty="0"/>
            </a:p>
          </p:txBody>
        </p:sp>
      </p:grpSp>
      <p:sp>
        <p:nvSpPr>
          <p:cNvPr id="20" name="Divisa 19"/>
          <p:cNvSpPr/>
          <p:nvPr/>
        </p:nvSpPr>
        <p:spPr>
          <a:xfrm>
            <a:off x="1647825" y="606425"/>
            <a:ext cx="1700213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Divisa 17"/>
          <p:cNvSpPr/>
          <p:nvPr/>
        </p:nvSpPr>
        <p:spPr>
          <a:xfrm>
            <a:off x="3006725" y="606425"/>
            <a:ext cx="1700213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6" name="Divisa 15"/>
          <p:cNvSpPr/>
          <p:nvPr/>
        </p:nvSpPr>
        <p:spPr>
          <a:xfrm>
            <a:off x="4367213" y="606425"/>
            <a:ext cx="1700212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4" name="Divisa 13"/>
          <p:cNvSpPr/>
          <p:nvPr/>
        </p:nvSpPr>
        <p:spPr>
          <a:xfrm>
            <a:off x="5727700" y="606425"/>
            <a:ext cx="1698625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Divisa 11"/>
          <p:cNvSpPr/>
          <p:nvPr/>
        </p:nvSpPr>
        <p:spPr>
          <a:xfrm>
            <a:off x="7086600" y="606425"/>
            <a:ext cx="1700213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9" name="Pentágono 4"/>
          <p:cNvSpPr/>
          <p:nvPr/>
        </p:nvSpPr>
        <p:spPr>
          <a:xfrm>
            <a:off x="1643063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Análise de Requisitos</a:t>
            </a:r>
          </a:p>
        </p:txBody>
      </p:sp>
      <p:sp>
        <p:nvSpPr>
          <p:cNvPr id="33" name="Pentágono 4"/>
          <p:cNvSpPr/>
          <p:nvPr/>
        </p:nvSpPr>
        <p:spPr>
          <a:xfrm>
            <a:off x="3071813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Projeto</a:t>
            </a:r>
          </a:p>
        </p:txBody>
      </p:sp>
      <p:sp>
        <p:nvSpPr>
          <p:cNvPr id="34" name="Pentágono 4"/>
          <p:cNvSpPr/>
          <p:nvPr/>
        </p:nvSpPr>
        <p:spPr>
          <a:xfrm>
            <a:off x="4429125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Codificação</a:t>
            </a:r>
          </a:p>
        </p:txBody>
      </p:sp>
      <p:sp>
        <p:nvSpPr>
          <p:cNvPr id="35" name="Pentágono 4"/>
          <p:cNvSpPr/>
          <p:nvPr/>
        </p:nvSpPr>
        <p:spPr>
          <a:xfrm>
            <a:off x="5715000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Testes</a:t>
            </a:r>
          </a:p>
        </p:txBody>
      </p:sp>
      <p:sp>
        <p:nvSpPr>
          <p:cNvPr id="36" name="Pentágono 4"/>
          <p:cNvSpPr/>
          <p:nvPr/>
        </p:nvSpPr>
        <p:spPr>
          <a:xfrm>
            <a:off x="7215188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 smtClean="0"/>
              <a:t>Implantação</a:t>
            </a:r>
            <a:endParaRPr lang="pt-BR" sz="1600" b="1" dirty="0"/>
          </a:p>
        </p:txBody>
      </p:sp>
      <p:sp>
        <p:nvSpPr>
          <p:cNvPr id="17" name="AutoShape 57"/>
          <p:cNvSpPr>
            <a:spLocks noChangeArrowheads="1"/>
          </p:cNvSpPr>
          <p:nvPr/>
        </p:nvSpPr>
        <p:spPr bwMode="auto">
          <a:xfrm>
            <a:off x="357188" y="0"/>
            <a:ext cx="1500187" cy="50006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r>
              <a:rPr lang="pt-BR" sz="2100" b="1" dirty="0" smtClean="0">
                <a:solidFill>
                  <a:schemeClr val="tx1"/>
                </a:solidFill>
                <a:latin typeface="Arial Narrow" pitchFamily="34" charset="0"/>
              </a:rPr>
              <a:t>Viabilidade</a:t>
            </a:r>
            <a:endParaRPr lang="pt-BR" sz="2100" b="1" dirty="0">
              <a:solidFill>
                <a:schemeClr val="tx1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ço Reservado para Conteúdo 2"/>
          <p:cNvSpPr>
            <a:spLocks noGrp="1"/>
          </p:cNvSpPr>
          <p:nvPr>
            <p:ph idx="1"/>
          </p:nvPr>
        </p:nvSpPr>
        <p:spPr>
          <a:xfrm>
            <a:off x="357188" y="1310406"/>
            <a:ext cx="7896225" cy="5214938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endParaRPr lang="pt-BR" dirty="0" smtClean="0"/>
          </a:p>
          <a:p>
            <a:pPr eaLnBrk="1" hangingPunct="1">
              <a:defRPr/>
            </a:pPr>
            <a:r>
              <a:rPr lang="pt-BR" sz="2400" dirty="0" smtClean="0"/>
              <a:t>Estabelecer os Requisitos de Software:</a:t>
            </a:r>
          </a:p>
          <a:p>
            <a:pPr marL="457200" lvl="1" indent="0" eaLnBrk="1" hangingPunct="1">
              <a:buNone/>
              <a:defRPr/>
            </a:pPr>
            <a:r>
              <a:rPr lang="pt-BR" sz="2400" dirty="0" smtClean="0"/>
              <a:t>analisando os objetivos e limitações.</a:t>
            </a:r>
          </a:p>
          <a:p>
            <a:pPr>
              <a:defRPr/>
            </a:pPr>
            <a:r>
              <a:rPr lang="pt-BR" sz="2400" dirty="0" smtClean="0"/>
              <a:t>Descrição de requisitos do </a:t>
            </a:r>
            <a:r>
              <a:rPr lang="pt-BR" sz="2400" dirty="0"/>
              <a:t>software em termos de unidades abstratas e de suas relações, mostrando o caminho da implementação do software.</a:t>
            </a:r>
          </a:p>
          <a:p>
            <a:pPr marL="342900" lvl="1" indent="-342900">
              <a:buFont typeface="Arial" panose="020B0604020202020204" pitchFamily="34" charset="0"/>
              <a:buChar char="•"/>
              <a:defRPr/>
            </a:pPr>
            <a:r>
              <a:rPr lang="pt-BR" sz="2400" dirty="0" smtClean="0"/>
              <a:t>Modelagem  </a:t>
            </a:r>
            <a:r>
              <a:rPr lang="pt-BR" sz="2400" dirty="0"/>
              <a:t>do  </a:t>
            </a:r>
            <a:r>
              <a:rPr lang="pt-BR" sz="2400" dirty="0" smtClean="0"/>
              <a:t>sistema com uso de ferramentas como :</a:t>
            </a:r>
            <a:endParaRPr lang="pt-BR" sz="2400" dirty="0"/>
          </a:p>
          <a:p>
            <a:pPr lvl="2" eaLnBrk="1" hangingPunct="1">
              <a:defRPr/>
            </a:pPr>
            <a:r>
              <a:rPr lang="pt-BR" dirty="0" smtClean="0"/>
              <a:t>Diagramas  de  fluxo  de  dados;</a:t>
            </a:r>
          </a:p>
          <a:p>
            <a:pPr lvl="2">
              <a:defRPr/>
            </a:pPr>
            <a:r>
              <a:rPr lang="pt-BR" dirty="0"/>
              <a:t>Modelo Entidade-relacionamento;</a:t>
            </a:r>
          </a:p>
          <a:p>
            <a:pPr lvl="2" eaLnBrk="1" hangingPunct="1">
              <a:defRPr/>
            </a:pPr>
            <a:r>
              <a:rPr lang="pt-BR" dirty="0" smtClean="0"/>
              <a:t>Diagrama de Classes</a:t>
            </a:r>
          </a:p>
          <a:p>
            <a:pPr lvl="2" eaLnBrk="1" hangingPunct="1">
              <a:defRPr/>
            </a:pPr>
            <a:r>
              <a:rPr lang="pt-BR" dirty="0" smtClean="0"/>
              <a:t>Diagrama de Sequência</a:t>
            </a:r>
          </a:p>
          <a:p>
            <a:pPr lvl="2" eaLnBrk="1" hangingPunct="1">
              <a:defRPr/>
            </a:pPr>
            <a:r>
              <a:rPr lang="pt-BR" dirty="0" smtClean="0"/>
              <a:t>Diagrama de Caso de Uso</a:t>
            </a:r>
          </a:p>
          <a:p>
            <a:pPr lvl="2" eaLnBrk="1" hangingPunct="1">
              <a:defRPr/>
            </a:pPr>
            <a:r>
              <a:rPr lang="pt-BR" dirty="0" smtClean="0"/>
              <a:t>Descrição de Casos de Uso e outras  ferramentas.</a:t>
            </a:r>
          </a:p>
        </p:txBody>
      </p:sp>
      <p:grpSp>
        <p:nvGrpSpPr>
          <p:cNvPr id="2" name="Grupo 5"/>
          <p:cNvGrpSpPr/>
          <p:nvPr/>
        </p:nvGrpSpPr>
        <p:grpSpPr>
          <a:xfrm>
            <a:off x="287796" y="605937"/>
            <a:ext cx="1699809" cy="679923"/>
            <a:chOff x="1037" y="1692038"/>
            <a:chExt cx="1699809" cy="67992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7" name="Pentágono 6"/>
            <p:cNvSpPr/>
            <p:nvPr/>
          </p:nvSpPr>
          <p:spPr>
            <a:xfrm>
              <a:off x="1037" y="1692038"/>
              <a:ext cx="1699809" cy="679923"/>
            </a:xfrm>
            <a:prstGeom prst="homePlat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Pentágono 4"/>
            <p:cNvSpPr/>
            <p:nvPr/>
          </p:nvSpPr>
          <p:spPr>
            <a:xfrm>
              <a:off x="1037" y="1692038"/>
              <a:ext cx="1529828" cy="67992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74676" tIns="37338" rIns="18669" bIns="37338" spcCol="1270" anchor="ctr"/>
            <a:lstStyle/>
            <a:p>
              <a:pPr algn="ctr" defTabSz="6223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pt-BR" sz="1600" b="1" dirty="0"/>
                <a:t>Definição</a:t>
              </a:r>
            </a:p>
          </p:txBody>
        </p:sp>
      </p:grpSp>
      <p:sp>
        <p:nvSpPr>
          <p:cNvPr id="9" name="Divisa 8"/>
          <p:cNvSpPr/>
          <p:nvPr/>
        </p:nvSpPr>
        <p:spPr>
          <a:xfrm>
            <a:off x="1647825" y="606425"/>
            <a:ext cx="1700213" cy="679450"/>
          </a:xfrm>
          <a:prstGeom prst="chevr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0" name="Divisa 9"/>
          <p:cNvSpPr/>
          <p:nvPr/>
        </p:nvSpPr>
        <p:spPr>
          <a:xfrm>
            <a:off x="3006725" y="606425"/>
            <a:ext cx="1700213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1" name="Divisa 10"/>
          <p:cNvSpPr/>
          <p:nvPr/>
        </p:nvSpPr>
        <p:spPr>
          <a:xfrm>
            <a:off x="4367213" y="606425"/>
            <a:ext cx="1700212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Divisa 11"/>
          <p:cNvSpPr/>
          <p:nvPr/>
        </p:nvSpPr>
        <p:spPr>
          <a:xfrm>
            <a:off x="5727700" y="606425"/>
            <a:ext cx="1698625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Divisa 12"/>
          <p:cNvSpPr/>
          <p:nvPr/>
        </p:nvSpPr>
        <p:spPr>
          <a:xfrm>
            <a:off x="7086600" y="606425"/>
            <a:ext cx="1700213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4" name="Pentágono 4"/>
          <p:cNvSpPr/>
          <p:nvPr/>
        </p:nvSpPr>
        <p:spPr>
          <a:xfrm>
            <a:off x="1643063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Análise de Requisitos</a:t>
            </a:r>
          </a:p>
        </p:txBody>
      </p:sp>
      <p:sp>
        <p:nvSpPr>
          <p:cNvPr id="15" name="Pentágono 4"/>
          <p:cNvSpPr/>
          <p:nvPr/>
        </p:nvSpPr>
        <p:spPr>
          <a:xfrm>
            <a:off x="3071813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Projeto</a:t>
            </a:r>
          </a:p>
        </p:txBody>
      </p:sp>
      <p:sp>
        <p:nvSpPr>
          <p:cNvPr id="16" name="Pentágono 4"/>
          <p:cNvSpPr/>
          <p:nvPr/>
        </p:nvSpPr>
        <p:spPr>
          <a:xfrm>
            <a:off x="4429125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Codificação</a:t>
            </a:r>
          </a:p>
        </p:txBody>
      </p:sp>
      <p:sp>
        <p:nvSpPr>
          <p:cNvPr id="17" name="Pentágono 4"/>
          <p:cNvSpPr/>
          <p:nvPr/>
        </p:nvSpPr>
        <p:spPr>
          <a:xfrm>
            <a:off x="5715000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Testes</a:t>
            </a:r>
          </a:p>
        </p:txBody>
      </p:sp>
      <p:sp>
        <p:nvSpPr>
          <p:cNvPr id="18" name="Pentágono 4"/>
          <p:cNvSpPr/>
          <p:nvPr/>
        </p:nvSpPr>
        <p:spPr>
          <a:xfrm>
            <a:off x="7215188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Manutenção</a:t>
            </a:r>
          </a:p>
        </p:txBody>
      </p:sp>
      <p:sp>
        <p:nvSpPr>
          <p:cNvPr id="21" name="AutoShape 58"/>
          <p:cNvSpPr>
            <a:spLocks noChangeArrowheads="1"/>
          </p:cNvSpPr>
          <p:nvPr/>
        </p:nvSpPr>
        <p:spPr bwMode="auto">
          <a:xfrm>
            <a:off x="1571625" y="0"/>
            <a:ext cx="2643188" cy="50006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r>
              <a:rPr lang="pt-BR" sz="2100" b="1" dirty="0">
                <a:solidFill>
                  <a:schemeClr val="tx1"/>
                </a:solidFill>
                <a:latin typeface="Arial Narrow" pitchFamily="34" charset="0"/>
              </a:rPr>
              <a:t>Análise  de Requisitos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ço Reservado para Conteúdo 2"/>
          <p:cNvSpPr>
            <a:spLocks noGrp="1"/>
          </p:cNvSpPr>
          <p:nvPr>
            <p:ph idx="1"/>
          </p:nvPr>
        </p:nvSpPr>
        <p:spPr>
          <a:xfrm>
            <a:off x="518864" y="1600200"/>
            <a:ext cx="8229600" cy="45259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 sz="2400" dirty="0" smtClean="0">
                <a:latin typeface="+mj-lt"/>
              </a:rPr>
              <a:t>Reúne atributos diferentes do sistema:</a:t>
            </a:r>
          </a:p>
          <a:p>
            <a:pPr lvl="2" eaLnBrk="1" hangingPunct="1">
              <a:defRPr/>
            </a:pPr>
            <a:r>
              <a:rPr lang="pt-BR" dirty="0" smtClean="0">
                <a:latin typeface="+mj-lt"/>
              </a:rPr>
              <a:t> Estrutura de dados, </a:t>
            </a:r>
          </a:p>
          <a:p>
            <a:pPr lvl="2" eaLnBrk="1" hangingPunct="1">
              <a:defRPr/>
            </a:pPr>
            <a:r>
              <a:rPr lang="pt-BR" dirty="0" smtClean="0">
                <a:latin typeface="+mj-lt"/>
              </a:rPr>
              <a:t>Arquitetura do software </a:t>
            </a:r>
          </a:p>
          <a:p>
            <a:pPr lvl="2" eaLnBrk="1" hangingPunct="1">
              <a:defRPr/>
            </a:pPr>
            <a:r>
              <a:rPr lang="pt-BR" dirty="0" smtClean="0">
                <a:latin typeface="+mj-lt"/>
              </a:rPr>
              <a:t>Caracterização das interfaces.</a:t>
            </a:r>
          </a:p>
          <a:p>
            <a:pPr eaLnBrk="1" hangingPunct="1">
              <a:defRPr/>
            </a:pPr>
            <a:r>
              <a:rPr lang="pt-BR" sz="2400" dirty="0" smtClean="0">
                <a:latin typeface="+mj-lt"/>
                <a:cs typeface="Arial" pitchFamily="34" charset="0"/>
              </a:rPr>
              <a:t>Traduzir  todas  as  exigências  definidas  nas  etapas  anteriores,  em representações  de  software  que  podem  ser  avaliadas  antes  que  a  codificação  se  inicie</a:t>
            </a:r>
            <a:r>
              <a:rPr lang="pt-BR" sz="2400" dirty="0" smtClean="0">
                <a:latin typeface="+mj-lt"/>
              </a:rPr>
              <a:t>.</a:t>
            </a:r>
          </a:p>
          <a:p>
            <a:pPr eaLnBrk="1" hangingPunct="1">
              <a:defRPr/>
            </a:pPr>
            <a:endParaRPr lang="pt-BR" sz="2400" dirty="0" smtClean="0">
              <a:latin typeface="+mj-lt"/>
            </a:endParaRPr>
          </a:p>
          <a:p>
            <a:pPr eaLnBrk="1" hangingPunct="1">
              <a:defRPr/>
            </a:pPr>
            <a:r>
              <a:rPr lang="pt-BR" sz="2400" dirty="0" smtClean="0">
                <a:latin typeface="+mj-lt"/>
              </a:rPr>
              <a:t>O projeto é </a:t>
            </a:r>
            <a:r>
              <a:rPr lang="pt-BR" sz="2400" b="1" dirty="0" smtClean="0">
                <a:latin typeface="+mj-lt"/>
              </a:rPr>
              <a:t>documentado </a:t>
            </a:r>
            <a:r>
              <a:rPr lang="pt-BR" sz="2400" dirty="0" smtClean="0">
                <a:latin typeface="+mj-lt"/>
              </a:rPr>
              <a:t>e transforma-se em uma parte do software. </a:t>
            </a:r>
          </a:p>
          <a:p>
            <a:pPr eaLnBrk="1" hangingPunct="1">
              <a:defRPr/>
            </a:pPr>
            <a:endParaRPr lang="pt-BR" dirty="0" smtClean="0"/>
          </a:p>
        </p:txBody>
      </p:sp>
      <p:grpSp>
        <p:nvGrpSpPr>
          <p:cNvPr id="2" name="Grupo 5"/>
          <p:cNvGrpSpPr/>
          <p:nvPr/>
        </p:nvGrpSpPr>
        <p:grpSpPr>
          <a:xfrm>
            <a:off x="287796" y="605937"/>
            <a:ext cx="1699809" cy="679923"/>
            <a:chOff x="1037" y="1692038"/>
            <a:chExt cx="1699809" cy="67992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7" name="Pentágono 6"/>
            <p:cNvSpPr/>
            <p:nvPr/>
          </p:nvSpPr>
          <p:spPr>
            <a:xfrm>
              <a:off x="1037" y="1692038"/>
              <a:ext cx="1699809" cy="679923"/>
            </a:xfrm>
            <a:prstGeom prst="homePlat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Pentágono 4"/>
            <p:cNvSpPr/>
            <p:nvPr/>
          </p:nvSpPr>
          <p:spPr>
            <a:xfrm>
              <a:off x="1037" y="1692038"/>
              <a:ext cx="1529828" cy="67992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74676" tIns="37338" rIns="18669" bIns="37338" spcCol="1270" anchor="ctr"/>
            <a:lstStyle/>
            <a:p>
              <a:pPr algn="ctr" defTabSz="6223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pt-BR" sz="1600" b="1" dirty="0"/>
                <a:t>Definição</a:t>
              </a:r>
            </a:p>
          </p:txBody>
        </p:sp>
      </p:grpSp>
      <p:sp>
        <p:nvSpPr>
          <p:cNvPr id="9" name="Divisa 8"/>
          <p:cNvSpPr/>
          <p:nvPr/>
        </p:nvSpPr>
        <p:spPr>
          <a:xfrm>
            <a:off x="1647825" y="606425"/>
            <a:ext cx="1700213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0" name="Divisa 9"/>
          <p:cNvSpPr/>
          <p:nvPr/>
        </p:nvSpPr>
        <p:spPr>
          <a:xfrm>
            <a:off x="3006725" y="606425"/>
            <a:ext cx="1700213" cy="679450"/>
          </a:xfrm>
          <a:prstGeom prst="chevr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1" name="Divisa 10"/>
          <p:cNvSpPr/>
          <p:nvPr/>
        </p:nvSpPr>
        <p:spPr>
          <a:xfrm>
            <a:off x="4367213" y="606425"/>
            <a:ext cx="1700212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Divisa 11"/>
          <p:cNvSpPr/>
          <p:nvPr/>
        </p:nvSpPr>
        <p:spPr>
          <a:xfrm>
            <a:off x="5727700" y="606425"/>
            <a:ext cx="1698625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Divisa 12"/>
          <p:cNvSpPr/>
          <p:nvPr/>
        </p:nvSpPr>
        <p:spPr>
          <a:xfrm>
            <a:off x="7086600" y="606425"/>
            <a:ext cx="1700213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4" name="Pentágono 4"/>
          <p:cNvSpPr/>
          <p:nvPr/>
        </p:nvSpPr>
        <p:spPr>
          <a:xfrm>
            <a:off x="1643063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Análise de Requisitos</a:t>
            </a:r>
          </a:p>
        </p:txBody>
      </p:sp>
      <p:sp>
        <p:nvSpPr>
          <p:cNvPr id="15" name="Pentágono 4"/>
          <p:cNvSpPr/>
          <p:nvPr/>
        </p:nvSpPr>
        <p:spPr>
          <a:xfrm>
            <a:off x="3071813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Projeto</a:t>
            </a:r>
          </a:p>
        </p:txBody>
      </p:sp>
      <p:sp>
        <p:nvSpPr>
          <p:cNvPr id="16" name="Pentágono 4"/>
          <p:cNvSpPr/>
          <p:nvPr/>
        </p:nvSpPr>
        <p:spPr>
          <a:xfrm>
            <a:off x="4429125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Codificação</a:t>
            </a:r>
          </a:p>
        </p:txBody>
      </p:sp>
      <p:sp>
        <p:nvSpPr>
          <p:cNvPr id="17" name="Pentágono 4"/>
          <p:cNvSpPr/>
          <p:nvPr/>
        </p:nvSpPr>
        <p:spPr>
          <a:xfrm>
            <a:off x="5715000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Testes</a:t>
            </a:r>
          </a:p>
        </p:txBody>
      </p:sp>
      <p:sp>
        <p:nvSpPr>
          <p:cNvPr id="18" name="Pentágono 4"/>
          <p:cNvSpPr/>
          <p:nvPr/>
        </p:nvSpPr>
        <p:spPr>
          <a:xfrm>
            <a:off x="7215188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Manutenção</a:t>
            </a:r>
          </a:p>
        </p:txBody>
      </p:sp>
      <p:sp>
        <p:nvSpPr>
          <p:cNvPr id="19" name="AutoShape 59"/>
          <p:cNvSpPr>
            <a:spLocks noChangeArrowheads="1"/>
          </p:cNvSpPr>
          <p:nvPr/>
        </p:nvSpPr>
        <p:spPr bwMode="auto">
          <a:xfrm>
            <a:off x="3143250" y="142875"/>
            <a:ext cx="2076450" cy="50006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r>
              <a:rPr lang="pt-BR" sz="2100" b="1" dirty="0">
                <a:solidFill>
                  <a:schemeClr val="tx1"/>
                </a:solidFill>
                <a:latin typeface="Arial Narrow" pitchFamily="34" charset="0"/>
              </a:rPr>
              <a:t>Projeto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ço Reservado para Conteúdo 2"/>
          <p:cNvSpPr>
            <a:spLocks noGrp="1"/>
          </p:cNvSpPr>
          <p:nvPr>
            <p:ph idx="1"/>
          </p:nvPr>
        </p:nvSpPr>
        <p:spPr>
          <a:xfrm>
            <a:off x="469106" y="1556792"/>
            <a:ext cx="8495382" cy="4302125"/>
          </a:xfrm>
        </p:spPr>
        <p:txBody>
          <a:bodyPr>
            <a:normAutofit/>
          </a:bodyPr>
          <a:lstStyle/>
          <a:p>
            <a:pPr eaLnBrk="1" hangingPunct="1"/>
            <a:r>
              <a:rPr lang="pt-BR" sz="2600" dirty="0" smtClean="0"/>
              <a:t>Esta é a etapa em que são geradas as</a:t>
            </a:r>
            <a:r>
              <a:rPr lang="pt-BR" sz="2600" dirty="0" smtClean="0">
                <a:cs typeface="Arial" charset="0"/>
              </a:rPr>
              <a:t> linhas de código para cada  uma  das funcionalidades e  módulos  especificados  na  documentação  das  etapas  anteriores.</a:t>
            </a:r>
          </a:p>
          <a:p>
            <a:pPr eaLnBrk="1" hangingPunct="1"/>
            <a:endParaRPr lang="pt-BR" sz="2600" dirty="0" smtClean="0">
              <a:cs typeface="Arial" charset="0"/>
            </a:endParaRPr>
          </a:p>
          <a:p>
            <a:r>
              <a:rPr lang="pt-BR" sz="2600" dirty="0"/>
              <a:t>Cada unidade é testada e codificada individualmente</a:t>
            </a:r>
            <a:r>
              <a:rPr lang="pt-BR" sz="2600" dirty="0" smtClean="0"/>
              <a:t>.</a:t>
            </a:r>
          </a:p>
          <a:p>
            <a:endParaRPr lang="pt-BR" sz="2600" dirty="0"/>
          </a:p>
          <a:p>
            <a:pPr eaLnBrk="1" hangingPunct="1"/>
            <a:r>
              <a:rPr lang="pt-BR" sz="2600" dirty="0" smtClean="0"/>
              <a:t>Se o projeto possui um nível de detalhe elevado, a etapa de codificação pode ser implementada automaticamente</a:t>
            </a:r>
          </a:p>
        </p:txBody>
      </p:sp>
      <p:grpSp>
        <p:nvGrpSpPr>
          <p:cNvPr id="2" name="Grupo 6"/>
          <p:cNvGrpSpPr/>
          <p:nvPr/>
        </p:nvGrpSpPr>
        <p:grpSpPr>
          <a:xfrm>
            <a:off x="287796" y="605937"/>
            <a:ext cx="1699809" cy="679923"/>
            <a:chOff x="1037" y="1692038"/>
            <a:chExt cx="1699809" cy="67992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8" name="Pentágono 7"/>
            <p:cNvSpPr/>
            <p:nvPr/>
          </p:nvSpPr>
          <p:spPr>
            <a:xfrm>
              <a:off x="1037" y="1692038"/>
              <a:ext cx="1699809" cy="679923"/>
            </a:xfrm>
            <a:prstGeom prst="homePlat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Pentágono 4"/>
            <p:cNvSpPr/>
            <p:nvPr/>
          </p:nvSpPr>
          <p:spPr>
            <a:xfrm>
              <a:off x="1037" y="1692038"/>
              <a:ext cx="1529828" cy="67992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74676" tIns="37338" rIns="18669" bIns="37338" spcCol="1270" anchor="ctr"/>
            <a:lstStyle/>
            <a:p>
              <a:pPr algn="ctr" defTabSz="6223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pt-BR" sz="1600" b="1" dirty="0"/>
                <a:t>Definição</a:t>
              </a:r>
            </a:p>
          </p:txBody>
        </p:sp>
      </p:grpSp>
      <p:sp>
        <p:nvSpPr>
          <p:cNvPr id="10" name="Divisa 9"/>
          <p:cNvSpPr/>
          <p:nvPr/>
        </p:nvSpPr>
        <p:spPr>
          <a:xfrm>
            <a:off x="1647825" y="606425"/>
            <a:ext cx="1700213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" name="Divisa 10"/>
          <p:cNvSpPr/>
          <p:nvPr/>
        </p:nvSpPr>
        <p:spPr>
          <a:xfrm>
            <a:off x="3006725" y="606425"/>
            <a:ext cx="1700213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Divisa 11"/>
          <p:cNvSpPr/>
          <p:nvPr/>
        </p:nvSpPr>
        <p:spPr>
          <a:xfrm>
            <a:off x="4367213" y="606425"/>
            <a:ext cx="1700212" cy="679450"/>
          </a:xfrm>
          <a:prstGeom prst="chevr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Divisa 12"/>
          <p:cNvSpPr/>
          <p:nvPr/>
        </p:nvSpPr>
        <p:spPr>
          <a:xfrm>
            <a:off x="5727700" y="606425"/>
            <a:ext cx="1698625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4" name="Divisa 13"/>
          <p:cNvSpPr/>
          <p:nvPr/>
        </p:nvSpPr>
        <p:spPr>
          <a:xfrm>
            <a:off x="7086600" y="606425"/>
            <a:ext cx="1700213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Pentágono 4"/>
          <p:cNvSpPr/>
          <p:nvPr/>
        </p:nvSpPr>
        <p:spPr>
          <a:xfrm>
            <a:off x="1643063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Análise de Requisitos</a:t>
            </a:r>
          </a:p>
        </p:txBody>
      </p:sp>
      <p:sp>
        <p:nvSpPr>
          <p:cNvPr id="16" name="Pentágono 4"/>
          <p:cNvSpPr/>
          <p:nvPr/>
        </p:nvSpPr>
        <p:spPr>
          <a:xfrm>
            <a:off x="3071813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Projeto</a:t>
            </a:r>
          </a:p>
        </p:txBody>
      </p:sp>
      <p:sp>
        <p:nvSpPr>
          <p:cNvPr id="17" name="Pentágono 4"/>
          <p:cNvSpPr/>
          <p:nvPr/>
        </p:nvSpPr>
        <p:spPr>
          <a:xfrm>
            <a:off x="4429125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Codificação</a:t>
            </a:r>
          </a:p>
        </p:txBody>
      </p:sp>
      <p:sp>
        <p:nvSpPr>
          <p:cNvPr id="18" name="Pentágono 4"/>
          <p:cNvSpPr/>
          <p:nvPr/>
        </p:nvSpPr>
        <p:spPr>
          <a:xfrm>
            <a:off x="5715000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Testes</a:t>
            </a:r>
          </a:p>
        </p:txBody>
      </p:sp>
      <p:sp>
        <p:nvSpPr>
          <p:cNvPr id="19" name="Pentágono 4"/>
          <p:cNvSpPr/>
          <p:nvPr/>
        </p:nvSpPr>
        <p:spPr>
          <a:xfrm>
            <a:off x="7215188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Manutenção</a:t>
            </a:r>
          </a:p>
        </p:txBody>
      </p:sp>
      <p:sp>
        <p:nvSpPr>
          <p:cNvPr id="20" name="AutoShape 60"/>
          <p:cNvSpPr>
            <a:spLocks noChangeArrowheads="1"/>
          </p:cNvSpPr>
          <p:nvPr/>
        </p:nvSpPr>
        <p:spPr bwMode="auto">
          <a:xfrm>
            <a:off x="3571875" y="0"/>
            <a:ext cx="2076450" cy="50006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r>
              <a:rPr lang="pt-BR" sz="2100" b="1" dirty="0">
                <a:solidFill>
                  <a:schemeClr val="tx1"/>
                </a:solidFill>
                <a:latin typeface="Arial Narrow" pitchFamily="34" charset="0"/>
              </a:rPr>
              <a:t>Codificação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357313"/>
            <a:ext cx="7467600" cy="5116512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endParaRPr lang="pt-BR" dirty="0" smtClean="0"/>
          </a:p>
          <a:p>
            <a:pPr eaLnBrk="1" hangingPunct="1">
              <a:defRPr/>
            </a:pPr>
            <a:r>
              <a:rPr lang="pt-BR" sz="2400" dirty="0" smtClean="0">
                <a:latin typeface="+mj-lt"/>
                <a:cs typeface="Arial" pitchFamily="34" charset="0"/>
              </a:rPr>
              <a:t>Testar  a lógica interna do software e as funcionalidades externas, integrando-as</a:t>
            </a:r>
            <a:endParaRPr lang="pt-BR" sz="2400" dirty="0" smtClean="0">
              <a:latin typeface="+mj-lt"/>
            </a:endParaRPr>
          </a:p>
          <a:p>
            <a:pPr eaLnBrk="1" hangingPunct="1">
              <a:defRPr/>
            </a:pPr>
            <a:r>
              <a:rPr lang="pt-BR" sz="2400" b="1" dirty="0" smtClean="0">
                <a:latin typeface="+mj-lt"/>
              </a:rPr>
              <a:t>Estratégias de Teste:</a:t>
            </a:r>
          </a:p>
          <a:p>
            <a:pPr lvl="1" eaLnBrk="1" hangingPunct="1">
              <a:defRPr/>
            </a:pPr>
            <a:r>
              <a:rPr lang="pt-BR" sz="2400" b="1" dirty="0" err="1" smtClean="0">
                <a:latin typeface="+mj-lt"/>
              </a:rPr>
              <a:t>Bottom-up</a:t>
            </a:r>
            <a:r>
              <a:rPr lang="pt-BR" sz="2400" b="1" dirty="0" smtClean="0">
                <a:latin typeface="+mj-lt"/>
              </a:rPr>
              <a:t> : </a:t>
            </a:r>
          </a:p>
          <a:p>
            <a:pPr marL="1371600" lvl="3" indent="0" eaLnBrk="1" hangingPunct="1">
              <a:buNone/>
              <a:defRPr/>
            </a:pPr>
            <a:r>
              <a:rPr lang="pt-BR" sz="2400" dirty="0" smtClean="0">
                <a:latin typeface="+mj-lt"/>
              </a:rPr>
              <a:t>Começa por testar os módulos pequenos de forma individual, também chamada de teste de unidade.</a:t>
            </a:r>
          </a:p>
          <a:p>
            <a:pPr lvl="1" eaLnBrk="1" hangingPunct="1">
              <a:defRPr/>
            </a:pPr>
            <a:r>
              <a:rPr lang="pt-BR" sz="2400" b="1" dirty="0" smtClean="0">
                <a:latin typeface="+mj-lt"/>
              </a:rPr>
              <a:t>Top-Down:</a:t>
            </a:r>
          </a:p>
          <a:p>
            <a:pPr marL="1371600" lvl="3" indent="0">
              <a:buNone/>
              <a:defRPr/>
            </a:pPr>
            <a:r>
              <a:rPr lang="pt-BR" sz="2400" dirty="0" smtClean="0">
                <a:latin typeface="+mj-lt"/>
              </a:rPr>
              <a:t>Presume que os módulos de execução de alto nível do sistema foram desenvolvidos, mas que os módulos de baixo nível existem apenas como simulações.</a:t>
            </a:r>
          </a:p>
          <a:p>
            <a:pPr eaLnBrk="1" hangingPunct="1">
              <a:defRPr/>
            </a:pPr>
            <a:r>
              <a:rPr lang="pt-BR" sz="2400" b="1" dirty="0" smtClean="0">
                <a:latin typeface="+mj-lt"/>
              </a:rPr>
              <a:t>Verificação de Erros:</a:t>
            </a:r>
          </a:p>
          <a:p>
            <a:pPr marL="457200" lvl="1" indent="0" eaLnBrk="1" hangingPunct="1">
              <a:buNone/>
              <a:defRPr/>
            </a:pPr>
            <a:r>
              <a:rPr lang="pt-BR" sz="2400" dirty="0" smtClean="0">
                <a:latin typeface="+mj-lt"/>
              </a:rPr>
              <a:t>Verifica se foram solucionados erros de comportamento do software e se as entradas produzem o resultado esperado.</a:t>
            </a:r>
          </a:p>
          <a:p>
            <a:pPr eaLnBrk="1" hangingPunct="1">
              <a:defRPr/>
            </a:pPr>
            <a:endParaRPr lang="pt-BR" dirty="0" smtClean="0"/>
          </a:p>
        </p:txBody>
      </p:sp>
      <p:grpSp>
        <p:nvGrpSpPr>
          <p:cNvPr id="2" name="Grupo 4"/>
          <p:cNvGrpSpPr/>
          <p:nvPr/>
        </p:nvGrpSpPr>
        <p:grpSpPr>
          <a:xfrm>
            <a:off x="287796" y="605937"/>
            <a:ext cx="1699809" cy="679923"/>
            <a:chOff x="1037" y="1692038"/>
            <a:chExt cx="1699809" cy="67992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6" name="Pentágono 5"/>
            <p:cNvSpPr/>
            <p:nvPr/>
          </p:nvSpPr>
          <p:spPr>
            <a:xfrm>
              <a:off x="1037" y="1692038"/>
              <a:ext cx="1699809" cy="679923"/>
            </a:xfrm>
            <a:prstGeom prst="homePlat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Pentágono 4"/>
            <p:cNvSpPr/>
            <p:nvPr/>
          </p:nvSpPr>
          <p:spPr>
            <a:xfrm>
              <a:off x="1037" y="1692038"/>
              <a:ext cx="1529828" cy="67992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74676" tIns="37338" rIns="18669" bIns="37338" spcCol="1270" anchor="ctr"/>
            <a:lstStyle/>
            <a:p>
              <a:pPr algn="ctr" defTabSz="6223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pt-BR" sz="1600" b="1" dirty="0"/>
                <a:t>Definição</a:t>
              </a:r>
            </a:p>
          </p:txBody>
        </p:sp>
      </p:grpSp>
      <p:sp>
        <p:nvSpPr>
          <p:cNvPr id="8" name="Divisa 7"/>
          <p:cNvSpPr/>
          <p:nvPr/>
        </p:nvSpPr>
        <p:spPr>
          <a:xfrm>
            <a:off x="1647825" y="606425"/>
            <a:ext cx="1700213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9" name="Divisa 8"/>
          <p:cNvSpPr/>
          <p:nvPr/>
        </p:nvSpPr>
        <p:spPr>
          <a:xfrm>
            <a:off x="3006725" y="606425"/>
            <a:ext cx="1700213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Divisa 9"/>
          <p:cNvSpPr/>
          <p:nvPr/>
        </p:nvSpPr>
        <p:spPr>
          <a:xfrm>
            <a:off x="4367213" y="606425"/>
            <a:ext cx="1700212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1" name="Divisa 10"/>
          <p:cNvSpPr/>
          <p:nvPr/>
        </p:nvSpPr>
        <p:spPr>
          <a:xfrm>
            <a:off x="5727700" y="606425"/>
            <a:ext cx="1698625" cy="679450"/>
          </a:xfrm>
          <a:prstGeom prst="chevr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Divisa 11"/>
          <p:cNvSpPr/>
          <p:nvPr/>
        </p:nvSpPr>
        <p:spPr>
          <a:xfrm>
            <a:off x="7086600" y="606425"/>
            <a:ext cx="1700213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Pentágono 4"/>
          <p:cNvSpPr/>
          <p:nvPr/>
        </p:nvSpPr>
        <p:spPr>
          <a:xfrm>
            <a:off x="1643063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Análise de Requisitos</a:t>
            </a:r>
          </a:p>
        </p:txBody>
      </p:sp>
      <p:sp>
        <p:nvSpPr>
          <p:cNvPr id="14" name="Pentágono 4"/>
          <p:cNvSpPr/>
          <p:nvPr/>
        </p:nvSpPr>
        <p:spPr>
          <a:xfrm>
            <a:off x="3071813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Projeto</a:t>
            </a:r>
          </a:p>
        </p:txBody>
      </p:sp>
      <p:sp>
        <p:nvSpPr>
          <p:cNvPr id="15" name="Pentágono 4"/>
          <p:cNvSpPr/>
          <p:nvPr/>
        </p:nvSpPr>
        <p:spPr>
          <a:xfrm>
            <a:off x="4429125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Codificação</a:t>
            </a:r>
          </a:p>
        </p:txBody>
      </p:sp>
      <p:sp>
        <p:nvSpPr>
          <p:cNvPr id="16" name="Pentágono 4"/>
          <p:cNvSpPr/>
          <p:nvPr/>
        </p:nvSpPr>
        <p:spPr>
          <a:xfrm>
            <a:off x="5715000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Testes</a:t>
            </a:r>
          </a:p>
        </p:txBody>
      </p:sp>
      <p:sp>
        <p:nvSpPr>
          <p:cNvPr id="17" name="Pentágono 4"/>
          <p:cNvSpPr/>
          <p:nvPr/>
        </p:nvSpPr>
        <p:spPr>
          <a:xfrm>
            <a:off x="7215188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Manutenção</a:t>
            </a:r>
          </a:p>
        </p:txBody>
      </p:sp>
      <p:sp>
        <p:nvSpPr>
          <p:cNvPr id="18" name="AutoShape 61"/>
          <p:cNvSpPr>
            <a:spLocks noChangeArrowheads="1"/>
          </p:cNvSpPr>
          <p:nvPr/>
        </p:nvSpPr>
        <p:spPr bwMode="auto">
          <a:xfrm>
            <a:off x="5072063" y="0"/>
            <a:ext cx="2076450" cy="5715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r>
              <a:rPr lang="pt-BR" sz="2100" b="1" dirty="0">
                <a:solidFill>
                  <a:schemeClr val="tx1"/>
                </a:solidFill>
                <a:latin typeface="Arial Narrow" pitchFamily="34" charset="0"/>
              </a:rPr>
              <a:t>Testes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ço Reservado para Conteúdo 2"/>
          <p:cNvSpPr>
            <a:spLocks noGrp="1"/>
          </p:cNvSpPr>
          <p:nvPr>
            <p:ph idx="1"/>
          </p:nvPr>
        </p:nvSpPr>
        <p:spPr>
          <a:xfrm>
            <a:off x="485275" y="1412776"/>
            <a:ext cx="8229600" cy="4525963"/>
          </a:xfrm>
        </p:spPr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pt-BR" sz="3100" dirty="0" smtClean="0">
                <a:effectLst>
                  <a:outerShdw blurRad="38100" dist="38100" dir="2700000" algn="tl">
                    <a:srgbClr val="C0C0C0"/>
                  </a:outerShdw>
                </a:effectLst>
                <a:cs typeface="Arial" pitchFamily="34" charset="0"/>
              </a:rPr>
              <a:t>Treinamento de usuários</a:t>
            </a:r>
          </a:p>
          <a:p>
            <a:pPr>
              <a:defRPr/>
            </a:pPr>
            <a:r>
              <a:rPr lang="pt-BR" sz="3100" dirty="0" smtClean="0">
                <a:effectLst>
                  <a:outerShdw blurRad="38100" dist="38100" dir="2700000" algn="tl">
                    <a:srgbClr val="C0C0C0"/>
                  </a:outerShdw>
                </a:effectLst>
                <a:cs typeface="Arial" pitchFamily="34" charset="0"/>
              </a:rPr>
              <a:t>Conversão de bases de dados</a:t>
            </a:r>
          </a:p>
          <a:p>
            <a:pPr>
              <a:defRPr/>
            </a:pPr>
            <a:r>
              <a:rPr lang="pt-BR" sz="3100" dirty="0" smtClean="0">
                <a:effectLst>
                  <a:outerShdw blurRad="38100" dist="38100" dir="2700000" algn="tl">
                    <a:srgbClr val="C0C0C0"/>
                  </a:outerShdw>
                </a:effectLst>
                <a:cs typeface="Arial" pitchFamily="34" charset="0"/>
              </a:rPr>
              <a:t>O sistema é instalado e posto em operação.</a:t>
            </a:r>
          </a:p>
          <a:p>
            <a:pPr>
              <a:defRPr/>
            </a:pPr>
            <a:endParaRPr lang="pt-BR" sz="3100" dirty="0" smtClean="0">
              <a:effectLst>
                <a:outerShdw blurRad="38100" dist="38100" dir="2700000" algn="tl">
                  <a:srgbClr val="C0C0C0"/>
                </a:outerShdw>
              </a:effectLst>
              <a:cs typeface="Arial" pitchFamily="34" charset="0"/>
            </a:endParaRPr>
          </a:p>
          <a:p>
            <a:pPr>
              <a:defRPr/>
            </a:pPr>
            <a:endParaRPr lang="pt-BR" sz="3100" dirty="0">
              <a:effectLst>
                <a:outerShdw blurRad="38100" dist="38100" dir="2700000" algn="tl">
                  <a:srgbClr val="C0C0C0"/>
                </a:outerShdw>
              </a:effectLst>
              <a:cs typeface="Arial" pitchFamily="34" charset="0"/>
            </a:endParaRPr>
          </a:p>
          <a:p>
            <a:pPr>
              <a:defRPr/>
            </a:pPr>
            <a:endParaRPr lang="pt-BR" sz="3100" dirty="0">
              <a:effectLst>
                <a:outerShdw blurRad="38100" dist="38100" dir="2700000" algn="tl">
                  <a:srgbClr val="C0C0C0"/>
                </a:outerShdw>
              </a:effectLst>
              <a:cs typeface="Arial" pitchFamily="34" charset="0"/>
            </a:endParaRPr>
          </a:p>
          <a:p>
            <a:pPr marL="0" indent="0">
              <a:buNone/>
              <a:defRPr/>
            </a:pPr>
            <a:r>
              <a:rPr lang="pt-BR" sz="3100" b="1" dirty="0" smtClean="0">
                <a:effectLst>
                  <a:outerShdw blurRad="38100" dist="38100" dir="2700000" algn="tl">
                    <a:srgbClr val="C0C0C0"/>
                  </a:outerShdw>
                </a:effectLst>
                <a:cs typeface="Arial" pitchFamily="34" charset="0"/>
              </a:rPr>
              <a:t>OPERAÇÃO E MANUTENÇÃO </a:t>
            </a:r>
          </a:p>
          <a:p>
            <a:pPr>
              <a:defRPr/>
            </a:pPr>
            <a:r>
              <a:rPr lang="pt-BR" sz="3100" dirty="0" smtClean="0">
                <a:effectLst>
                  <a:outerShdw blurRad="38100" dist="38100" dir="2700000" algn="tl">
                    <a:srgbClr val="C0C0C0"/>
                  </a:outerShdw>
                </a:effectLst>
                <a:cs typeface="Arial" pitchFamily="34" charset="0"/>
              </a:rPr>
              <a:t> A manutenção envolve a correção de erros </a:t>
            </a:r>
            <a:r>
              <a:rPr lang="pt-BR" sz="3100" dirty="0" smtClean="0"/>
              <a:t>não detectados anteriormente </a:t>
            </a:r>
            <a:r>
              <a:rPr lang="pt-BR" sz="3100" dirty="0" smtClean="0">
                <a:effectLst>
                  <a:outerShdw blurRad="38100" dist="38100" dir="2700000" algn="tl">
                    <a:srgbClr val="C0C0C0"/>
                  </a:outerShdw>
                </a:effectLst>
                <a:cs typeface="Arial" pitchFamily="34" charset="0"/>
              </a:rPr>
              <a:t>e evolução do sistema para atender as novas demandas do mercado.</a:t>
            </a:r>
          </a:p>
          <a:p>
            <a:pPr eaLnBrk="1" hangingPunct="1">
              <a:defRPr/>
            </a:pPr>
            <a:r>
              <a:rPr lang="pt-BR" sz="3100" dirty="0" smtClean="0"/>
              <a:t>Padronização:</a:t>
            </a:r>
          </a:p>
          <a:p>
            <a:pPr lvl="1" eaLnBrk="1" hangingPunct="1">
              <a:defRPr/>
            </a:pPr>
            <a:r>
              <a:rPr lang="pt-BR" sz="3100" dirty="0" smtClean="0"/>
              <a:t>Garante de certa forma a manutenção da padronização do sistema, de modo a documentar as alterações efetuadas.</a:t>
            </a:r>
          </a:p>
          <a:p>
            <a:pPr eaLnBrk="1" hangingPunct="1">
              <a:defRPr/>
            </a:pPr>
            <a:endParaRPr lang="pt-BR" sz="3100" dirty="0" smtClean="0"/>
          </a:p>
          <a:p>
            <a:pPr eaLnBrk="1" hangingPunct="1">
              <a:defRPr/>
            </a:pPr>
            <a:r>
              <a:rPr lang="pt-BR" sz="3100" dirty="0" smtClean="0"/>
              <a:t>Atualização do Software</a:t>
            </a:r>
          </a:p>
          <a:p>
            <a:pPr lvl="1" eaLnBrk="1" hangingPunct="1">
              <a:defRPr/>
            </a:pPr>
            <a:r>
              <a:rPr lang="pt-BR" sz="3100" dirty="0" smtClean="0"/>
              <a:t>Manter o software atualizado fazendo as adaptações necessárias, seja de hardware e/ou software.</a:t>
            </a:r>
          </a:p>
          <a:p>
            <a:pPr lvl="1" eaLnBrk="1" hangingPunct="1">
              <a:defRPr/>
            </a:pPr>
            <a:endParaRPr lang="pt-BR" dirty="0" smtClean="0"/>
          </a:p>
          <a:p>
            <a:pPr lvl="1" eaLnBrk="1" hangingPunct="1">
              <a:buFont typeface="Wingdings 2" pitchFamily="18" charset="2"/>
              <a:buNone/>
              <a:defRPr/>
            </a:pPr>
            <a:endParaRPr lang="pt-BR" dirty="0" smtClean="0"/>
          </a:p>
          <a:p>
            <a:pPr eaLnBrk="1" hangingPunct="1">
              <a:defRPr/>
            </a:pPr>
            <a:endParaRPr lang="pt-BR" dirty="0" smtClean="0"/>
          </a:p>
        </p:txBody>
      </p:sp>
      <p:grpSp>
        <p:nvGrpSpPr>
          <p:cNvPr id="2" name="Grupo 5"/>
          <p:cNvGrpSpPr/>
          <p:nvPr/>
        </p:nvGrpSpPr>
        <p:grpSpPr>
          <a:xfrm>
            <a:off x="287796" y="605937"/>
            <a:ext cx="1699809" cy="679923"/>
            <a:chOff x="1037" y="1692038"/>
            <a:chExt cx="1699809" cy="67992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7" name="Pentágono 6"/>
            <p:cNvSpPr/>
            <p:nvPr/>
          </p:nvSpPr>
          <p:spPr>
            <a:xfrm>
              <a:off x="1037" y="1692038"/>
              <a:ext cx="1699809" cy="679923"/>
            </a:xfrm>
            <a:prstGeom prst="homePlat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Pentágono 4"/>
            <p:cNvSpPr/>
            <p:nvPr/>
          </p:nvSpPr>
          <p:spPr>
            <a:xfrm>
              <a:off x="1037" y="1692038"/>
              <a:ext cx="1529828" cy="67992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74676" tIns="37338" rIns="18669" bIns="37338" spcCol="1270" anchor="ctr"/>
            <a:lstStyle/>
            <a:p>
              <a:pPr algn="ctr" defTabSz="6223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pt-BR" sz="1600" b="1" dirty="0"/>
                <a:t>Definição</a:t>
              </a:r>
            </a:p>
          </p:txBody>
        </p:sp>
      </p:grpSp>
      <p:sp>
        <p:nvSpPr>
          <p:cNvPr id="9" name="Divisa 8"/>
          <p:cNvSpPr/>
          <p:nvPr/>
        </p:nvSpPr>
        <p:spPr>
          <a:xfrm>
            <a:off x="1647825" y="606425"/>
            <a:ext cx="1700213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0" name="Divisa 9"/>
          <p:cNvSpPr/>
          <p:nvPr/>
        </p:nvSpPr>
        <p:spPr>
          <a:xfrm>
            <a:off x="3006725" y="606425"/>
            <a:ext cx="1700213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1" name="Divisa 10"/>
          <p:cNvSpPr/>
          <p:nvPr/>
        </p:nvSpPr>
        <p:spPr>
          <a:xfrm>
            <a:off x="4367213" y="606425"/>
            <a:ext cx="1700212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Divisa 11"/>
          <p:cNvSpPr/>
          <p:nvPr/>
        </p:nvSpPr>
        <p:spPr>
          <a:xfrm>
            <a:off x="5727700" y="606425"/>
            <a:ext cx="1698625" cy="67945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Divisa 12"/>
          <p:cNvSpPr/>
          <p:nvPr/>
        </p:nvSpPr>
        <p:spPr>
          <a:xfrm>
            <a:off x="7086600" y="606425"/>
            <a:ext cx="1700213" cy="679450"/>
          </a:xfrm>
          <a:prstGeom prst="chevr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4" name="Pentágono 4"/>
          <p:cNvSpPr/>
          <p:nvPr/>
        </p:nvSpPr>
        <p:spPr>
          <a:xfrm>
            <a:off x="1643063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Análise de Requisitos</a:t>
            </a:r>
          </a:p>
        </p:txBody>
      </p:sp>
      <p:sp>
        <p:nvSpPr>
          <p:cNvPr id="15" name="Pentágono 4"/>
          <p:cNvSpPr/>
          <p:nvPr/>
        </p:nvSpPr>
        <p:spPr>
          <a:xfrm>
            <a:off x="3071813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Projeto</a:t>
            </a:r>
          </a:p>
        </p:txBody>
      </p:sp>
      <p:sp>
        <p:nvSpPr>
          <p:cNvPr id="16" name="Pentágono 4"/>
          <p:cNvSpPr/>
          <p:nvPr/>
        </p:nvSpPr>
        <p:spPr>
          <a:xfrm>
            <a:off x="4429125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Codificação</a:t>
            </a:r>
          </a:p>
        </p:txBody>
      </p:sp>
      <p:sp>
        <p:nvSpPr>
          <p:cNvPr id="17" name="Pentágono 4"/>
          <p:cNvSpPr/>
          <p:nvPr/>
        </p:nvSpPr>
        <p:spPr>
          <a:xfrm>
            <a:off x="5715000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/>
              <a:t>Testes</a:t>
            </a:r>
          </a:p>
        </p:txBody>
      </p:sp>
      <p:sp>
        <p:nvSpPr>
          <p:cNvPr id="18" name="Pentágono 4"/>
          <p:cNvSpPr/>
          <p:nvPr/>
        </p:nvSpPr>
        <p:spPr>
          <a:xfrm>
            <a:off x="7215188" y="642938"/>
            <a:ext cx="1530350" cy="679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4676" tIns="37338" rIns="18669" bIns="37338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pt-BR" sz="1600" b="1" dirty="0" smtClean="0"/>
              <a:t>Implantação</a:t>
            </a:r>
            <a:endParaRPr lang="pt-BR" sz="1600" b="1" dirty="0"/>
          </a:p>
        </p:txBody>
      </p:sp>
      <p:sp>
        <p:nvSpPr>
          <p:cNvPr id="19" name="AutoShape 62"/>
          <p:cNvSpPr>
            <a:spLocks noChangeArrowheads="1"/>
          </p:cNvSpPr>
          <p:nvPr/>
        </p:nvSpPr>
        <p:spPr bwMode="auto">
          <a:xfrm>
            <a:off x="6500813" y="0"/>
            <a:ext cx="2076450" cy="50006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r>
              <a:rPr lang="pt-BR" sz="2100" b="1" dirty="0" smtClean="0">
                <a:solidFill>
                  <a:schemeClr val="tx1"/>
                </a:solidFill>
                <a:latin typeface="Arial Narrow" pitchFamily="34" charset="0"/>
              </a:rPr>
              <a:t>Implantação </a:t>
            </a:r>
            <a:endParaRPr lang="pt-BR" sz="2100" b="1" dirty="0">
              <a:solidFill>
                <a:schemeClr val="tx1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2"/>
          <p:cNvSpPr txBox="1">
            <a:spLocks noChangeArrowheads="1"/>
          </p:cNvSpPr>
          <p:nvPr/>
        </p:nvSpPr>
        <p:spPr bwMode="auto">
          <a:xfrm>
            <a:off x="684213" y="188913"/>
            <a:ext cx="60483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BR" sz="4400" b="1" u="sng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Características</a:t>
            </a:r>
          </a:p>
        </p:txBody>
      </p:sp>
      <p:sp>
        <p:nvSpPr>
          <p:cNvPr id="96259" name="Text Box 3"/>
          <p:cNvSpPr txBox="1">
            <a:spLocks noChangeArrowheads="1"/>
          </p:cNvSpPr>
          <p:nvPr/>
        </p:nvSpPr>
        <p:spPr bwMode="auto">
          <a:xfrm>
            <a:off x="285750" y="1143000"/>
            <a:ext cx="8391525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pt-BR" sz="24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Considerado um modelo linear que valoriza a seqüencialidade das atividades.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pt-BR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Cada fase depende da conclusão da fase anterior.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pt-BR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Simples, prático e fácil de planejar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pt-BR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Iteração entre fases.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pt-BR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 modelo leva em consideração que os requisitos não serão mudados.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pt-BR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Risco de ser reinicializado. É mais apropriado quando os requisitos são bem compreendidos.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pt-BR" sz="2400" dirty="0"/>
              <a:t>Ideal para clientes que possuem os requisitos bem definidos ou quando o usuário não necessite de uma versão operacional do software antes do final do projeto.</a:t>
            </a:r>
            <a:endParaRPr lang="pt-BR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2"/>
          <p:cNvSpPr txBox="1">
            <a:spLocks noChangeArrowheads="1"/>
          </p:cNvSpPr>
          <p:nvPr/>
        </p:nvSpPr>
        <p:spPr bwMode="auto">
          <a:xfrm>
            <a:off x="684213" y="188913"/>
            <a:ext cx="60483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BR" sz="4400" b="1" u="sng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Vantagens</a:t>
            </a:r>
          </a:p>
        </p:txBody>
      </p:sp>
      <p:sp>
        <p:nvSpPr>
          <p:cNvPr id="96259" name="Text Box 3"/>
          <p:cNvSpPr txBox="1">
            <a:spLocks noChangeArrowheads="1"/>
          </p:cNvSpPr>
          <p:nvPr/>
        </p:nvSpPr>
        <p:spPr bwMode="auto">
          <a:xfrm>
            <a:off x="684213" y="1327150"/>
            <a:ext cx="7993062" cy="569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Tx/>
              <a:buChar char="•"/>
              <a:defRPr/>
            </a:pPr>
            <a:r>
              <a:rPr lang="pt-BR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Torna o processo estruturado. </a:t>
            </a:r>
          </a:p>
          <a:p>
            <a:pPr>
              <a:buFontTx/>
              <a:buChar char="•"/>
              <a:defRPr/>
            </a:pPr>
            <a:endParaRPr lang="pt-BR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Char char="•"/>
              <a:defRPr/>
            </a:pPr>
            <a:r>
              <a:rPr lang="pt-BR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Tem ordem seqüencial de fases. </a:t>
            </a:r>
          </a:p>
          <a:p>
            <a:pPr>
              <a:buFont typeface="Arial" pitchFamily="34" charset="0"/>
              <a:buChar char="•"/>
              <a:defRPr/>
            </a:pPr>
            <a:endParaRPr lang="pt-BR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Char char="•"/>
              <a:defRPr/>
            </a:pPr>
            <a:r>
              <a:rPr lang="pt-BR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Todas as atividades identificadas nas fases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pt-BR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do modelo estão na ordem certa;</a:t>
            </a:r>
          </a:p>
          <a:p>
            <a:pPr>
              <a:buFont typeface="Arial" pitchFamily="34" charset="0"/>
              <a:buChar char="•"/>
              <a:defRPr/>
            </a:pPr>
            <a:endParaRPr lang="pt-BR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Char char="•"/>
              <a:defRPr/>
            </a:pPr>
            <a:r>
              <a:rPr lang="pt-BR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Padroniza os métodos para análise, projeto, codificação, testes e manutenção;</a:t>
            </a:r>
          </a:p>
          <a:p>
            <a:pPr>
              <a:buFontTx/>
              <a:buChar char="•"/>
              <a:defRPr/>
            </a:pPr>
            <a:endParaRPr lang="pt-BR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Char char="•"/>
              <a:defRPr/>
            </a:pPr>
            <a:r>
              <a:rPr lang="pt-BR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Etapas semelhantes às etapas genéricas aplicáveis a todos os paradigmas.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pt-BR" sz="2000" dirty="0"/>
              <a:t>Uniformidade do projeto ao longo  das  etapas;</a:t>
            </a:r>
          </a:p>
          <a:p>
            <a:pPr>
              <a:buFont typeface="Arial" pitchFamily="34" charset="0"/>
              <a:buChar char="•"/>
              <a:defRPr/>
            </a:pPr>
            <a:endParaRPr lang="pt-BR" sz="2000" dirty="0"/>
          </a:p>
          <a:p>
            <a:pPr>
              <a:buFont typeface="Arial" pitchFamily="34" charset="0"/>
              <a:buChar char="•"/>
              <a:defRPr/>
            </a:pPr>
            <a:r>
              <a:rPr lang="pt-BR" sz="2000" dirty="0"/>
              <a:t>Facilita o planejamento e torna o processo mais visível.</a:t>
            </a:r>
          </a:p>
          <a:p>
            <a:pPr>
              <a:buFont typeface="Arial" pitchFamily="34" charset="0"/>
              <a:buChar char="•"/>
              <a:defRPr/>
            </a:pPr>
            <a:endParaRPr lang="pt-BR" sz="2000" dirty="0"/>
          </a:p>
          <a:p>
            <a:pPr>
              <a:buFont typeface="Arial" pitchFamily="34" charset="0"/>
              <a:buChar char="•"/>
              <a:defRPr/>
            </a:pPr>
            <a:r>
              <a:rPr lang="pt-BR" sz="2000" dirty="0"/>
              <a:t>Ênfase na abordagem disciplinada e na definição da documentação.</a:t>
            </a:r>
          </a:p>
          <a:p>
            <a:pPr>
              <a:buFontTx/>
              <a:buChar char="•"/>
              <a:defRPr/>
            </a:pPr>
            <a:endParaRPr lang="pt-BR" sz="240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2"/>
          <p:cNvSpPr txBox="1">
            <a:spLocks noChangeArrowheads="1"/>
          </p:cNvSpPr>
          <p:nvPr/>
        </p:nvSpPr>
        <p:spPr bwMode="auto">
          <a:xfrm>
            <a:off x="684213" y="188913"/>
            <a:ext cx="60483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BR" sz="4400" b="1" u="sng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Desvantagens</a:t>
            </a:r>
          </a:p>
        </p:txBody>
      </p:sp>
      <p:sp>
        <p:nvSpPr>
          <p:cNvPr id="96259" name="Text Box 3"/>
          <p:cNvSpPr txBox="1">
            <a:spLocks noChangeArrowheads="1"/>
          </p:cNvSpPr>
          <p:nvPr/>
        </p:nvSpPr>
        <p:spPr bwMode="auto">
          <a:xfrm>
            <a:off x="142875" y="1125538"/>
            <a:ext cx="8534400" cy="594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Tx/>
              <a:buChar char="•"/>
              <a:defRPr/>
            </a:pPr>
            <a:r>
              <a:rPr lang="pt-BR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Os projetos reais raramente se adaptam ao modelo linear e seqüencial;</a:t>
            </a:r>
          </a:p>
          <a:p>
            <a:pPr>
              <a:buFont typeface="Arial" pitchFamily="34" charset="0"/>
              <a:buChar char="•"/>
              <a:defRPr/>
            </a:pPr>
            <a:endParaRPr lang="pt-BR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Char char="•"/>
              <a:defRPr/>
            </a:pPr>
            <a:r>
              <a:rPr lang="pt-BR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É difícil capturar os requisitos de uma só vez; </a:t>
            </a:r>
          </a:p>
          <a:p>
            <a:pPr>
              <a:buFontTx/>
              <a:buChar char="•"/>
              <a:defRPr/>
            </a:pPr>
            <a:endParaRPr lang="pt-BR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Char char="•"/>
              <a:defRPr/>
            </a:pPr>
            <a:r>
              <a:rPr lang="pt-BR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Os programadores são </a:t>
            </a:r>
            <a:r>
              <a:rPr lang="pt-BR" sz="20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frequentemente</a:t>
            </a:r>
            <a:r>
              <a:rPr lang="pt-BR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atrasados sem necessidade;</a:t>
            </a:r>
          </a:p>
          <a:p>
            <a:pPr>
              <a:buFont typeface="Arial" pitchFamily="34" charset="0"/>
              <a:buChar char="•"/>
              <a:defRPr/>
            </a:pPr>
            <a:endParaRPr lang="pt-BR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Char char="•"/>
              <a:defRPr/>
            </a:pPr>
            <a:r>
              <a:rPr lang="pt-BR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Dificuldade em acomodar mudanças depois que o processo está a ser executado;</a:t>
            </a:r>
            <a:r>
              <a:rPr lang="pt-BR" sz="2000" dirty="0"/>
              <a:t> </a:t>
            </a:r>
          </a:p>
          <a:p>
            <a:pPr>
              <a:buFontTx/>
              <a:buChar char="•"/>
              <a:defRPr/>
            </a:pPr>
            <a:endParaRPr lang="pt-BR" sz="2000" dirty="0"/>
          </a:p>
          <a:p>
            <a:pPr>
              <a:buFontTx/>
              <a:buChar char="•"/>
              <a:defRPr/>
            </a:pPr>
            <a:r>
              <a:rPr lang="pt-BR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Incerteza natural.</a:t>
            </a:r>
          </a:p>
          <a:p>
            <a:pPr>
              <a:buFontTx/>
              <a:buChar char="•"/>
              <a:defRPr/>
            </a:pPr>
            <a:endParaRPr lang="pt-BR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Char char="•"/>
              <a:defRPr/>
            </a:pPr>
            <a:r>
              <a:rPr lang="pt-BR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Uma versão executável do software só fica disponível numa etapa avançada do desenvolvimento</a:t>
            </a:r>
            <a:r>
              <a:rPr lang="pt-BR" sz="2000" b="1" dirty="0"/>
              <a:t> </a:t>
            </a:r>
            <a:r>
              <a:rPr lang="pt-BR" sz="2000" dirty="0"/>
              <a:t>.</a:t>
            </a:r>
          </a:p>
          <a:p>
            <a:pPr>
              <a:buFont typeface="Arial" pitchFamily="34" charset="0"/>
              <a:buChar char="•"/>
              <a:defRPr/>
            </a:pPr>
            <a:endParaRPr lang="pt-BR" sz="2000" dirty="0"/>
          </a:p>
          <a:p>
            <a:pPr>
              <a:buFont typeface="Arial" pitchFamily="34" charset="0"/>
              <a:buChar char="•"/>
              <a:defRPr/>
            </a:pPr>
            <a:r>
              <a:rPr lang="pt-BR" sz="2000" dirty="0"/>
              <a:t>Se ocorrer um atraso todo o processo é afetado. 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pt-BR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Alto custo de correção das especificações quando nas fases de Teste </a:t>
            </a:r>
            <a:endParaRPr lang="pt-BR" sz="2000" dirty="0"/>
          </a:p>
          <a:p>
            <a:pPr>
              <a:buFont typeface="Arial" pitchFamily="34" charset="0"/>
              <a:buChar char="•"/>
              <a:defRPr/>
            </a:pPr>
            <a:r>
              <a:rPr lang="pt-BR" sz="2000" dirty="0"/>
              <a:t>O cliente precisa ter paciência!  Tempo necessário para disponibilizar o software.</a:t>
            </a:r>
          </a:p>
          <a:p>
            <a:pPr>
              <a:buFontTx/>
              <a:buChar char="•"/>
              <a:defRPr/>
            </a:pPr>
            <a:endParaRPr lang="pt-B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/>
          <p:cNvSpPr>
            <a:spLocks noGrp="1"/>
          </p:cNvSpPr>
          <p:nvPr>
            <p:ph type="ctrTitle"/>
          </p:nvPr>
        </p:nvSpPr>
        <p:spPr>
          <a:xfrm>
            <a:off x="571500" y="428625"/>
            <a:ext cx="7772400" cy="14700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3200" dirty="0" smtClean="0"/>
              <a:t>Modelo Espiral</a:t>
            </a:r>
          </a:p>
        </p:txBody>
      </p:sp>
      <p:sp>
        <p:nvSpPr>
          <p:cNvPr id="29699" name="Subtítulo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 smtClean="0"/>
              <a:t>Modelo Espiral: Um breve histórico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Modelo baseado nos modelos anteriores</a:t>
            </a:r>
          </a:p>
          <a:p>
            <a:r>
              <a:rPr lang="pt-BR" dirty="0" smtClean="0"/>
              <a:t>Proposto originalmente por Barry </a:t>
            </a:r>
            <a:r>
              <a:rPr lang="pt-BR" dirty="0" err="1" smtClean="0"/>
              <a:t>Boehm</a:t>
            </a:r>
            <a:r>
              <a:rPr lang="pt-BR" dirty="0" smtClean="0"/>
              <a:t> em seu artigo de 1988 </a:t>
            </a:r>
            <a:r>
              <a:rPr lang="pt-BR" i="1" dirty="0" smtClean="0"/>
              <a:t>A </a:t>
            </a:r>
            <a:r>
              <a:rPr lang="pt-BR" i="1" dirty="0" err="1" smtClean="0"/>
              <a:t>Spiral</a:t>
            </a:r>
            <a:r>
              <a:rPr lang="pt-BR" i="1" dirty="0" smtClean="0"/>
              <a:t> </a:t>
            </a:r>
            <a:r>
              <a:rPr lang="pt-BR" i="1" dirty="0" err="1" smtClean="0"/>
              <a:t>Model</a:t>
            </a:r>
            <a:r>
              <a:rPr lang="pt-BR" i="1" dirty="0" smtClean="0"/>
              <a:t> </a:t>
            </a:r>
            <a:r>
              <a:rPr lang="pt-BR" i="1" dirty="0" err="1" smtClean="0"/>
              <a:t>of</a:t>
            </a:r>
            <a:r>
              <a:rPr lang="pt-BR" i="1" dirty="0" smtClean="0"/>
              <a:t> Software </a:t>
            </a:r>
            <a:r>
              <a:rPr lang="pt-BR" i="1" dirty="0" err="1" smtClean="0"/>
              <a:t>Development</a:t>
            </a:r>
            <a:r>
              <a:rPr lang="pt-BR" i="1" dirty="0" smtClean="0"/>
              <a:t> </a:t>
            </a:r>
            <a:r>
              <a:rPr lang="pt-BR" i="1" dirty="0" err="1" smtClean="0"/>
              <a:t>and</a:t>
            </a:r>
            <a:r>
              <a:rPr lang="pt-BR" i="1" dirty="0" smtClean="0"/>
              <a:t> </a:t>
            </a:r>
            <a:r>
              <a:rPr lang="pt-BR" i="1" dirty="0" err="1" smtClean="0"/>
              <a:t>Enhancement</a:t>
            </a:r>
            <a:r>
              <a:rPr lang="pt-BR" i="1" smtClean="0"/>
              <a:t>  (</a:t>
            </a:r>
            <a:r>
              <a:rPr lang="pt-BR" i="1" dirty="0" smtClean="0"/>
              <a:t>1988)</a:t>
            </a:r>
          </a:p>
          <a:p>
            <a:r>
              <a:rPr lang="pt-BR" dirty="0" smtClean="0"/>
              <a:t>Primeiro modelo a explicar o porque do modo iterativo</a:t>
            </a:r>
          </a:p>
          <a:p>
            <a:endParaRPr lang="pt-BR" dirty="0" smtClean="0"/>
          </a:p>
          <a:p>
            <a:endParaRPr lang="pt-BR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ço Reservado para Número de Slide 6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675F55F7-23BE-4A6C-A282-ADD004ADA65C}" type="slidenum">
              <a:rPr lang="pt-BR" smtClean="0"/>
              <a:pPr/>
              <a:t>20</a:t>
            </a:fld>
            <a:endParaRPr lang="pt-BR" smtClean="0"/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1828800" y="1600200"/>
            <a:ext cx="6815319" cy="4541838"/>
            <a:chOff x="1440" y="1728"/>
            <a:chExt cx="10684" cy="7200"/>
          </a:xfrm>
        </p:grpSpPr>
        <p:sp>
          <p:nvSpPr>
            <p:cNvPr id="31749" name="Rectangle 42"/>
            <p:cNvSpPr>
              <a:spLocks noChangeArrowheads="1"/>
            </p:cNvSpPr>
            <p:nvPr/>
          </p:nvSpPr>
          <p:spPr bwMode="auto">
            <a:xfrm>
              <a:off x="1440" y="1728"/>
              <a:ext cx="10512" cy="72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31750" name="Group 43"/>
            <p:cNvGrpSpPr>
              <a:grpSpLocks/>
            </p:cNvGrpSpPr>
            <p:nvPr/>
          </p:nvGrpSpPr>
          <p:grpSpPr bwMode="auto">
            <a:xfrm>
              <a:off x="2448" y="2592"/>
              <a:ext cx="9676" cy="5040"/>
              <a:chOff x="2448" y="2592"/>
              <a:chExt cx="9676" cy="5040"/>
            </a:xfrm>
          </p:grpSpPr>
          <p:sp>
            <p:nvSpPr>
              <p:cNvPr id="31751" name="Text Box 44"/>
              <p:cNvSpPr txBox="1">
                <a:spLocks noChangeArrowheads="1"/>
              </p:cNvSpPr>
              <p:nvPr/>
            </p:nvSpPr>
            <p:spPr bwMode="auto">
              <a:xfrm>
                <a:off x="7632" y="4752"/>
                <a:ext cx="4176" cy="72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0" hangingPunct="0"/>
                <a:r>
                  <a:rPr lang="pt-BR" sz="1600" b="1" i="1">
                    <a:solidFill>
                      <a:srgbClr val="800000"/>
                    </a:solidFill>
                  </a:rPr>
                  <a:t>decisão de continuar ou não</a:t>
                </a:r>
              </a:p>
            </p:txBody>
          </p:sp>
          <p:grpSp>
            <p:nvGrpSpPr>
              <p:cNvPr id="31752" name="Group 45"/>
              <p:cNvGrpSpPr>
                <a:grpSpLocks/>
              </p:cNvGrpSpPr>
              <p:nvPr/>
            </p:nvGrpSpPr>
            <p:grpSpPr bwMode="auto">
              <a:xfrm>
                <a:off x="2448" y="2592"/>
                <a:ext cx="9676" cy="5040"/>
                <a:chOff x="144" y="3168"/>
                <a:chExt cx="9676" cy="5040"/>
              </a:xfrm>
            </p:grpSpPr>
            <p:sp>
              <p:nvSpPr>
                <p:cNvPr id="31753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6124" y="6109"/>
                  <a:ext cx="3696" cy="113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r>
                    <a:rPr lang="pt-BR" i="1" dirty="0">
                      <a:latin typeface="Arial Narrow" pitchFamily="34" charset="0"/>
                    </a:rPr>
                    <a:t>na direção de um sistema concluído</a:t>
                  </a:r>
                </a:p>
              </p:txBody>
            </p:sp>
            <p:sp>
              <p:nvSpPr>
                <p:cNvPr id="31754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144" y="6480"/>
                  <a:ext cx="2160" cy="129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 eaLnBrk="0" hangingPunct="0"/>
                  <a:r>
                    <a:rPr lang="pt-BR" b="1" u="sng">
                      <a:solidFill>
                        <a:srgbClr val="008000"/>
                      </a:solidFill>
                    </a:rPr>
                    <a:t>avaliação</a:t>
                  </a:r>
                  <a:r>
                    <a:rPr lang="pt-BR" b="1">
                      <a:solidFill>
                        <a:srgbClr val="008000"/>
                      </a:solidFill>
                    </a:rPr>
                    <a:t> </a:t>
                  </a:r>
                  <a:r>
                    <a:rPr lang="pt-BR" b="1" u="sng">
                      <a:solidFill>
                        <a:srgbClr val="008000"/>
                      </a:solidFill>
                    </a:rPr>
                    <a:t>do</a:t>
                  </a:r>
                  <a:r>
                    <a:rPr lang="pt-BR" b="1">
                      <a:solidFill>
                        <a:srgbClr val="008000"/>
                      </a:solidFill>
                    </a:rPr>
                    <a:t> </a:t>
                  </a:r>
                  <a:r>
                    <a:rPr lang="pt-BR" b="1" u="sng">
                      <a:solidFill>
                        <a:srgbClr val="008000"/>
                      </a:solidFill>
                    </a:rPr>
                    <a:t>cliente</a:t>
                  </a:r>
                  <a:endParaRPr lang="pt-BR" b="1">
                    <a:solidFill>
                      <a:srgbClr val="008000"/>
                    </a:solidFill>
                  </a:endParaRPr>
                </a:p>
              </p:txBody>
            </p:sp>
            <p:sp>
              <p:nvSpPr>
                <p:cNvPr id="31755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176" y="7128"/>
                  <a:ext cx="3024" cy="108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r>
                    <a:rPr lang="pt-BR" b="1" u="sng">
                      <a:solidFill>
                        <a:srgbClr val="008000"/>
                      </a:solidFill>
                    </a:rPr>
                    <a:t>engenharia</a:t>
                  </a:r>
                </a:p>
              </p:txBody>
            </p:sp>
            <p:sp>
              <p:nvSpPr>
                <p:cNvPr id="31756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3600" y="3888"/>
                  <a:ext cx="3024" cy="129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 eaLnBrk="0" hangingPunct="0"/>
                  <a:r>
                    <a:rPr lang="pt-BR" b="1" u="sng">
                      <a:solidFill>
                        <a:srgbClr val="008000"/>
                      </a:solidFill>
                    </a:rPr>
                    <a:t>análise</a:t>
                  </a:r>
                  <a:r>
                    <a:rPr lang="pt-BR" b="1"/>
                    <a:t> </a:t>
                  </a:r>
                  <a:r>
                    <a:rPr lang="pt-BR" b="1" u="sng">
                      <a:solidFill>
                        <a:srgbClr val="008000"/>
                      </a:solidFill>
                    </a:rPr>
                    <a:t>dos</a:t>
                  </a:r>
                  <a:r>
                    <a:rPr lang="pt-BR" b="1" u="sng"/>
                    <a:t> </a:t>
                  </a:r>
                  <a:r>
                    <a:rPr lang="pt-BR" b="1" u="sng">
                      <a:solidFill>
                        <a:srgbClr val="008000"/>
                      </a:solidFill>
                    </a:rPr>
                    <a:t>riscos</a:t>
                  </a:r>
                  <a:endParaRPr lang="pt-BR" b="1" u="sng"/>
                </a:p>
              </p:txBody>
            </p:sp>
            <p:sp>
              <p:nvSpPr>
                <p:cNvPr id="31757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144" y="3600"/>
                  <a:ext cx="3024" cy="129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r>
                    <a:rPr lang="pt-BR" b="1" u="sng">
                      <a:solidFill>
                        <a:srgbClr val="008000"/>
                      </a:solidFill>
                    </a:rPr>
                    <a:t>planejamento</a:t>
                  </a:r>
                  <a:endParaRPr lang="pt-BR" b="1" u="sng"/>
                </a:p>
              </p:txBody>
            </p:sp>
            <p:sp>
              <p:nvSpPr>
                <p:cNvPr id="31758" name="Arc 51"/>
                <p:cNvSpPr>
                  <a:spLocks/>
                </p:cNvSpPr>
                <p:nvPr/>
              </p:nvSpPr>
              <p:spPr bwMode="auto">
                <a:xfrm flipH="1">
                  <a:off x="2016" y="4608"/>
                  <a:ext cx="1152" cy="115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1759" name="Arc 52"/>
                <p:cNvSpPr>
                  <a:spLocks/>
                </p:cNvSpPr>
                <p:nvPr/>
              </p:nvSpPr>
              <p:spPr bwMode="auto">
                <a:xfrm rot="5400000" flipH="1">
                  <a:off x="3168" y="4608"/>
                  <a:ext cx="1152" cy="115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1760" name="Arc 53"/>
                <p:cNvSpPr>
                  <a:spLocks/>
                </p:cNvSpPr>
                <p:nvPr/>
              </p:nvSpPr>
              <p:spPr bwMode="auto">
                <a:xfrm rot="-5400000" flipH="1" flipV="1">
                  <a:off x="3099" y="5834"/>
                  <a:ext cx="1152" cy="1292"/>
                </a:xfrm>
                <a:custGeom>
                  <a:avLst/>
                  <a:gdLst>
                    <a:gd name="T0" fmla="*/ 0 w 21600"/>
                    <a:gd name="T1" fmla="*/ 0 h 24224"/>
                    <a:gd name="T2" fmla="*/ 0 w 21600"/>
                    <a:gd name="T3" fmla="*/ 0 h 24224"/>
                    <a:gd name="T4" fmla="*/ 0 w 21600"/>
                    <a:gd name="T5" fmla="*/ 0 h 24224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4224"/>
                    <a:gd name="T11" fmla="*/ 21600 w 21600"/>
                    <a:gd name="T12" fmla="*/ 24224 h 2422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4224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22477"/>
                        <a:pt x="21546" y="23353"/>
                        <a:pt x="21440" y="24224"/>
                      </a:cubicBezTo>
                    </a:path>
                    <a:path w="21600" h="24224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22477"/>
                        <a:pt x="21546" y="23353"/>
                        <a:pt x="21440" y="24224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1761" name="Arc 54"/>
                <p:cNvSpPr>
                  <a:spLocks/>
                </p:cNvSpPr>
                <p:nvPr/>
              </p:nvSpPr>
              <p:spPr bwMode="auto">
                <a:xfrm rot="5400000" flipV="1">
                  <a:off x="1440" y="5472"/>
                  <a:ext cx="1584" cy="1584"/>
                </a:xfrm>
                <a:custGeom>
                  <a:avLst/>
                  <a:gdLst>
                    <a:gd name="T0" fmla="*/ 0 w 21600"/>
                    <a:gd name="T1" fmla="*/ 0 h 21299"/>
                    <a:gd name="T2" fmla="*/ 0 w 21600"/>
                    <a:gd name="T3" fmla="*/ 0 h 21299"/>
                    <a:gd name="T4" fmla="*/ 0 w 21600"/>
                    <a:gd name="T5" fmla="*/ 0 h 21299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299"/>
                    <a:gd name="T11" fmla="*/ 21600 w 21600"/>
                    <a:gd name="T12" fmla="*/ 21299 h 212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299" fill="none" extrusionOk="0">
                      <a:moveTo>
                        <a:pt x="3593" y="-1"/>
                      </a:moveTo>
                      <a:cubicBezTo>
                        <a:pt x="13988" y="1753"/>
                        <a:pt x="21600" y="10756"/>
                        <a:pt x="21600" y="21299"/>
                      </a:cubicBezTo>
                    </a:path>
                    <a:path w="21600" h="21299" stroke="0" extrusionOk="0">
                      <a:moveTo>
                        <a:pt x="3593" y="-1"/>
                      </a:moveTo>
                      <a:cubicBezTo>
                        <a:pt x="13988" y="1753"/>
                        <a:pt x="21600" y="10756"/>
                        <a:pt x="21600" y="21299"/>
                      </a:cubicBezTo>
                      <a:lnTo>
                        <a:pt x="0" y="21299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1762" name="Arc 55"/>
                <p:cNvSpPr>
                  <a:spLocks/>
                </p:cNvSpPr>
                <p:nvPr/>
              </p:nvSpPr>
              <p:spPr bwMode="auto">
                <a:xfrm rot="-5400000">
                  <a:off x="1169" y="4275"/>
                  <a:ext cx="2187" cy="1648"/>
                </a:xfrm>
                <a:custGeom>
                  <a:avLst/>
                  <a:gdLst>
                    <a:gd name="T0" fmla="*/ 0 w 21600"/>
                    <a:gd name="T1" fmla="*/ 0 h 22158"/>
                    <a:gd name="T2" fmla="*/ 0 w 21600"/>
                    <a:gd name="T3" fmla="*/ 0 h 22158"/>
                    <a:gd name="T4" fmla="*/ 0 w 21600"/>
                    <a:gd name="T5" fmla="*/ 0 h 22158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2158"/>
                    <a:gd name="T11" fmla="*/ 21600 w 21600"/>
                    <a:gd name="T12" fmla="*/ 22158 h 2215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2158" fill="none" extrusionOk="0">
                      <a:moveTo>
                        <a:pt x="3593" y="-1"/>
                      </a:moveTo>
                      <a:cubicBezTo>
                        <a:pt x="13988" y="1753"/>
                        <a:pt x="21600" y="10756"/>
                        <a:pt x="21600" y="21299"/>
                      </a:cubicBezTo>
                      <a:cubicBezTo>
                        <a:pt x="21600" y="21585"/>
                        <a:pt x="21594" y="21871"/>
                        <a:pt x="21582" y="22157"/>
                      </a:cubicBezTo>
                    </a:path>
                    <a:path w="21600" h="22158" stroke="0" extrusionOk="0">
                      <a:moveTo>
                        <a:pt x="3593" y="-1"/>
                      </a:moveTo>
                      <a:cubicBezTo>
                        <a:pt x="13988" y="1753"/>
                        <a:pt x="21600" y="10756"/>
                        <a:pt x="21600" y="21299"/>
                      </a:cubicBezTo>
                      <a:cubicBezTo>
                        <a:pt x="21600" y="21585"/>
                        <a:pt x="21594" y="21871"/>
                        <a:pt x="21582" y="22157"/>
                      </a:cubicBezTo>
                      <a:lnTo>
                        <a:pt x="0" y="21299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1763" name="Arc 56"/>
                <p:cNvSpPr>
                  <a:spLocks/>
                </p:cNvSpPr>
                <p:nvPr/>
              </p:nvSpPr>
              <p:spPr bwMode="auto">
                <a:xfrm rot="5400000" flipH="1">
                  <a:off x="2898" y="4302"/>
                  <a:ext cx="2187" cy="1648"/>
                </a:xfrm>
                <a:custGeom>
                  <a:avLst/>
                  <a:gdLst>
                    <a:gd name="T0" fmla="*/ 0 w 21600"/>
                    <a:gd name="T1" fmla="*/ 0 h 22158"/>
                    <a:gd name="T2" fmla="*/ 0 w 21600"/>
                    <a:gd name="T3" fmla="*/ 0 h 22158"/>
                    <a:gd name="T4" fmla="*/ 0 w 21600"/>
                    <a:gd name="T5" fmla="*/ 0 h 22158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2158"/>
                    <a:gd name="T11" fmla="*/ 21600 w 21600"/>
                    <a:gd name="T12" fmla="*/ 22158 h 2215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2158" fill="none" extrusionOk="0">
                      <a:moveTo>
                        <a:pt x="3593" y="-1"/>
                      </a:moveTo>
                      <a:cubicBezTo>
                        <a:pt x="13988" y="1753"/>
                        <a:pt x="21600" y="10756"/>
                        <a:pt x="21600" y="21299"/>
                      </a:cubicBezTo>
                      <a:cubicBezTo>
                        <a:pt x="21600" y="21585"/>
                        <a:pt x="21594" y="21871"/>
                        <a:pt x="21582" y="22157"/>
                      </a:cubicBezTo>
                    </a:path>
                    <a:path w="21600" h="22158" stroke="0" extrusionOk="0">
                      <a:moveTo>
                        <a:pt x="3593" y="-1"/>
                      </a:moveTo>
                      <a:cubicBezTo>
                        <a:pt x="13988" y="1753"/>
                        <a:pt x="21600" y="10756"/>
                        <a:pt x="21600" y="21299"/>
                      </a:cubicBezTo>
                      <a:cubicBezTo>
                        <a:pt x="21600" y="21585"/>
                        <a:pt x="21594" y="21871"/>
                        <a:pt x="21582" y="22157"/>
                      </a:cubicBezTo>
                      <a:lnTo>
                        <a:pt x="0" y="21299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1764" name="Arc 57"/>
                <p:cNvSpPr>
                  <a:spLocks/>
                </p:cNvSpPr>
                <p:nvPr/>
              </p:nvSpPr>
              <p:spPr bwMode="auto">
                <a:xfrm rot="-5400000" flipH="1" flipV="1">
                  <a:off x="2898" y="5742"/>
                  <a:ext cx="2187" cy="1648"/>
                </a:xfrm>
                <a:custGeom>
                  <a:avLst/>
                  <a:gdLst>
                    <a:gd name="T0" fmla="*/ 0 w 21600"/>
                    <a:gd name="T1" fmla="*/ 0 h 22158"/>
                    <a:gd name="T2" fmla="*/ 0 w 21600"/>
                    <a:gd name="T3" fmla="*/ 0 h 22158"/>
                    <a:gd name="T4" fmla="*/ 0 w 21600"/>
                    <a:gd name="T5" fmla="*/ 0 h 22158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2158"/>
                    <a:gd name="T11" fmla="*/ 21600 w 21600"/>
                    <a:gd name="T12" fmla="*/ 22158 h 2215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2158" fill="none" extrusionOk="0">
                      <a:moveTo>
                        <a:pt x="3593" y="-1"/>
                      </a:moveTo>
                      <a:cubicBezTo>
                        <a:pt x="13988" y="1753"/>
                        <a:pt x="21600" y="10756"/>
                        <a:pt x="21600" y="21299"/>
                      </a:cubicBezTo>
                      <a:cubicBezTo>
                        <a:pt x="21600" y="21585"/>
                        <a:pt x="21594" y="21871"/>
                        <a:pt x="21582" y="22157"/>
                      </a:cubicBezTo>
                    </a:path>
                    <a:path w="21600" h="22158" stroke="0" extrusionOk="0">
                      <a:moveTo>
                        <a:pt x="3593" y="-1"/>
                      </a:moveTo>
                      <a:cubicBezTo>
                        <a:pt x="13988" y="1753"/>
                        <a:pt x="21600" y="10756"/>
                        <a:pt x="21600" y="21299"/>
                      </a:cubicBezTo>
                      <a:cubicBezTo>
                        <a:pt x="21600" y="21585"/>
                        <a:pt x="21594" y="21871"/>
                        <a:pt x="21582" y="22157"/>
                      </a:cubicBezTo>
                      <a:lnTo>
                        <a:pt x="0" y="21299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1765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2592" y="7632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1766" name="Line 59"/>
                <p:cNvSpPr>
                  <a:spLocks noChangeShapeType="1"/>
                </p:cNvSpPr>
                <p:nvPr/>
              </p:nvSpPr>
              <p:spPr bwMode="auto">
                <a:xfrm>
                  <a:off x="3168" y="3168"/>
                  <a:ext cx="0" cy="5040"/>
                </a:xfrm>
                <a:prstGeom prst="line">
                  <a:avLst/>
                </a:prstGeom>
                <a:noFill/>
                <a:ln w="9525" cap="rnd">
                  <a:solidFill>
                    <a:srgbClr val="000000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1767" name="Line 60"/>
                <p:cNvSpPr>
                  <a:spLocks noChangeShapeType="1"/>
                </p:cNvSpPr>
                <p:nvPr/>
              </p:nvSpPr>
              <p:spPr bwMode="auto">
                <a:xfrm>
                  <a:off x="432" y="5760"/>
                  <a:ext cx="5760" cy="0"/>
                </a:xfrm>
                <a:prstGeom prst="line">
                  <a:avLst/>
                </a:prstGeom>
                <a:noFill/>
                <a:ln w="9525" cap="rnd">
                  <a:solidFill>
                    <a:srgbClr val="000000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1768" name="Line 61"/>
                <p:cNvSpPr>
                  <a:spLocks noChangeShapeType="1"/>
                </p:cNvSpPr>
                <p:nvPr/>
              </p:nvSpPr>
              <p:spPr bwMode="auto">
                <a:xfrm>
                  <a:off x="3168" y="5760"/>
                  <a:ext cx="2592" cy="86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62526" name="Rectangle 62"/>
          <p:cNvSpPr>
            <a:spLocks noChangeArrowheads="1"/>
          </p:cNvSpPr>
          <p:nvPr/>
        </p:nvSpPr>
        <p:spPr bwMode="auto">
          <a:xfrm>
            <a:off x="3733800" y="785813"/>
            <a:ext cx="274320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 algn="ctr" eaLnBrk="0" hangingPunct="0">
              <a:defRPr/>
            </a:pPr>
            <a:r>
              <a:rPr lang="pt-BR" sz="3600" b="1">
                <a:effectLst>
                  <a:outerShdw blurRad="38100" dist="38100" dir="2700000" algn="tl">
                    <a:srgbClr val="FFFFFF"/>
                  </a:outerShdw>
                </a:effectLst>
              </a:rPr>
              <a:t>Espiral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COT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26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842963"/>
            <a:ext cx="8637588" cy="641350"/>
          </a:xfrm>
        </p:spPr>
        <p:txBody>
          <a:bodyPr/>
          <a:lstStyle/>
          <a:p>
            <a:pPr eaLnBrk="1" hangingPunct="1">
              <a:defRPr/>
            </a:pPr>
            <a:r>
              <a:rPr lang="pt-BR" sz="3600" b="1" smtClean="0"/>
              <a:t>Atividades do Ciclo de Vida em Espiral</a:t>
            </a:r>
            <a:endParaRPr lang="pt-BR" smtClean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828800"/>
            <a:ext cx="8839200" cy="4572000"/>
          </a:xfrm>
        </p:spPr>
        <p:txBody>
          <a:bodyPr/>
          <a:lstStyle/>
          <a:p>
            <a:pPr eaLnBrk="1" hangingPunct="1">
              <a:spcBef>
                <a:spcPts val="900"/>
              </a:spcBef>
              <a:spcAft>
                <a:spcPts val="300"/>
              </a:spcAft>
              <a:buFont typeface="Wingdings" pitchFamily="2" charset="2"/>
              <a:buNone/>
            </a:pPr>
            <a:r>
              <a:rPr lang="pt-BR" sz="2800" i="1" smtClean="0"/>
              <a:t>1-</a:t>
            </a:r>
            <a:r>
              <a:rPr lang="pt-BR" sz="2800" i="1" u="sng" smtClean="0">
                <a:solidFill>
                  <a:srgbClr val="00CC99"/>
                </a:solidFill>
              </a:rPr>
              <a:t> PLANEJAMENTO:</a:t>
            </a:r>
            <a:r>
              <a:rPr lang="pt-BR" smtClean="0"/>
              <a:t> </a:t>
            </a:r>
            <a:r>
              <a:rPr lang="pt-BR" b="1" smtClean="0">
                <a:latin typeface="Times New Roman" pitchFamily="18" charset="0"/>
              </a:rPr>
              <a:t>determinação dos objetivos, alternativas e restrições</a:t>
            </a:r>
          </a:p>
          <a:p>
            <a:pPr eaLnBrk="1" hangingPunct="1">
              <a:spcBef>
                <a:spcPts val="900"/>
              </a:spcBef>
              <a:spcAft>
                <a:spcPts val="300"/>
              </a:spcAft>
              <a:buFont typeface="Wingdings" pitchFamily="2" charset="2"/>
              <a:buNone/>
            </a:pPr>
            <a:r>
              <a:rPr lang="pt-BR" sz="2800" i="1" smtClean="0"/>
              <a:t>2-</a:t>
            </a:r>
            <a:r>
              <a:rPr lang="pt-BR" sz="2800" i="1" u="sng" smtClean="0">
                <a:solidFill>
                  <a:srgbClr val="00CC99"/>
                </a:solidFill>
              </a:rPr>
              <a:t> ANÁLISE DE RISCOS:</a:t>
            </a:r>
            <a:r>
              <a:rPr lang="pt-BR" smtClean="0"/>
              <a:t> </a:t>
            </a:r>
            <a:r>
              <a:rPr lang="pt-BR" b="1" smtClean="0">
                <a:latin typeface="Times New Roman" pitchFamily="18" charset="0"/>
              </a:rPr>
              <a:t>análise das alternativas e identificação / resolução dos riscos</a:t>
            </a:r>
          </a:p>
          <a:p>
            <a:pPr eaLnBrk="1" hangingPunct="1">
              <a:spcBef>
                <a:spcPts val="900"/>
              </a:spcBef>
              <a:spcAft>
                <a:spcPts val="300"/>
              </a:spcAft>
              <a:buFont typeface="Wingdings" pitchFamily="2" charset="2"/>
              <a:buNone/>
            </a:pPr>
            <a:r>
              <a:rPr lang="pt-BR" sz="2800" i="1" smtClean="0"/>
              <a:t>3-</a:t>
            </a:r>
            <a:r>
              <a:rPr lang="pt-BR" sz="2800" i="1" u="sng" smtClean="0">
                <a:solidFill>
                  <a:srgbClr val="00CC99"/>
                </a:solidFill>
              </a:rPr>
              <a:t> CONSTRUÇÃO ou ENGENHARIA:</a:t>
            </a:r>
            <a:r>
              <a:rPr lang="pt-BR" smtClean="0"/>
              <a:t> </a:t>
            </a:r>
            <a:r>
              <a:rPr lang="pt-BR" b="1" smtClean="0">
                <a:latin typeface="Times New Roman" pitchFamily="18" charset="0"/>
              </a:rPr>
              <a:t>desenvolvimento do produto </a:t>
            </a:r>
          </a:p>
          <a:p>
            <a:pPr eaLnBrk="1" hangingPunct="1">
              <a:spcBef>
                <a:spcPts val="900"/>
              </a:spcBef>
              <a:spcAft>
                <a:spcPts val="300"/>
              </a:spcAft>
              <a:buFont typeface="Wingdings" pitchFamily="2" charset="2"/>
              <a:buNone/>
            </a:pPr>
            <a:r>
              <a:rPr lang="pt-BR" sz="2800" i="1" smtClean="0"/>
              <a:t>4-</a:t>
            </a:r>
            <a:r>
              <a:rPr lang="pt-BR" sz="2800" i="1" u="sng" smtClean="0">
                <a:solidFill>
                  <a:srgbClr val="00CC99"/>
                </a:solidFill>
              </a:rPr>
              <a:t> AVALIAÇÃO DO CLIENTE:</a:t>
            </a:r>
            <a:r>
              <a:rPr lang="pt-BR" smtClean="0"/>
              <a:t> </a:t>
            </a:r>
            <a:r>
              <a:rPr lang="pt-BR" b="1" smtClean="0">
                <a:latin typeface="Times New Roman" pitchFamily="18" charset="0"/>
              </a:rPr>
              <a:t>avaliação do produto e planejamento das novas fases</a:t>
            </a:r>
          </a:p>
          <a:p>
            <a:pPr eaLnBrk="1" hangingPunct="1">
              <a:spcBef>
                <a:spcPts val="900"/>
              </a:spcBef>
              <a:spcAft>
                <a:spcPts val="300"/>
              </a:spcAft>
              <a:buFont typeface="Wingdings" pitchFamily="2" charset="2"/>
              <a:buNone/>
            </a:pPr>
            <a:endParaRPr lang="pt-BR" b="1" smtClean="0">
              <a:latin typeface="Times New Roman" pitchFamily="18" charset="0"/>
            </a:endParaRPr>
          </a:p>
        </p:txBody>
      </p:sp>
      <p:sp>
        <p:nvSpPr>
          <p:cNvPr id="32772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 rot="5400000">
            <a:off x="6989763" y="3736975"/>
            <a:ext cx="3200400" cy="365125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l"/>
            <a:fld id="{524FA71A-8A6E-4C1A-BB12-9181BD1C77C8}" type="slidenum">
              <a:rPr lang="pt-BR" sz="1200" b="0" smtClean="0">
                <a:solidFill>
                  <a:schemeClr val="tx2"/>
                </a:solidFill>
              </a:rPr>
              <a:pPr algn="l"/>
              <a:t>21</a:t>
            </a:fld>
            <a:endParaRPr lang="pt-BR" sz="1200" b="0" smtClean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COT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 build="p" autoUpdateAnimBg="0"/>
      <p:bldP spid="63491" grpId="0" build="p" bldLvl="2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ítulo 1"/>
          <p:cNvSpPr>
            <a:spLocks noGrp="1"/>
          </p:cNvSpPr>
          <p:nvPr>
            <p:ph type="title"/>
          </p:nvPr>
        </p:nvSpPr>
        <p:spPr>
          <a:xfrm>
            <a:off x="171450" y="-315416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pt-BR" dirty="0" smtClean="0"/>
              <a:t>Modelo Espiral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6250" y="3000375"/>
            <a:ext cx="357188" cy="59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764704"/>
            <a:ext cx="8784976" cy="5170505"/>
          </a:xfr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3.7037E-7 C 0.00417 -0.00278 0.00799 -0.00579 0.01181 -0.00949 C 0.01511 -0.01597 0.01702 -0.01713 0.02257 -0.01898 C 0.04479 -0.03959 0.02743 -0.025 0.09514 -0.0206 C 0.09757 -0.02037 0.10226 -0.01736 0.10226 -0.01736 C 0.10799 -0.00648 0.10104 -0.01783 0.10834 -0.01111 C 0.10972 -0.00996 0.11181 -0.00625 0.11181 -0.00625 " pathEditMode="relative" ptsTypes="ffffffA">
                                      <p:cBhvr>
                                        <p:cTn id="11" dur="2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181 -0.00602 C 0.125 -0.00348 0.13767 0.00185 0.15104 0.00347 C 0.15347 0.00463 0.15573 0.00555 0.15816 0.00671 C 0.15938 0.00717 0.16181 0.00833 0.16181 0.00833 C 0.16806 0.01412 0.17135 0.02638 0.17483 0.03541 C 0.1776 0.04259 0.17587 0.04467 0.18073 0.05115 C 0.18108 0.05439 0.18142 0.0574 0.18194 0.06064 C 0.18229 0.06226 0.18368 0.06388 0.18316 0.0655 C 0.18229 0.06805 0.17917 0.06736 0.17726 0.06875 " pathEditMode="relative" ptsTypes="ffffffffA">
                                      <p:cBhvr>
                                        <p:cTn id="15" dur="2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726 0.06875 C 0.16546 0.07847 0.17657 0.10023 0.16893 0.11458 C 0.16702 0.12245 0.16441 0.12777 0.15938 0.13217 C 0.15591 0.13888 0.15539 0.1449 0.14983 0.14953 C 0.14827 0.15601 0.14636 0.15717 0.1415 0.15902 C 0.13768 0.1625 0.13803 0.16041 0.13803 0.16388 " pathEditMode="relative" ptsTypes="fffffA">
                                      <p:cBhvr>
                                        <p:cTn id="19" dur="2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803 0.16388 C 0.1316 0.16666 0.13542 0.16458 0.12726 0.17199 C 0.12553 0.17361 0.11441 0.17499 0.11424 0.17499 C 0.07448 0.17546 0.0349 0.17499 -0.00486 0.17499 " pathEditMode="relative" ptsTypes="fffA">
                                      <p:cBhvr>
                                        <p:cTn id="23" dur="2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85 0.175 C -0.02742 0.17337 -0.02291 0.17384 -0.03819 0.16712 C -0.0427 0.16296 -0.04774 0.16111 -0.05242 0.15763 C -0.06475 0.14837 -0.05503 0.15324 -0.06319 0.14953 C -0.06874 0.13819 -0.0618 0.15115 -0.06909 0.14166 C -0.07412 0.13518 -0.07968 0.12569 -0.08333 0.11782 C -0.08281 0.08657 -0.09201 0.05 -0.07864 0.0243 C -0.07656 0.01643 -0.07326 0.00833 -0.07152 0.00046 C -0.07065 -0.00325 -0.07152 -0.00857 -0.06909 -0.01065 C -0.06735 -0.01204 -0.0651 -0.01181 -0.06319 -0.01227 C -0.06093 -0.02084 -0.06058 -0.02477 -0.05485 -0.02963 C -0.0519 -0.03542 -0.04947 -0.03542 -0.04531 -0.03936 C -0.03749 -0.05417 -0.02031 -0.04653 -0.00833 -0.04723 C -0.00728 -0.04769 -0.00138 -0.04954 7.22222E-6 -0.05047 C 0.00522 -0.05417 0.01216 -0.06343 0.01789 -0.06621 C 0.02275 -0.06852 0.02032 -0.0669 0.02501 -0.07107 C 0.0415 -0.07084 0.12414 -0.07663 0.15122 -0.06459 C 0.15192 -0.06135 0.15244 -0.05741 0.15469 -0.0551 C 0.15973 -0.04977 0.17726 -0.04815 0.18334 -0.04723 C 0.18577 -0.04607 0.18803 -0.04514 0.19046 -0.04399 C 0.19358 -0.0426 0.19515 -0.03774 0.19879 -0.03774 " pathEditMode="relative" ptsTypes="ffffffffffffffffffffA">
                                      <p:cBhvr>
                                        <p:cTn id="27" dur="2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879 -0.03774 C 0.20695 -0.03403 0.21025 -0.0169 0.21424 -0.00764 C 0.21772 0.00046 0.22223 0.00856 0.22622 0.0162 C 0.22987 0.02314 0.23109 0.02916 0.23577 0.03518 C 0.23872 0.04884 0.23438 0.03055 0.23924 0.0449 C 0.2448 0.06111 0.23872 0.04884 0.24411 0.05902 C 0.24532 0.06504 0.24671 0.07037 0.24758 0.07662 C 0.24688 0.10694 0.2547 0.13518 0.23577 0.15277 C 0.2349 0.15439 0.23438 0.15601 0.23334 0.1574 C 0.2323 0.15879 0.23056 0.15902 0.2297 0.16064 C 0.22622 0.16643 0.22883 0.16782 0.22258 0.17338 C 0.22032 0.1824 0.2165 0.19027 0.21077 0.1956 C 0.20695 0.20347 0.19411 0.21134 0.18681 0.21458 C 0.18039 0.2206 0.17362 0.22916 0.16668 0.23379 " pathEditMode="relative" ptsTypes="fffffffffffffA">
                                      <p:cBhvr>
                                        <p:cTn id="31" dur="2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667 0.23379 C 0.15104 0.2375 0.17431 0.2324 0.14288 0.2368 C 0.1375 0.2375 0.13837 0.23912 0.13333 0.24166 C 0.12795 0.24444 0.12222 0.24537 0.11667 0.24629 C 0.10938 0.24976 0.10174 0.25 0.0941 0.25115 C 0.07899 0.25625 0.07882 0.2574 0.05955 0.25902 C 0.02465 0.25856 -0.01024 0.25833 -0.04514 0.2574 C -0.05052 0.25717 -0.0533 0.25138 -0.05712 0.24791 C -0.06771 0.23842 -0.08073 0.22638 -0.09288 0.22106 C -0.09687 0.21736 -0.09531 0.21921 -0.09757 0.2162 " pathEditMode="relative" ptsTypes="fffffffffA">
                                      <p:cBhvr>
                                        <p:cTn id="35" dur="2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757 0.2162 C -0.10347 0.21088 -0.11024 0.2125 -0.11666 0.20833 C -0.12205 0.20486 -0.12708 0.19861 -0.13212 0.19398 C -0.13576 0.1868 -0.13316 0.19097 -0.13819 0.18449 C -0.14062 0.18125 -0.14531 0.175 -0.14531 0.175 C -0.14791 0.16458 -0.15347 0.15602 -0.15712 0.14629 C -0.15885 0.14143 -0.16319 0.13194 -0.16319 0.13194 C -0.16805 0.11157 -0.1651 0.09051 -0.16198 0.07014 C -0.15937 0.05347 -0.15885 0.03588 -0.15243 0.02083 C -0.14809 0.01088 -0.14114 -0.00533 -0.13576 -0.01389 C -0.13264 -0.01875 -0.125 -0.02662 -0.125 -0.02662 C -0.12187 -0.03287 -0.11927 -0.03449 -0.11423 -0.03773 C -0.11007 -0.04352 -0.10573 -0.04792 -0.1 -0.05047 C -0.08767 -0.06181 -0.07621 -0.07408 -0.06319 -0.0838 C -0.05173 -0.09236 -0.06007 -0.08866 -0.05243 -0.09167 C -0.04114 -0.10186 -0.02847 -0.10973 -0.01545 -0.11551 C -0.00972 -0.12084 -0.00416 -0.12523 0.00243 -0.12824 C 0.00365 -0.1294 0.00469 -0.13079 0.0059 -0.13148 C 0.00816 -0.13287 0.01302 -0.13473 0.01302 -0.13473 C 0.054 -0.13426 0.09479 -0.13403 0.13577 -0.13311 C 0.14045 -0.13287 0.1408 -0.1301 0.14514 -0.12824 C 0.15452 -0.12408 0.16459 -0.12361 0.17379 -0.11875 C 0.18906 -0.11088 0.19288 -0.10139 0.21077 -0.09653 C 0.21198 -0.09537 0.21302 -0.09422 0.21424 -0.09329 C 0.21545 -0.0926 0.21684 -0.0926 0.21788 -0.09167 C 0.22396 -0.08635 0.21858 -0.08773 0.225 -0.0838 C 0.22986 -0.08102 0.23455 -0.07917 0.23924 -0.07593 C 0.24358 -0.07292 0.24531 -0.06852 0.25 -0.06644 C 0.25556 -0.06111 0.25209 -0.06389 0.26077 -0.05996 C 0.26198 -0.05949 0.26424 -0.05834 0.26424 -0.05834 C 0.2665 -0.04954 0.27153 -0.04653 0.27743 -0.0426 C 0.28281 -0.03102 0.2757 -0.04398 0.28455 -0.03611 C 0.28872 -0.03241 0.29045 -0.02153 0.29045 -0.01551 " pathEditMode="relative" ptsTypes="ffffffffffffffffffffffffffffffffA">
                                      <p:cBhvr>
                                        <p:cTn id="39" dur="2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046 -0.01551 C 0.29202 -0.01227 0.29376 -0.00926 0.29532 -0.00602 C 0.29792 -0.0007 0.29567 0.00671 0.29653 0.01296 C 0.29723 0.01782 0.30122 0.02407 0.30365 0.02731 C 0.30678 0.03958 0.31146 0.04953 0.31667 0.06064 C 0.31824 0.09398 0.3198 0.1125 0.31667 0.15115 C 0.31667 0.15208 0.31094 0.1625 0.30955 0.16527 C 0.30869 0.16689 0.30712 0.17013 0.30712 0.17013 C 0.30539 0.17777 0.3007 0.18796 0.29653 0.19398 C 0.2948 0.20069 0.28924 0.20254 0.28455 0.20671 C 0.28317 0.20787 0.28247 0.21018 0.28108 0.21134 C 0.28004 0.21226 0.27848 0.21203 0.27744 0.21296 C 0.26511 0.22199 0.27483 0.21713 0.26667 0.22083 C 0.26424 0.22291 0.26199 0.22523 0.25955 0.22731 C 0.25851 0.22824 0.25903 0.23055 0.25834 0.23194 C 0.25747 0.23333 0.25608 0.23402 0.25487 0.23518 C 0.25157 0.24189 0.254 0.23912 0.24879 0.24143 C 0.24636 0.24236 0.24167 0.24467 0.24167 0.24467 C 0.23716 0.24884 0.2323 0.25092 0.22744 0.25416 C 0.22258 0.2574 0.21841 0.26157 0.2132 0.26365 C 0.20886 0.26759 0.20383 0.27106 0.19879 0.27338 C 0.19567 0.27986 0.19653 0.27615 0.19653 0.28449 " pathEditMode="relative" ptsTypes="fffffffffffffffffffffA">
                                      <p:cBhvr>
                                        <p:cTn id="43" dur="2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667 0.2338 C 0.15452 0.24468 0.14706 0.24375 0.13091 0.24491 C 0.12553 0.24745 0.12153 0.25 0.11667 0.25278 C 0.11442 0.25417 0.11199 0.25486 0.10956 0.25602 C 0.10834 0.25648 0.10591 0.25764 0.10591 0.25764 C 0.09237 0.27037 0.08837 0.26597 0.06667 0.26713 C 0.06147 0.26944 0.0566 0.27269 0.05122 0.275 C 0.04879 0.27616 0.0441 0.27824 0.0441 0.27824 C -0.17916 0.27616 -0.07673 0.28218 -0.1559 0.27361 C -0.1677 0.26968 -0.16215 0.27106 -0.17256 0.26875 C -0.17951 0.2625 -0.18801 0.26273 -0.19531 0.25764 C -0.2059 0.25023 -0.21666 0.24514 -0.22864 0.24329 C -0.23663 0.23634 -0.2434 0.22824 -0.25121 0.22106 C -0.25364 0.21898 -0.25833 0.21481 -0.25833 0.21481 C -0.2611 0.20926 -0.26371 0.20579 -0.26788 0.20208 C -0.27239 0.19306 -0.2802 0.18426 -0.28697 0.17824 C -0.29079 0.17477 -0.29409 0.16944 -0.29756 0.16551 C -0.30763 0.1544 -0.31857 0.14282 -0.3309 0.13704 C -0.33784 0.12338 -0.32864 0.13935 -0.33697 0.13056 C -0.33801 0.1294 -0.33819 0.12708 -0.33923 0.12593 C -0.34131 0.12338 -0.34392 0.12153 -0.34635 0.11944 L -0.34635 0.11944 C -0.34756 0.11852 -0.34878 0.11736 -0.34999 0.11644 C -0.35121 0.11574 -0.35364 0.11481 -0.35364 0.11481 " pathEditMode="relative" ptsTypes="ffffffffffffffffffffFffA">
                                      <p:cBhvr>
                                        <p:cTn id="47" dur="2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Modelo Espiral</a:t>
            </a:r>
          </a:p>
        </p:txBody>
      </p:sp>
      <p:sp>
        <p:nvSpPr>
          <p:cNvPr id="34819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mtClean="0"/>
              <a:t>Vantagens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smtClean="0"/>
              <a:t>Análise de riscos</a:t>
            </a:r>
          </a:p>
          <a:p>
            <a:r>
              <a:rPr lang="pt-BR" smtClean="0"/>
              <a:t>Acompanhamento do cliente durante o processo</a:t>
            </a:r>
          </a:p>
          <a:p>
            <a:r>
              <a:rPr lang="pt-BR" smtClean="0"/>
              <a:t>Reúne as melhores características dos demais modelos</a:t>
            </a:r>
          </a:p>
          <a:p>
            <a:endParaRPr lang="pt-BR" smtClean="0"/>
          </a:p>
        </p:txBody>
      </p:sp>
      <p:sp>
        <p:nvSpPr>
          <p:cNvPr id="34821" name="Espaço Reservado para Texto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smtClean="0"/>
              <a:t>Desvantagens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pt-BR" smtClean="0"/>
              <a:t>Complexidade no processo</a:t>
            </a:r>
          </a:p>
          <a:p>
            <a:r>
              <a:rPr lang="pt-BR" smtClean="0"/>
              <a:t>Exige muita experiência e atenção para ser realizado</a:t>
            </a:r>
          </a:p>
          <a:p>
            <a:r>
              <a:rPr lang="pt-BR" smtClean="0"/>
              <a:t>Se algum risco não for detectado previamente, as conseqüências podem ser muito graves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28625" y="285750"/>
            <a:ext cx="4929188" cy="7858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/>
              <a:t>Características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43063" y="1714500"/>
            <a:ext cx="6429375" cy="3500438"/>
          </a:xfrm>
        </p:spPr>
        <p:txBody>
          <a:bodyPr/>
          <a:lstStyle/>
          <a:p>
            <a:pPr marL="342900" indent="-342900">
              <a:buSzPct val="100000"/>
              <a:buFont typeface="Arial" pitchFamily="34" charset="0"/>
              <a:buChar char="•"/>
              <a:defRPr/>
            </a:pPr>
            <a:r>
              <a:rPr lang="pt-BR" dirty="0" smtClean="0"/>
              <a:t> </a:t>
            </a:r>
            <a:r>
              <a:rPr lang="pt-BR" sz="2400" dirty="0" smtClean="0">
                <a:solidFill>
                  <a:schemeClr val="tx1"/>
                </a:solidFill>
              </a:rPr>
              <a:t>Cliente não sabe bem o que quer</a:t>
            </a:r>
          </a:p>
          <a:p>
            <a:pPr marL="342900" indent="-342900">
              <a:buSzPct val="100000"/>
              <a:buFont typeface="Arial" pitchFamily="34" charset="0"/>
              <a:buChar char="•"/>
              <a:defRPr/>
            </a:pPr>
            <a:endParaRPr lang="pt-BR" sz="2400" dirty="0" smtClean="0">
              <a:solidFill>
                <a:schemeClr val="tx1"/>
              </a:solidFill>
            </a:endParaRPr>
          </a:p>
          <a:p>
            <a:pPr marL="342900" indent="-342900">
              <a:buSzPct val="100000"/>
              <a:buFont typeface="Arial" pitchFamily="34" charset="0"/>
              <a:buChar char="•"/>
              <a:defRPr/>
            </a:pPr>
            <a:r>
              <a:rPr lang="pt-BR" sz="2400" dirty="0" smtClean="0">
                <a:solidFill>
                  <a:schemeClr val="tx1"/>
                </a:solidFill>
              </a:rPr>
              <a:t> Sistemas que sofram muitas mudanças</a:t>
            </a:r>
          </a:p>
          <a:p>
            <a:pPr marL="342900" indent="-342900">
              <a:buSzPct val="100000"/>
              <a:buFont typeface="Arial" pitchFamily="34" charset="0"/>
              <a:buChar char="•"/>
              <a:defRPr/>
            </a:pPr>
            <a:endParaRPr lang="pt-BR" sz="2400" dirty="0" smtClean="0">
              <a:solidFill>
                <a:schemeClr val="tx1"/>
              </a:solidFill>
            </a:endParaRPr>
          </a:p>
          <a:p>
            <a:pPr marL="342900" indent="-342900">
              <a:buSzPct val="100000"/>
              <a:buFont typeface="Arial" pitchFamily="34" charset="0"/>
              <a:buChar char="•"/>
              <a:defRPr/>
            </a:pPr>
            <a:r>
              <a:rPr lang="pt-BR" sz="2400" dirty="0" smtClean="0">
                <a:solidFill>
                  <a:schemeClr val="tx1"/>
                </a:solidFill>
              </a:rPr>
              <a:t> Usado comumente em grandes projetos</a:t>
            </a:r>
          </a:p>
          <a:p>
            <a:pPr marL="342900" indent="-342900">
              <a:buSzPct val="100000"/>
              <a:buFont typeface="Arial" pitchFamily="34" charset="0"/>
              <a:buChar char="•"/>
              <a:defRPr/>
            </a:pPr>
            <a:endParaRPr lang="pt-BR" sz="2400" dirty="0" smtClean="0">
              <a:solidFill>
                <a:schemeClr val="tx1"/>
              </a:solidFill>
            </a:endParaRPr>
          </a:p>
          <a:p>
            <a:pPr marL="342900" indent="-342900">
              <a:buSzPct val="100000"/>
              <a:buFont typeface="Arial" pitchFamily="34" charset="0"/>
              <a:buChar char="•"/>
              <a:defRPr/>
            </a:pPr>
            <a:r>
              <a:rPr lang="pt-BR" sz="2400" dirty="0" smtClean="0">
                <a:solidFill>
                  <a:schemeClr val="tx1"/>
                </a:solidFill>
              </a:rPr>
              <a:t>Permite iteração entre os processos </a:t>
            </a:r>
          </a:p>
          <a:p>
            <a:pPr marL="342900" indent="-342900">
              <a:buSzPct val="100000"/>
              <a:buFont typeface="Arial" pitchFamily="34" charset="0"/>
              <a:buChar char="•"/>
              <a:defRPr/>
            </a:pPr>
            <a:endParaRPr lang="pt-BR" sz="2400" dirty="0" smtClean="0">
              <a:solidFill>
                <a:schemeClr val="tx1"/>
              </a:solidFill>
            </a:endParaRPr>
          </a:p>
          <a:p>
            <a:pPr>
              <a:buFont typeface="Wingdings 2" pitchFamily="18" charset="2"/>
              <a:buBlip>
                <a:blip r:embed="rId2"/>
              </a:buBlip>
              <a:defRPr/>
            </a:pPr>
            <a:endParaRPr lang="pt-BR" dirty="0" smtClean="0"/>
          </a:p>
          <a:p>
            <a:pPr>
              <a:buFont typeface="Wingdings 2" pitchFamily="18" charset="2"/>
              <a:buBlip>
                <a:blip r:embed="rId2"/>
              </a:buBlip>
              <a:defRPr/>
            </a:pPr>
            <a:endParaRPr lang="pt-BR" dirty="0" smtClean="0"/>
          </a:p>
          <a:p>
            <a:pPr>
              <a:defRPr/>
            </a:pPr>
            <a:endParaRPr lang="pt-BR" dirty="0" smtClean="0"/>
          </a:p>
          <a:p>
            <a:pPr>
              <a:defRPr/>
            </a:pPr>
            <a:endParaRPr lang="pt-BR" dirty="0" smtClean="0"/>
          </a:p>
          <a:p>
            <a:pPr>
              <a:defRPr/>
            </a:pPr>
            <a:endParaRPr lang="pt-BR" dirty="0" smtClean="0"/>
          </a:p>
          <a:p>
            <a:pPr>
              <a:buFont typeface="Arial" pitchFamily="34" charset="0"/>
              <a:buChar char="•"/>
              <a:defRPr/>
            </a:pPr>
            <a:endParaRPr lang="pt-BR" dirty="0" smtClean="0"/>
          </a:p>
          <a:p>
            <a:pPr>
              <a:buFont typeface="Arial" pitchFamily="34" charset="0"/>
              <a:buChar char="•"/>
              <a:defRPr/>
            </a:pPr>
            <a:endParaRPr lang="pt-BR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458200" cy="519113"/>
          </a:xfrm>
        </p:spPr>
        <p:txBody>
          <a:bodyPr/>
          <a:lstStyle/>
          <a:p>
            <a:pPr eaLnBrk="1" hangingPunct="1">
              <a:defRPr/>
            </a:pPr>
            <a:r>
              <a:rPr lang="pt-BR" sz="2800" b="1" smtClean="0"/>
              <a:t>Comentários sobre o Ciclo de Vida em Espiral</a:t>
            </a:r>
            <a:endParaRPr lang="pt-BR" b="1" smtClean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828800"/>
            <a:ext cx="88392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SzPct val="85000"/>
              <a:buFont typeface="Wingdings" pitchFamily="2" charset="2"/>
              <a:buChar char="I"/>
            </a:pPr>
            <a:r>
              <a:rPr lang="pt-BR" sz="2800" b="1" dirty="0" smtClean="0"/>
              <a:t>É uma abordagem mais realística para o desenvolvimento de software em grande escala.</a:t>
            </a:r>
          </a:p>
          <a:p>
            <a:pPr eaLnBrk="1" hangingPunct="1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SzPct val="85000"/>
              <a:buFont typeface="Wingdings" pitchFamily="2" charset="2"/>
              <a:buChar char="I"/>
            </a:pPr>
            <a:r>
              <a:rPr lang="pt-BR" sz="2800" b="1" dirty="0" smtClean="0"/>
              <a:t>usa uma abordagem que capacita o desenvolvedor  e o cliente a entender e reagir aos riscos em cada etapa evolutiva. </a:t>
            </a:r>
          </a:p>
          <a:p>
            <a:pPr eaLnBrk="1" hangingPunct="1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SzPct val="85000"/>
              <a:buFont typeface="Wingdings" pitchFamily="2" charset="2"/>
              <a:buChar char="I"/>
            </a:pPr>
            <a:r>
              <a:rPr lang="pt-BR" sz="2800" b="1" smtClean="0"/>
              <a:t>pode ser difícil convencer os clientes que uma abordagem "evolutiva" é controlável.</a:t>
            </a:r>
          </a:p>
          <a:p>
            <a:pPr eaLnBrk="1" hangingPunct="1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SzPct val="85000"/>
              <a:buFont typeface="Wingdings" pitchFamily="2" charset="2"/>
              <a:buChar char="I"/>
            </a:pPr>
            <a:r>
              <a:rPr lang="pt-BR" sz="2800" b="1" dirty="0" smtClean="0"/>
              <a:t>exige considerável experiência na determinação de riscos e depende dessa experiência para ter sucesso</a:t>
            </a:r>
            <a:endParaRPr lang="pt-BR" b="1" dirty="0" smtClean="0">
              <a:latin typeface="Comic Sans MS" pitchFamily="66" charset="0"/>
            </a:endParaRPr>
          </a:p>
        </p:txBody>
      </p:sp>
      <p:sp>
        <p:nvSpPr>
          <p:cNvPr id="36868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 rot="5400000">
            <a:off x="6989763" y="3736975"/>
            <a:ext cx="3200400" cy="365125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l"/>
            <a:fld id="{DA47A29E-CA40-4177-BE7E-F8C51F474753}" type="slidenum">
              <a:rPr lang="pt-BR" sz="1200" b="0" smtClean="0">
                <a:solidFill>
                  <a:schemeClr val="tx2"/>
                </a:solidFill>
              </a:rPr>
              <a:pPr algn="l"/>
              <a:t>25</a:t>
            </a:fld>
            <a:endParaRPr lang="pt-BR" sz="1200" b="0" smtClean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COT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8" grpId="0" build="p" autoUpdateAnimBg="0"/>
      <p:bldP spid="65539" grpId="0" build="p" bldLvl="2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/>
          <p:cNvSpPr>
            <a:spLocks noGrp="1"/>
          </p:cNvSpPr>
          <p:nvPr>
            <p:ph type="ctrTitle"/>
          </p:nvPr>
        </p:nvSpPr>
        <p:spPr>
          <a:xfrm>
            <a:off x="571500" y="428625"/>
            <a:ext cx="7772400" cy="14700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3200" dirty="0" smtClean="0"/>
              <a:t>Modelo de </a:t>
            </a:r>
            <a:r>
              <a:rPr lang="pt-BR" sz="3200" dirty="0" err="1" smtClean="0"/>
              <a:t>Prototipação</a:t>
            </a:r>
            <a:endParaRPr lang="pt-BR" sz="3200" dirty="0" smtClean="0"/>
          </a:p>
        </p:txBody>
      </p:sp>
      <p:sp>
        <p:nvSpPr>
          <p:cNvPr id="37891" name="Subtítulo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>
                <a:latin typeface="Calisto MT" pitchFamily="18" charset="0"/>
              </a:rPr>
              <a:t>Prototipação de sistema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391636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pt-BR" smtClean="0">
                <a:latin typeface="Calisto MT" pitchFamily="18" charset="0"/>
              </a:rPr>
              <a:t>●Prototipação é o desenvolvimento rápido de um sistema.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pt-BR" smtClean="0">
              <a:latin typeface="Calisto MT" pitchFamily="18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pt-BR" smtClean="0">
                <a:latin typeface="Calisto MT" pitchFamily="18" charset="0"/>
              </a:rPr>
              <a:t>●No passado, protótipo tinha a finalidade exclusiva de avaliar os requisitos, assim o desenvolvimento tradicional era necessário.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pt-BR" smtClean="0">
              <a:latin typeface="Calisto MT" pitchFamily="18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pt-BR" smtClean="0">
                <a:latin typeface="Calisto MT" pitchFamily="18" charset="0"/>
              </a:rPr>
              <a:t>●Atualmente , os limites entre a prototipação e o desenvolvimento normal do sistema, muitas vezes, são indefinidos e muitos sistemas são desenvolvidos usando uma abordagem evolucionária.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ço Reservado para Número de Slide 6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3E9CD2E2-6272-4AA6-B3DB-1CA870AB2907}" type="slidenum">
              <a:rPr lang="pt-BR" smtClean="0"/>
              <a:pPr/>
              <a:t>28</a:t>
            </a:fld>
            <a:endParaRPr lang="pt-BR" smtClean="0"/>
          </a:p>
        </p:txBody>
      </p:sp>
      <p:grpSp>
        <p:nvGrpSpPr>
          <p:cNvPr id="2" name="Group 103"/>
          <p:cNvGrpSpPr>
            <a:grpSpLocks/>
          </p:cNvGrpSpPr>
          <p:nvPr/>
        </p:nvGrpSpPr>
        <p:grpSpPr bwMode="auto">
          <a:xfrm>
            <a:off x="1928794" y="1447801"/>
            <a:ext cx="6026169" cy="4481530"/>
            <a:chOff x="1872" y="864"/>
            <a:chExt cx="8640" cy="6480"/>
          </a:xfrm>
        </p:grpSpPr>
        <p:sp>
          <p:nvSpPr>
            <p:cNvPr id="39941" name="Rectangle 104"/>
            <p:cNvSpPr>
              <a:spLocks noChangeArrowheads="1"/>
            </p:cNvSpPr>
            <p:nvPr/>
          </p:nvSpPr>
          <p:spPr bwMode="auto">
            <a:xfrm>
              <a:off x="1872" y="864"/>
              <a:ext cx="8640" cy="648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39942" name="Group 105"/>
            <p:cNvGrpSpPr>
              <a:grpSpLocks/>
            </p:cNvGrpSpPr>
            <p:nvPr/>
          </p:nvGrpSpPr>
          <p:grpSpPr bwMode="auto">
            <a:xfrm>
              <a:off x="2592" y="1008"/>
              <a:ext cx="7200" cy="5904"/>
              <a:chOff x="2592" y="1008"/>
              <a:chExt cx="7200" cy="5904"/>
            </a:xfrm>
          </p:grpSpPr>
          <p:sp>
            <p:nvSpPr>
              <p:cNvPr id="39943" name="Text Box 106"/>
              <p:cNvSpPr txBox="1">
                <a:spLocks noChangeArrowheads="1"/>
              </p:cNvSpPr>
              <p:nvPr/>
            </p:nvSpPr>
            <p:spPr bwMode="auto">
              <a:xfrm>
                <a:off x="2592" y="1728"/>
                <a:ext cx="1584" cy="72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0" hangingPunct="0"/>
                <a:r>
                  <a:rPr lang="pt-BR" b="1" i="1">
                    <a:solidFill>
                      <a:srgbClr val="008080"/>
                    </a:solidFill>
                    <a:latin typeface="Comic Sans MS" pitchFamily="66" charset="0"/>
                  </a:rPr>
                  <a:t>fim</a:t>
                </a:r>
              </a:p>
            </p:txBody>
          </p:sp>
          <p:sp>
            <p:nvSpPr>
              <p:cNvPr id="39944" name="Text Box 107"/>
              <p:cNvSpPr txBox="1">
                <a:spLocks noChangeArrowheads="1"/>
              </p:cNvSpPr>
              <p:nvPr/>
            </p:nvSpPr>
            <p:spPr bwMode="auto">
              <a:xfrm>
                <a:off x="4320" y="1008"/>
                <a:ext cx="1584" cy="72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0" hangingPunct="0"/>
                <a:r>
                  <a:rPr lang="pt-BR" b="1" i="1">
                    <a:solidFill>
                      <a:srgbClr val="008080"/>
                    </a:solidFill>
                    <a:latin typeface="Comic Sans MS" pitchFamily="66" charset="0"/>
                  </a:rPr>
                  <a:t>início</a:t>
                </a:r>
              </a:p>
            </p:txBody>
          </p:sp>
          <p:sp>
            <p:nvSpPr>
              <p:cNvPr id="39945" name="Text Box 108"/>
              <p:cNvSpPr txBox="1">
                <a:spLocks noChangeArrowheads="1"/>
              </p:cNvSpPr>
              <p:nvPr/>
            </p:nvSpPr>
            <p:spPr bwMode="auto">
              <a:xfrm>
                <a:off x="2880" y="3024"/>
                <a:ext cx="2592" cy="115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0" hangingPunct="0"/>
                <a:r>
                  <a:rPr lang="pt-BR" b="1">
                    <a:solidFill>
                      <a:srgbClr val="0000FF"/>
                    </a:solidFill>
                  </a:rPr>
                  <a:t>construção</a:t>
                </a:r>
                <a:r>
                  <a:rPr lang="pt-BR" b="1"/>
                  <a:t> </a:t>
                </a:r>
                <a:r>
                  <a:rPr lang="pt-BR" b="1">
                    <a:solidFill>
                      <a:srgbClr val="0000FF"/>
                    </a:solidFill>
                  </a:rPr>
                  <a:t>produto</a:t>
                </a:r>
                <a:endParaRPr lang="pt-BR" b="1"/>
              </a:p>
            </p:txBody>
          </p:sp>
          <p:sp>
            <p:nvSpPr>
              <p:cNvPr id="39946" name="Text Box 109"/>
              <p:cNvSpPr txBox="1">
                <a:spLocks noChangeArrowheads="1"/>
              </p:cNvSpPr>
              <p:nvPr/>
            </p:nvSpPr>
            <p:spPr bwMode="auto">
              <a:xfrm>
                <a:off x="2880" y="4752"/>
                <a:ext cx="2448" cy="115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hangingPunct="0"/>
                <a:r>
                  <a:rPr lang="pt-BR" b="1">
                    <a:solidFill>
                      <a:srgbClr val="0000FF"/>
                    </a:solidFill>
                  </a:rPr>
                  <a:t>refinamento</a:t>
                </a:r>
                <a:r>
                  <a:rPr lang="pt-BR" b="1"/>
                  <a:t> </a:t>
                </a:r>
                <a:r>
                  <a:rPr lang="pt-BR" b="1">
                    <a:solidFill>
                      <a:srgbClr val="0000FF"/>
                    </a:solidFill>
                  </a:rPr>
                  <a:t>protótipo</a:t>
                </a:r>
                <a:endParaRPr lang="pt-BR" b="1"/>
              </a:p>
            </p:txBody>
          </p:sp>
          <p:sp>
            <p:nvSpPr>
              <p:cNvPr id="39947" name="Text Box 110"/>
              <p:cNvSpPr txBox="1">
                <a:spLocks noChangeArrowheads="1"/>
              </p:cNvSpPr>
              <p:nvPr/>
            </p:nvSpPr>
            <p:spPr bwMode="auto">
              <a:xfrm>
                <a:off x="5328" y="5616"/>
                <a:ext cx="2304" cy="115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hangingPunct="0"/>
                <a:r>
                  <a:rPr lang="pt-BR" b="1">
                    <a:solidFill>
                      <a:srgbClr val="0000FF"/>
                    </a:solidFill>
                  </a:rPr>
                  <a:t>avaliação</a:t>
                </a:r>
                <a:r>
                  <a:rPr lang="pt-BR" b="1"/>
                  <a:t> </a:t>
                </a:r>
                <a:r>
                  <a:rPr lang="pt-BR" b="1">
                    <a:solidFill>
                      <a:srgbClr val="0000FF"/>
                    </a:solidFill>
                  </a:rPr>
                  <a:t>protótipo</a:t>
                </a:r>
                <a:endParaRPr lang="pt-BR" b="1"/>
              </a:p>
            </p:txBody>
          </p:sp>
          <p:sp>
            <p:nvSpPr>
              <p:cNvPr id="39948" name="Text Box 111"/>
              <p:cNvSpPr txBox="1">
                <a:spLocks noChangeArrowheads="1"/>
              </p:cNvSpPr>
              <p:nvPr/>
            </p:nvSpPr>
            <p:spPr bwMode="auto">
              <a:xfrm>
                <a:off x="7056" y="4608"/>
                <a:ext cx="2304" cy="115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hangingPunct="0"/>
                <a:r>
                  <a:rPr lang="pt-BR" b="1">
                    <a:solidFill>
                      <a:srgbClr val="0000FF"/>
                    </a:solidFill>
                  </a:rPr>
                  <a:t>construção</a:t>
                </a:r>
                <a:r>
                  <a:rPr lang="pt-BR" b="1"/>
                  <a:t> </a:t>
                </a:r>
                <a:r>
                  <a:rPr lang="pt-BR" b="1">
                    <a:solidFill>
                      <a:srgbClr val="0000FF"/>
                    </a:solidFill>
                  </a:rPr>
                  <a:t>protótipo</a:t>
                </a:r>
                <a:endParaRPr lang="pt-BR" b="1"/>
              </a:p>
            </p:txBody>
          </p:sp>
          <p:sp>
            <p:nvSpPr>
              <p:cNvPr id="39949" name="Text Box 112"/>
              <p:cNvSpPr txBox="1">
                <a:spLocks noChangeArrowheads="1"/>
              </p:cNvSpPr>
              <p:nvPr/>
            </p:nvSpPr>
            <p:spPr bwMode="auto">
              <a:xfrm>
                <a:off x="7344" y="3024"/>
                <a:ext cx="2016" cy="115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hangingPunct="0"/>
                <a:r>
                  <a:rPr lang="pt-BR" b="1">
                    <a:solidFill>
                      <a:srgbClr val="0000FF"/>
                    </a:solidFill>
                  </a:rPr>
                  <a:t>projeto</a:t>
                </a:r>
                <a:r>
                  <a:rPr lang="pt-BR" b="1"/>
                  <a:t> </a:t>
                </a:r>
                <a:r>
                  <a:rPr lang="pt-BR" b="1">
                    <a:solidFill>
                      <a:srgbClr val="0000FF"/>
                    </a:solidFill>
                  </a:rPr>
                  <a:t>rápido</a:t>
                </a:r>
                <a:endParaRPr lang="pt-BR" b="1"/>
              </a:p>
            </p:txBody>
          </p:sp>
          <p:sp>
            <p:nvSpPr>
              <p:cNvPr id="39950" name="Text Box 113"/>
              <p:cNvSpPr txBox="1">
                <a:spLocks noChangeArrowheads="1"/>
              </p:cNvSpPr>
              <p:nvPr/>
            </p:nvSpPr>
            <p:spPr bwMode="auto">
              <a:xfrm>
                <a:off x="5040" y="2016"/>
                <a:ext cx="2304" cy="144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hangingPunct="0"/>
                <a:r>
                  <a:rPr lang="pt-BR" b="1">
                    <a:solidFill>
                      <a:srgbClr val="0000FF"/>
                    </a:solidFill>
                  </a:rPr>
                  <a:t>obtenção</a:t>
                </a:r>
                <a:r>
                  <a:rPr lang="pt-BR" b="1"/>
                  <a:t> </a:t>
                </a:r>
                <a:r>
                  <a:rPr lang="pt-BR" b="1">
                    <a:solidFill>
                      <a:srgbClr val="0000FF"/>
                    </a:solidFill>
                  </a:rPr>
                  <a:t>dos</a:t>
                </a:r>
                <a:r>
                  <a:rPr lang="pt-BR" b="1"/>
                  <a:t>   </a:t>
                </a:r>
                <a:r>
                  <a:rPr lang="pt-BR" b="1">
                    <a:solidFill>
                      <a:srgbClr val="0000FF"/>
                    </a:solidFill>
                  </a:rPr>
                  <a:t>requisitos</a:t>
                </a:r>
                <a:endParaRPr lang="pt-BR" b="1"/>
              </a:p>
            </p:txBody>
          </p:sp>
          <p:sp>
            <p:nvSpPr>
              <p:cNvPr id="39951" name="Oval 114"/>
              <p:cNvSpPr>
                <a:spLocks noChangeArrowheads="1"/>
              </p:cNvSpPr>
              <p:nvPr/>
            </p:nvSpPr>
            <p:spPr bwMode="auto">
              <a:xfrm>
                <a:off x="2592" y="1872"/>
                <a:ext cx="6912" cy="504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952" name="Oval 115"/>
              <p:cNvSpPr>
                <a:spLocks noChangeArrowheads="1"/>
              </p:cNvSpPr>
              <p:nvPr/>
            </p:nvSpPr>
            <p:spPr bwMode="auto">
              <a:xfrm>
                <a:off x="5040" y="3456"/>
                <a:ext cx="2304" cy="172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953" name="Line 116"/>
              <p:cNvSpPr>
                <a:spLocks noChangeShapeType="1"/>
              </p:cNvSpPr>
              <p:nvPr/>
            </p:nvSpPr>
            <p:spPr bwMode="auto">
              <a:xfrm>
                <a:off x="4464" y="2160"/>
                <a:ext cx="1152" cy="14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954" name="Line 117"/>
              <p:cNvSpPr>
                <a:spLocks noChangeShapeType="1"/>
              </p:cNvSpPr>
              <p:nvPr/>
            </p:nvSpPr>
            <p:spPr bwMode="auto">
              <a:xfrm flipH="1">
                <a:off x="6912" y="2304"/>
                <a:ext cx="1008" cy="12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955" name="Line 118"/>
              <p:cNvSpPr>
                <a:spLocks noChangeShapeType="1"/>
              </p:cNvSpPr>
              <p:nvPr/>
            </p:nvSpPr>
            <p:spPr bwMode="auto">
              <a:xfrm>
                <a:off x="7344" y="4320"/>
                <a:ext cx="21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956" name="Line 119"/>
              <p:cNvSpPr>
                <a:spLocks noChangeShapeType="1"/>
              </p:cNvSpPr>
              <p:nvPr/>
            </p:nvSpPr>
            <p:spPr bwMode="auto">
              <a:xfrm>
                <a:off x="6912" y="5040"/>
                <a:ext cx="1152" cy="14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957" name="Line 120"/>
              <p:cNvSpPr>
                <a:spLocks noChangeShapeType="1"/>
              </p:cNvSpPr>
              <p:nvPr/>
            </p:nvSpPr>
            <p:spPr bwMode="auto">
              <a:xfrm flipH="1">
                <a:off x="4608" y="5184"/>
                <a:ext cx="1152" cy="14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958" name="Line 121"/>
              <p:cNvSpPr>
                <a:spLocks noChangeShapeType="1"/>
              </p:cNvSpPr>
              <p:nvPr/>
            </p:nvSpPr>
            <p:spPr bwMode="auto">
              <a:xfrm flipH="1">
                <a:off x="2592" y="4320"/>
                <a:ext cx="244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959" name="AutoShape 122"/>
              <p:cNvSpPr>
                <a:spLocks noChangeArrowheads="1"/>
              </p:cNvSpPr>
              <p:nvPr/>
            </p:nvSpPr>
            <p:spPr bwMode="auto">
              <a:xfrm rot="-1632726">
                <a:off x="5616" y="4032"/>
                <a:ext cx="1152" cy="72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3375 w 21600"/>
                  <a:gd name="T13" fmla="*/ 5400 h 21600"/>
                  <a:gd name="T14" fmla="*/ 18900 w 21600"/>
                  <a:gd name="T15" fmla="*/ 162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960" name="Line 123"/>
              <p:cNvSpPr>
                <a:spLocks noChangeShapeType="1"/>
              </p:cNvSpPr>
              <p:nvPr/>
            </p:nvSpPr>
            <p:spPr bwMode="auto">
              <a:xfrm flipV="1">
                <a:off x="5040" y="3600"/>
                <a:ext cx="1872" cy="72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961" name="Line 124"/>
              <p:cNvSpPr>
                <a:spLocks noChangeShapeType="1"/>
              </p:cNvSpPr>
              <p:nvPr/>
            </p:nvSpPr>
            <p:spPr bwMode="auto">
              <a:xfrm flipV="1">
                <a:off x="5760" y="4320"/>
                <a:ext cx="1584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962" name="Line 125"/>
              <p:cNvSpPr>
                <a:spLocks noChangeShapeType="1"/>
              </p:cNvSpPr>
              <p:nvPr/>
            </p:nvSpPr>
            <p:spPr bwMode="auto">
              <a:xfrm flipH="1" flipV="1">
                <a:off x="3456" y="2016"/>
                <a:ext cx="288" cy="4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963" name="Line 126"/>
              <p:cNvSpPr>
                <a:spLocks noChangeShapeType="1"/>
              </p:cNvSpPr>
              <p:nvPr/>
            </p:nvSpPr>
            <p:spPr bwMode="auto">
              <a:xfrm>
                <a:off x="4608" y="1440"/>
                <a:ext cx="288" cy="4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964" name="Arc 127"/>
              <p:cNvSpPr>
                <a:spLocks/>
              </p:cNvSpPr>
              <p:nvPr/>
            </p:nvSpPr>
            <p:spPr bwMode="auto">
              <a:xfrm>
                <a:off x="8208" y="2020"/>
                <a:ext cx="1584" cy="1725"/>
              </a:xfrm>
              <a:custGeom>
                <a:avLst/>
                <a:gdLst>
                  <a:gd name="T0" fmla="*/ 0 w 20874"/>
                  <a:gd name="T1" fmla="*/ 0 h 21584"/>
                  <a:gd name="T2" fmla="*/ 0 w 20874"/>
                  <a:gd name="T3" fmla="*/ 0 h 21584"/>
                  <a:gd name="T4" fmla="*/ 0 w 20874"/>
                  <a:gd name="T5" fmla="*/ 0 h 21584"/>
                  <a:gd name="T6" fmla="*/ 0 60000 65536"/>
                  <a:gd name="T7" fmla="*/ 0 60000 65536"/>
                  <a:gd name="T8" fmla="*/ 0 60000 65536"/>
                  <a:gd name="T9" fmla="*/ 0 w 20874"/>
                  <a:gd name="T10" fmla="*/ 0 h 21584"/>
                  <a:gd name="T11" fmla="*/ 20874 w 20874"/>
                  <a:gd name="T12" fmla="*/ 21584 h 215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874" h="21584" fill="none" extrusionOk="0">
                    <a:moveTo>
                      <a:pt x="842" y="0"/>
                    </a:moveTo>
                    <a:cubicBezTo>
                      <a:pt x="10313" y="370"/>
                      <a:pt x="18437" y="6871"/>
                      <a:pt x="20874" y="16030"/>
                    </a:cubicBezTo>
                  </a:path>
                  <a:path w="20874" h="21584" stroke="0" extrusionOk="0">
                    <a:moveTo>
                      <a:pt x="842" y="0"/>
                    </a:moveTo>
                    <a:cubicBezTo>
                      <a:pt x="10313" y="370"/>
                      <a:pt x="18437" y="6871"/>
                      <a:pt x="20874" y="16030"/>
                    </a:cubicBezTo>
                    <a:lnTo>
                      <a:pt x="0" y="21584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965" name="Line 128"/>
              <p:cNvSpPr>
                <a:spLocks noChangeShapeType="1"/>
              </p:cNvSpPr>
              <p:nvPr/>
            </p:nvSpPr>
            <p:spPr bwMode="auto">
              <a:xfrm>
                <a:off x="9792" y="331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52353" name="Rectangle 129"/>
          <p:cNvSpPr>
            <a:spLocks noChangeArrowheads="1"/>
          </p:cNvSpPr>
          <p:nvPr/>
        </p:nvSpPr>
        <p:spPr bwMode="auto">
          <a:xfrm>
            <a:off x="3352800" y="884238"/>
            <a:ext cx="3276600" cy="5191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 algn="ctr" eaLnBrk="0" hangingPunct="0">
              <a:defRPr/>
            </a:pPr>
            <a:r>
              <a:rPr lang="pt-BR" sz="2800" b="1">
                <a:effectLst>
                  <a:outerShdw blurRad="38100" dist="38100" dir="2700000" algn="tl">
                    <a:srgbClr val="FFFFFF"/>
                  </a:outerShdw>
                </a:effectLst>
              </a:rPr>
              <a:t> Prototipação</a:t>
            </a:r>
            <a:endParaRPr lang="pt-BR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COT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53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722313"/>
            <a:ext cx="8637588" cy="762000"/>
          </a:xfrm>
        </p:spPr>
        <p:txBody>
          <a:bodyPr/>
          <a:lstStyle/>
          <a:p>
            <a:pPr eaLnBrk="1" hangingPunct="1">
              <a:defRPr/>
            </a:pPr>
            <a:r>
              <a:rPr lang="pt-BR" smtClean="0"/>
              <a:t>Atividades da Prototipação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828800"/>
            <a:ext cx="8458200" cy="42672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Aft>
                <a:spcPts val="300"/>
              </a:spcAft>
              <a:buFont typeface="Wingdings" pitchFamily="2" charset="2"/>
              <a:buNone/>
            </a:pPr>
            <a:r>
              <a:rPr lang="pt-BR" b="1" i="1" smtClean="0"/>
              <a:t>1-</a:t>
            </a:r>
            <a:r>
              <a:rPr lang="pt-BR" b="1" i="1" u="sng" smtClean="0">
                <a:solidFill>
                  <a:schemeClr val="accent1"/>
                </a:solidFill>
              </a:rPr>
              <a:t> </a:t>
            </a:r>
            <a:r>
              <a:rPr lang="pt-BR" b="1" i="1" u="sng" smtClean="0">
                <a:solidFill>
                  <a:schemeClr val="tx2"/>
                </a:solidFill>
              </a:rPr>
              <a:t>OBTENÇÃO DOS REQUISITOS</a:t>
            </a:r>
            <a:r>
              <a:rPr lang="pt-BR" b="1" i="1" u="sng" smtClean="0">
                <a:solidFill>
                  <a:schemeClr val="accent1"/>
                </a:solidFill>
              </a:rPr>
              <a:t>:</a:t>
            </a:r>
            <a:r>
              <a:rPr lang="pt-BR" sz="2800" b="1" smtClean="0"/>
              <a:t> desenvolvedor e cliente definem os objetivos gerais do software, identificam quais requisitos são conhecidos e as áreas que necessitam de definições adicionais.</a:t>
            </a:r>
          </a:p>
          <a:p>
            <a:pPr eaLnBrk="1" hangingPunct="1">
              <a:lnSpc>
                <a:spcPct val="110000"/>
              </a:lnSpc>
              <a:spcAft>
                <a:spcPts val="300"/>
              </a:spcAft>
              <a:buFont typeface="Wingdings" pitchFamily="2" charset="2"/>
              <a:buNone/>
            </a:pPr>
            <a:r>
              <a:rPr lang="pt-BR" b="1" i="1" smtClean="0"/>
              <a:t>2-</a:t>
            </a:r>
            <a:r>
              <a:rPr lang="pt-BR" b="1" i="1" u="sng" smtClean="0">
                <a:solidFill>
                  <a:schemeClr val="accent1"/>
                </a:solidFill>
              </a:rPr>
              <a:t> </a:t>
            </a:r>
            <a:r>
              <a:rPr lang="pt-BR" b="1" i="1" u="sng" smtClean="0">
                <a:solidFill>
                  <a:schemeClr val="tx2"/>
                </a:solidFill>
              </a:rPr>
              <a:t>PROJETO RÁPIDO:</a:t>
            </a:r>
            <a:r>
              <a:rPr lang="pt-BR" sz="2800" b="1" smtClean="0"/>
              <a:t>  representação dos aspectos do software que são visíveis ao usuário (abordagens de entrada e formatos de saída)</a:t>
            </a:r>
          </a:p>
        </p:txBody>
      </p:sp>
      <p:sp>
        <p:nvSpPr>
          <p:cNvPr id="40964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 rot="5400000">
            <a:off x="6989763" y="3736975"/>
            <a:ext cx="3200400" cy="365125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l"/>
            <a:fld id="{20226288-F843-4A40-A340-34A8D84C6F64}" type="slidenum">
              <a:rPr lang="pt-BR" sz="1200" b="0" smtClean="0">
                <a:solidFill>
                  <a:schemeClr val="tx2"/>
                </a:solidFill>
              </a:rPr>
              <a:pPr algn="l"/>
              <a:t>29</a:t>
            </a:fld>
            <a:endParaRPr lang="pt-BR" sz="1200" b="0" smtClean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COT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build="p" autoUpdateAnimBg="0"/>
      <p:bldP spid="54275" grpId="0" build="p" bldLvl="2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722313"/>
            <a:ext cx="8637588" cy="762000"/>
          </a:xfrm>
        </p:spPr>
        <p:txBody>
          <a:bodyPr/>
          <a:lstStyle/>
          <a:p>
            <a:pPr eaLnBrk="1" hangingPunct="1">
              <a:defRPr/>
            </a:pPr>
            <a:r>
              <a:rPr lang="pt-BR" smtClean="0"/>
              <a:t>Atividades da Prototipação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057400"/>
            <a:ext cx="8001000" cy="32766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Aft>
                <a:spcPts val="300"/>
              </a:spcAft>
              <a:buFont typeface="Wingdings" pitchFamily="2" charset="2"/>
              <a:buNone/>
            </a:pPr>
            <a:r>
              <a:rPr lang="pt-BR" sz="2800" i="1" smtClean="0"/>
              <a:t>3-</a:t>
            </a:r>
            <a:r>
              <a:rPr lang="pt-BR" sz="2800" i="1" u="sng" smtClean="0">
                <a:solidFill>
                  <a:schemeClr val="accent1"/>
                </a:solidFill>
              </a:rPr>
              <a:t> </a:t>
            </a:r>
            <a:r>
              <a:rPr lang="pt-BR" sz="2800" i="1" u="sng" smtClean="0">
                <a:solidFill>
                  <a:schemeClr val="tx2"/>
                </a:solidFill>
              </a:rPr>
              <a:t>CONSTRUÇÃO PROTÓTIPO</a:t>
            </a:r>
            <a:r>
              <a:rPr lang="pt-BR" sz="2800" i="1" u="sng" smtClean="0">
                <a:solidFill>
                  <a:schemeClr val="accent1"/>
                </a:solidFill>
              </a:rPr>
              <a:t>:</a:t>
            </a:r>
            <a:r>
              <a:rPr lang="pt-BR" sz="2800" smtClean="0"/>
              <a:t> </a:t>
            </a:r>
            <a:r>
              <a:rPr lang="pt-BR" sz="2800" b="1" smtClean="0"/>
              <a:t>implementação  do projeto rápido</a:t>
            </a:r>
          </a:p>
          <a:p>
            <a:pPr eaLnBrk="1" hangingPunct="1">
              <a:lnSpc>
                <a:spcPct val="120000"/>
              </a:lnSpc>
              <a:spcAft>
                <a:spcPts val="300"/>
              </a:spcAft>
              <a:buFont typeface="Wingdings" pitchFamily="2" charset="2"/>
              <a:buNone/>
            </a:pPr>
            <a:r>
              <a:rPr lang="pt-BR" sz="2800" i="1" smtClean="0"/>
              <a:t>4-</a:t>
            </a:r>
            <a:r>
              <a:rPr lang="pt-BR" sz="2800" i="1" u="sng" smtClean="0">
                <a:solidFill>
                  <a:schemeClr val="accent1"/>
                </a:solidFill>
              </a:rPr>
              <a:t> </a:t>
            </a:r>
            <a:r>
              <a:rPr lang="pt-BR" sz="2800" i="1" u="sng" smtClean="0">
                <a:solidFill>
                  <a:schemeClr val="tx2"/>
                </a:solidFill>
              </a:rPr>
              <a:t>AVALIAÇÃO DO PROTÓTIPO</a:t>
            </a:r>
            <a:r>
              <a:rPr lang="pt-BR" sz="2800" i="1" u="sng" smtClean="0">
                <a:solidFill>
                  <a:schemeClr val="accent1"/>
                </a:solidFill>
              </a:rPr>
              <a:t>:</a:t>
            </a:r>
            <a:r>
              <a:rPr lang="pt-BR" sz="2800" smtClean="0"/>
              <a:t> </a:t>
            </a:r>
            <a:r>
              <a:rPr lang="pt-BR" sz="2800" b="1" smtClean="0"/>
              <a:t>cliente e desenvolvedor avaliam o protótipo</a:t>
            </a:r>
            <a:r>
              <a:rPr lang="pt-BR" sz="2800" smtClean="0"/>
              <a:t> </a:t>
            </a:r>
          </a:p>
          <a:p>
            <a:pPr eaLnBrk="1" hangingPunct="1">
              <a:spcAft>
                <a:spcPts val="300"/>
              </a:spcAft>
              <a:buFont typeface="Wingdings" pitchFamily="2" charset="2"/>
              <a:buNone/>
            </a:pPr>
            <a:endParaRPr lang="pt-BR" smtClean="0"/>
          </a:p>
        </p:txBody>
      </p:sp>
      <p:sp>
        <p:nvSpPr>
          <p:cNvPr id="41988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 rot="5400000">
            <a:off x="6989763" y="3736975"/>
            <a:ext cx="3200400" cy="365125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l"/>
            <a:fld id="{1FD93658-4BCF-4BF6-AF50-F63FACF337C8}" type="slidenum">
              <a:rPr lang="pt-BR" sz="1200" b="0" smtClean="0">
                <a:solidFill>
                  <a:schemeClr val="tx2"/>
                </a:solidFill>
              </a:rPr>
              <a:pPr algn="l"/>
              <a:t>30</a:t>
            </a:fld>
            <a:endParaRPr lang="pt-BR" sz="1200" b="0" smtClean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COT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 build="p" autoUpdateAnimBg="0"/>
      <p:bldP spid="55299" grpId="0" build="p" bldLvl="2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722313"/>
            <a:ext cx="8637588" cy="762000"/>
          </a:xfrm>
        </p:spPr>
        <p:txBody>
          <a:bodyPr/>
          <a:lstStyle/>
          <a:p>
            <a:pPr eaLnBrk="1" hangingPunct="1">
              <a:defRPr/>
            </a:pPr>
            <a:r>
              <a:rPr lang="pt-BR" smtClean="0"/>
              <a:t>Atividades da Prototipação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752600"/>
            <a:ext cx="8534400" cy="4876800"/>
          </a:xfrm>
        </p:spPr>
        <p:txBody>
          <a:bodyPr/>
          <a:lstStyle/>
          <a:p>
            <a:pPr eaLnBrk="1" hangingPunct="1">
              <a:spcAft>
                <a:spcPts val="300"/>
              </a:spcAft>
              <a:buFont typeface="Wingdings" pitchFamily="2" charset="2"/>
              <a:buNone/>
            </a:pPr>
            <a:r>
              <a:rPr lang="pt-BR" i="1" smtClean="0"/>
              <a:t>5-</a:t>
            </a:r>
            <a:r>
              <a:rPr lang="pt-BR" i="1" u="sng" smtClean="0">
                <a:solidFill>
                  <a:schemeClr val="accent1"/>
                </a:solidFill>
              </a:rPr>
              <a:t> </a:t>
            </a:r>
            <a:r>
              <a:rPr lang="pt-BR" b="1" i="1" u="sng" smtClean="0">
                <a:solidFill>
                  <a:schemeClr val="tx2"/>
                </a:solidFill>
              </a:rPr>
              <a:t>REFINAMENTO DOS REQUISITOS</a:t>
            </a:r>
            <a:r>
              <a:rPr lang="pt-BR" i="1" u="sng" smtClean="0">
                <a:solidFill>
                  <a:schemeClr val="accent1"/>
                </a:solidFill>
              </a:rPr>
              <a:t>:</a:t>
            </a:r>
            <a:r>
              <a:rPr lang="pt-BR" smtClean="0"/>
              <a:t> </a:t>
            </a:r>
            <a:r>
              <a:rPr lang="pt-BR" b="1" smtClean="0"/>
              <a:t>cliente e desenvolvedor refinam os requisitos do software a ser desenvolvido. </a:t>
            </a:r>
          </a:p>
          <a:p>
            <a:pPr eaLnBrk="1" hangingPunct="1">
              <a:spcAft>
                <a:spcPts val="300"/>
              </a:spcAft>
              <a:buFont typeface="Wingdings" pitchFamily="2" charset="2"/>
              <a:buNone/>
            </a:pPr>
            <a:endParaRPr lang="pt-BR" b="1" smtClean="0"/>
          </a:p>
          <a:p>
            <a:pPr eaLnBrk="1" hangingPunct="1">
              <a:spcAft>
                <a:spcPts val="300"/>
              </a:spcAft>
              <a:buFont typeface="Wingdings" pitchFamily="2" charset="2"/>
              <a:buNone/>
            </a:pPr>
            <a:r>
              <a:rPr lang="pt-BR" i="1" smtClean="0"/>
              <a:t>6-</a:t>
            </a:r>
            <a:r>
              <a:rPr lang="pt-BR" i="1" u="sng" smtClean="0">
                <a:solidFill>
                  <a:schemeClr val="accent1"/>
                </a:solidFill>
              </a:rPr>
              <a:t> </a:t>
            </a:r>
            <a:r>
              <a:rPr lang="pt-BR" b="1" smtClean="0">
                <a:solidFill>
                  <a:schemeClr val="tx2"/>
                </a:solidFill>
              </a:rPr>
              <a:t>CONSTRUÇÃO PRODUTO</a:t>
            </a:r>
            <a:r>
              <a:rPr lang="pt-BR" i="1" u="sng" smtClean="0">
                <a:solidFill>
                  <a:schemeClr val="accent1"/>
                </a:solidFill>
              </a:rPr>
              <a:t>:</a:t>
            </a:r>
            <a:r>
              <a:rPr lang="pt-BR" smtClean="0"/>
              <a:t> </a:t>
            </a:r>
            <a:r>
              <a:rPr lang="pt-BR" b="1" smtClean="0"/>
              <a:t>identificados os requisitos, o protótipo deve ser descartado e a versão de produção deve ser construída considerando os critérios de qualidade. </a:t>
            </a:r>
          </a:p>
        </p:txBody>
      </p:sp>
      <p:sp>
        <p:nvSpPr>
          <p:cNvPr id="43012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 rot="5400000">
            <a:off x="6989763" y="3736975"/>
            <a:ext cx="3200400" cy="365125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l"/>
            <a:fld id="{EB082F96-3EB0-48D9-BBAD-C016F22B8AB1}" type="slidenum">
              <a:rPr lang="pt-BR" sz="1200" b="0" smtClean="0">
                <a:solidFill>
                  <a:schemeClr val="tx2"/>
                </a:solidFill>
              </a:rPr>
              <a:pPr algn="l"/>
              <a:t>31</a:t>
            </a:fld>
            <a:endParaRPr lang="pt-BR" sz="1200" b="0" smtClean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COT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 build="p" autoUpdateAnimBg="0"/>
      <p:bldP spid="58371" grpId="0" build="p" bldLvl="2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4" name="Group 9"/>
          <p:cNvGrpSpPr>
            <a:grpSpLocks noChangeAspect="1"/>
          </p:cNvGrpSpPr>
          <p:nvPr/>
        </p:nvGrpSpPr>
        <p:grpSpPr bwMode="auto">
          <a:xfrm>
            <a:off x="357158" y="2781300"/>
            <a:ext cx="8786842" cy="3070225"/>
            <a:chOff x="2281" y="6195"/>
            <a:chExt cx="8426" cy="2932"/>
          </a:xfrm>
        </p:grpSpPr>
        <p:sp>
          <p:nvSpPr>
            <p:cNvPr id="44037" name="AutoShape 10"/>
            <p:cNvSpPr>
              <a:spLocks noChangeAspect="1" noChangeArrowheads="1"/>
            </p:cNvSpPr>
            <p:nvPr/>
          </p:nvSpPr>
          <p:spPr bwMode="auto">
            <a:xfrm>
              <a:off x="2281" y="6195"/>
              <a:ext cx="8426" cy="29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038" name="AutoShape 11"/>
            <p:cNvSpPr>
              <a:spLocks noChangeArrowheads="1"/>
            </p:cNvSpPr>
            <p:nvPr/>
          </p:nvSpPr>
          <p:spPr bwMode="auto">
            <a:xfrm>
              <a:off x="2281" y="6349"/>
              <a:ext cx="1379" cy="92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r>
                <a:rPr lang="pt-BR" sz="1200">
                  <a:solidFill>
                    <a:srgbClr val="000000"/>
                  </a:solidFill>
                  <a:latin typeface="Calisto MT" pitchFamily="18" charset="0"/>
                </a:rPr>
                <a:t>Estabelecer benefícios do protótipo</a:t>
              </a:r>
              <a:endParaRPr lang="pt-BR">
                <a:solidFill>
                  <a:srgbClr val="000000"/>
                </a:solidFill>
                <a:latin typeface="Calisto MT" pitchFamily="18" charset="0"/>
              </a:endParaRPr>
            </a:p>
          </p:txBody>
        </p:sp>
        <p:sp>
          <p:nvSpPr>
            <p:cNvPr id="44039" name="AutoShape 12"/>
            <p:cNvSpPr>
              <a:spLocks noChangeArrowheads="1"/>
            </p:cNvSpPr>
            <p:nvPr/>
          </p:nvSpPr>
          <p:spPr bwMode="auto">
            <a:xfrm>
              <a:off x="3813" y="6658"/>
              <a:ext cx="306" cy="154"/>
            </a:xfrm>
            <a:prstGeom prst="rightArrow">
              <a:avLst>
                <a:gd name="adj1" fmla="val 50000"/>
                <a:gd name="adj2" fmla="val 49675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040" name="AutoShape 13"/>
            <p:cNvSpPr>
              <a:spLocks noChangeArrowheads="1"/>
            </p:cNvSpPr>
            <p:nvPr/>
          </p:nvSpPr>
          <p:spPr bwMode="auto">
            <a:xfrm>
              <a:off x="4272" y="6349"/>
              <a:ext cx="1686" cy="92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r>
                <a:rPr lang="pt-BR" sz="1200">
                  <a:solidFill>
                    <a:srgbClr val="000000"/>
                  </a:solidFill>
                  <a:latin typeface="Calisto MT" pitchFamily="18" charset="0"/>
                </a:rPr>
                <a:t>Definir funcionalidades do  protótipo</a:t>
              </a:r>
              <a:endParaRPr lang="pt-BR">
                <a:solidFill>
                  <a:srgbClr val="000000"/>
                </a:solidFill>
                <a:latin typeface="Calisto MT" pitchFamily="18" charset="0"/>
              </a:endParaRPr>
            </a:p>
          </p:txBody>
        </p:sp>
        <p:sp>
          <p:nvSpPr>
            <p:cNvPr id="44041" name="AutoShape 14"/>
            <p:cNvSpPr>
              <a:spLocks noChangeArrowheads="1"/>
            </p:cNvSpPr>
            <p:nvPr/>
          </p:nvSpPr>
          <p:spPr bwMode="auto">
            <a:xfrm>
              <a:off x="6111" y="6658"/>
              <a:ext cx="306" cy="154"/>
            </a:xfrm>
            <a:prstGeom prst="rightArrow">
              <a:avLst>
                <a:gd name="adj1" fmla="val 50000"/>
                <a:gd name="adj2" fmla="val 49675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042" name="AutoShape 15"/>
            <p:cNvSpPr>
              <a:spLocks noChangeArrowheads="1"/>
            </p:cNvSpPr>
            <p:nvPr/>
          </p:nvSpPr>
          <p:spPr bwMode="auto">
            <a:xfrm>
              <a:off x="6570" y="6349"/>
              <a:ext cx="1685" cy="92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r>
                <a:rPr lang="pt-BR" sz="1200">
                  <a:solidFill>
                    <a:srgbClr val="000000"/>
                  </a:solidFill>
                  <a:latin typeface="Calisto MT" pitchFamily="18" charset="0"/>
                </a:rPr>
                <a:t>Desenvolver o protótipo</a:t>
              </a:r>
              <a:endParaRPr lang="pt-BR">
                <a:solidFill>
                  <a:srgbClr val="000000"/>
                </a:solidFill>
                <a:latin typeface="Calisto MT" pitchFamily="18" charset="0"/>
              </a:endParaRPr>
            </a:p>
          </p:txBody>
        </p:sp>
        <p:sp>
          <p:nvSpPr>
            <p:cNvPr id="44043" name="AutoShape 16"/>
            <p:cNvSpPr>
              <a:spLocks noChangeArrowheads="1"/>
            </p:cNvSpPr>
            <p:nvPr/>
          </p:nvSpPr>
          <p:spPr bwMode="auto">
            <a:xfrm>
              <a:off x="8409" y="6658"/>
              <a:ext cx="459" cy="308"/>
            </a:xfrm>
            <a:prstGeom prst="rightArrow">
              <a:avLst>
                <a:gd name="adj1" fmla="val 50000"/>
                <a:gd name="adj2" fmla="val 37256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044" name="AutoShape 17"/>
            <p:cNvSpPr>
              <a:spLocks noChangeArrowheads="1"/>
            </p:cNvSpPr>
            <p:nvPr/>
          </p:nvSpPr>
          <p:spPr bwMode="auto">
            <a:xfrm>
              <a:off x="2741" y="7409"/>
              <a:ext cx="306" cy="463"/>
            </a:xfrm>
            <a:prstGeom prst="downArrow">
              <a:avLst>
                <a:gd name="adj1" fmla="val 50000"/>
                <a:gd name="adj2" fmla="val 3782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/>
            <a:lstStyle/>
            <a:p>
              <a:endParaRPr lang="pt-BR"/>
            </a:p>
          </p:txBody>
        </p:sp>
        <p:sp>
          <p:nvSpPr>
            <p:cNvPr id="44045" name="AutoShape 18"/>
            <p:cNvSpPr>
              <a:spLocks noChangeArrowheads="1"/>
            </p:cNvSpPr>
            <p:nvPr/>
          </p:nvSpPr>
          <p:spPr bwMode="auto">
            <a:xfrm>
              <a:off x="4885" y="7429"/>
              <a:ext cx="306" cy="464"/>
            </a:xfrm>
            <a:prstGeom prst="downArrow">
              <a:avLst>
                <a:gd name="adj1" fmla="val 50000"/>
                <a:gd name="adj2" fmla="val 37908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/>
            <a:lstStyle/>
            <a:p>
              <a:endParaRPr lang="pt-BR"/>
            </a:p>
          </p:txBody>
        </p:sp>
        <p:sp>
          <p:nvSpPr>
            <p:cNvPr id="44046" name="AutoShape 19"/>
            <p:cNvSpPr>
              <a:spLocks noChangeArrowheads="1"/>
            </p:cNvSpPr>
            <p:nvPr/>
          </p:nvSpPr>
          <p:spPr bwMode="auto">
            <a:xfrm>
              <a:off x="7183" y="7429"/>
              <a:ext cx="306" cy="464"/>
            </a:xfrm>
            <a:prstGeom prst="downArrow">
              <a:avLst>
                <a:gd name="adj1" fmla="val 50000"/>
                <a:gd name="adj2" fmla="val 37908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/>
            <a:lstStyle/>
            <a:p>
              <a:endParaRPr lang="pt-BR"/>
            </a:p>
          </p:txBody>
        </p:sp>
        <p:sp>
          <p:nvSpPr>
            <p:cNvPr id="44047" name="AutoShape 20"/>
            <p:cNvSpPr>
              <a:spLocks noChangeArrowheads="1"/>
            </p:cNvSpPr>
            <p:nvPr/>
          </p:nvSpPr>
          <p:spPr bwMode="auto">
            <a:xfrm>
              <a:off x="9635" y="7429"/>
              <a:ext cx="305" cy="465"/>
            </a:xfrm>
            <a:prstGeom prst="downArrow">
              <a:avLst>
                <a:gd name="adj1" fmla="val 50000"/>
                <a:gd name="adj2" fmla="val 38115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/>
            <a:lstStyle/>
            <a:p>
              <a:endParaRPr lang="pt-BR"/>
            </a:p>
          </p:txBody>
        </p:sp>
        <p:sp>
          <p:nvSpPr>
            <p:cNvPr id="44048" name="Rectangle 21"/>
            <p:cNvSpPr>
              <a:spLocks noChangeArrowheads="1"/>
            </p:cNvSpPr>
            <p:nvPr/>
          </p:nvSpPr>
          <p:spPr bwMode="auto">
            <a:xfrm>
              <a:off x="2434" y="8047"/>
              <a:ext cx="1379" cy="7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pt-BR" sz="1200">
                  <a:solidFill>
                    <a:srgbClr val="000000"/>
                  </a:solidFill>
                  <a:latin typeface="Calisto MT" pitchFamily="18" charset="0"/>
                </a:rPr>
                <a:t>Plano de  Prototipação</a:t>
              </a:r>
              <a:endParaRPr lang="pt-BR">
                <a:solidFill>
                  <a:srgbClr val="000000"/>
                </a:solidFill>
                <a:latin typeface="Calisto MT" pitchFamily="18" charset="0"/>
              </a:endParaRPr>
            </a:p>
          </p:txBody>
        </p:sp>
        <p:sp>
          <p:nvSpPr>
            <p:cNvPr id="44049" name="Rectangle 22"/>
            <p:cNvSpPr>
              <a:spLocks noChangeArrowheads="1"/>
            </p:cNvSpPr>
            <p:nvPr/>
          </p:nvSpPr>
          <p:spPr bwMode="auto">
            <a:xfrm>
              <a:off x="4426" y="8047"/>
              <a:ext cx="1226" cy="7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pt-BR" sz="1200">
                  <a:solidFill>
                    <a:srgbClr val="000000"/>
                  </a:solidFill>
                  <a:latin typeface="Calisto MT" pitchFamily="18" charset="0"/>
                </a:rPr>
                <a:t>Definição Geral</a:t>
              </a:r>
              <a:endParaRPr lang="pt-BR">
                <a:solidFill>
                  <a:srgbClr val="000000"/>
                </a:solidFill>
                <a:latin typeface="Calisto MT" pitchFamily="18" charset="0"/>
              </a:endParaRPr>
            </a:p>
          </p:txBody>
        </p:sp>
        <p:sp>
          <p:nvSpPr>
            <p:cNvPr id="44050" name="Rectangle 23"/>
            <p:cNvSpPr>
              <a:spLocks noChangeArrowheads="1"/>
            </p:cNvSpPr>
            <p:nvPr/>
          </p:nvSpPr>
          <p:spPr bwMode="auto">
            <a:xfrm>
              <a:off x="6724" y="8047"/>
              <a:ext cx="1226" cy="7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pt-BR" sz="1200">
                  <a:solidFill>
                    <a:srgbClr val="000000"/>
                  </a:solidFill>
                  <a:latin typeface="Calisto MT" pitchFamily="18" charset="0"/>
                </a:rPr>
                <a:t>Protótipo Executável</a:t>
              </a:r>
              <a:endParaRPr lang="pt-BR">
                <a:solidFill>
                  <a:srgbClr val="000000"/>
                </a:solidFill>
                <a:latin typeface="Calisto MT" pitchFamily="18" charset="0"/>
              </a:endParaRPr>
            </a:p>
          </p:txBody>
        </p:sp>
        <p:sp>
          <p:nvSpPr>
            <p:cNvPr id="44051" name="Rectangle 24"/>
            <p:cNvSpPr>
              <a:spLocks noChangeArrowheads="1"/>
            </p:cNvSpPr>
            <p:nvPr/>
          </p:nvSpPr>
          <p:spPr bwMode="auto">
            <a:xfrm>
              <a:off x="9175" y="8047"/>
              <a:ext cx="1226" cy="7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pt-BR" sz="1200">
                  <a:solidFill>
                    <a:srgbClr val="000000"/>
                  </a:solidFill>
                  <a:latin typeface="Calisto MT" pitchFamily="18" charset="0"/>
                </a:rPr>
                <a:t>Relatório de Avaliação</a:t>
              </a:r>
              <a:endParaRPr lang="pt-BR">
                <a:solidFill>
                  <a:srgbClr val="000000"/>
                </a:solidFill>
                <a:latin typeface="Calisto MT" pitchFamily="18" charset="0"/>
              </a:endParaRPr>
            </a:p>
          </p:txBody>
        </p:sp>
      </p:grpSp>
      <p:sp>
        <p:nvSpPr>
          <p:cNvPr id="44035" name="AutoShape 25"/>
          <p:cNvSpPr>
            <a:spLocks noChangeArrowheads="1"/>
          </p:cNvSpPr>
          <p:nvPr/>
        </p:nvSpPr>
        <p:spPr bwMode="auto">
          <a:xfrm>
            <a:off x="7524750" y="2924175"/>
            <a:ext cx="1223963" cy="9366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pt-BR" sz="1200">
                <a:solidFill>
                  <a:srgbClr val="000000"/>
                </a:solidFill>
              </a:rPr>
              <a:t>Avaliar o protótipo</a:t>
            </a:r>
            <a:endParaRPr lang="pt-BR">
              <a:solidFill>
                <a:srgbClr val="000000"/>
              </a:solidFill>
            </a:endParaRPr>
          </a:p>
        </p:txBody>
      </p:sp>
      <p:sp>
        <p:nvSpPr>
          <p:cNvPr id="9244" name="Rectangle 28"/>
          <p:cNvSpPr>
            <a:spLocks noGrp="1" noChangeArrowheads="1"/>
          </p:cNvSpPr>
          <p:nvPr>
            <p:ph type="ctrTitle"/>
          </p:nvPr>
        </p:nvSpPr>
        <p:spPr>
          <a:xfrm>
            <a:off x="611188" y="404813"/>
            <a:ext cx="7532687" cy="116681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pt-BR" sz="4400" dirty="0">
                <a:latin typeface="Calisto MT" pitchFamily="18" charset="0"/>
              </a:rPr>
              <a:t>Processo de desenvolvimento de protótipo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722313"/>
            <a:ext cx="8637588" cy="762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pt-BR" b="1" dirty="0" smtClean="0"/>
              <a:t>Ciclo de vida da </a:t>
            </a:r>
            <a:r>
              <a:rPr lang="pt-BR" b="1" dirty="0" err="1" smtClean="0"/>
              <a:t>Prototipação</a:t>
            </a:r>
            <a:r>
              <a:rPr lang="pt-BR" b="1" dirty="0" smtClean="0"/>
              <a:t> - Características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828800"/>
            <a:ext cx="8686800" cy="4572000"/>
          </a:xfrm>
        </p:spPr>
        <p:txBody>
          <a:bodyPr rtlCol="0">
            <a:normAutofit fontScale="92500"/>
          </a:bodyPr>
          <a:lstStyle/>
          <a:p>
            <a:pPr eaLnBrk="1" fontAlgn="auto" hangingPunct="1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Font typeface="Wingdings" pitchFamily="2" charset="2"/>
              <a:buChar char="Ä"/>
              <a:defRPr/>
            </a:pPr>
            <a:r>
              <a:rPr lang="pt-BR" sz="2800" dirty="0" smtClean="0">
                <a:latin typeface="+mj-lt"/>
              </a:rPr>
              <a:t>processo que possibilita que o desenvolvedor crie um modelo do software que deve ser construído.</a:t>
            </a:r>
          </a:p>
          <a:p>
            <a:pPr eaLnBrk="1" fontAlgn="auto" hangingPunct="1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Font typeface="Wingdings" pitchFamily="2" charset="2"/>
              <a:buChar char="Ä"/>
              <a:defRPr/>
            </a:pPr>
            <a:r>
              <a:rPr lang="pt-BR" sz="2800" dirty="0" smtClean="0">
                <a:latin typeface="+mj-lt"/>
              </a:rPr>
              <a:t> apropriado quando o cliente define um conjunto de objetivos gerais, mas não identifica requisitos de entrada, processamento e saída com detalhes, então este modelo serve como um mecanismo para a definição de requisitos.</a:t>
            </a:r>
          </a:p>
          <a:p>
            <a:pPr eaLnBrk="1" fontAlgn="auto" hangingPunct="1">
              <a:lnSpc>
                <a:spcPct val="90000"/>
              </a:lnSpc>
              <a:spcBef>
                <a:spcPts val="900"/>
              </a:spcBef>
              <a:spcAft>
                <a:spcPts val="1200"/>
              </a:spcAft>
              <a:buFont typeface="Wingdings" pitchFamily="2" charset="2"/>
              <a:buChar char="Ä"/>
              <a:defRPr/>
            </a:pPr>
            <a:r>
              <a:rPr lang="pt-BR" sz="2800" dirty="0" smtClean="0">
                <a:latin typeface="+mj-lt"/>
              </a:rPr>
              <a:t>A </a:t>
            </a:r>
            <a:r>
              <a:rPr lang="pt-BR" sz="2800" dirty="0" err="1" smtClean="0">
                <a:latin typeface="+mj-lt"/>
              </a:rPr>
              <a:t>prototipação</a:t>
            </a:r>
            <a:r>
              <a:rPr lang="pt-BR" sz="2800" dirty="0" smtClean="0">
                <a:latin typeface="+mj-lt"/>
              </a:rPr>
              <a:t> é essencial para o desenvolvimento de interfaces com o usuário, as quais são difíceis de serem especificadas usando um modelo estático. Os usuários deveriam estar envolvidos na avaliação e na evolução do protótipo.</a:t>
            </a:r>
          </a:p>
          <a:p>
            <a:pPr eaLnBrk="1" fontAlgn="auto" hangingPunct="1">
              <a:lnSpc>
                <a:spcPct val="90000"/>
              </a:lnSpc>
              <a:spcBef>
                <a:spcPts val="900"/>
              </a:spcBef>
              <a:spcAft>
                <a:spcPts val="1200"/>
              </a:spcAft>
              <a:buFont typeface="Wingdings" pitchFamily="2" charset="2"/>
              <a:buChar char="Ä"/>
              <a:defRPr/>
            </a:pPr>
            <a:endParaRPr lang="pt-BR" sz="2800" dirty="0" smtClean="0">
              <a:latin typeface="Times New Roman" pitchFamily="18" charset="0"/>
            </a:endParaRPr>
          </a:p>
        </p:txBody>
      </p:sp>
      <p:sp>
        <p:nvSpPr>
          <p:cNvPr id="45060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 rot="5400000">
            <a:off x="6989763" y="3736975"/>
            <a:ext cx="3200400" cy="365125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l"/>
            <a:fld id="{3162AA86-658C-4DEB-ADF2-48BB7901FB71}" type="slidenum">
              <a:rPr lang="pt-BR" sz="1200" b="0" smtClean="0">
                <a:solidFill>
                  <a:schemeClr val="tx2"/>
                </a:solidFill>
              </a:rPr>
              <a:pPr algn="l"/>
              <a:t>33</a:t>
            </a:fld>
            <a:endParaRPr lang="pt-BR" sz="1200" b="0" smtClean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COT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 build="p" autoUpdateAnimBg="0"/>
      <p:bldP spid="51203" grpId="0" build="p" bldLvl="2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pt-BR" sz="4000">
                <a:latin typeface="Calisto MT" pitchFamily="18" charset="0"/>
              </a:rPr>
              <a:t>Prototipação no processo de software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pt-BR" sz="2800" smtClean="0">
                <a:latin typeface="Calisto MT" pitchFamily="18" charset="0"/>
              </a:rPr>
              <a:t>●Prototipação evolucionária</a:t>
            </a:r>
          </a:p>
          <a:p>
            <a:pPr lvl="1">
              <a:lnSpc>
                <a:spcPct val="90000"/>
              </a:lnSpc>
            </a:pPr>
            <a:r>
              <a:rPr lang="pt-BR" sz="2400" smtClean="0">
                <a:latin typeface="Calisto MT" pitchFamily="18" charset="0"/>
              </a:rPr>
              <a:t>Uma abordagem para o desenvolvimento do sistema onde um protótipo inicial é produzido e refinado através de vários estágios até atingir o sistema final.</a:t>
            </a:r>
          </a:p>
          <a:p>
            <a:pPr lvl="1">
              <a:lnSpc>
                <a:spcPct val="90000"/>
              </a:lnSpc>
            </a:pPr>
            <a:endParaRPr lang="pt-BR" sz="2400" smtClean="0">
              <a:latin typeface="Calisto MT" pitchFamily="18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pt-BR" sz="2800" smtClean="0">
                <a:latin typeface="Calisto MT" pitchFamily="18" charset="0"/>
              </a:rPr>
              <a:t>●Prototipação descartável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pt-BR" sz="2800" smtClean="0">
                <a:latin typeface="Calisto MT" pitchFamily="18" charset="0"/>
              </a:rPr>
              <a:t>    Um protótipo o qual é usualmente uma implementação prática do sistema é produzida para ajudar a levantar os problemas com os requisitos e depois descartado. O sistema é então desenvolvido usando algum outro processo de desenvolvimento.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 smtClean="0">
                <a:latin typeface="Calisto MT" pitchFamily="18" charset="0"/>
              </a:rPr>
              <a:t>Vantagens da </a:t>
            </a:r>
            <a:r>
              <a:rPr lang="pt-BR" dirty="0" err="1" smtClean="0">
                <a:latin typeface="Calisto MT" pitchFamily="18" charset="0"/>
              </a:rPr>
              <a:t>prototipação</a:t>
            </a:r>
            <a:endParaRPr lang="pt-BR" dirty="0">
              <a:latin typeface="Calisto MT" pitchFamily="18" charset="0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1643063"/>
            <a:ext cx="8229600" cy="499745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pt-BR" smtClean="0">
                <a:latin typeface="Calisto MT" pitchFamily="18" charset="0"/>
              </a:rPr>
              <a:t>●Equívocos entre os usuários de software e desenvolvedores são expostos.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pt-BR" smtClean="0">
              <a:latin typeface="Calisto MT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pt-BR" smtClean="0">
                <a:latin typeface="Calisto MT" pitchFamily="18" charset="0"/>
              </a:rPr>
              <a:t>●Serviços esquecidos podem ser detectados e serviços confusos podem ser identificados.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pt-BR" smtClean="0">
              <a:latin typeface="Calisto MT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pt-BR" smtClean="0">
                <a:latin typeface="Calisto MT" pitchFamily="18" charset="0"/>
              </a:rPr>
              <a:t>●Um sistema funcionando está disponível nos primeiros estágios no processo de desenvolvimento.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pt-BR" smtClean="0">
              <a:latin typeface="Calisto MT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pt-BR" smtClean="0">
                <a:latin typeface="Calisto MT" pitchFamily="18" charset="0"/>
              </a:rPr>
              <a:t>●O protótipo pode servir como uma base para derivar uma especificação do sistema com qualidade de produção.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pt-BR" smtClean="0">
              <a:latin typeface="Calisto MT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pt-BR" smtClean="0">
                <a:latin typeface="Calisto MT" pitchFamily="18" charset="0"/>
              </a:rPr>
              <a:t>●O protótipo pode ser usado para treinamento do usuário e teste de sistema.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782638"/>
            <a:ext cx="8637588" cy="7016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pt-BR" dirty="0" smtClean="0">
                <a:latin typeface="Calisto MT" pitchFamily="18" charset="0"/>
              </a:rPr>
              <a:t>Problemas com a </a:t>
            </a:r>
            <a:r>
              <a:rPr lang="pt-BR" dirty="0" err="1" smtClean="0">
                <a:latin typeface="Calisto MT" pitchFamily="18" charset="0"/>
              </a:rPr>
              <a:t>Prototipação</a:t>
            </a:r>
            <a:endParaRPr lang="pt-BR" dirty="0" smtClean="0">
              <a:latin typeface="Calisto MT" pitchFamily="18" charset="0"/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0" y="1752600"/>
            <a:ext cx="8715375" cy="3962400"/>
          </a:xfrm>
        </p:spPr>
        <p:txBody>
          <a:bodyPr rtlCol="0">
            <a:normAutofit fontScale="85000" lnSpcReduction="10000"/>
          </a:bodyPr>
          <a:lstStyle/>
          <a:p>
            <a:pPr eaLnBrk="1" fontAlgn="auto" hangingPunct="1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Clr>
                <a:srgbClr val="990000"/>
              </a:buClr>
              <a:buSzPct val="90000"/>
              <a:buFont typeface="Wingdings" pitchFamily="2" charset="2"/>
              <a:buChar char="M"/>
              <a:defRPr/>
            </a:pPr>
            <a:r>
              <a:rPr lang="pt-BR" dirty="0" smtClean="0">
                <a:latin typeface="+mj-lt"/>
              </a:rPr>
              <a:t>cliente não sabe que o software que ele vê não considerou, durante o desenvolvimento, a qualidade global e a </a:t>
            </a:r>
            <a:r>
              <a:rPr lang="pt-BR" dirty="0" err="1" smtClean="0">
                <a:latin typeface="+mj-lt"/>
              </a:rPr>
              <a:t>manutenibilidade</a:t>
            </a:r>
            <a:r>
              <a:rPr lang="pt-BR" dirty="0" smtClean="0">
                <a:latin typeface="+mj-lt"/>
              </a:rPr>
              <a:t> a longo prazo. Não aceita bem a idéia que a versão final do software vai ser construída e "força" a utilização do protótipo como produto final</a:t>
            </a:r>
          </a:p>
          <a:p>
            <a:pPr eaLnBrk="1" fontAlgn="auto" hangingPunct="1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Clr>
                <a:srgbClr val="990000"/>
              </a:buClr>
              <a:buSzPct val="90000"/>
              <a:buFont typeface="Wingdings" pitchFamily="2" charset="2"/>
              <a:buChar char="M"/>
              <a:defRPr/>
            </a:pPr>
            <a:r>
              <a:rPr lang="pt-BR" dirty="0" smtClean="0">
                <a:latin typeface="+mj-lt"/>
              </a:rPr>
              <a:t>desenvolvedor freqüentemente faz uma implementação comprometida (utilizando o que está disponível) com o objetivo de produzir rapidamente um protótipo.  Depois de um tempo ele familiariza com essas escolhas, e esquece que elas não são apropriadas para o produto final.</a:t>
            </a:r>
          </a:p>
        </p:txBody>
      </p:sp>
      <p:sp>
        <p:nvSpPr>
          <p:cNvPr id="48132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 rot="5400000">
            <a:off x="6989763" y="3736975"/>
            <a:ext cx="3200400" cy="365125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l"/>
            <a:fld id="{A49ED590-F618-4C39-B080-E85A03936BD6}" type="slidenum">
              <a:rPr lang="pt-BR" sz="1200" b="0" smtClean="0">
                <a:solidFill>
                  <a:schemeClr val="tx2"/>
                </a:solidFill>
              </a:rPr>
              <a:pPr algn="l"/>
              <a:t>36</a:t>
            </a:fld>
            <a:endParaRPr lang="pt-BR" sz="1200" b="0" smtClean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COT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" grpId="0" build="p" autoUpdateAnimBg="0"/>
      <p:bldP spid="59395" grpId="0" build="p" bldLvl="2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>
                <a:latin typeface="Calisto MT" pitchFamily="18" charset="0"/>
              </a:rPr>
              <a:t>Técnicas de prototipação rápida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7972425" cy="4873625"/>
          </a:xfrm>
        </p:spPr>
        <p:txBody>
          <a:bodyPr/>
          <a:lstStyle/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pt-BR" sz="2800" smtClean="0">
                <a:latin typeface="Calisto MT" pitchFamily="18" charset="0"/>
              </a:rPr>
              <a:t>Várias técnicas podem ser usadas para o desenvolvimento de protótipos</a:t>
            </a:r>
          </a:p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pt-BR" sz="2800" smtClean="0">
                <a:latin typeface="Calisto MT" pitchFamily="18" charset="0"/>
              </a:rPr>
              <a:t>Desenvolvimento com linguagem dinâmica de alto nível</a:t>
            </a:r>
          </a:p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pt-BR" sz="2800" smtClean="0">
                <a:latin typeface="Calisto MT" pitchFamily="18" charset="0"/>
              </a:rPr>
              <a:t>Programação de banco de dados</a:t>
            </a:r>
          </a:p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pt-BR" sz="2800" smtClean="0">
                <a:latin typeface="Calisto MT" pitchFamily="18" charset="0"/>
              </a:rPr>
              <a:t>Montagem de componentes e aplicações</a:t>
            </a:r>
          </a:p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pt-BR" sz="2800" smtClean="0">
                <a:latin typeface="Calisto MT" pitchFamily="18" charset="0"/>
              </a:rPr>
              <a:t>Essas técnicas não são exclusivas -são muitas vezes utilizadas em conjunto.</a:t>
            </a:r>
          </a:p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pt-BR" sz="2800" smtClean="0">
                <a:latin typeface="Calisto MT" pitchFamily="18" charset="0"/>
              </a:rPr>
              <a:t>Programação visual é uma parte inerente da maioria dos sistemas de desenvolvimento de protótipos.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pt-BR" sz="4000">
                <a:latin typeface="Calisto MT" pitchFamily="18" charset="0"/>
              </a:rPr>
              <a:t>Escolha da linguagem de prototipação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pt-BR" sz="2800" smtClean="0">
                <a:latin typeface="Calisto MT" pitchFamily="18" charset="0"/>
              </a:rPr>
              <a:t>●Qual é o domínio de aplicação do problema?</a:t>
            </a:r>
          </a:p>
          <a:p>
            <a:pPr>
              <a:buFont typeface="Wingdings" pitchFamily="2" charset="2"/>
              <a:buNone/>
            </a:pPr>
            <a:r>
              <a:rPr lang="pt-BR" sz="2800" smtClean="0">
                <a:latin typeface="Calisto MT" pitchFamily="18" charset="0"/>
              </a:rPr>
              <a:t>●Que tipo de interação com o usuário é necessário?</a:t>
            </a:r>
          </a:p>
          <a:p>
            <a:pPr>
              <a:buFont typeface="Wingdings" pitchFamily="2" charset="2"/>
              <a:buNone/>
            </a:pPr>
            <a:r>
              <a:rPr lang="pt-BR" sz="2800" smtClean="0">
                <a:latin typeface="Calisto MT" pitchFamily="18" charset="0"/>
              </a:rPr>
              <a:t>●Qual ambiente de suporte vem com a linguagem?</a:t>
            </a:r>
          </a:p>
          <a:p>
            <a:pPr>
              <a:buFont typeface="Wingdings" pitchFamily="2" charset="2"/>
              <a:buNone/>
            </a:pPr>
            <a:r>
              <a:rPr lang="pt-BR" sz="2800" smtClean="0">
                <a:latin typeface="Calisto MT" pitchFamily="18" charset="0"/>
              </a:rPr>
              <a:t>●Diferentes partes do sistema podem ser programados em diferentes linguagens. Contudo, pode haver problemas com a comunicação entre as linguagens.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841</TotalTime>
  <Words>1925</Words>
  <Application>Microsoft Office PowerPoint</Application>
  <PresentationFormat>Apresentação na tela (4:3)</PresentationFormat>
  <Paragraphs>338</Paragraphs>
  <Slides>38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39" baseType="lpstr">
      <vt:lpstr>Tema do Office</vt:lpstr>
      <vt:lpstr>Engenharia de Software  Módulo 4  Modelo Clássico Modelo Espiral Prototipação</vt:lpstr>
      <vt:lpstr>A escolha de um Ciclo de Vida de software depende :</vt:lpstr>
      <vt:lpstr>Apresentação do PowerPoint</vt:lpstr>
      <vt:lpstr>Nomenclaturas Utilizadas</vt:lpstr>
      <vt:lpstr>Proposta original</vt:lpstr>
      <vt:lpstr>Proposta Original</vt:lpstr>
      <vt:lpstr>Características Fundamentais</vt:lpstr>
      <vt:lpstr>Etapas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Modelo Espiral</vt:lpstr>
      <vt:lpstr>Modelo Espiral: Um breve histórico</vt:lpstr>
      <vt:lpstr>Apresentação do PowerPoint</vt:lpstr>
      <vt:lpstr>Atividades do Ciclo de Vida em Espiral</vt:lpstr>
      <vt:lpstr>Modelo Espiral</vt:lpstr>
      <vt:lpstr>Modelo Espiral</vt:lpstr>
      <vt:lpstr>Características</vt:lpstr>
      <vt:lpstr>Comentários sobre o Ciclo de Vida em Espiral</vt:lpstr>
      <vt:lpstr>Modelo de Prototipação</vt:lpstr>
      <vt:lpstr>Prototipação de sistema</vt:lpstr>
      <vt:lpstr>Apresentação do PowerPoint</vt:lpstr>
      <vt:lpstr>Atividades da Prototipação</vt:lpstr>
      <vt:lpstr>Atividades da Prototipação</vt:lpstr>
      <vt:lpstr>Atividades da Prototipação</vt:lpstr>
      <vt:lpstr>Processo de desenvolvimento de protótipo</vt:lpstr>
      <vt:lpstr>Ciclo de vida da Prototipação - Características</vt:lpstr>
      <vt:lpstr>Prototipação no processo de software</vt:lpstr>
      <vt:lpstr>Vantagens da prototipação</vt:lpstr>
      <vt:lpstr>Problemas com a Prototipação</vt:lpstr>
      <vt:lpstr>Técnicas de prototipação rápida</vt:lpstr>
      <vt:lpstr>Escolha da linguagem de prototipação</vt:lpstr>
    </vt:vector>
  </TitlesOfParts>
  <Company>KKS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 3 - modelo cascata</dc:title>
  <dc:subject>eng soft</dc:subject>
  <dc:creator>vania vieira</dc:creator>
  <cp:lastModifiedBy>vania vieira</cp:lastModifiedBy>
  <cp:revision>144</cp:revision>
  <dcterms:created xsi:type="dcterms:W3CDTF">2009-04-12T23:07:58Z</dcterms:created>
  <dcterms:modified xsi:type="dcterms:W3CDTF">2019-03-10T22:58:55Z</dcterms:modified>
</cp:coreProperties>
</file>