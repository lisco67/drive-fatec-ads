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.jpeg" ContentType="image/jpeg"/>
  <Override PartName="/ppt/media/image10.png" ContentType="image/png"/>
  <Override PartName="/ppt/media/image2.png" ContentType="image/png"/>
  <Override PartName="/ppt/media/image9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png" ContentType="image/png"/>
  <Override PartName="/ppt/media/image7.jpeg" ContentType="image/jpeg"/>
  <Override PartName="/ppt/media/image11.png" ContentType="image/png"/>
  <Override PartName="/ppt/media/image12.jpeg" ContentType="image/jpeg"/>
  <Override PartName="/ppt/media/image8.jpeg" ContentType="image/jpe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0058400" cy="77724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0" y="3886200"/>
            <a:ext cx="3337200" cy="388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333720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ubTitle"/>
          </p:nvPr>
        </p:nvSpPr>
        <p:spPr>
          <a:xfrm>
            <a:off x="228600" y="786240"/>
            <a:ext cx="2944080" cy="3137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0" y="591588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1710000" y="591588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0" y="5915880"/>
            <a:ext cx="333720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333720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0" y="5915880"/>
            <a:ext cx="333720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0" y="591588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1710000" y="591588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128240" y="388620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2256840" y="388620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0" y="591588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body"/>
          </p:nvPr>
        </p:nvSpPr>
        <p:spPr>
          <a:xfrm>
            <a:off x="1128240" y="591588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body"/>
          </p:nvPr>
        </p:nvSpPr>
        <p:spPr>
          <a:xfrm>
            <a:off x="2256840" y="591588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0" y="3886200"/>
            <a:ext cx="3337200" cy="388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333720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ubTitle"/>
          </p:nvPr>
        </p:nvSpPr>
        <p:spPr>
          <a:xfrm>
            <a:off x="228600" y="786240"/>
            <a:ext cx="2944080" cy="3137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0" y="591588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1710000" y="591588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0" y="5915880"/>
            <a:ext cx="333720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333720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0" y="5915880"/>
            <a:ext cx="333720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body"/>
          </p:nvPr>
        </p:nvSpPr>
        <p:spPr>
          <a:xfrm>
            <a:off x="0" y="591588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1710000" y="591588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1128240" y="388620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2256840" y="388620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body"/>
          </p:nvPr>
        </p:nvSpPr>
        <p:spPr>
          <a:xfrm>
            <a:off x="0" y="591588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body"/>
          </p:nvPr>
        </p:nvSpPr>
        <p:spPr>
          <a:xfrm>
            <a:off x="1128240" y="591588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7"/>
          <p:cNvSpPr>
            <a:spLocks noGrp="1"/>
          </p:cNvSpPr>
          <p:nvPr>
            <p:ph type="body"/>
          </p:nvPr>
        </p:nvSpPr>
        <p:spPr>
          <a:xfrm>
            <a:off x="2256840" y="591588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ubTitle"/>
          </p:nvPr>
        </p:nvSpPr>
        <p:spPr>
          <a:xfrm>
            <a:off x="0" y="3886200"/>
            <a:ext cx="3337200" cy="388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333720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ubTitle"/>
          </p:nvPr>
        </p:nvSpPr>
        <p:spPr>
          <a:xfrm>
            <a:off x="228600" y="786240"/>
            <a:ext cx="2944080" cy="3137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0" y="591588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1710000" y="591588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0" y="5915880"/>
            <a:ext cx="333720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333720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0" y="5915880"/>
            <a:ext cx="333720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body"/>
          </p:nvPr>
        </p:nvSpPr>
        <p:spPr>
          <a:xfrm>
            <a:off x="0" y="591588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 type="body"/>
          </p:nvPr>
        </p:nvSpPr>
        <p:spPr>
          <a:xfrm>
            <a:off x="1710000" y="591588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body"/>
          </p:nvPr>
        </p:nvSpPr>
        <p:spPr>
          <a:xfrm>
            <a:off x="1128240" y="388620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body"/>
          </p:nvPr>
        </p:nvSpPr>
        <p:spPr>
          <a:xfrm>
            <a:off x="2256840" y="388620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5"/>
          <p:cNvSpPr>
            <a:spLocks noGrp="1"/>
          </p:cNvSpPr>
          <p:nvPr>
            <p:ph type="body"/>
          </p:nvPr>
        </p:nvSpPr>
        <p:spPr>
          <a:xfrm>
            <a:off x="0" y="591588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6"/>
          <p:cNvSpPr>
            <a:spLocks noGrp="1"/>
          </p:cNvSpPr>
          <p:nvPr>
            <p:ph type="body"/>
          </p:nvPr>
        </p:nvSpPr>
        <p:spPr>
          <a:xfrm>
            <a:off x="1128240" y="591588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7"/>
          <p:cNvSpPr>
            <a:spLocks noGrp="1"/>
          </p:cNvSpPr>
          <p:nvPr>
            <p:ph type="body"/>
          </p:nvPr>
        </p:nvSpPr>
        <p:spPr>
          <a:xfrm>
            <a:off x="2256840" y="591588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subTitle"/>
          </p:nvPr>
        </p:nvSpPr>
        <p:spPr>
          <a:xfrm>
            <a:off x="0" y="3886200"/>
            <a:ext cx="3337200" cy="388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333720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ubTitle"/>
          </p:nvPr>
        </p:nvSpPr>
        <p:spPr>
          <a:xfrm>
            <a:off x="228600" y="786240"/>
            <a:ext cx="2944080" cy="3137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0" y="591588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3885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body"/>
          </p:nvPr>
        </p:nvSpPr>
        <p:spPr>
          <a:xfrm>
            <a:off x="1710000" y="591588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body"/>
          </p:nvPr>
        </p:nvSpPr>
        <p:spPr>
          <a:xfrm>
            <a:off x="0" y="5915880"/>
            <a:ext cx="333720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333720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0" y="5915880"/>
            <a:ext cx="333720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1710000" y="388620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body"/>
          </p:nvPr>
        </p:nvSpPr>
        <p:spPr>
          <a:xfrm>
            <a:off x="0" y="591588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5"/>
          <p:cNvSpPr>
            <a:spLocks noGrp="1"/>
          </p:cNvSpPr>
          <p:nvPr>
            <p:ph type="body"/>
          </p:nvPr>
        </p:nvSpPr>
        <p:spPr>
          <a:xfrm>
            <a:off x="1710000" y="5915880"/>
            <a:ext cx="162828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0" y="388620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1128240" y="388620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body"/>
          </p:nvPr>
        </p:nvSpPr>
        <p:spPr>
          <a:xfrm>
            <a:off x="2256840" y="388620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body"/>
          </p:nvPr>
        </p:nvSpPr>
        <p:spPr>
          <a:xfrm>
            <a:off x="0" y="591588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6"/>
          <p:cNvSpPr>
            <a:spLocks noGrp="1"/>
          </p:cNvSpPr>
          <p:nvPr>
            <p:ph type="body"/>
          </p:nvPr>
        </p:nvSpPr>
        <p:spPr>
          <a:xfrm>
            <a:off x="1128240" y="591588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7"/>
          <p:cNvSpPr>
            <a:spLocks noGrp="1"/>
          </p:cNvSpPr>
          <p:nvPr>
            <p:ph type="body"/>
          </p:nvPr>
        </p:nvSpPr>
        <p:spPr>
          <a:xfrm>
            <a:off x="2256840" y="5915880"/>
            <a:ext cx="1074240" cy="1853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3346560" y="3886200"/>
            <a:ext cx="3373920" cy="388584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3575160" y="768240"/>
            <a:ext cx="2907360" cy="365400"/>
          </a:xfrm>
          <a:prstGeom prst="rect">
            <a:avLst/>
          </a:prstGeom>
        </p:spPr>
        <p:txBody>
          <a:bodyPr lIns="0" rIns="0" anchor="ctr">
            <a:noAutofit/>
          </a:bodyPr>
          <a:p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CustomShape 3"/>
          <p:cNvSpPr/>
          <p:nvPr/>
        </p:nvSpPr>
        <p:spPr>
          <a:xfrm>
            <a:off x="-9000" y="0"/>
            <a:ext cx="3355560" cy="38858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CustomShape 4"/>
          <p:cNvSpPr/>
          <p:nvPr/>
        </p:nvSpPr>
        <p:spPr>
          <a:xfrm>
            <a:off x="392040" y="555120"/>
            <a:ext cx="9140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rnd" w="60480">
            <a:solidFill>
              <a:schemeClr val="lt1"/>
            </a:solidFill>
            <a:prstDash val="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CustomShape 5"/>
          <p:cNvSpPr/>
          <p:nvPr/>
        </p:nvSpPr>
        <p:spPr>
          <a:xfrm>
            <a:off x="3639240" y="555120"/>
            <a:ext cx="9140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rnd" w="60480">
            <a:solidFill>
              <a:schemeClr val="dk2"/>
            </a:solidFill>
            <a:prstDash val="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" name="CustomShape 6"/>
          <p:cNvSpPr/>
          <p:nvPr/>
        </p:nvSpPr>
        <p:spPr>
          <a:xfrm>
            <a:off x="3639240" y="4310640"/>
            <a:ext cx="9140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rnd" w="60480">
            <a:solidFill>
              <a:schemeClr val="lt1"/>
            </a:solidFill>
            <a:prstDash val="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6" name="PlaceHolder 7"/>
          <p:cNvSpPr>
            <a:spLocks noGrp="1"/>
          </p:cNvSpPr>
          <p:nvPr>
            <p:ph type="body"/>
          </p:nvPr>
        </p:nvSpPr>
        <p:spPr>
          <a:xfrm>
            <a:off x="3575160" y="4663440"/>
            <a:ext cx="2907360" cy="365400"/>
          </a:xfrm>
          <a:prstGeom prst="rect">
            <a:avLst/>
          </a:prstGeom>
        </p:spPr>
        <p:txBody>
          <a:bodyPr lIns="0" rIns="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body"/>
          </p:nvPr>
        </p:nvSpPr>
        <p:spPr>
          <a:xfrm>
            <a:off x="3575160" y="1134000"/>
            <a:ext cx="2898360" cy="2669760"/>
          </a:xfrm>
          <a:prstGeom prst="rect">
            <a:avLst/>
          </a:prstGeom>
        </p:spPr>
        <p:txBody>
          <a:bodyPr lIns="0" rIns="0">
            <a:normAutofit fontScale="14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9"/>
          <p:cNvSpPr>
            <a:spLocks noGrp="1"/>
          </p:cNvSpPr>
          <p:nvPr>
            <p:ph type="body"/>
          </p:nvPr>
        </p:nvSpPr>
        <p:spPr>
          <a:xfrm>
            <a:off x="3584520" y="5065920"/>
            <a:ext cx="2898360" cy="1874160"/>
          </a:xfrm>
          <a:prstGeom prst="rect">
            <a:avLst/>
          </a:prstGeom>
        </p:spPr>
        <p:txBody>
          <a:bodyPr lIns="0" rIns="0">
            <a:normAutofit fontScale="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10"/>
          <p:cNvSpPr>
            <a:spLocks noGrp="1"/>
          </p:cNvSpPr>
          <p:nvPr>
            <p:ph type="body"/>
          </p:nvPr>
        </p:nvSpPr>
        <p:spPr>
          <a:xfrm>
            <a:off x="0" y="3886200"/>
            <a:ext cx="3337200" cy="3885840"/>
          </a:xfrm>
          <a:prstGeom prst="rect">
            <a:avLst/>
          </a:prstGeom>
        </p:spPr>
        <p:txBody>
          <a:bodyPr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editar o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formato do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texto da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estrutura de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estrutura de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3.º nível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estrutura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4.º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nível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estrutu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ra de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5.º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nível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estr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utur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a de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tópic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6.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º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ní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el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st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ru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tu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ra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tó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pi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7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.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º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í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ó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11"/>
          <p:cNvSpPr>
            <a:spLocks noGrp="1"/>
          </p:cNvSpPr>
          <p:nvPr>
            <p:ph type="body"/>
          </p:nvPr>
        </p:nvSpPr>
        <p:spPr>
          <a:xfrm>
            <a:off x="6720840" y="0"/>
            <a:ext cx="3337200" cy="7772040"/>
          </a:xfrm>
          <a:prstGeom prst="rect">
            <a:avLst/>
          </a:prstGeom>
        </p:spPr>
        <p:txBody>
          <a:bodyPr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12"/>
          <p:cNvSpPr>
            <a:spLocks noGrp="1"/>
          </p:cNvSpPr>
          <p:nvPr>
            <p:ph type="body"/>
          </p:nvPr>
        </p:nvSpPr>
        <p:spPr>
          <a:xfrm>
            <a:off x="7827120" y="3922920"/>
            <a:ext cx="1078560" cy="1078560"/>
          </a:xfrm>
          <a:prstGeom prst="rect">
            <a:avLst/>
          </a:prstGeom>
        </p:spPr>
        <p:txBody>
          <a:bodyPr anchor="ctr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13"/>
          <p:cNvSpPr>
            <a:spLocks noGrp="1"/>
          </p:cNvSpPr>
          <p:nvPr>
            <p:ph type="body"/>
          </p:nvPr>
        </p:nvSpPr>
        <p:spPr>
          <a:xfrm>
            <a:off x="250920" y="768240"/>
            <a:ext cx="2806920" cy="2669760"/>
          </a:xfrm>
          <a:prstGeom prst="rect">
            <a:avLst/>
          </a:prstGeom>
        </p:spPr>
        <p:txBody>
          <a:bodyPr>
            <a:normAutofit fontScale="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14"/>
          <p:cNvSpPr>
            <a:spLocks noGrp="1"/>
          </p:cNvSpPr>
          <p:nvPr>
            <p:ph type="body"/>
          </p:nvPr>
        </p:nvSpPr>
        <p:spPr>
          <a:xfrm>
            <a:off x="6958080" y="5138280"/>
            <a:ext cx="2815920" cy="1554120"/>
          </a:xfrm>
          <a:prstGeom prst="rect">
            <a:avLst/>
          </a:prstGeom>
        </p:spPr>
        <p:txBody>
          <a:bodyPr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8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4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8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4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8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4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8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4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8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4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8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4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8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15"/>
          <p:cNvSpPr>
            <a:spLocks noGrp="1"/>
          </p:cNvSpPr>
          <p:nvPr>
            <p:ph type="body"/>
          </p:nvPr>
        </p:nvSpPr>
        <p:spPr>
          <a:xfrm>
            <a:off x="6958080" y="6923160"/>
            <a:ext cx="2815920" cy="609120"/>
          </a:xfrm>
          <a:prstGeom prst="rect">
            <a:avLst/>
          </a:prstGeom>
        </p:spPr>
        <p:txBody>
          <a:bodyPr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0" y="3886200"/>
            <a:ext cx="3355560" cy="388584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3575160" y="768240"/>
            <a:ext cx="6251040" cy="365400"/>
          </a:xfrm>
          <a:prstGeom prst="rect">
            <a:avLst/>
          </a:prstGeom>
        </p:spPr>
        <p:txBody>
          <a:bodyPr lIns="0" rIns="0" anchor="ctr">
            <a:noAutofit/>
          </a:bodyPr>
          <a:p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CustomShape 3"/>
          <p:cNvSpPr/>
          <p:nvPr/>
        </p:nvSpPr>
        <p:spPr>
          <a:xfrm>
            <a:off x="3639240" y="555120"/>
            <a:ext cx="9140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rnd" w="60480">
            <a:solidFill>
              <a:schemeClr val="dk2"/>
            </a:solidFill>
            <a:prstDash val="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CustomShape 4"/>
          <p:cNvSpPr/>
          <p:nvPr/>
        </p:nvSpPr>
        <p:spPr>
          <a:xfrm>
            <a:off x="292680" y="4310640"/>
            <a:ext cx="9140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rnd" w="60480">
            <a:solidFill>
              <a:schemeClr val="lt1"/>
            </a:solidFill>
            <a:prstDash val="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3575160" y="1134000"/>
            <a:ext cx="3081240" cy="2495880"/>
          </a:xfrm>
          <a:prstGeom prst="rect">
            <a:avLst/>
          </a:prstGeom>
        </p:spPr>
        <p:txBody>
          <a:bodyPr lIns="0" rIns="45720">
            <a:normAutofit fontScale="15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body"/>
          </p:nvPr>
        </p:nvSpPr>
        <p:spPr>
          <a:xfrm>
            <a:off x="6928200" y="1134000"/>
            <a:ext cx="2898360" cy="2495880"/>
          </a:xfrm>
          <a:prstGeom prst="rect">
            <a:avLst/>
          </a:prstGeom>
        </p:spPr>
        <p:txBody>
          <a:bodyPr lIns="45720" rIns="45720">
            <a:normAutofit fontScale="1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body"/>
          </p:nvPr>
        </p:nvSpPr>
        <p:spPr>
          <a:xfrm>
            <a:off x="0" y="0"/>
            <a:ext cx="3337200" cy="3885840"/>
          </a:xfrm>
          <a:prstGeom prst="rect">
            <a:avLst/>
          </a:prstGeom>
        </p:spPr>
        <p:txBody>
          <a:bodyPr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8"/>
          <p:cNvSpPr>
            <a:spLocks noGrp="1"/>
          </p:cNvSpPr>
          <p:nvPr>
            <p:ph type="body"/>
          </p:nvPr>
        </p:nvSpPr>
        <p:spPr>
          <a:xfrm>
            <a:off x="3337560" y="3886200"/>
            <a:ext cx="6720480" cy="3885840"/>
          </a:xfrm>
          <a:prstGeom prst="rect">
            <a:avLst/>
          </a:prstGeom>
        </p:spPr>
        <p:txBody>
          <a:bodyPr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9"/>
          <p:cNvSpPr>
            <a:spLocks noGrp="1"/>
          </p:cNvSpPr>
          <p:nvPr>
            <p:ph type="body"/>
          </p:nvPr>
        </p:nvSpPr>
        <p:spPr>
          <a:xfrm>
            <a:off x="258480" y="4663440"/>
            <a:ext cx="2907360" cy="365400"/>
          </a:xfrm>
          <a:prstGeom prst="rect">
            <a:avLst/>
          </a:prstGeom>
        </p:spPr>
        <p:txBody>
          <a:bodyPr lIns="0" rIns="0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10"/>
          <p:cNvSpPr>
            <a:spLocks noGrp="1"/>
          </p:cNvSpPr>
          <p:nvPr>
            <p:ph type="body"/>
          </p:nvPr>
        </p:nvSpPr>
        <p:spPr>
          <a:xfrm>
            <a:off x="258840" y="5065560"/>
            <a:ext cx="2898360" cy="2496600"/>
          </a:xfrm>
          <a:prstGeom prst="rect">
            <a:avLst/>
          </a:prstGeom>
        </p:spPr>
        <p:txBody>
          <a:bodyPr lIns="0" rIns="0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0" y="3886200"/>
            <a:ext cx="3355560" cy="388584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PlaceHolder 2"/>
          <p:cNvSpPr>
            <a:spLocks noGrp="1"/>
          </p:cNvSpPr>
          <p:nvPr>
            <p:ph type="title"/>
          </p:nvPr>
        </p:nvSpPr>
        <p:spPr>
          <a:xfrm>
            <a:off x="3575160" y="768240"/>
            <a:ext cx="2907360" cy="365400"/>
          </a:xfrm>
          <a:prstGeom prst="rect">
            <a:avLst/>
          </a:prstGeom>
        </p:spPr>
        <p:txBody>
          <a:bodyPr lIns="0" rIns="0" anchor="ctr">
            <a:noAutofit/>
          </a:bodyPr>
          <a:p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CustomShape 3"/>
          <p:cNvSpPr/>
          <p:nvPr/>
        </p:nvSpPr>
        <p:spPr>
          <a:xfrm>
            <a:off x="3639240" y="555120"/>
            <a:ext cx="9140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rnd" w="60480">
            <a:solidFill>
              <a:schemeClr val="dk2"/>
            </a:solidFill>
            <a:prstDash val="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CustomShape 4"/>
          <p:cNvSpPr/>
          <p:nvPr/>
        </p:nvSpPr>
        <p:spPr>
          <a:xfrm>
            <a:off x="292680" y="4310640"/>
            <a:ext cx="9140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rnd" w="60480">
            <a:solidFill>
              <a:schemeClr val="lt1"/>
            </a:solidFill>
            <a:prstDash val="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PlaceHolder 5"/>
          <p:cNvSpPr>
            <a:spLocks noGrp="1"/>
          </p:cNvSpPr>
          <p:nvPr>
            <p:ph type="body"/>
          </p:nvPr>
        </p:nvSpPr>
        <p:spPr>
          <a:xfrm>
            <a:off x="3575160" y="1134000"/>
            <a:ext cx="2898360" cy="2669760"/>
          </a:xfrm>
          <a:prstGeom prst="rect">
            <a:avLst/>
          </a:prstGeom>
        </p:spPr>
        <p:txBody>
          <a:bodyPr lIns="0" rIns="0">
            <a:normAutofit fontScale="16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6"/>
          <p:cNvSpPr>
            <a:spLocks noGrp="1"/>
          </p:cNvSpPr>
          <p:nvPr>
            <p:ph type="body"/>
          </p:nvPr>
        </p:nvSpPr>
        <p:spPr>
          <a:xfrm>
            <a:off x="3584520" y="5065920"/>
            <a:ext cx="2898360" cy="1874160"/>
          </a:xfrm>
          <a:prstGeom prst="rect">
            <a:avLst/>
          </a:prstGeom>
        </p:spPr>
        <p:txBody>
          <a:bodyPr lIns="0" rIns="0">
            <a:normAutofit fontScale="9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7"/>
          <p:cNvSpPr>
            <a:spLocks noGrp="1"/>
          </p:cNvSpPr>
          <p:nvPr>
            <p:ph type="body"/>
          </p:nvPr>
        </p:nvSpPr>
        <p:spPr>
          <a:xfrm>
            <a:off x="0" y="0"/>
            <a:ext cx="3355560" cy="3885840"/>
          </a:xfrm>
          <a:prstGeom prst="rect">
            <a:avLst/>
          </a:prstGeom>
        </p:spPr>
        <p:txBody>
          <a:bodyPr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8"/>
          <p:cNvSpPr>
            <a:spLocks noGrp="1"/>
          </p:cNvSpPr>
          <p:nvPr>
            <p:ph type="body"/>
          </p:nvPr>
        </p:nvSpPr>
        <p:spPr>
          <a:xfrm>
            <a:off x="6720840" y="0"/>
            <a:ext cx="3337200" cy="7772040"/>
          </a:xfrm>
          <a:prstGeom prst="rect">
            <a:avLst/>
          </a:prstGeom>
        </p:spPr>
        <p:txBody>
          <a:bodyPr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editar o formato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do texto da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estrutura de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estrutura de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3.º nível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estrutura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4.º nível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estrutur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a de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5.º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nível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estru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tura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tópic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6.º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ní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vel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es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tru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tur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tó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pic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7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.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º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í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ó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CustomShape 9"/>
          <p:cNvSpPr/>
          <p:nvPr/>
        </p:nvSpPr>
        <p:spPr>
          <a:xfrm>
            <a:off x="3639240" y="4310640"/>
            <a:ext cx="9140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rnd" w="60480">
            <a:solidFill>
              <a:schemeClr val="dk2"/>
            </a:solidFill>
            <a:prstDash val="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PlaceHolder 10"/>
          <p:cNvSpPr>
            <a:spLocks noGrp="1"/>
          </p:cNvSpPr>
          <p:nvPr>
            <p:ph type="body"/>
          </p:nvPr>
        </p:nvSpPr>
        <p:spPr>
          <a:xfrm>
            <a:off x="250920" y="4809600"/>
            <a:ext cx="2806920" cy="2669760"/>
          </a:xfrm>
          <a:prstGeom prst="rect">
            <a:avLst/>
          </a:prstGeom>
        </p:spPr>
        <p:txBody>
          <a:bodyPr>
            <a:normAutofit fontScale="1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11"/>
          <p:cNvSpPr>
            <a:spLocks noGrp="1"/>
          </p:cNvSpPr>
          <p:nvPr>
            <p:ph type="body"/>
          </p:nvPr>
        </p:nvSpPr>
        <p:spPr>
          <a:xfrm>
            <a:off x="6931080" y="5029200"/>
            <a:ext cx="2825280" cy="1288800"/>
          </a:xfrm>
          <a:prstGeom prst="rect">
            <a:avLst/>
          </a:prstGeom>
        </p:spPr>
        <p:txBody>
          <a:bodyPr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Clique para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editar o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formato do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texto da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estrutura de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tópicos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2.º nível da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estrutura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de tópicos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3.º nível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da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estrutura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tópicos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4.º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nível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da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estrutur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a de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tópicos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5.º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nível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da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estrut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ura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tópic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os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6.º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nív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el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da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estr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utur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tópi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cos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7.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º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ní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el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st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ut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tó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pi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12"/>
          <p:cNvSpPr>
            <a:spLocks noGrp="1"/>
          </p:cNvSpPr>
          <p:nvPr>
            <p:ph type="body"/>
          </p:nvPr>
        </p:nvSpPr>
        <p:spPr>
          <a:xfrm>
            <a:off x="6931080" y="6757560"/>
            <a:ext cx="2825280" cy="429480"/>
          </a:xfrm>
          <a:prstGeom prst="rect">
            <a:avLst/>
          </a:prstGeom>
        </p:spPr>
        <p:txBody>
          <a:bodyPr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13"/>
          <p:cNvSpPr>
            <a:spLocks noGrp="1"/>
          </p:cNvSpPr>
          <p:nvPr>
            <p:ph type="body"/>
          </p:nvPr>
        </p:nvSpPr>
        <p:spPr>
          <a:xfrm>
            <a:off x="3575160" y="4663440"/>
            <a:ext cx="2907360" cy="365400"/>
          </a:xfrm>
          <a:prstGeom prst="rect">
            <a:avLst/>
          </a:prstGeom>
        </p:spPr>
        <p:txBody>
          <a:bodyPr lIns="0" rIns="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-9000" y="0"/>
            <a:ext cx="3355560" cy="38858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CustomShape 2"/>
          <p:cNvSpPr/>
          <p:nvPr/>
        </p:nvSpPr>
        <p:spPr>
          <a:xfrm>
            <a:off x="392040" y="555120"/>
            <a:ext cx="9140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rnd" w="60480">
            <a:solidFill>
              <a:schemeClr val="lt1"/>
            </a:solidFill>
            <a:prstDash val="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CustomShape 3"/>
          <p:cNvSpPr/>
          <p:nvPr/>
        </p:nvSpPr>
        <p:spPr>
          <a:xfrm>
            <a:off x="3639240" y="4310640"/>
            <a:ext cx="9140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rnd" w="60480">
            <a:solidFill>
              <a:schemeClr val="dk2"/>
            </a:solidFill>
            <a:prstDash val="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0" y="3886200"/>
            <a:ext cx="3337200" cy="3885840"/>
          </a:xfrm>
          <a:prstGeom prst="rect">
            <a:avLst/>
          </a:prstGeom>
        </p:spPr>
        <p:txBody>
          <a:bodyPr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body"/>
          </p:nvPr>
        </p:nvSpPr>
        <p:spPr>
          <a:xfrm>
            <a:off x="3337560" y="0"/>
            <a:ext cx="6720480" cy="3885840"/>
          </a:xfrm>
          <a:prstGeom prst="rect">
            <a:avLst/>
          </a:prstGeom>
        </p:spPr>
        <p:txBody>
          <a:bodyPr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 type="body"/>
          </p:nvPr>
        </p:nvSpPr>
        <p:spPr>
          <a:xfrm>
            <a:off x="3575160" y="5020200"/>
            <a:ext cx="2898360" cy="2495880"/>
          </a:xfrm>
          <a:prstGeom prst="rect">
            <a:avLst/>
          </a:prstGeom>
        </p:spPr>
        <p:txBody>
          <a:bodyPr lIns="0" rIns="45720">
            <a:normAutofit fontScale="1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7"/>
          <p:cNvSpPr>
            <a:spLocks noGrp="1"/>
          </p:cNvSpPr>
          <p:nvPr>
            <p:ph type="body"/>
          </p:nvPr>
        </p:nvSpPr>
        <p:spPr>
          <a:xfrm>
            <a:off x="6928200" y="5020200"/>
            <a:ext cx="2898360" cy="2495880"/>
          </a:xfrm>
          <a:prstGeom prst="rect">
            <a:avLst/>
          </a:prstGeom>
        </p:spPr>
        <p:txBody>
          <a:bodyPr lIns="0" rIns="45720">
            <a:normAutofit fontScale="1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8"/>
          <p:cNvSpPr>
            <a:spLocks noGrp="1"/>
          </p:cNvSpPr>
          <p:nvPr>
            <p:ph type="title"/>
          </p:nvPr>
        </p:nvSpPr>
        <p:spPr>
          <a:xfrm>
            <a:off x="228600" y="786240"/>
            <a:ext cx="2944080" cy="676440"/>
          </a:xfrm>
          <a:prstGeom prst="rect">
            <a:avLst/>
          </a:prstGeom>
        </p:spPr>
        <p:txBody>
          <a:bodyPr>
            <a:noAutofit/>
          </a:bodyPr>
          <a:p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9"/>
          <p:cNvSpPr>
            <a:spLocks noGrp="1"/>
          </p:cNvSpPr>
          <p:nvPr>
            <p:ph type="body"/>
          </p:nvPr>
        </p:nvSpPr>
        <p:spPr>
          <a:xfrm>
            <a:off x="228600" y="1566720"/>
            <a:ext cx="2944440" cy="2123640"/>
          </a:xfrm>
          <a:prstGeom prst="rect">
            <a:avLst/>
          </a:prstGeom>
        </p:spPr>
        <p:txBody>
          <a:bodyPr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10"/>
          <p:cNvSpPr>
            <a:spLocks noGrp="1"/>
          </p:cNvSpPr>
          <p:nvPr>
            <p:ph type="body"/>
          </p:nvPr>
        </p:nvSpPr>
        <p:spPr>
          <a:xfrm>
            <a:off x="3575160" y="4572000"/>
            <a:ext cx="6251040" cy="447480"/>
          </a:xfrm>
          <a:prstGeom prst="rect">
            <a:avLst/>
          </a:prstGeom>
        </p:spPr>
        <p:txBody>
          <a:bodyPr lIns="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64;p1" descr="back of shoes as they run away"/>
          <p:cNvPicPr/>
          <p:nvPr/>
        </p:nvPicPr>
        <p:blipFill>
          <a:blip r:embed="rId1"/>
          <a:srcRect l="236" t="0" r="236" b="0"/>
          <a:stretch/>
        </p:blipFill>
        <p:spPr>
          <a:xfrm>
            <a:off x="0" y="3886200"/>
            <a:ext cx="3337200" cy="3885840"/>
          </a:xfrm>
          <a:prstGeom prst="rect">
            <a:avLst/>
          </a:prstGeom>
          <a:ln>
            <a:noFill/>
          </a:ln>
        </p:spPr>
      </p:pic>
      <p:pic>
        <p:nvPicPr>
          <p:cNvPr id="193" name="Google Shape;65;p1" descr="close up of person tying shoes"/>
          <p:cNvPicPr/>
          <p:nvPr/>
        </p:nvPicPr>
        <p:blipFill>
          <a:blip r:embed="rId2">
            <a:alphaModFix amt="90000"/>
          </a:blip>
          <a:srcRect l="32" t="0" r="32" b="0"/>
          <a:stretch/>
        </p:blipFill>
        <p:spPr>
          <a:xfrm>
            <a:off x="6720840" y="0"/>
            <a:ext cx="3337200" cy="7772040"/>
          </a:xfrm>
          <a:prstGeom prst="rect">
            <a:avLst/>
          </a:prstGeom>
          <a:ln>
            <a:noFill/>
          </a:ln>
        </p:spPr>
      </p:pic>
      <p:sp>
        <p:nvSpPr>
          <p:cNvPr id="194" name="TextShape 1"/>
          <p:cNvSpPr txBox="1"/>
          <p:nvPr/>
        </p:nvSpPr>
        <p:spPr>
          <a:xfrm>
            <a:off x="155520" y="1682640"/>
            <a:ext cx="2806920" cy="78372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4000"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i="1" lang="pt-BR" sz="2000" spc="-1" strike="noStrike">
                <a:solidFill>
                  <a:srgbClr val="ffffff"/>
                </a:solidFill>
                <a:latin typeface="Gill Sans"/>
                <a:ea typeface="Gill Sans"/>
              </a:rPr>
              <a:t>ACADEMIA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i="1" lang="pt-BR" sz="2000" spc="-1" strike="noStrike">
                <a:solidFill>
                  <a:srgbClr val="ffffff"/>
                </a:solidFill>
                <a:latin typeface="Gill Sans"/>
                <a:ea typeface="Gill Sans"/>
              </a:rPr>
              <a:t>SPORT FIT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Shape 2"/>
          <p:cNvSpPr txBox="1"/>
          <p:nvPr/>
        </p:nvSpPr>
        <p:spPr>
          <a:xfrm>
            <a:off x="6958080" y="5138280"/>
            <a:ext cx="2815920" cy="1554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algn="ctr">
              <a:lnSpc>
                <a:spcPct val="108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SPORT</a:t>
            </a:r>
            <a:endParaRPr b="0" lang="pt-BR" sz="4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8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FIT</a:t>
            </a:r>
            <a:endParaRPr b="0" lang="pt-B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Shape 3"/>
          <p:cNvSpPr txBox="1"/>
          <p:nvPr/>
        </p:nvSpPr>
        <p:spPr>
          <a:xfrm>
            <a:off x="6958080" y="6923160"/>
            <a:ext cx="3004920" cy="609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algn="ctr">
              <a:lnSpc>
                <a:spcPct val="13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ffffff"/>
                </a:solidFill>
                <a:latin typeface="Gill Sans"/>
                <a:ea typeface="Gill Sans"/>
              </a:rPr>
              <a:t>SAÚDE É UMA JORNADA, NÃO UM DESTINO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CustomShape 4"/>
          <p:cNvSpPr/>
          <p:nvPr/>
        </p:nvSpPr>
        <p:spPr>
          <a:xfrm>
            <a:off x="7908840" y="6732000"/>
            <a:ext cx="9140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rnd" w="60480">
            <a:solidFill>
              <a:schemeClr val="lt1"/>
            </a:solidFill>
            <a:prstDash val="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Shape 5"/>
          <p:cNvSpPr txBox="1"/>
          <p:nvPr/>
        </p:nvSpPr>
        <p:spPr>
          <a:xfrm>
            <a:off x="3575160" y="4606200"/>
            <a:ext cx="2907360" cy="365400"/>
          </a:xfrm>
          <a:prstGeom prst="rect">
            <a:avLst/>
          </a:prstGeom>
          <a:noFill/>
          <a:ln>
            <a:noFill/>
          </a:ln>
        </p:spPr>
        <p:txBody>
          <a:bodyPr lIns="0" rIns="0" anchor="ctr">
            <a:no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Alunos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CustomShape 6"/>
          <p:cNvSpPr/>
          <p:nvPr/>
        </p:nvSpPr>
        <p:spPr>
          <a:xfrm>
            <a:off x="3522960" y="1278000"/>
            <a:ext cx="3078720" cy="1593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normAutofit fontScale="69000"/>
          </a:bodyPr>
          <a:p>
            <a:pPr>
              <a:lnSpc>
                <a:spcPct val="152000"/>
              </a:lnSpc>
              <a:tabLst>
                <a:tab algn="l" pos="0"/>
              </a:tabLst>
            </a:pPr>
            <a:r>
              <a:rPr b="1" i="1" lang="pt-BR" sz="1700" spc="-1" strike="noStrike">
                <a:solidFill>
                  <a:srgbClr val="f04b00"/>
                </a:solidFill>
                <a:latin typeface="Gill Sans"/>
                <a:ea typeface="Gill Sans"/>
              </a:rPr>
              <a:t>SISTEMA PARA CONTROLE DE COBRANÇAS E PAGAMENTOS</a:t>
            </a:r>
            <a:endParaRPr b="0" lang="pt-BR" sz="1700" spc="-1" strike="noStrike">
              <a:latin typeface="Arial"/>
            </a:endParaRPr>
          </a:p>
          <a:p>
            <a:pPr>
              <a:lnSpc>
                <a:spcPct val="152000"/>
              </a:lnSpc>
              <a:tabLst>
                <a:tab algn="l" pos="0"/>
              </a:tabLst>
            </a:pPr>
            <a:r>
              <a:rPr b="1" i="1" lang="pt-BR" sz="1700" spc="-1" strike="noStrike">
                <a:solidFill>
                  <a:srgbClr val="f04b00"/>
                </a:solidFill>
                <a:latin typeface="Gill Sans"/>
                <a:ea typeface="Gill Sans"/>
              </a:rPr>
              <a:t>ESPERTO FIT</a:t>
            </a:r>
            <a:endParaRPr b="0" lang="pt-BR" sz="1700" spc="-1" strike="noStrike">
              <a:latin typeface="Arial"/>
            </a:endParaRPr>
          </a:p>
          <a:p>
            <a:pPr>
              <a:lnSpc>
                <a:spcPct val="152000"/>
              </a:lnSpc>
              <a:tabLst>
                <a:tab algn="l" pos="0"/>
              </a:tabLst>
            </a:pPr>
            <a:endParaRPr b="0" lang="pt-BR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Shape 1"/>
          <p:cNvSpPr txBox="1"/>
          <p:nvPr/>
        </p:nvSpPr>
        <p:spPr>
          <a:xfrm>
            <a:off x="258480" y="4272840"/>
            <a:ext cx="2907360" cy="3654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Organograma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1" name="Google Shape;78;p2" descr="person stretching on basketball court"/>
          <p:cNvPicPr/>
          <p:nvPr/>
        </p:nvPicPr>
        <p:blipFill>
          <a:blip r:embed="rId1"/>
          <a:srcRect l="236" t="0" r="236" b="0"/>
          <a:stretch/>
        </p:blipFill>
        <p:spPr>
          <a:xfrm>
            <a:off x="0" y="0"/>
            <a:ext cx="3336480" cy="3885840"/>
          </a:xfrm>
          <a:prstGeom prst="rect">
            <a:avLst/>
          </a:prstGeom>
          <a:ln>
            <a:noFill/>
          </a:ln>
        </p:spPr>
      </p:pic>
      <p:pic>
        <p:nvPicPr>
          <p:cNvPr id="202" name="Google Shape;79;p2" descr="group of people high fiving"/>
          <p:cNvPicPr/>
          <p:nvPr/>
        </p:nvPicPr>
        <p:blipFill>
          <a:blip r:embed="rId2"/>
          <a:srcRect l="0" t="333" r="0" b="333"/>
          <a:stretch/>
        </p:blipFill>
        <p:spPr>
          <a:xfrm>
            <a:off x="3336840" y="3886200"/>
            <a:ext cx="3747600" cy="3885840"/>
          </a:xfrm>
          <a:prstGeom prst="rect">
            <a:avLst/>
          </a:prstGeom>
          <a:ln>
            <a:noFill/>
          </a:ln>
        </p:spPr>
      </p:pic>
      <p:sp>
        <p:nvSpPr>
          <p:cNvPr id="203" name="TextShape 2"/>
          <p:cNvSpPr txBox="1"/>
          <p:nvPr/>
        </p:nvSpPr>
        <p:spPr>
          <a:xfrm>
            <a:off x="3575160" y="1134000"/>
            <a:ext cx="3081240" cy="2495880"/>
          </a:xfrm>
          <a:prstGeom prst="rect">
            <a:avLst/>
          </a:prstGeom>
          <a:noFill/>
          <a:ln>
            <a:noFill/>
          </a:ln>
        </p:spPr>
        <p:txBody>
          <a:bodyPr lIns="0" rIns="45720">
            <a:normAutofit fontScale="75000"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pt-BR" sz="1670" spc="-1" strike="noStrike">
                <a:solidFill>
                  <a:srgbClr val="3f3f3f"/>
                </a:solidFill>
                <a:latin typeface="Calibri"/>
                <a:ea typeface="Calibri"/>
              </a:rPr>
              <a:t>A SPORT FIT é uma academia focada em cuidar bem dos seus clientes, buscando excelência em todos os serviços oferecidos. Criada em 2014 vem crescendo no bairro da Penha, zona leste de São Paulo.</a:t>
            </a:r>
            <a:endParaRPr b="0" lang="pt-BR" sz="16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1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Shape 3"/>
          <p:cNvSpPr txBox="1"/>
          <p:nvPr/>
        </p:nvSpPr>
        <p:spPr>
          <a:xfrm>
            <a:off x="3508560" y="768240"/>
            <a:ext cx="3747600" cy="365400"/>
          </a:xfrm>
          <a:prstGeom prst="rect">
            <a:avLst/>
          </a:prstGeom>
          <a:noFill/>
          <a:ln>
            <a:noFill/>
          </a:ln>
        </p:spPr>
        <p:txBody>
          <a:bodyPr lIns="0" rIns="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17c8d"/>
                </a:solidFill>
                <a:latin typeface="Calibri"/>
                <a:ea typeface="Calibri"/>
              </a:rPr>
              <a:t>Apresentação e Histórico da Empresa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Google Shape;82;p2" descr="close up of person tying shoes"/>
          <p:cNvPicPr/>
          <p:nvPr/>
        </p:nvPicPr>
        <p:blipFill>
          <a:blip r:embed="rId3"/>
          <a:srcRect l="0" t="46" r="0" b="46"/>
          <a:stretch/>
        </p:blipFill>
        <p:spPr>
          <a:xfrm flipH="1">
            <a:off x="7085160" y="0"/>
            <a:ext cx="3006360" cy="3885840"/>
          </a:xfrm>
          <a:prstGeom prst="rect">
            <a:avLst/>
          </a:prstGeom>
          <a:ln>
            <a:noFill/>
          </a:ln>
        </p:spPr>
      </p:pic>
      <p:sp>
        <p:nvSpPr>
          <p:cNvPr id="206" name="CustomShape 4"/>
          <p:cNvSpPr/>
          <p:nvPr/>
        </p:nvSpPr>
        <p:spPr>
          <a:xfrm>
            <a:off x="7621560" y="4272840"/>
            <a:ext cx="2907360" cy="36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17c8d"/>
                </a:solidFill>
                <a:latin typeface="Calibri"/>
                <a:ea typeface="Calibri"/>
              </a:rPr>
              <a:t>Missão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07" name="CustomShape 5"/>
          <p:cNvSpPr/>
          <p:nvPr/>
        </p:nvSpPr>
        <p:spPr>
          <a:xfrm>
            <a:off x="7194960" y="4589280"/>
            <a:ext cx="2863080" cy="220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45720">
            <a:normAutofit fontScale="82000"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3f3f3f"/>
                </a:solidFill>
                <a:latin typeface="Calibri"/>
                <a:ea typeface="Calibri"/>
              </a:rPr>
              <a:t>A SPORT FIT é uma academia focada em cuidar bem dos seus clientes, buscando excelência em todos os serviços oferecidos. </a:t>
            </a:r>
            <a:endParaRPr b="0" lang="pt-BR" sz="1800" spc="-1" strike="noStrike">
              <a:latin typeface="Arial"/>
            </a:endParaRPr>
          </a:p>
        </p:txBody>
      </p:sp>
      <p:pic>
        <p:nvPicPr>
          <p:cNvPr id="208" name="Google Shape;85;p2" descr=""/>
          <p:cNvPicPr/>
          <p:nvPr/>
        </p:nvPicPr>
        <p:blipFill>
          <a:blip r:embed="rId4"/>
          <a:stretch/>
        </p:blipFill>
        <p:spPr>
          <a:xfrm>
            <a:off x="152280" y="4791240"/>
            <a:ext cx="2552400" cy="28094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90;p3" descr="person stretching on basketball court"/>
          <p:cNvPicPr/>
          <p:nvPr/>
        </p:nvPicPr>
        <p:blipFill>
          <a:blip r:embed="rId1"/>
          <a:srcRect l="236" t="0" r="236" b="0"/>
          <a:stretch/>
        </p:blipFill>
        <p:spPr>
          <a:xfrm>
            <a:off x="0" y="0"/>
            <a:ext cx="3336480" cy="3885840"/>
          </a:xfrm>
          <a:prstGeom prst="rect">
            <a:avLst/>
          </a:prstGeom>
          <a:ln>
            <a:noFill/>
          </a:ln>
        </p:spPr>
      </p:pic>
      <p:pic>
        <p:nvPicPr>
          <p:cNvPr id="210" name="Google Shape;91;p3" descr="group of people high fiving"/>
          <p:cNvPicPr/>
          <p:nvPr/>
        </p:nvPicPr>
        <p:blipFill>
          <a:blip r:embed="rId2"/>
          <a:srcRect l="0" t="333" r="0" b="333"/>
          <a:stretch/>
        </p:blipFill>
        <p:spPr>
          <a:xfrm>
            <a:off x="3336840" y="3886200"/>
            <a:ext cx="3747600" cy="3885840"/>
          </a:xfrm>
          <a:prstGeom prst="rect">
            <a:avLst/>
          </a:prstGeom>
          <a:ln>
            <a:noFill/>
          </a:ln>
        </p:spPr>
      </p:pic>
      <p:sp>
        <p:nvSpPr>
          <p:cNvPr id="211" name="TextShape 1"/>
          <p:cNvSpPr txBox="1"/>
          <p:nvPr/>
        </p:nvSpPr>
        <p:spPr>
          <a:xfrm>
            <a:off x="3575160" y="991080"/>
            <a:ext cx="3081240" cy="866160"/>
          </a:xfrm>
          <a:prstGeom prst="rect">
            <a:avLst/>
          </a:prstGeom>
          <a:noFill/>
          <a:ln>
            <a:noFill/>
          </a:ln>
        </p:spPr>
        <p:txBody>
          <a:bodyPr lIns="0" rIns="45720">
            <a:norm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3f3f3f"/>
                </a:solidFill>
                <a:latin typeface="Calibri"/>
                <a:ea typeface="Calibri"/>
              </a:rPr>
              <a:t>Heroku e GitHub.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40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Shape 2"/>
          <p:cNvSpPr txBox="1"/>
          <p:nvPr/>
        </p:nvSpPr>
        <p:spPr>
          <a:xfrm>
            <a:off x="3508560" y="625320"/>
            <a:ext cx="2339280" cy="365400"/>
          </a:xfrm>
          <a:prstGeom prst="rect">
            <a:avLst/>
          </a:prstGeom>
          <a:noFill/>
          <a:ln>
            <a:noFill/>
          </a:ln>
        </p:spPr>
        <p:txBody>
          <a:bodyPr lIns="0" rIns="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17c8d"/>
                </a:solidFill>
                <a:latin typeface="Calibri"/>
                <a:ea typeface="Calibri"/>
              </a:rPr>
              <a:t>Funções terceirizadas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Google Shape;94;p3" descr="close up of person tying shoes"/>
          <p:cNvPicPr/>
          <p:nvPr/>
        </p:nvPicPr>
        <p:blipFill>
          <a:blip r:embed="rId3"/>
          <a:srcRect l="0" t="46" r="0" b="46"/>
          <a:stretch/>
        </p:blipFill>
        <p:spPr>
          <a:xfrm flipH="1">
            <a:off x="7085160" y="0"/>
            <a:ext cx="3006360" cy="3885840"/>
          </a:xfrm>
          <a:prstGeom prst="rect">
            <a:avLst/>
          </a:prstGeom>
          <a:ln>
            <a:noFill/>
          </a:ln>
        </p:spPr>
      </p:pic>
      <p:sp>
        <p:nvSpPr>
          <p:cNvPr id="214" name="CustomShape 3"/>
          <p:cNvSpPr/>
          <p:nvPr/>
        </p:nvSpPr>
        <p:spPr>
          <a:xfrm>
            <a:off x="6981840" y="4272840"/>
            <a:ext cx="2915280" cy="49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17c8d"/>
                </a:solidFill>
                <a:latin typeface="Calibri"/>
                <a:ea typeface="Calibri"/>
              </a:rPr>
              <a:t>Funcionários por área de Negócio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15" name="CustomShape 4"/>
          <p:cNvSpPr/>
          <p:nvPr/>
        </p:nvSpPr>
        <p:spPr>
          <a:xfrm>
            <a:off x="236880" y="4979520"/>
            <a:ext cx="2907360" cy="22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45720">
            <a:normAutofit fontScale="70000"/>
          </a:bodyPr>
          <a:p>
            <a:pPr marL="285840" indent="-285480">
              <a:lnSpc>
                <a:spcPct val="130000"/>
              </a:lnSpc>
              <a:buClr>
                <a:srgbClr val="ffffff"/>
              </a:buClr>
              <a:buFont typeface="Arial"/>
              <a:buChar char="-"/>
            </a:pPr>
            <a:r>
              <a:rPr b="0" lang="pt-BR" sz="1670" spc="-1" strike="noStrike">
                <a:solidFill>
                  <a:srgbClr val="ffffff"/>
                </a:solidFill>
                <a:latin typeface="Calibri"/>
                <a:ea typeface="Calibri"/>
              </a:rPr>
              <a:t>Vendas: foco em vendas e manter cliente fidelizado na academia;</a:t>
            </a:r>
            <a:endParaRPr b="0" lang="pt-BR" sz="1670" spc="-1" strike="noStrike">
              <a:latin typeface="Arial"/>
            </a:endParaRPr>
          </a:p>
          <a:p>
            <a:pPr marL="171360" indent="-171000">
              <a:lnSpc>
                <a:spcPct val="13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-"/>
            </a:pPr>
            <a:r>
              <a:rPr b="0" lang="pt-BR" sz="1670" spc="-1" strike="noStrike">
                <a:solidFill>
                  <a:srgbClr val="ffffff"/>
                </a:solidFill>
                <a:latin typeface="Calibri"/>
                <a:ea typeface="Calibri"/>
              </a:rPr>
              <a:t>Atividades físicas: foco nas atividades para os alunos e eventos externos.</a:t>
            </a:r>
            <a:endParaRPr b="0" lang="pt-BR" sz="1670" spc="-1" strike="noStrike">
              <a:latin typeface="Arial"/>
            </a:endParaRPr>
          </a:p>
        </p:txBody>
      </p:sp>
      <p:sp>
        <p:nvSpPr>
          <p:cNvPr id="216" name="TextShape 5"/>
          <p:cNvSpPr txBox="1"/>
          <p:nvPr/>
        </p:nvSpPr>
        <p:spPr>
          <a:xfrm>
            <a:off x="160920" y="4406400"/>
            <a:ext cx="2907360" cy="3654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Áreas de negócio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CustomShape 6"/>
          <p:cNvSpPr/>
          <p:nvPr/>
        </p:nvSpPr>
        <p:spPr>
          <a:xfrm>
            <a:off x="7134480" y="5015880"/>
            <a:ext cx="2907360" cy="22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45720">
            <a:normAutofit/>
          </a:bodyPr>
          <a:p>
            <a:pPr marL="285840" indent="-285480">
              <a:lnSpc>
                <a:spcPct val="150000"/>
              </a:lnSpc>
              <a:buClr>
                <a:srgbClr val="000000"/>
              </a:buClr>
              <a:buFont typeface="Arial"/>
              <a:buChar char="-"/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Calibri"/>
              </a:rPr>
              <a:t>Vendas: 2 colaboradores;</a:t>
            </a:r>
            <a:endParaRPr b="0" lang="pt-BR" sz="1800" spc="-1" strike="noStrike">
              <a:latin typeface="Arial"/>
            </a:endParaRPr>
          </a:p>
          <a:p>
            <a:pPr marL="171360" indent="-1710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-"/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Calibri"/>
              </a:rPr>
              <a:t>Atividades físicas: 5 colaboradores;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18" name="CustomShape 7"/>
          <p:cNvSpPr/>
          <p:nvPr/>
        </p:nvSpPr>
        <p:spPr>
          <a:xfrm>
            <a:off x="3575160" y="2352960"/>
            <a:ext cx="3081240" cy="12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45720">
            <a:norm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3f3f3f"/>
                </a:solidFill>
                <a:latin typeface="Calibri"/>
                <a:ea typeface="Calibri"/>
              </a:rPr>
              <a:t>R$ 500.000,00/ ano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3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1400" spc="-1" strike="noStrike">
                <a:solidFill>
                  <a:srgbClr val="3f3f3f"/>
                </a:solidFill>
                <a:latin typeface="Calibri"/>
                <a:ea typeface="Calibri"/>
              </a:rPr>
              <a:t>Média de 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3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1400" spc="-1" strike="noStrike">
                <a:solidFill>
                  <a:srgbClr val="3f3f3f"/>
                </a:solidFill>
                <a:latin typeface="Calibri"/>
                <a:ea typeface="Calibri"/>
              </a:rPr>
              <a:t>R$ 40.000,00/ mês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30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</p:txBody>
      </p:sp>
      <p:sp>
        <p:nvSpPr>
          <p:cNvPr id="219" name="CustomShape 8"/>
          <p:cNvSpPr/>
          <p:nvPr/>
        </p:nvSpPr>
        <p:spPr>
          <a:xfrm>
            <a:off x="3508560" y="1987200"/>
            <a:ext cx="2339280" cy="36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17c8d"/>
                </a:solidFill>
                <a:latin typeface="Calibri"/>
                <a:ea typeface="Calibri"/>
              </a:rPr>
              <a:t>Faturamento anual</a:t>
            </a: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Shape 1"/>
          <p:cNvSpPr txBox="1"/>
          <p:nvPr/>
        </p:nvSpPr>
        <p:spPr>
          <a:xfrm>
            <a:off x="3575160" y="768240"/>
            <a:ext cx="2907360" cy="365400"/>
          </a:xfrm>
          <a:prstGeom prst="rect">
            <a:avLst/>
          </a:prstGeom>
          <a:noFill/>
          <a:ln>
            <a:noFill/>
          </a:ln>
        </p:spPr>
        <p:txBody>
          <a:bodyPr lIns="0" rIns="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17c8d"/>
                </a:solidFill>
                <a:latin typeface="Century Gothic"/>
                <a:ea typeface="Century Gothic"/>
              </a:rPr>
              <a:t>MANUTENÇÃO: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Shape 2"/>
          <p:cNvSpPr txBox="1"/>
          <p:nvPr/>
        </p:nvSpPr>
        <p:spPr>
          <a:xfrm>
            <a:off x="3575160" y="1134000"/>
            <a:ext cx="2898360" cy="64692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rmAutofit fontScale="65000"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3f3f3f"/>
                </a:solidFill>
                <a:latin typeface="Gill Sans"/>
                <a:ea typeface="Gill Sans"/>
              </a:rPr>
              <a:t> </a:t>
            </a:r>
            <a:r>
              <a:rPr b="0" lang="pt-BR" sz="1100" spc="-1" strike="noStrike">
                <a:solidFill>
                  <a:srgbClr val="3f3f3f"/>
                </a:solidFill>
                <a:latin typeface="Gill Sans"/>
                <a:ea typeface="Gill Sans"/>
              </a:rPr>
              <a:t>- Será feito envio e controle de código para plataforma hospedante (Heroku) pelo GIT;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Shape 3"/>
          <p:cNvSpPr txBox="1"/>
          <p:nvPr/>
        </p:nvSpPr>
        <p:spPr>
          <a:xfrm>
            <a:off x="3584520" y="5284800"/>
            <a:ext cx="2898360" cy="52776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rmAutofit fontScale="10000"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000000"/>
                </a:solidFill>
                <a:latin typeface="Gill Sans"/>
                <a:ea typeface="Gill Sans"/>
              </a:rPr>
              <a:t>A plataforma Heroku segue compliance da maioria dos stacks de segurança da informação, tendo certificações de PCI DSS Level 1, HIPAA, ISO 27001, 27017, 27018 e SOC 1, 2, 3. A documentação do compliance do Heroku é extensa e possui equivalência ao Itil. A plataforma passa por auditoria anualmente.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Google Shape;108;p4" descr="pair of shoes"/>
          <p:cNvPicPr/>
          <p:nvPr/>
        </p:nvPicPr>
        <p:blipFill>
          <a:blip r:embed="rId1"/>
          <a:srcRect l="0" t="88" r="0" b="88"/>
          <a:stretch/>
        </p:blipFill>
        <p:spPr>
          <a:xfrm>
            <a:off x="6720840" y="0"/>
            <a:ext cx="3337200" cy="7772040"/>
          </a:xfrm>
          <a:prstGeom prst="rect">
            <a:avLst/>
          </a:prstGeom>
          <a:ln>
            <a:noFill/>
          </a:ln>
        </p:spPr>
      </p:pic>
      <p:sp>
        <p:nvSpPr>
          <p:cNvPr id="224" name="TextShape 4"/>
          <p:cNvSpPr txBox="1"/>
          <p:nvPr/>
        </p:nvSpPr>
        <p:spPr>
          <a:xfrm>
            <a:off x="3584520" y="4606200"/>
            <a:ext cx="2907360" cy="365400"/>
          </a:xfrm>
          <a:prstGeom prst="rect">
            <a:avLst/>
          </a:prstGeom>
          <a:noFill/>
          <a:ln>
            <a:noFill/>
          </a:ln>
        </p:spPr>
        <p:txBody>
          <a:bodyPr lIns="0" rIns="0" anchor="ctr">
            <a:no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17c8d"/>
                </a:solidFill>
                <a:latin typeface="Century Gothic"/>
                <a:ea typeface="Century Gothic"/>
              </a:rPr>
              <a:t>EMPRESAS TERCEIRIZADAS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Google Shape;110;p4" descr=""/>
          <p:cNvPicPr/>
          <p:nvPr/>
        </p:nvPicPr>
        <p:blipFill>
          <a:blip r:embed="rId2"/>
          <a:stretch/>
        </p:blipFill>
        <p:spPr>
          <a:xfrm>
            <a:off x="9000" y="0"/>
            <a:ext cx="3337200" cy="7772040"/>
          </a:xfrm>
          <a:prstGeom prst="rect">
            <a:avLst/>
          </a:prstGeom>
          <a:ln>
            <a:noFill/>
          </a:ln>
        </p:spPr>
      </p:pic>
      <p:sp>
        <p:nvSpPr>
          <p:cNvPr id="226" name="CustomShape 5"/>
          <p:cNvSpPr/>
          <p:nvPr/>
        </p:nvSpPr>
        <p:spPr>
          <a:xfrm>
            <a:off x="3565800" y="1977840"/>
            <a:ext cx="2907360" cy="36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17c8d"/>
                </a:solidFill>
                <a:latin typeface="Century Gothic"/>
                <a:ea typeface="Century Gothic"/>
              </a:rPr>
              <a:t>INFRAESTRUTURA ATUAL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227" name="CustomShape 6"/>
          <p:cNvSpPr/>
          <p:nvPr/>
        </p:nvSpPr>
        <p:spPr>
          <a:xfrm>
            <a:off x="3565800" y="2343600"/>
            <a:ext cx="2898360" cy="64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>
            <a:norm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3f3f3f"/>
                </a:solidFill>
                <a:latin typeface="Gill Sans"/>
                <a:ea typeface="Gill Sans"/>
              </a:rPr>
              <a:t>- Computador para controle de cadastro e acesso dos alunos;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100" spc="-1" strike="noStrike"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100" spc="-1" strike="noStrike">
              <a:latin typeface="Arial"/>
            </a:endParaRPr>
          </a:p>
        </p:txBody>
      </p:sp>
      <p:sp>
        <p:nvSpPr>
          <p:cNvPr id="228" name="CustomShape 7"/>
          <p:cNvSpPr/>
          <p:nvPr/>
        </p:nvSpPr>
        <p:spPr>
          <a:xfrm>
            <a:off x="3565800" y="3092040"/>
            <a:ext cx="2907360" cy="36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17c8d"/>
                </a:solidFill>
                <a:latin typeface="Century Gothic"/>
                <a:ea typeface="Century Gothic"/>
              </a:rPr>
              <a:t>SOFTWARES EXISTENTES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229" name="CustomShape 8"/>
          <p:cNvSpPr/>
          <p:nvPr/>
        </p:nvSpPr>
        <p:spPr>
          <a:xfrm>
            <a:off x="3565800" y="3457800"/>
            <a:ext cx="2926080" cy="85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>
            <a:normAutofit/>
          </a:bodyPr>
          <a:p>
            <a:pPr marL="171360" indent="-171000">
              <a:lnSpc>
                <a:spcPct val="150000"/>
              </a:lnSpc>
              <a:buClr>
                <a:srgbClr val="3f3f3f"/>
              </a:buClr>
              <a:buFont typeface="Arial"/>
              <a:buChar char="-"/>
            </a:pPr>
            <a:r>
              <a:rPr b="0" lang="pt-BR" sz="1100" spc="-1" strike="noStrike">
                <a:solidFill>
                  <a:srgbClr val="3f3f3f"/>
                </a:solidFill>
                <a:latin typeface="Gill Sans"/>
                <a:ea typeface="Gill Sans"/>
              </a:rPr>
              <a:t>Access para cadastro dos alunos;</a:t>
            </a:r>
            <a:endParaRPr b="0" lang="pt-BR" sz="1100" spc="-1" strike="noStrike">
              <a:latin typeface="Arial"/>
            </a:endParaRPr>
          </a:p>
          <a:p>
            <a:pPr marL="171360" indent="-171000">
              <a:lnSpc>
                <a:spcPct val="150000"/>
              </a:lnSpc>
              <a:buClr>
                <a:srgbClr val="3f3f3f"/>
              </a:buClr>
              <a:buFont typeface="Arial"/>
              <a:buChar char="-"/>
            </a:pPr>
            <a:r>
              <a:rPr b="0" lang="pt-BR" sz="1100" spc="-1" strike="noStrike">
                <a:solidFill>
                  <a:srgbClr val="3f3f3f"/>
                </a:solidFill>
                <a:latin typeface="Gill Sans"/>
                <a:ea typeface="Gill Sans"/>
              </a:rPr>
              <a:t>Sistema para controle das catracas de acesso dos alunos;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100" spc="-1" strike="noStrike"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119;p5" descr="group of people high fiving"/>
          <p:cNvPicPr/>
          <p:nvPr/>
        </p:nvPicPr>
        <p:blipFill>
          <a:blip r:embed="rId1"/>
          <a:srcRect l="236" t="0" r="236" b="0"/>
          <a:stretch/>
        </p:blipFill>
        <p:spPr>
          <a:xfrm>
            <a:off x="0" y="3886200"/>
            <a:ext cx="3337200" cy="3885840"/>
          </a:xfrm>
          <a:prstGeom prst="rect">
            <a:avLst/>
          </a:prstGeom>
          <a:ln>
            <a:noFill/>
          </a:ln>
        </p:spPr>
      </p:pic>
      <p:sp>
        <p:nvSpPr>
          <p:cNvPr id="231" name="TextShape 1"/>
          <p:cNvSpPr txBox="1"/>
          <p:nvPr/>
        </p:nvSpPr>
        <p:spPr>
          <a:xfrm>
            <a:off x="3575160" y="5020200"/>
            <a:ext cx="6311160" cy="2495880"/>
          </a:xfrm>
          <a:prstGeom prst="rect">
            <a:avLst/>
          </a:prstGeom>
          <a:noFill/>
          <a:ln>
            <a:noFill/>
          </a:ln>
        </p:spPr>
        <p:txBody>
          <a:bodyPr lIns="0" rIns="45720">
            <a:normAutofit/>
          </a:bodyPr>
          <a:p>
            <a:pPr marL="343080" indent="-342720">
              <a:lnSpc>
                <a:spcPct val="115000"/>
              </a:lnSpc>
              <a:buClr>
                <a:srgbClr val="3f3f3f"/>
              </a:buClr>
              <a:buFont typeface="Noto Sans Symbols"/>
              <a:buChar char="−"/>
            </a:pPr>
            <a:r>
              <a:rPr b="0" lang="pt-BR" sz="1100" spc="-1" strike="noStrike">
                <a:solidFill>
                  <a:srgbClr val="3f3f3f"/>
                </a:solidFill>
                <a:latin typeface="Gill Sans"/>
                <a:ea typeface="Gill Sans"/>
              </a:rPr>
              <a:t>Levantamento de Requisitos: 01/09/2020 -  01/10/2020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15000"/>
              </a:lnSpc>
              <a:buClr>
                <a:srgbClr val="3f3f3f"/>
              </a:buClr>
              <a:buFont typeface="Noto Sans Symbols"/>
              <a:buChar char="−"/>
            </a:pPr>
            <a:r>
              <a:rPr b="0" lang="pt-BR" sz="1100" spc="-1" strike="noStrike">
                <a:solidFill>
                  <a:srgbClr val="3f3f3f"/>
                </a:solidFill>
                <a:latin typeface="Gill Sans"/>
                <a:ea typeface="Gill Sans"/>
              </a:rPr>
              <a:t>Especificação: 01/10/2020 - 15/10/2020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15000"/>
              </a:lnSpc>
              <a:buClr>
                <a:srgbClr val="3f3f3f"/>
              </a:buClr>
              <a:buFont typeface="Noto Sans Symbols"/>
              <a:buChar char="−"/>
            </a:pPr>
            <a:r>
              <a:rPr b="0" lang="pt-BR" sz="1100" spc="-1" strike="noStrike">
                <a:solidFill>
                  <a:srgbClr val="3f3f3f"/>
                </a:solidFill>
                <a:latin typeface="Gill Sans"/>
                <a:ea typeface="Gill Sans"/>
              </a:rPr>
              <a:t>Definição de Arquitetura : 01/10/2020 - 15/10/2020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15000"/>
              </a:lnSpc>
              <a:buClr>
                <a:srgbClr val="3f3f3f"/>
              </a:buClr>
              <a:buFont typeface="Noto Sans Symbols"/>
              <a:buChar char="−"/>
            </a:pPr>
            <a:r>
              <a:rPr b="0" lang="pt-BR" sz="1100" spc="-1" strike="noStrike">
                <a:solidFill>
                  <a:srgbClr val="3f3f3f"/>
                </a:solidFill>
                <a:latin typeface="Gill Sans"/>
                <a:ea typeface="Gill Sans"/>
              </a:rPr>
              <a:t>Implementação : 16/10/2020 - 05/11/2020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15000"/>
              </a:lnSpc>
              <a:buClr>
                <a:srgbClr val="3f3f3f"/>
              </a:buClr>
              <a:buFont typeface="Noto Sans Symbols"/>
              <a:buChar char="−"/>
            </a:pPr>
            <a:r>
              <a:rPr b="0" lang="pt-BR" sz="1100" spc="-1" strike="noStrike">
                <a:solidFill>
                  <a:srgbClr val="3f3f3f"/>
                </a:solidFill>
                <a:latin typeface="Gill Sans"/>
                <a:ea typeface="Gill Sans"/>
              </a:rPr>
              <a:t>Homologação : 06/11/2020 - 15/11/2020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15000"/>
              </a:lnSpc>
              <a:buClr>
                <a:srgbClr val="3f3f3f"/>
              </a:buClr>
              <a:buFont typeface="Noto Sans Symbols"/>
              <a:buChar char="−"/>
            </a:pPr>
            <a:r>
              <a:rPr b="0" lang="pt-BR" sz="1100" spc="-1" strike="noStrike">
                <a:solidFill>
                  <a:srgbClr val="3f3f3f"/>
                </a:solidFill>
                <a:latin typeface="Gill Sans"/>
                <a:ea typeface="Gill Sans"/>
              </a:rPr>
              <a:t>Passagem para Produção: 16/11/2020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15000"/>
              </a:lnSpc>
              <a:buClr>
                <a:srgbClr val="3f3f3f"/>
              </a:buClr>
              <a:buFont typeface="Noto Sans Symbols"/>
              <a:buChar char="−"/>
            </a:pPr>
            <a:r>
              <a:rPr b="0" lang="pt-BR" sz="1100" spc="-1" strike="noStrike">
                <a:solidFill>
                  <a:srgbClr val="3f3f3f"/>
                </a:solidFill>
                <a:latin typeface="Gill Sans"/>
                <a:ea typeface="Gill Sans"/>
              </a:rPr>
              <a:t>Operação Assistida: 26/11/2020 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Shape 2"/>
          <p:cNvSpPr txBox="1"/>
          <p:nvPr/>
        </p:nvSpPr>
        <p:spPr>
          <a:xfrm>
            <a:off x="196560" y="1604880"/>
            <a:ext cx="2944080" cy="6764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DEFINIÇÃO DE ESCOPO DO SISTEMA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Shape 3"/>
          <p:cNvSpPr txBox="1"/>
          <p:nvPr/>
        </p:nvSpPr>
        <p:spPr>
          <a:xfrm>
            <a:off x="3575160" y="4486320"/>
            <a:ext cx="6482880" cy="447480"/>
          </a:xfrm>
          <a:prstGeom prst="rect">
            <a:avLst/>
          </a:prstGeom>
          <a:noFill/>
          <a:ln>
            <a:noFill/>
          </a:ln>
        </p:spPr>
        <p:txBody>
          <a:bodyPr l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17c8d"/>
                </a:solidFill>
                <a:latin typeface="Century Gothic"/>
                <a:ea typeface="Century Gothic"/>
              </a:rPr>
              <a:t>CRONOGRAMA DE DESENVOLVIMENTO DO SISTEMA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34" name="Table 4"/>
          <p:cNvGraphicFramePr/>
          <p:nvPr/>
        </p:nvGraphicFramePr>
        <p:xfrm>
          <a:off x="3346920" y="0"/>
          <a:ext cx="6702480" cy="3885840"/>
        </p:xfrm>
        <a:graphic>
          <a:graphicData uri="http://schemas.openxmlformats.org/drawingml/2006/table">
            <a:tbl>
              <a:tblPr/>
              <a:tblGrid>
                <a:gridCol w="1662120"/>
                <a:gridCol w="5040360"/>
              </a:tblGrid>
              <a:tr h="783720"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Planejamento do escopo</a:t>
                      </a:r>
                      <a:endParaRPr b="0" lang="pt-BR" sz="11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eced"/>
                    </a:solidFill>
                  </a:tcPr>
                </a:tc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Criação de uma plataforma digital para a academia possa realizar o gerenciamento dos pagamentos feitos pelos alunos. </a:t>
                      </a:r>
                      <a:endParaRPr b="0" lang="pt-BR" sz="11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eced"/>
                    </a:solidFill>
                  </a:tcPr>
                </a:tc>
              </a:tr>
              <a:tr h="569880"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Gill Sans MT"/>
                          <a:ea typeface="Gill Sans MT"/>
                        </a:rPr>
                        <a:t>Coletas de requisitos</a:t>
                      </a:r>
                      <a:endParaRPr b="0" lang="pt-BR" sz="11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eced"/>
                    </a:solidFill>
                  </a:tcPr>
                </a:tc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Gill Sans MT"/>
                          <a:ea typeface="Gill Sans MT"/>
                        </a:rPr>
                        <a:t>Este sistema irá controlar os pagamentos realizados pelos alunos para a academia</a:t>
                      </a:r>
                      <a:endParaRPr b="0" lang="pt-BR" sz="11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eced"/>
                    </a:solidFill>
                  </a:tcPr>
                </a:tc>
              </a:tr>
              <a:tr h="751320"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Gill Sans MT"/>
                          <a:ea typeface="Gill Sans MT"/>
                        </a:rPr>
                        <a:t>Definição do escopo </a:t>
                      </a:r>
                      <a:endParaRPr b="0" lang="pt-BR" sz="11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eced"/>
                    </a:solidFill>
                  </a:tcPr>
                </a:tc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Gill Sans MT"/>
                          <a:ea typeface="Gill Sans MT"/>
                        </a:rPr>
                        <a:t>Realizar uma aplicação web utilizando Git e Heroku para gerenciamentos de pagamentos.</a:t>
                      </a:r>
                      <a:endParaRPr b="0" lang="pt-BR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Gill Sans MT"/>
                          <a:ea typeface="Gill Sans MT"/>
                        </a:rPr>
                        <a:t> </a:t>
                      </a:r>
                      <a:endParaRPr b="0" lang="pt-BR" sz="11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eced"/>
                    </a:solidFill>
                  </a:tcPr>
                </a:tc>
              </a:tr>
              <a:tr h="997920"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Gill Sans MT"/>
                          <a:ea typeface="Gill Sans MT"/>
                        </a:rPr>
                        <a:t>Criar a EAP</a:t>
                      </a:r>
                      <a:endParaRPr b="0" lang="pt-BR" sz="11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eced"/>
                    </a:solidFill>
                  </a:tcPr>
                </a:tc>
                <a:tc>
                  <a:txBody>
                    <a:bodyPr lIns="63360" rIns="63360" tIns="63360" bIns="63360">
                      <a:noAutofit/>
                    </a:bodyPr>
                    <a:p>
                      <a:pPr marL="343080" indent="-342720">
                        <a:lnSpc>
                          <a:spcPct val="107000"/>
                        </a:lnSpc>
                        <a:buClr>
                          <a:srgbClr val="000000"/>
                        </a:buClr>
                        <a:buFont typeface="Noto Sans Symbols"/>
                        <a:buChar char="−"/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Gill Sans MT"/>
                          <a:ea typeface="Gill Sans MT"/>
                        </a:rPr>
                        <a:t>Aplicação Web e cuidado do domínio;</a:t>
                      </a:r>
                      <a:endParaRPr b="0" lang="pt-BR" sz="1100" spc="-1" strike="noStrike">
                        <a:latin typeface="Arial"/>
                      </a:endParaRPr>
                    </a:p>
                    <a:p>
                      <a:pPr marL="343080" indent="-342720">
                        <a:lnSpc>
                          <a:spcPct val="107000"/>
                        </a:lnSpc>
                        <a:buClr>
                          <a:srgbClr val="000000"/>
                        </a:buClr>
                        <a:buFont typeface="Noto Sans Symbols"/>
                        <a:buChar char="−"/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Gill Sans MT"/>
                          <a:ea typeface="Gill Sans MT"/>
                        </a:rPr>
                        <a:t>Gerenciamento e controle das informações colocadas no site;</a:t>
                      </a:r>
                      <a:endParaRPr b="0" lang="pt-BR" sz="1100" spc="-1" strike="noStrike">
                        <a:latin typeface="Arial"/>
                      </a:endParaRPr>
                    </a:p>
                    <a:p>
                      <a:pPr marL="343080" indent="-342720">
                        <a:lnSpc>
                          <a:spcPct val="107000"/>
                        </a:lnSpc>
                        <a:buClr>
                          <a:srgbClr val="000000"/>
                        </a:buClr>
                        <a:buFont typeface="Noto Sans Symbols"/>
                        <a:buChar char="−"/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Gill Sans MT"/>
                          <a:ea typeface="Gill Sans MT"/>
                        </a:rPr>
                        <a:t>Gerenciamento do BD.</a:t>
                      </a:r>
                      <a:endParaRPr b="0" lang="pt-BR" sz="11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eced"/>
                    </a:solidFill>
                  </a:tcPr>
                </a:tc>
              </a:tr>
              <a:tr h="783000"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Validação do escopo</a:t>
                      </a:r>
                      <a:endParaRPr b="0" lang="pt-BR" sz="11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eced"/>
                    </a:solidFill>
                  </a:tcPr>
                </a:tc>
                <a:tc>
                  <a:txBody>
                    <a:bodyPr lIns="63360" rIns="63360" tIns="63360" bIns="63360">
                      <a:noAutofit/>
                    </a:bodyPr>
                    <a:p>
                      <a:pPr marL="343080" indent="-342720">
                        <a:lnSpc>
                          <a:spcPct val="107000"/>
                        </a:lnSpc>
                        <a:buClr>
                          <a:srgbClr val="000000"/>
                        </a:buClr>
                        <a:buFont typeface="Noto Sans Symbols"/>
                        <a:buChar char="−"/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Acesso à aplicação web;</a:t>
                      </a:r>
                      <a:endParaRPr b="0" lang="pt-BR" sz="1100" spc="-1" strike="noStrike">
                        <a:latin typeface="Arial"/>
                      </a:endParaRPr>
                    </a:p>
                    <a:p>
                      <a:pPr marL="343080" indent="-342720">
                        <a:lnSpc>
                          <a:spcPct val="107000"/>
                        </a:lnSpc>
                        <a:buClr>
                          <a:srgbClr val="000000"/>
                        </a:buClr>
                        <a:buFont typeface="Noto Sans Symbols"/>
                        <a:buChar char="−"/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Cadastro, edição, listagem e remoção de pagamentos.</a:t>
                      </a:r>
                      <a:endParaRPr b="0" lang="pt-BR" sz="11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eced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Shape 1"/>
          <p:cNvSpPr txBox="1"/>
          <p:nvPr/>
        </p:nvSpPr>
        <p:spPr>
          <a:xfrm>
            <a:off x="3407040" y="982080"/>
            <a:ext cx="6651000" cy="2131920"/>
          </a:xfrm>
          <a:prstGeom prst="rect">
            <a:avLst/>
          </a:prstGeom>
          <a:noFill/>
          <a:ln>
            <a:noFill/>
          </a:ln>
        </p:spPr>
        <p:txBody>
          <a:bodyPr lIns="0" rIns="45720">
            <a:normAutofit fontScale="88000"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3f3f3f"/>
                </a:solidFill>
                <a:latin typeface="Gill Sans"/>
                <a:ea typeface="Gill Sans"/>
              </a:rPr>
              <a:t>- Questionário: questionário para entender os problemas e necessidades relacionadas a parte de pagamentos recebidos pela academia;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3f3f3f"/>
                </a:solidFill>
                <a:latin typeface="Gill Sans"/>
                <a:ea typeface="Gill Sans"/>
              </a:rPr>
              <a:t>Entrevista não-estruturada: conversas informais que nos ajudem a enriquecer as respostas que obtivemos com o questionário e montagem de um fluxo de processo;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3f3f3f"/>
                </a:solidFill>
                <a:latin typeface="Gill Sans"/>
                <a:ea typeface="Gill Sans"/>
              </a:rPr>
              <a:t>Prototipação: criamos um protótipo para acompanharmos a aceitação e eficiência do projeto, podendo em seguida, complementar e evoluir.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Shape 2"/>
          <p:cNvSpPr txBox="1"/>
          <p:nvPr/>
        </p:nvSpPr>
        <p:spPr>
          <a:xfrm>
            <a:off x="276120" y="1710000"/>
            <a:ext cx="2944080" cy="6764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ELICITAÇÃO DE REQUISITOS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Shape 3"/>
          <p:cNvSpPr txBox="1"/>
          <p:nvPr/>
        </p:nvSpPr>
        <p:spPr>
          <a:xfrm>
            <a:off x="3407040" y="289440"/>
            <a:ext cx="6251040" cy="447480"/>
          </a:xfrm>
          <a:prstGeom prst="rect">
            <a:avLst/>
          </a:prstGeom>
          <a:noFill/>
          <a:ln>
            <a:noFill/>
          </a:ln>
        </p:spPr>
        <p:txBody>
          <a:bodyPr l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17c8d"/>
                </a:solidFill>
                <a:latin typeface="Century Gothic"/>
                <a:ea typeface="Century Gothic"/>
              </a:rPr>
              <a:t>TÉCNICAS DE ELICITAÇÃO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CustomShape 4"/>
          <p:cNvSpPr/>
          <p:nvPr/>
        </p:nvSpPr>
        <p:spPr>
          <a:xfrm>
            <a:off x="9360" y="3886200"/>
            <a:ext cx="3295440" cy="3885840"/>
          </a:xfrm>
          <a:prstGeom prst="rect">
            <a:avLst/>
          </a:prstGeom>
          <a:solidFill>
            <a:schemeClr val="accent1"/>
          </a:solidFill>
          <a:ln w="12600">
            <a:solidFill>
              <a:srgbClr val="005a6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CustomShape 5"/>
          <p:cNvSpPr/>
          <p:nvPr/>
        </p:nvSpPr>
        <p:spPr>
          <a:xfrm>
            <a:off x="185040" y="5385600"/>
            <a:ext cx="2944080" cy="67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REQUISITOS FUNCIONAIS DO SISTEMA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240" name="CustomShape 6"/>
          <p:cNvSpPr/>
          <p:nvPr/>
        </p:nvSpPr>
        <p:spPr>
          <a:xfrm>
            <a:off x="3407040" y="4944600"/>
            <a:ext cx="6641280" cy="213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45720">
            <a:normAutofit fontScale="88000"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3f3f3f"/>
                </a:solidFill>
                <a:latin typeface="Gill Sans"/>
                <a:ea typeface="Gill Sans"/>
              </a:rPr>
              <a:t>- Questionário: questionário para entender os problemas e necessidades relacionadas a parte de pagamentos recebidos pela academia;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3f3f3f"/>
                </a:solidFill>
                <a:latin typeface="Gill Sans"/>
                <a:ea typeface="Gill Sans"/>
              </a:rPr>
              <a:t>Entrevista não-estruturada: conversas informais que nos ajudem a enriquecer as respostas que obtivemos com o questionário e montagem de um fluxo de processo;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3f3f3f"/>
                </a:solidFill>
                <a:latin typeface="Gill Sans"/>
                <a:ea typeface="Gill Sans"/>
              </a:rPr>
              <a:t>Prototipação: criamos um protótipo para acompanharmos a aceitação e eficiência do projeto, podendo em seguida, complementar e evoluir.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</p:txBody>
      </p:sp>
      <p:sp>
        <p:nvSpPr>
          <p:cNvPr id="241" name="CustomShape 7"/>
          <p:cNvSpPr/>
          <p:nvPr/>
        </p:nvSpPr>
        <p:spPr>
          <a:xfrm>
            <a:off x="3407040" y="982080"/>
            <a:ext cx="6720480" cy="213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45720">
            <a:normAutofit fontScale="88000"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3f3f3f"/>
                </a:solidFill>
                <a:latin typeface="Gill Sans"/>
                <a:ea typeface="Gill Sans"/>
              </a:rPr>
              <a:t>- Questionário: questionário para entender os problemas e necessidades relacionadas a parte de pagamentos recebidos pela academia;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3f3f3f"/>
                </a:solidFill>
                <a:latin typeface="Gill Sans"/>
                <a:ea typeface="Gill Sans"/>
              </a:rPr>
              <a:t>Entrevista não-estruturada: conversas informais que nos ajudem a enriquecer as respostas que obtivemos com o questionário e montagem de um fluxo de processo;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3f3f3f"/>
                </a:solidFill>
                <a:latin typeface="Gill Sans"/>
                <a:ea typeface="Gill Sans"/>
              </a:rPr>
              <a:t>Prototipação: criamos um protótipo para acompanharmos a aceitação e eficiência do projeto, podendo em seguida, complementar e evoluir.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Shape 1"/>
          <p:cNvSpPr txBox="1"/>
          <p:nvPr/>
        </p:nvSpPr>
        <p:spPr>
          <a:xfrm>
            <a:off x="3407040" y="982080"/>
            <a:ext cx="6651000" cy="2131920"/>
          </a:xfrm>
          <a:prstGeom prst="rect">
            <a:avLst/>
          </a:prstGeom>
          <a:noFill/>
          <a:ln>
            <a:noFill/>
          </a:ln>
        </p:spPr>
        <p:txBody>
          <a:bodyPr lIns="0" rIns="45720">
            <a:normAutofit/>
          </a:bodyPr>
          <a:p>
            <a:pPr marL="343080" indent="-342720">
              <a:lnSpc>
                <a:spcPct val="115000"/>
              </a:lnSpc>
              <a:buClr>
                <a:srgbClr val="3f3f3f"/>
              </a:buClr>
              <a:buFont typeface="Noto Sans Symbols"/>
              <a:buChar char="−"/>
            </a:pPr>
            <a:r>
              <a:rPr b="0" lang="pt-BR" sz="1400" spc="-1" strike="noStrike">
                <a:solidFill>
                  <a:srgbClr val="3f3f3f"/>
                </a:solidFill>
                <a:latin typeface="Calibri"/>
                <a:ea typeface="Calibri"/>
              </a:rPr>
              <a:t>Ambiente Físico: Web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15000"/>
              </a:lnSpc>
              <a:buClr>
                <a:srgbClr val="3f3f3f"/>
              </a:buClr>
              <a:buFont typeface="Noto Sans Symbols"/>
              <a:buChar char="−"/>
            </a:pPr>
            <a:r>
              <a:rPr b="0" lang="pt-BR" sz="1400" spc="-1" strike="noStrike">
                <a:solidFill>
                  <a:srgbClr val="3f3f3f"/>
                </a:solidFill>
                <a:latin typeface="Calibri"/>
                <a:ea typeface="Calibri"/>
              </a:rPr>
              <a:t>Usuários:</a:t>
            </a:r>
            <a:r>
              <a:rPr b="1" lang="pt-BR" sz="1400" spc="-1" strike="noStrike">
                <a:solidFill>
                  <a:srgbClr val="3f3f3f"/>
                </a:solidFill>
                <a:latin typeface="Calibri"/>
                <a:ea typeface="Calibri"/>
              </a:rPr>
              <a:t> </a:t>
            </a:r>
            <a:r>
              <a:rPr b="0" lang="pt-BR" sz="1400" spc="-1" strike="noStrike">
                <a:solidFill>
                  <a:srgbClr val="3f3f3f"/>
                </a:solidFill>
                <a:latin typeface="Calibri"/>
                <a:ea typeface="Calibri"/>
              </a:rPr>
              <a:t>Colaboradores da academia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15000"/>
              </a:lnSpc>
              <a:buClr>
                <a:srgbClr val="3f3f3f"/>
              </a:buClr>
              <a:buFont typeface="Noto Sans Symbols"/>
              <a:buChar char="−"/>
            </a:pPr>
            <a:r>
              <a:rPr b="0" lang="pt-BR" sz="1400" spc="-1" strike="noStrike">
                <a:solidFill>
                  <a:srgbClr val="3f3f3f"/>
                </a:solidFill>
                <a:latin typeface="Calibri"/>
                <a:ea typeface="Calibri"/>
              </a:rPr>
              <a:t>Documentação: Documentação do projeto estará disponível online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15000"/>
              </a:lnSpc>
              <a:buClr>
                <a:srgbClr val="3f3f3f"/>
              </a:buClr>
              <a:buFont typeface="Noto Sans Symbols"/>
              <a:buChar char="−"/>
            </a:pPr>
            <a:r>
              <a:rPr b="0" lang="pt-BR" sz="1400" spc="-1" strike="noStrike">
                <a:solidFill>
                  <a:srgbClr val="3f3f3f"/>
                </a:solidFill>
                <a:latin typeface="Calibri"/>
                <a:ea typeface="Calibri"/>
              </a:rPr>
              <a:t>Segurança: O acesso às informações é controlado, para acesso dos colaboradores que fazem a gestão das cobranças e pagamentos dos alunos;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15000"/>
              </a:lnSpc>
              <a:buClr>
                <a:srgbClr val="3f3f3f"/>
              </a:buClr>
              <a:buFont typeface="Noto Sans Symbols"/>
              <a:buChar char="−"/>
            </a:pPr>
            <a:r>
              <a:rPr b="0" lang="pt-BR" sz="1400" spc="-1" strike="noStrike">
                <a:solidFill>
                  <a:srgbClr val="3f3f3f"/>
                </a:solidFill>
                <a:latin typeface="Calibri"/>
                <a:ea typeface="Calibri"/>
              </a:rPr>
              <a:t>Recursos: É necessário um navegador web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Shape 2"/>
          <p:cNvSpPr txBox="1"/>
          <p:nvPr/>
        </p:nvSpPr>
        <p:spPr>
          <a:xfrm>
            <a:off x="276120" y="1710000"/>
            <a:ext cx="2944080" cy="6764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REQUISITOS NÃO FUNCIONAIS DO SISTEMA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Shape 3"/>
          <p:cNvSpPr txBox="1"/>
          <p:nvPr/>
        </p:nvSpPr>
        <p:spPr>
          <a:xfrm>
            <a:off x="3407040" y="289440"/>
            <a:ext cx="6251040" cy="447480"/>
          </a:xfrm>
          <a:prstGeom prst="rect">
            <a:avLst/>
          </a:prstGeom>
          <a:noFill/>
          <a:ln>
            <a:noFill/>
          </a:ln>
        </p:spPr>
        <p:txBody>
          <a:bodyPr l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17c8d"/>
                </a:solidFill>
                <a:latin typeface="Century Gothic"/>
                <a:ea typeface="Century Gothic"/>
              </a:rPr>
              <a:t>TÉCNICAS DE ELICITAÇÃO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CustomShape 4"/>
          <p:cNvSpPr/>
          <p:nvPr/>
        </p:nvSpPr>
        <p:spPr>
          <a:xfrm>
            <a:off x="9360" y="3886200"/>
            <a:ext cx="3295440" cy="3885840"/>
          </a:xfrm>
          <a:prstGeom prst="rect">
            <a:avLst/>
          </a:prstGeom>
          <a:solidFill>
            <a:schemeClr val="accent1"/>
          </a:solidFill>
          <a:ln w="12600">
            <a:solidFill>
              <a:srgbClr val="005a6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CustomShape 5"/>
          <p:cNvSpPr/>
          <p:nvPr/>
        </p:nvSpPr>
        <p:spPr>
          <a:xfrm>
            <a:off x="185040" y="5385600"/>
            <a:ext cx="2944080" cy="67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REQUISITOS DE DOMÍNIO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247" name="CustomShape 6"/>
          <p:cNvSpPr/>
          <p:nvPr/>
        </p:nvSpPr>
        <p:spPr>
          <a:xfrm>
            <a:off x="3486240" y="5385600"/>
            <a:ext cx="6641280" cy="37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45720">
            <a:normAutofit/>
          </a:bodyPr>
          <a:p>
            <a:pPr marL="457200">
              <a:lnSpc>
                <a:spcPct val="87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f3f3f"/>
                </a:solidFill>
                <a:latin typeface="Calibri"/>
                <a:ea typeface="Calibri"/>
              </a:rPr>
              <a:t>O usuário deverá ser colaborador da academia.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30000"/>
              </a:lnSpc>
              <a:spcBef>
                <a:spcPts val="799"/>
              </a:spcBef>
              <a:tabLst>
                <a:tab algn="l" pos="0"/>
              </a:tabLst>
            </a:pPr>
            <a:endParaRPr b="0" lang="pt-BR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7c8d"/>
      </a:dk2>
      <a:lt2>
        <a:srgbClr val="e7e6e6"/>
      </a:lt2>
      <a:accent1>
        <a:srgbClr val="017c8d"/>
      </a:accent1>
      <a:accent2>
        <a:srgbClr val="f6f5f1"/>
      </a:accent2>
      <a:accent3>
        <a:srgbClr val="ff7d41"/>
      </a:accent3>
      <a:accent4>
        <a:srgbClr val="aeabab"/>
      </a:accent4>
      <a:accent5>
        <a:srgbClr val="009999"/>
      </a:accent5>
      <a:accent6>
        <a:srgbClr val="000000"/>
      </a:accent6>
      <a:hlink>
        <a:srgbClr val="009999"/>
      </a:hlink>
      <a:folHlink>
        <a:srgbClr val="e7e6e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7c8d"/>
      </a:dk2>
      <a:lt2>
        <a:srgbClr val="e7e6e6"/>
      </a:lt2>
      <a:accent1>
        <a:srgbClr val="017c8d"/>
      </a:accent1>
      <a:accent2>
        <a:srgbClr val="f6f5f1"/>
      </a:accent2>
      <a:accent3>
        <a:srgbClr val="ff7d41"/>
      </a:accent3>
      <a:accent4>
        <a:srgbClr val="aeabab"/>
      </a:accent4>
      <a:accent5>
        <a:srgbClr val="009999"/>
      </a:accent5>
      <a:accent6>
        <a:srgbClr val="000000"/>
      </a:accent6>
      <a:hlink>
        <a:srgbClr val="009999"/>
      </a:hlink>
      <a:folHlink>
        <a:srgbClr val="e7e6e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7c8d"/>
      </a:dk2>
      <a:lt2>
        <a:srgbClr val="e7e6e6"/>
      </a:lt2>
      <a:accent1>
        <a:srgbClr val="017c8d"/>
      </a:accent1>
      <a:accent2>
        <a:srgbClr val="f6f5f1"/>
      </a:accent2>
      <a:accent3>
        <a:srgbClr val="ff7d41"/>
      </a:accent3>
      <a:accent4>
        <a:srgbClr val="aeabab"/>
      </a:accent4>
      <a:accent5>
        <a:srgbClr val="009999"/>
      </a:accent5>
      <a:accent6>
        <a:srgbClr val="000000"/>
      </a:accent6>
      <a:hlink>
        <a:srgbClr val="009999"/>
      </a:hlink>
      <a:folHlink>
        <a:srgbClr val="e7e6e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7c8d"/>
      </a:dk2>
      <a:lt2>
        <a:srgbClr val="e7e6e6"/>
      </a:lt2>
      <a:accent1>
        <a:srgbClr val="017c8d"/>
      </a:accent1>
      <a:accent2>
        <a:srgbClr val="f6f5f1"/>
      </a:accent2>
      <a:accent3>
        <a:srgbClr val="ff7d41"/>
      </a:accent3>
      <a:accent4>
        <a:srgbClr val="aeabab"/>
      </a:accent4>
      <a:accent5>
        <a:srgbClr val="009999"/>
      </a:accent5>
      <a:accent6>
        <a:srgbClr val="000000"/>
      </a:accent6>
      <a:hlink>
        <a:srgbClr val="009999"/>
      </a:hlink>
      <a:folHlink>
        <a:srgbClr val="e7e6e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2020-11-06T16:42:53Z</dcterms:created>
  <dc:creator>Heitor Cavalcante da Silva</dc:creator>
  <dc:description/>
  <dc:language>pt-BR</dc:language>
  <cp:lastModifiedBy/>
  <dcterms:modified xsi:type="dcterms:W3CDTF">2023-02-15T17:09:22Z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