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67" r:id="rId6"/>
    <p:sldId id="257" r:id="rId7"/>
    <p:sldId id="268" r:id="rId8"/>
    <p:sldId id="262" r:id="rId9"/>
    <p:sldId id="259" r:id="rId10"/>
    <p:sldId id="263" r:id="rId11"/>
    <p:sldId id="260" r:id="rId12"/>
    <p:sldId id="258" r:id="rId13"/>
    <p:sldId id="261" r:id="rId14"/>
    <p:sldId id="264" r:id="rId15"/>
    <p:sldId id="269" r:id="rId16"/>
    <p:sldId id="265" r:id="rId17"/>
    <p:sldId id="266" r:id="rId18"/>
    <p:sldId id="270" r:id="rId19"/>
    <p:sldId id="271" r:id="rId20"/>
    <p:sldId id="272" r:id="rId21"/>
    <p:sldId id="289" r:id="rId22"/>
    <p:sldId id="274" r:id="rId23"/>
    <p:sldId id="273" r:id="rId24"/>
    <p:sldId id="275" r:id="rId25"/>
    <p:sldId id="27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8AEA8-9CB5-13C4-8230-916E8CB508EB}" v="16" dt="2023-09-27T22:41:36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TON SILVA DA ROCHA" userId="S::milton.rocha@fatec.sp.gov.br::45aa7c70-2c85-44d5-9799-d954935ce382" providerId="AD" clId="Web-{2CF8AEA8-9CB5-13C4-8230-916E8CB508EB}"/>
    <pc:docChg chg="modSld">
      <pc:chgData name="MILTON SILVA DA ROCHA" userId="S::milton.rocha@fatec.sp.gov.br::45aa7c70-2c85-44d5-9799-d954935ce382" providerId="AD" clId="Web-{2CF8AEA8-9CB5-13C4-8230-916E8CB508EB}" dt="2023-09-27T22:41:36.875" v="14" actId="20577"/>
      <pc:docMkLst>
        <pc:docMk/>
      </pc:docMkLst>
      <pc:sldChg chg="modSp">
        <pc:chgData name="MILTON SILVA DA ROCHA" userId="S::milton.rocha@fatec.sp.gov.br::45aa7c70-2c85-44d5-9799-d954935ce382" providerId="AD" clId="Web-{2CF8AEA8-9CB5-13C4-8230-916E8CB508EB}" dt="2023-09-27T22:41:36.875" v="14" actId="20577"/>
        <pc:sldMkLst>
          <pc:docMk/>
          <pc:sldMk cId="0" sldId="265"/>
        </pc:sldMkLst>
        <pc:spChg chg="mod">
          <ac:chgData name="MILTON SILVA DA ROCHA" userId="S::milton.rocha@fatec.sp.gov.br::45aa7c70-2c85-44d5-9799-d954935ce382" providerId="AD" clId="Web-{2CF8AEA8-9CB5-13C4-8230-916E8CB508EB}" dt="2023-09-27T22:41:36.875" v="1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048959293164699E-2"/>
          <c:y val="2.8465963161393399E-2"/>
          <c:w val="0.898378657615305"/>
          <c:h val="0.76790730022273301"/>
        </c:manualLayout>
      </c:layout>
      <c:scatterChart>
        <c:scatterStyle val="smoothMarker"/>
        <c:varyColors val="0"/>
        <c:ser>
          <c:idx val="0"/>
          <c:order val="0"/>
          <c:tx>
            <c:strRef>
              <c:f>Planilha1!$B$1:$B$2</c:f>
              <c:strCache>
                <c:ptCount val="1"/>
                <c:pt idx="0">
                  <c:v>Tempo (s) Hospedeiro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Planilha1!$A$3:$A$9</c:f>
              <c:numCache>
                <c:formatCode>General</c:formatCode>
                <c:ptCount val="7"/>
                <c:pt idx="0">
                  <c:v>9</c:v>
                </c:pt>
                <c:pt idx="1">
                  <c:v>12</c:v>
                </c:pt>
                <c:pt idx="2">
                  <c:v>15.3</c:v>
                </c:pt>
                <c:pt idx="3">
                  <c:v>19.399999999999999</c:v>
                </c:pt>
                <c:pt idx="4">
                  <c:v>25.8</c:v>
                </c:pt>
                <c:pt idx="5">
                  <c:v>31.4</c:v>
                </c:pt>
                <c:pt idx="6">
                  <c:v>36.700000000000003</c:v>
                </c:pt>
              </c:numCache>
            </c:numRef>
          </c:xVal>
          <c:yVal>
            <c:numRef>
              <c:f>Planilha1!$B$3:$B$9</c:f>
              <c:numCache>
                <c:formatCode>General</c:formatCode>
                <c:ptCount val="7"/>
                <c:pt idx="0">
                  <c:v>12.2</c:v>
                </c:pt>
                <c:pt idx="1">
                  <c:v>15.7</c:v>
                </c:pt>
                <c:pt idx="2">
                  <c:v>19.2</c:v>
                </c:pt>
                <c:pt idx="3">
                  <c:v>21.5</c:v>
                </c:pt>
                <c:pt idx="4">
                  <c:v>25.2</c:v>
                </c:pt>
                <c:pt idx="5">
                  <c:v>29.4</c:v>
                </c:pt>
                <c:pt idx="6">
                  <c:v>32.700000000000003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5BD-4239-8752-4B67A2E69682}"/>
            </c:ext>
          </c:extLst>
        </c:ser>
        <c:ser>
          <c:idx val="1"/>
          <c:order val="1"/>
          <c:tx>
            <c:strRef>
              <c:f>Planilha1!$C$1:$C$2</c:f>
              <c:strCache>
                <c:ptCount val="1"/>
                <c:pt idx="0">
                  <c:v>Tempo(s) Convidado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Planilha1!$A$3:$A$9</c:f>
              <c:numCache>
                <c:formatCode>General</c:formatCode>
                <c:ptCount val="7"/>
                <c:pt idx="0">
                  <c:v>9</c:v>
                </c:pt>
                <c:pt idx="1">
                  <c:v>12</c:v>
                </c:pt>
                <c:pt idx="2">
                  <c:v>15.3</c:v>
                </c:pt>
                <c:pt idx="3">
                  <c:v>19.399999999999999</c:v>
                </c:pt>
                <c:pt idx="4">
                  <c:v>25.8</c:v>
                </c:pt>
                <c:pt idx="5">
                  <c:v>31.4</c:v>
                </c:pt>
                <c:pt idx="6">
                  <c:v>36.700000000000003</c:v>
                </c:pt>
              </c:numCache>
            </c:numRef>
          </c:xVal>
          <c:yVal>
            <c:numRef>
              <c:f>Planilha1!$C$3:$C$9</c:f>
              <c:numCache>
                <c:formatCode>General</c:formatCode>
                <c:ptCount val="7"/>
                <c:pt idx="0">
                  <c:v>14.1</c:v>
                </c:pt>
                <c:pt idx="1">
                  <c:v>18.399999999999999</c:v>
                </c:pt>
                <c:pt idx="2">
                  <c:v>23</c:v>
                </c:pt>
                <c:pt idx="3">
                  <c:v>28.1</c:v>
                </c:pt>
                <c:pt idx="4">
                  <c:v>36.700000000000003</c:v>
                </c:pt>
                <c:pt idx="5">
                  <c:v>42.8</c:v>
                </c:pt>
                <c:pt idx="6">
                  <c:v>50.1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5BD-4239-8752-4B67A2E696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3252271"/>
        <c:axId val="1124635727"/>
      </c:scatterChart>
      <c:valAx>
        <c:axId val="11232522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t-BR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635727"/>
        <c:crosses val="autoZero"/>
        <c:crossBetween val="midCat"/>
      </c:valAx>
      <c:valAx>
        <c:axId val="1124635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t-BR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32522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t-BR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pt-BR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389A7-31EC-4146-83BF-569339290813}" type="datetimeFigureOut">
              <a:rPr lang="pt-BR" smtClean="0"/>
              <a:t>27/09/2023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B4F7-4B38-48DB-8F62-2B436F4DC8DA}" type="slidenum">
              <a:rPr lang="pt-BR" smtClean="0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t.fatecsp.br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bt.fatecsp.br/media/bulletins/bt34.pdf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bt.fatecsp.br/home/comissao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3211" y="0"/>
            <a:ext cx="9692640" cy="956603"/>
          </a:xfrm>
        </p:spPr>
        <p:txBody>
          <a:bodyPr>
            <a:normAutofit fontScale="90000"/>
          </a:bodyPr>
          <a:lstStyle/>
          <a:p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Comparação de desempenho: máquina hospedeira versus máquina convidada.</a:t>
            </a:r>
            <a:endParaRPr lang="pt-BR" sz="3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44062" y="1223889"/>
            <a:ext cx="10494498" cy="531758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e Orientações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Trabalho em grupo.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pt-BR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Máximo 6 alunos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Tema.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pt-BR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Instalação/comparação de desempenho máquina virtual X máquina real</a:t>
            </a:r>
            <a:r>
              <a:rPr lang="pt-BR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Objetivos: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 de ambiente de </a:t>
            </a:r>
            <a:r>
              <a:rPr lang="pt-BR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máquina virtual em sistema operacional hospedeiro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Escrever texto técnico em formato de simpósio.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Programação de teste de desempenho e obtenção de dados 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Escrita de conclusões baseadas em dados obtidos de experimentos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Experiência para escrita de TCC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</a:t>
            </a:r>
            <a:r>
              <a:rPr lang="pt-BR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SO’s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hospedeiro e convidados são de escolha do grupo de trabalho: Linux/Linux; Linux/Windows; Windows/Linus; Windows/Windows....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pt-BR" sz="1800" u="sng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hlinkClick r:id="rId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Referência : https://www.virtualbox.org/wiki/Downloads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5078" y="281354"/>
            <a:ext cx="9556653" cy="703384"/>
          </a:xfrm>
        </p:spPr>
        <p:txBody>
          <a:bodyPr>
            <a:normAutofit/>
          </a:bodyPr>
          <a:lstStyle/>
          <a:p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comparação... </a:t>
            </a:r>
            <a:endParaRPr lang="pt-BR" sz="3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55078" y="1308295"/>
            <a:ext cx="10044332" cy="5078437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endParaRPr lang="pt-BR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Criar e executar programa em modo “CPU </a:t>
            </a:r>
            <a:r>
              <a:rPr lang="pt-BR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bound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para rodar nos ambientes hospedeiro e convidado para comparação de desempenho.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programa poderá ser feito em qualquer linguagem de programação.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pt-BR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Produção de dados (em tabelas e gráficos) para análise de desempenho e para facilidades de escrever as conclusões.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trabalho deverá ter o formato de um artigo do Simpósio  de Iniciação Científica (SICT) (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www.bt.fatecsp.br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trabalho poderá ser apresenrado em formato de vídeo.</a:t>
            </a:r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62708" y="1308296"/>
            <a:ext cx="10874326" cy="430471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/>
              <a:t>Direcionamento para escrita de TCC, trabalhos científicos, trabalhos técnicos...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/>
              <a:t>Observação de prazos determinados em várias etapas.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/>
              <a:t>Observação de regras para formatação de textos segundo padrão SICT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/>
              <a:t>Trabalhar as técnicas para escrita de textos técnicos.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/>
              <a:t>Desenvolver mecanismos para sintetização de textos.</a:t>
            </a:r>
          </a:p>
        </p:txBody>
      </p:sp>
      <p:sp>
        <p:nvSpPr>
          <p:cNvPr id="6" name="Título 1"/>
          <p:cNvSpPr txBox="1"/>
          <p:nvPr/>
        </p:nvSpPr>
        <p:spPr>
          <a:xfrm>
            <a:off x="1055078" y="154744"/>
            <a:ext cx="9556653" cy="618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comparação... </a:t>
            </a:r>
            <a:endParaRPr lang="pt-BR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8305" y="730885"/>
            <a:ext cx="11071225" cy="57969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e Orientações para o trabalho.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/>
              <a:t>O trabalho tem o padrão do simpósio SICT com o nome dos participante, formato,  título e ambiente de operação. Arquivo Word em anexo (</a:t>
            </a:r>
            <a:r>
              <a:rPr lang="pt-BR" sz="2800">
                <a:solidFill>
                  <a:srgbClr val="FF0000"/>
                </a:solidFill>
              </a:rPr>
              <a:t>Robô autonomo que evita colisões). </a:t>
            </a:r>
            <a:r>
              <a:rPr lang="pt-BR" sz="2800">
                <a:sym typeface="+mn-ea"/>
              </a:rPr>
              <a:t>Participante, título e ambiente de operação poderão ser alterados.</a:t>
            </a:r>
            <a:endParaRPr lang="pt-BR" sz="2800">
              <a:solidFill>
                <a:srgbClr val="FF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>
                <a:solidFill>
                  <a:srgbClr val="FF0000"/>
                </a:solidFill>
              </a:rPr>
              <a:t>Us alunos formarão os grupos e os nomes dos particiipantes deverão ser digitados em planilha do TEAMs.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/>
              <a:t>O trabalho tem nota de 0 a 10, e tem peso 2 na nota final. </a:t>
            </a:r>
            <a:r>
              <a:rPr lang="pt-BR" sz="2800" b="1">
                <a:solidFill>
                  <a:srgbClr val="FF0000"/>
                </a:solidFill>
              </a:rPr>
              <a:t>Lembrar que os relatórios terão peso 4 e a avaliação única tem peso 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/>
              <a:t>Em data a ser determinada EM SALA, cada grupo deverá entregar versão preliminar do trabalho. Será atribuída uma nota preliminar e o trabalho poderá ser revisto após correções sugeridas,</a:t>
            </a:r>
            <a:r>
              <a:rPr lang="pt-BR" sz="2800" b="1" u="sng">
                <a:solidFill>
                  <a:srgbClr val="FF0000"/>
                </a:solidFill>
              </a:rPr>
              <a:t> COM NOTA CORRIGIDA</a:t>
            </a:r>
          </a:p>
        </p:txBody>
      </p:sp>
      <p:sp>
        <p:nvSpPr>
          <p:cNvPr id="6" name="Título 1"/>
          <p:cNvSpPr txBox="1"/>
          <p:nvPr/>
        </p:nvSpPr>
        <p:spPr>
          <a:xfrm>
            <a:off x="1055078" y="0"/>
            <a:ext cx="9556653" cy="731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comparação... </a:t>
            </a:r>
            <a:endParaRPr lang="pt-BR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37895" y="858525"/>
            <a:ext cx="2199638" cy="4512575"/>
          </a:xfrm>
        </p:spPr>
        <p:txBody>
          <a:bodyPr anchor="ctr">
            <a:normAutofit/>
          </a:bodyPr>
          <a:lstStyle/>
          <a:p>
            <a:pPr algn="l"/>
            <a:r>
              <a:rPr lang="pt-BR" sz="2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 e comparação de desempenho de  máquina virtual com máquina real.</a:t>
            </a:r>
            <a:endParaRPr lang="pt-BR" sz="2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537895" y="5371100"/>
            <a:ext cx="2446465" cy="628375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pt-BR" sz="16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SICT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lang="pt-BR" sz="1600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10111" r="3395" b="-1"/>
          <a:stretch>
            <a:fillRect/>
          </a:stretch>
        </p:blipFill>
        <p:spPr>
          <a:xfrm>
            <a:off x="970671" y="858525"/>
            <a:ext cx="8264473" cy="5211906"/>
          </a:xfrm>
          <a:prstGeom prst="rect">
            <a:avLst/>
          </a:prstGeom>
        </p:spPr>
      </p:pic>
      <p:sp>
        <p:nvSpPr>
          <p:cNvPr id="22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209821" y="154745"/>
            <a:ext cx="737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/>
              <a:t>Exemplo de um trabalho apresentado no SICT.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267909" y="984738"/>
            <a:ext cx="2469624" cy="3884442"/>
          </a:xfrm>
        </p:spPr>
        <p:txBody>
          <a:bodyPr anchor="ctr">
            <a:normAutofit/>
          </a:bodyPr>
          <a:lstStyle/>
          <a:p>
            <a:pPr algn="l"/>
            <a:r>
              <a:rPr lang="pt-BR" sz="2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 e comparação de desempenho de  máquina virtual com máquina real</a:t>
            </a:r>
            <a:endParaRPr lang="pt-BR" sz="2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267908" y="5086350"/>
            <a:ext cx="2446465" cy="1178298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pt-BR" sz="16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SICT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lang="pt-BR" sz="1600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929" r="7835" b="2"/>
          <a:stretch>
            <a:fillRect/>
          </a:stretch>
        </p:blipFill>
        <p:spPr>
          <a:xfrm>
            <a:off x="545237" y="858525"/>
            <a:ext cx="8038186" cy="5211906"/>
          </a:xfrm>
          <a:prstGeom prst="rect">
            <a:avLst/>
          </a:prstGeom>
        </p:spPr>
      </p:pic>
      <p:sp>
        <p:nvSpPr>
          <p:cNvPr id="45" name="Rectangl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/>
          <p:cNvSpPr txBox="1"/>
          <p:nvPr/>
        </p:nvSpPr>
        <p:spPr>
          <a:xfrm>
            <a:off x="1209821" y="154745"/>
            <a:ext cx="737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/>
              <a:t>Exemplo de um trabalho apresentado no SICT.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267909" y="2023110"/>
            <a:ext cx="2469624" cy="2846070"/>
          </a:xfrm>
        </p:spPr>
        <p:txBody>
          <a:bodyPr anchor="ctr">
            <a:normAutofit/>
          </a:bodyPr>
          <a:lstStyle/>
          <a:p>
            <a:pPr algn="l"/>
            <a:r>
              <a:rPr lang="pt-BR" sz="2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Instalação e comparação de desempenho de  máquina virtual com máquina real</a:t>
            </a:r>
            <a:endParaRPr lang="pt-BR" sz="2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267908" y="5086350"/>
            <a:ext cx="2446465" cy="1178298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pt-BR" sz="16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SICT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lang="pt-BR" sz="1600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10588"/>
          <a:stretch>
            <a:fillRect/>
          </a:stretch>
        </p:blipFill>
        <p:spPr>
          <a:xfrm>
            <a:off x="545238" y="858525"/>
            <a:ext cx="7608304" cy="5211906"/>
          </a:xfrm>
          <a:prstGeom prst="rect">
            <a:avLst/>
          </a:prstGeom>
        </p:spPr>
      </p:pic>
      <p:sp>
        <p:nvSpPr>
          <p:cNvPr id="63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1209821" y="154745"/>
            <a:ext cx="737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/>
              <a:t>Exemplo de um trabalho apresentado no SICT.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761179"/>
          </a:xfrm>
        </p:spPr>
        <p:txBody>
          <a:bodyPr>
            <a:normAutofit/>
          </a:bodyPr>
          <a:lstStyle/>
          <a:p>
            <a:r>
              <a:rPr lang="pt-BR" sz="1050">
                <a:hlinkClick r:id="rId2"/>
              </a:rPr>
              <a:t>http://bt.fatecsp.br/media/bulletins/bt34.pdf</a:t>
            </a:r>
            <a:r>
              <a:rPr lang="pt-BR" sz="1050"/>
              <a:t>   pg.144</a:t>
            </a:r>
            <a:endParaRPr lang="pt-BR" sz="36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858" y="1857514"/>
            <a:ext cx="3248025" cy="4619625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62708" y="1032387"/>
            <a:ext cx="10874326" cy="58256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pt-BR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20019" y="182881"/>
            <a:ext cx="9132277" cy="717452"/>
          </a:xfrm>
        </p:spPr>
        <p:txBody>
          <a:bodyPr>
            <a:normAutofit/>
          </a:bodyPr>
          <a:lstStyle/>
          <a:p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SICT - </a:t>
            </a:r>
            <a:r>
              <a:rPr lang="pt-BR" sz="2700">
                <a:hlinkClick r:id="rId2"/>
              </a:rPr>
              <a:t>http://bt.fatecsp.br/home/comissao</a:t>
            </a:r>
            <a:endParaRPr lang="pt-BR" sz="360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1" y="1017023"/>
            <a:ext cx="10267070" cy="54822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610" y="-635"/>
            <a:ext cx="10874375" cy="6540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para a pontuação do trabalho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635" y="746125"/>
            <a:ext cx="12192635" cy="5718175"/>
          </a:xfrm>
        </p:spPr>
        <p:txBody>
          <a:bodyPr>
            <a:normAutofit fontScale="625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3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Entrega do corpo do trabalho com nome dos participante, título do trabalho e ambiente de desenvolvimento</a:t>
            </a:r>
            <a:r>
              <a:rPr lang="pt-BR" sz="32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Página única do trabalho com nome dos participantes. Seguir o modelo de simpósio 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-----&gt;    Não altere  &lt;--------                                                  </a:t>
            </a:r>
            <a:endParaRPr lang="pt-BR" sz="3200" b="1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ipos e tamanhos de letras</a:t>
            </a:r>
          </a:p>
          <a:p>
            <a:pPr marL="514350" indent="-5143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Tabulação</a:t>
            </a:r>
          </a:p>
          <a:p>
            <a:pPr marL="514350" indent="-5143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dos participantes, e-mails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pt-BR" sz="3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Apresentar a máquina virtual em operação </a:t>
            </a: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(10%)</a:t>
            </a:r>
          </a:p>
          <a:p>
            <a:pPr marL="457200" indent="-4572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a execução do programa teste no ambiente virtual</a:t>
            </a:r>
          </a:p>
          <a:p>
            <a:pPr marL="457200" indent="-4572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programa teste é CPU </a:t>
            </a:r>
            <a:r>
              <a:rPr lang="pt-BR" sz="3200" b="1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bound</a:t>
            </a: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conforme modelo dado</a:t>
            </a:r>
            <a:r>
              <a:rPr lang="pt-BR" sz="3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3200" b="1" i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pt-BR" sz="3200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Trabalho completo. Parte formal </a:t>
            </a:r>
            <a:endParaRPr lang="pt-BR" sz="3200" b="1" i="1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Seguir toda a formatação do simpósio </a:t>
            </a:r>
            <a:r>
              <a:rPr lang="pt-BR" sz="3200" i="1" u="sng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UMA PÁGINA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Orientações para escrita de texto: 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Frases curtas; 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Conclusões baseadas em dados obtidos no trabalho...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Inntrodução e Conclusão só após ter feito o CORPO do trabalho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57933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para a pontuação do trabalho (OPERACIONAL 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8837" y="745588"/>
            <a:ext cx="10874326" cy="554970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Repetindo: I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ntrodução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conclusão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são 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último itens a serem escritos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introdução </a:t>
            </a:r>
            <a:r>
              <a:rPr lang="pt-BR" sz="3600" b="1" i="1" u="sng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poderá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ter uma breve descrição da máquina virtual e aplicações e </a:t>
            </a:r>
            <a:r>
              <a:rPr lang="pt-BR" sz="3600" b="1" i="1" u="sng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deverá</a:t>
            </a:r>
            <a:r>
              <a:rPr lang="pt-BR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o que será feito no trabalho.</a:t>
            </a:r>
          </a:p>
          <a:p>
            <a:pPr marL="285750" indent="-2857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conclusão </a:t>
            </a:r>
            <a:r>
              <a:rPr lang="pt-BR" sz="3600" b="1" i="1" u="sng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deverá</a:t>
            </a:r>
            <a:r>
              <a:rPr lang="pt-BR" sz="3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 feita com bases nos resultados obtidos no trabalho a partir de Tabelas e Gáficos obtidos.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3600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57933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2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para a pontuação do trabalho (OPERACIONAL)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8837" y="745588"/>
            <a:ext cx="10874326" cy="5946157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pt-BR" sz="36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coloque </a:t>
            </a:r>
            <a:r>
              <a:rPr lang="pt-BR" sz="2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conclusão termos como : 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programa funcionou </a:t>
            </a:r>
            <a:r>
              <a:rPr lang="pt-BR" sz="2800" b="1" i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maravilhosamente</a:t>
            </a: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bem.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pt-BR" sz="2800" b="1" i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fácil</a:t>
            </a: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ver que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pt-BR" sz="2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Basear a conclusão em dados e tabelas obtidas na tabela. EXEMPLOS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tabela 1 mostra que ...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resultado apresentado indica que o desempenho da máquina virtual  não apresenta diferença significativa ...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base nos resultados obtidos na tabela 1 não se recomenda...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pt-BR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Conforme a figura 1, não há diferença significativa entre desempenho</a:t>
            </a:r>
            <a:r>
              <a:rPr lang="pt-BR" sz="2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endParaRPr lang="pt-BR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579333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3200" b="1">
                <a:latin typeface="Calibri" panose="020F0502020204030204" pitchFamily="34" charset="0"/>
                <a:cs typeface="Times New Roman" panose="02020603050405020304" pitchFamily="18" charset="0"/>
              </a:rPr>
              <a:t>Código CPU </a:t>
            </a:r>
            <a:r>
              <a:rPr lang="pt-BR" sz="3200" b="1" err="1">
                <a:latin typeface="Calibri" panose="020F0502020204030204" pitchFamily="34" charset="0"/>
                <a:cs typeface="Times New Roman" panose="02020603050405020304" pitchFamily="18" charset="0"/>
              </a:rPr>
              <a:t>Bound</a:t>
            </a:r>
            <a:r>
              <a:rPr lang="pt-BR" sz="3200" b="1">
                <a:latin typeface="Calibri" panose="020F0502020204030204" pitchFamily="34" charset="0"/>
                <a:cs typeface="Times New Roman" panose="02020603050405020304" pitchFamily="18" charset="0"/>
              </a:rPr>
              <a:t> (Pascal)</a:t>
            </a:r>
            <a:endParaRPr lang="pt-BR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62708" y="745589"/>
            <a:ext cx="10874326" cy="551453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comparação de desempenho </a:t>
            </a:r>
            <a:r>
              <a:rPr lang="pt-BR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rodará um código similar em ambientes host e virtual. 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pt-BR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Times.h</a:t>
            </a:r>
            <a:r>
              <a:rPr lang="pt-BR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pt-BR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Tinicial</a:t>
            </a:r>
            <a:r>
              <a:rPr lang="pt-BR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millisegundos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pt-BR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For i:= 1 to 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endParaRPr lang="pt-BR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For j:= 1 to 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nj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endParaRPr lang="pt-BR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For k:= 1 to 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nk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endParaRPr lang="pt-BR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/>
                <a:ea typeface="Calibri"/>
                <a:cs typeface="Times New Roman"/>
              </a:rPr>
              <a:t>	</a:t>
            </a:r>
            <a:r>
              <a:rPr lang="en-US">
                <a:solidFill>
                  <a:srgbClr val="FF0000"/>
                </a:solidFill>
                <a:effectLst/>
                <a:latin typeface="Calibri"/>
                <a:ea typeface="Calibri"/>
                <a:cs typeface="Times New Roman"/>
              </a:rPr>
              <a:t>C:=2*sin(1.2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Times New Roman"/>
              </a:rPr>
              <a:t>)+ln(455);</a:t>
            </a:r>
            <a:endParaRPr lang="pt-BR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/>
                <a:ea typeface="Calibri"/>
                <a:cs typeface="Times New Roman"/>
              </a:rPr>
              <a:t>//Ni=300=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nj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=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nk</a:t>
            </a:r>
            <a:r>
              <a:rPr lang="en-US">
                <a:latin typeface="Calibri"/>
                <a:ea typeface="Calibri"/>
                <a:cs typeface="Times New Roman"/>
              </a:rPr>
              <a:t> 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>
                <a:effectLst/>
                <a:latin typeface="Calibri"/>
                <a:ea typeface="Calibri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>
                <a:latin typeface="Calibri"/>
                <a:ea typeface="Calibri"/>
                <a:cs typeface="Times New Roman"/>
              </a:rPr>
              <a:t> 300*100*100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= </a:t>
            </a:r>
            <a:r>
              <a:rPr lang="en-US">
                <a:latin typeface="Calibri"/>
                <a:ea typeface="Calibri"/>
                <a:cs typeface="Times New Roman"/>
              </a:rPr>
              <a:t>3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000 000</a:t>
            </a:r>
            <a:r>
              <a:rPr lang="en-US">
                <a:latin typeface="Calibri"/>
                <a:ea typeface="Calibri"/>
                <a:cs typeface="Times New Roman"/>
              </a:rPr>
              <a:t> </a:t>
            </a:r>
            <a:endParaRPr lang="pt-BR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Tfinal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millisegundos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pt-BR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Dt=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tfinal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tinicial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>
                <a:latin typeface="Calibri"/>
                <a:ea typeface="Calibri"/>
                <a:cs typeface="Times New Roman"/>
              </a:rPr>
              <a:t>Nota:  A </a:t>
            </a:r>
            <a:r>
              <a:rPr lang="en-US" err="1">
                <a:latin typeface="Calibri"/>
                <a:ea typeface="Calibri"/>
                <a:cs typeface="Times New Roman"/>
              </a:rPr>
              <a:t>instrução</a:t>
            </a:r>
            <a:r>
              <a:rPr lang="en-US">
                <a:latin typeface="Calibri"/>
                <a:ea typeface="Calibri"/>
                <a:cs typeface="Times New Roman"/>
              </a:rPr>
              <a:t> 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C:=2*sin(1.2);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poderá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ser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substituida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por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instrução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adequada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ao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tempo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desejado</a:t>
            </a:r>
            <a:r>
              <a:rPr lang="en-US">
                <a:effectLst/>
                <a:latin typeface="Calibri"/>
                <a:ea typeface="Calibri"/>
                <a:cs typeface="Times New Roman"/>
              </a:rPr>
              <a:t> de </a:t>
            </a:r>
            <a:r>
              <a:rPr lang="en-US" err="1">
                <a:effectLst/>
                <a:latin typeface="Calibri"/>
                <a:ea typeface="Calibri"/>
                <a:cs typeface="Times New Roman"/>
              </a:rPr>
              <a:t>operação</a:t>
            </a:r>
            <a:r>
              <a:rPr lang="en-US">
                <a:latin typeface="Calibri"/>
                <a:ea typeface="Calibri"/>
                <a:cs typeface="Times New Roman"/>
              </a:rPr>
              <a:t>.</a:t>
            </a:r>
            <a:endParaRPr lang="pt-BR">
              <a:effectLst/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579333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3200" b="1">
                <a:latin typeface="Calibri" panose="020F0502020204030204" pitchFamily="34" charset="0"/>
                <a:cs typeface="Times New Roman" panose="02020603050405020304" pitchFamily="18" charset="0"/>
              </a:rPr>
              <a:t>Orientações para o trabalho</a:t>
            </a:r>
            <a:endParaRPr lang="pt-BR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62708" y="745589"/>
            <a:ext cx="10874326" cy="6112412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valor do loop deverá ser suficientemente grande e mensurável para “gastar” algumas dezenas de segundo.</a:t>
            </a: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teste deverá contemplar pelo menos </a:t>
            </a:r>
            <a:r>
              <a:rPr lang="pt-BR" sz="3200" b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sete </a:t>
            </a: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valores diferentes de </a:t>
            </a:r>
            <a:r>
              <a:rPr lang="pt-BR" sz="32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pt-BR" sz="32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nj</a:t>
            </a: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</a:t>
            </a:r>
            <a:r>
              <a:rPr lang="pt-BR" sz="32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nk</a:t>
            </a: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 o tempo de execução)</a:t>
            </a: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conclusão observar se há correlação entre o tempo de execução e à quantidade de instruções. </a:t>
            </a: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pt-BR" sz="3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Comparar o desempenho (tempos de execução) no ambiente virtual e ambiente host.</a:t>
            </a:r>
            <a:endParaRPr lang="pt-BR" sz="3200" b="1" i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579333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3200" b="1">
                <a:latin typeface="Calibri" panose="020F0502020204030204" pitchFamily="34" charset="0"/>
                <a:cs typeface="Times New Roman" panose="02020603050405020304" pitchFamily="18" charset="0"/>
              </a:rPr>
              <a:t>Corpo do trabalho. Exemplo de tabela</a:t>
            </a:r>
            <a:endParaRPr lang="pt-BR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16258" y="998806"/>
            <a:ext cx="875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/>
              <a:t>Tabela 1. Comparação de desempenho</a:t>
            </a:r>
          </a:p>
        </p:txBody>
      </p:sp>
      <p:graphicFrame>
        <p:nvGraphicFramePr>
          <p:cNvPr id="8" name="Tabela 7"/>
          <p:cNvGraphicFramePr/>
          <p:nvPr/>
        </p:nvGraphicFramePr>
        <p:xfrm>
          <a:off x="2406847" y="2093144"/>
          <a:ext cx="5485128" cy="3154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Quant.  Instruções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Tempo (s)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Tempo(s)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Milhões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Hospedeiro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Convidado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12,2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14,1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15,7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18,4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15,3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19,2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23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19,4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21,5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28,1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25,8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25,2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36,7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31,4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29,4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42,8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456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36,7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32,7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u="none" strike="noStrike">
                          <a:effectLst/>
                        </a:rPr>
                        <a:t>50,1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9133490" y="2480441"/>
            <a:ext cx="1342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Gráfico de dispersão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2708" y="166255"/>
            <a:ext cx="10874326" cy="579333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3200" b="1">
                <a:latin typeface="Calibri" panose="020F0502020204030204" pitchFamily="34" charset="0"/>
                <a:cs typeface="Times New Roman" panose="02020603050405020304" pitchFamily="18" charset="0"/>
              </a:rPr>
              <a:t>Corpo do trabalho. Exemplo de gráfico</a:t>
            </a:r>
            <a:endParaRPr lang="pt-BR" sz="32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378634" y="5475849"/>
            <a:ext cx="941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/>
              <a:t>Figura 1. Máquina real X virtual em CPU </a:t>
            </a:r>
            <a:r>
              <a:rPr lang="pt-BR" sz="3600" err="1"/>
              <a:t>bound</a:t>
            </a:r>
            <a:endParaRPr lang="pt-BR" sz="3600"/>
          </a:p>
        </p:txBody>
      </p:sp>
      <p:graphicFrame>
        <p:nvGraphicFramePr>
          <p:cNvPr id="8" name="Gráfico 7"/>
          <p:cNvGraphicFramePr/>
          <p:nvPr/>
        </p:nvGraphicFramePr>
        <p:xfrm>
          <a:off x="2825262" y="1716259"/>
          <a:ext cx="4940104" cy="3123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62271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520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031" r="19465" b="1"/>
          <a:stretch>
            <a:fillRect/>
          </a:stretch>
        </p:blipFill>
        <p:spPr>
          <a:xfrm>
            <a:off x="838200" y="1845426"/>
            <a:ext cx="10512547" cy="44503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altLang="en-US"/>
              <a:t>Uma breve descrição do ambiente VM</a:t>
            </a:r>
            <a:br>
              <a:rPr lang="pt-BR" altLang="en-US"/>
            </a:br>
            <a:r>
              <a:rPr lang="pt-BR" altLang="en-US"/>
              <a:t>(Virtual Machine)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sz="3600"/>
              <a:t>Caracterizaçãodo ambiente VM</a:t>
            </a:r>
          </a:p>
          <a:p>
            <a:r>
              <a:rPr lang="pt-BR" altLang="en-US" sz="3600"/>
              <a:t>O programa de instalação de VM</a:t>
            </a:r>
          </a:p>
          <a:p>
            <a:r>
              <a:rPr lang="pt-BR" altLang="en-US" sz="3600"/>
              <a:t>O programa hospedeiro. (HOST)</a:t>
            </a:r>
          </a:p>
          <a:p>
            <a:r>
              <a:rPr lang="pt-BR" altLang="en-US" sz="3600"/>
              <a:t>O programa convidado (GUEST)</a:t>
            </a:r>
          </a:p>
          <a:p>
            <a:r>
              <a:rPr lang="pt-BR" altLang="en-US" sz="3600"/>
              <a:t>O programa para teste de desempenho.</a:t>
            </a:r>
          </a:p>
          <a:p>
            <a:endParaRPr lang="pt-BR" alt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Virtualização baremetal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822" y="1536861"/>
            <a:ext cx="6553545" cy="37922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Virtualização</a:t>
            </a: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hosted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687" y="1259869"/>
            <a:ext cx="6553545" cy="43382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6675" y="1"/>
            <a:ext cx="10515600" cy="801858"/>
          </a:xfrm>
        </p:spPr>
        <p:txBody>
          <a:bodyPr/>
          <a:lstStyle/>
          <a:p>
            <a:pPr algn="ctr"/>
            <a:r>
              <a:rPr lang="pt-BR"/>
              <a:t>Conceitos Virtual Box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836675" y="1153551"/>
            <a:ext cx="10994253" cy="435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Virtual </a:t>
            </a:r>
            <a:r>
              <a:rPr lang="pt-BR" sz="3200" b="1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</a:t>
            </a:r>
            <a:r>
              <a:rPr lang="pt-BR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(VM).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special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environment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VM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VirtualBox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guest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OS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running. </a:t>
            </a:r>
          </a:p>
          <a:p>
            <a:pPr algn="just">
              <a:lnSpc>
                <a:spcPct val="115000"/>
              </a:lnSpc>
            </a:pPr>
            <a:r>
              <a:rPr lang="pt-BR" sz="3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32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pt-BR" sz="3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Host </a:t>
            </a:r>
            <a:r>
              <a:rPr lang="pt-BR" sz="3200" b="1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</a:t>
            </a:r>
            <a:r>
              <a:rPr lang="pt-BR" sz="3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 (host OS).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OS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physical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Oracle VM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VirtualBox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installed</a:t>
            </a: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15000"/>
              </a:lnSpc>
            </a:pPr>
            <a:r>
              <a:rPr lang="pt-BR" sz="3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pt-BR" sz="3200" b="1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Guest</a:t>
            </a:r>
            <a:r>
              <a:rPr lang="pt-BR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b="1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operating</a:t>
            </a:r>
            <a:r>
              <a:rPr lang="pt-BR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 (</a:t>
            </a:r>
            <a:r>
              <a:rPr lang="pt-BR" sz="3200" b="1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guest</a:t>
            </a:r>
            <a:r>
              <a:rPr lang="pt-BR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OS).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OS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running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inside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virtual </a:t>
            </a:r>
            <a:r>
              <a:rPr lang="pt-BR" sz="32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</a:t>
            </a:r>
            <a:r>
              <a:rPr lang="pt-BR" sz="3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6675" y="1"/>
            <a:ext cx="10515600" cy="801858"/>
          </a:xfrm>
        </p:spPr>
        <p:txBody>
          <a:bodyPr/>
          <a:lstStyle/>
          <a:p>
            <a:pPr algn="ctr"/>
            <a:r>
              <a:rPr lang="pt-BR"/>
              <a:t>Ambiente Virtual Box</a:t>
            </a:r>
          </a:p>
        </p:txBody>
      </p:sp>
      <p:pic>
        <p:nvPicPr>
          <p:cNvPr id="5" name="Imagem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69145" y="1561515"/>
            <a:ext cx="9411285" cy="44453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bd0c77-24ac-4861-855b-79d97260e403" xsi:nil="true"/>
    <lcf76f155ced4ddcb4097134ff3c332f xmlns="1584da31-70ed-4cbd-995e-5750d4360d5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83151F2361684BA5780C0C225DBA4E" ma:contentTypeVersion="10" ma:contentTypeDescription="Crie um novo documento." ma:contentTypeScope="" ma:versionID="244ac0b57eade96b7d08ea6ebe5d7066">
  <xsd:schema xmlns:xsd="http://www.w3.org/2001/XMLSchema" xmlns:xs="http://www.w3.org/2001/XMLSchema" xmlns:p="http://schemas.microsoft.com/office/2006/metadata/properties" xmlns:ns2="1584da31-70ed-4cbd-995e-5750d4360d51" xmlns:ns3="c9bd0c77-24ac-4861-855b-79d97260e403" targetNamespace="http://schemas.microsoft.com/office/2006/metadata/properties" ma:root="true" ma:fieldsID="b77b9b66a984ee18d83f0e68e77e9690" ns2:_="" ns3:_="">
    <xsd:import namespace="1584da31-70ed-4cbd-995e-5750d4360d51"/>
    <xsd:import namespace="c9bd0c77-24ac-4861-855b-79d97260e4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4da31-70ed-4cbd-995e-5750d4360d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d0c77-24ac-4861-855b-79d97260e4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c44ba37-55b7-4257-b6c8-20b65111477a}" ma:internalName="TaxCatchAll" ma:showField="CatchAllData" ma:web="c9bd0c77-24ac-4861-855b-79d97260e4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21AFDF-1953-45C7-9113-501F3BA540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428C49-66B3-4E6C-BA5D-15FC34007C65}">
  <ds:schemaRefs>
    <ds:schemaRef ds:uri="1584da31-70ed-4cbd-995e-5750d4360d51"/>
    <ds:schemaRef ds:uri="c9bd0c77-24ac-4861-855b-79d97260e40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5D8A555-1382-4F1D-B6B7-03659FF4585C}">
  <ds:schemaRefs>
    <ds:schemaRef ds:uri="1584da31-70ed-4cbd-995e-5750d4360d51"/>
    <ds:schemaRef ds:uri="c9bd0c77-24ac-4861-855b-79d97260e40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do Office</vt:lpstr>
      <vt:lpstr>Comparação de desempenho: máquina hospedeira versus máquina convidada.</vt:lpstr>
      <vt:lpstr>Instalação e comparação... </vt:lpstr>
      <vt:lpstr>PowerPoint Presentation</vt:lpstr>
      <vt:lpstr>PowerPoint Presentation</vt:lpstr>
      <vt:lpstr>Instalação e comparação de desempenho de  máquina virtual com máquina real.</vt:lpstr>
      <vt:lpstr>Instalação e comparação de desempenho de  máquina virtual com máquina real</vt:lpstr>
      <vt:lpstr>Instalação e comparação de desempenho de  máquina virtual com máquina real</vt:lpstr>
      <vt:lpstr>http://bt.fatecsp.br/media/bulletins/bt34.pdf   pg.144</vt:lpstr>
      <vt:lpstr>SICT - http://bt.fatecsp.br/home/comissao</vt:lpstr>
      <vt:lpstr>Regras para a pontuação do trabalho</vt:lpstr>
      <vt:lpstr>Regras para a pontuação do trabalho (OPERACIONAL )</vt:lpstr>
      <vt:lpstr>Regras para a pontuação do trabalho (OPERACIONAL)</vt:lpstr>
      <vt:lpstr>Código CPU Bound (Pascal)</vt:lpstr>
      <vt:lpstr>Orientações para o trabalho</vt:lpstr>
      <vt:lpstr>Corpo do trabalho. Exemplo de tabela</vt:lpstr>
      <vt:lpstr>Corpo do trabalho. Exemplo de gráfico</vt:lpstr>
      <vt:lpstr>PowerPoint Presentation</vt:lpstr>
      <vt:lpstr>Uma breve descrição do ambiente VM (Virtual Machine)</vt:lpstr>
      <vt:lpstr>Virtualização baremetal</vt:lpstr>
      <vt:lpstr>Virtualização hosted</vt:lpstr>
      <vt:lpstr>Conceitos Virtual Box</vt:lpstr>
      <vt:lpstr>Ambiente Virtual Box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Instalação e comparação de desempenho de  máquina virtual com máquina real</dc:title>
  <dc:creator>Milton Silva da Rocha</dc:creator>
  <cp:revision>1</cp:revision>
  <dcterms:created xsi:type="dcterms:W3CDTF">2020-10-05T18:52:00Z</dcterms:created>
  <dcterms:modified xsi:type="dcterms:W3CDTF">2023-09-27T22:41:43Z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CCA3AFC8A186466F879910470329A0F8_12</vt:lpwstr>
  </property>
  <property fmtid="{D5CDD505-2E9C-101B-9397-08002B2CF9AE}" pid="3" name="KSOProductBuildVer">
    <vt:lpwstr>1046-12.2.0.13201</vt:lpwstr>
  </property>
  <property fmtid="{D5CDD505-2E9C-101B-9397-08002B2CF9AE}" pid="4" name="ContentTypeId">
    <vt:lpwstr>0x010100CE83151F2361684BA5780C0C225DBA4E</vt:lpwstr>
  </property>
  <property fmtid="{D5CDD505-2E9C-101B-9397-08002B2CF9AE}" pid="5" name="MediaServiceImageTags">
    <vt:lpwstr/>
  </property>
</Properties>
</file>