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80" r:id="rId4"/>
    <p:sldId id="262" r:id="rId5"/>
    <p:sldId id="283" r:id="rId6"/>
    <p:sldId id="275" r:id="rId7"/>
    <p:sldId id="284" r:id="rId8"/>
    <p:sldId id="282" r:id="rId9"/>
    <p:sldId id="264" r:id="rId10"/>
    <p:sldId id="285" r:id="rId11"/>
    <p:sldId id="277" r:id="rId12"/>
    <p:sldId id="267" r:id="rId13"/>
    <p:sldId id="268" r:id="rId14"/>
    <p:sldId id="269" r:id="rId15"/>
    <p:sldId id="270" r:id="rId16"/>
    <p:sldId id="272" r:id="rId17"/>
    <p:sldId id="266" r:id="rId18"/>
    <p:sldId id="265" r:id="rId19"/>
    <p:sldId id="273" r:id="rId20"/>
    <p:sldId id="260" r:id="rId21"/>
    <p:sldId id="279" r:id="rId2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26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Clique para editar o estilo do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3810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13/02/2019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>
            <a:normAutofit fontScale="90000"/>
          </a:bodyPr>
          <a:lstStyle/>
          <a:p>
            <a:r>
              <a:rPr lang="pt-BR" u="sng" dirty="0" smtClean="0">
                <a:solidFill>
                  <a:srgbClr val="FF0000"/>
                </a:solidFill>
              </a:rPr>
              <a:t>Atividades em sala (1): </a:t>
            </a:r>
            <a:r>
              <a:rPr lang="pt-BR" b="1" i="1" u="sng" dirty="0" smtClean="0"/>
              <a:t>Alimentação</a:t>
            </a:r>
            <a:endParaRPr lang="pt-BR" u="sng" dirty="0" smtClean="0">
              <a:solidFill>
                <a:srgbClr val="FF0000"/>
              </a:solidFill>
            </a:endParaRPr>
          </a:p>
        </p:txBody>
      </p:sp>
      <p:sp>
        <p:nvSpPr>
          <p:cNvPr id="6147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327650"/>
          </a:xfrm>
        </p:spPr>
        <p:txBody>
          <a:bodyPr/>
          <a:lstStyle/>
          <a:p>
            <a:pPr eaLnBrk="1" hangingPunct="1"/>
            <a:r>
              <a:rPr lang="pt-BR" sz="2400" dirty="0" smtClean="0"/>
              <a:t>Rede Eletropaulo. Estabilizador. No </a:t>
            </a:r>
            <a:r>
              <a:rPr lang="pt-BR" sz="2400" dirty="0" err="1" smtClean="0"/>
              <a:t>break</a:t>
            </a:r>
            <a:r>
              <a:rPr lang="pt-BR" sz="2400" dirty="0" smtClean="0"/>
              <a:t>.</a:t>
            </a:r>
          </a:p>
          <a:p>
            <a:pPr eaLnBrk="1" hangingPunct="1"/>
            <a:r>
              <a:rPr lang="pt-BR" sz="2400" dirty="0" smtClean="0"/>
              <a:t>Conceitos: Potencia, Tensão e Corrente elétrica.</a:t>
            </a:r>
          </a:p>
          <a:p>
            <a:pPr eaLnBrk="1" hangingPunct="1"/>
            <a:r>
              <a:rPr lang="pt-BR" sz="2400" dirty="0" smtClean="0"/>
              <a:t>Unidades elétricas: Watt, Volt, Ampère.</a:t>
            </a:r>
          </a:p>
          <a:p>
            <a:r>
              <a:rPr lang="pt-BR" sz="2400" dirty="0" smtClean="0"/>
              <a:t>Medir: Comparar com um padrão.</a:t>
            </a:r>
          </a:p>
          <a:p>
            <a:pPr eaLnBrk="1" hangingPunct="1"/>
            <a:r>
              <a:rPr lang="pt-BR" sz="2400" dirty="0" smtClean="0"/>
              <a:t>Prática: Medidas das tensões de alimentação.</a:t>
            </a:r>
          </a:p>
          <a:p>
            <a:pPr eaLnBrk="1" hangingPunct="1"/>
            <a:r>
              <a:rPr lang="pt-BR" sz="2400" dirty="0" smtClean="0"/>
              <a:t>Lei da potência:  P = U. I</a:t>
            </a:r>
          </a:p>
          <a:p>
            <a:pPr eaLnBrk="1" hangingPunct="1"/>
            <a:r>
              <a:rPr lang="pt-BR" sz="2400" dirty="0" smtClean="0"/>
              <a:t>Conceitos: Corrente alternada e corrente contínua.</a:t>
            </a:r>
          </a:p>
          <a:p>
            <a:pPr marL="0" indent="0" algn="ctr" eaLnBrk="1" hangingPunct="1">
              <a:buNone/>
            </a:pPr>
            <a:r>
              <a:rPr lang="pt-BR" sz="4800" dirty="0" smtClean="0"/>
              <a:t>Resposta às questões </a:t>
            </a:r>
            <a:r>
              <a:rPr lang="pt-BR" sz="4800" dirty="0" smtClean="0"/>
              <a:t>no final do texto.</a:t>
            </a:r>
            <a:endParaRPr lang="pt-BR" sz="4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1420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Valor nominal</a:t>
            </a:r>
            <a:br>
              <a:rPr lang="pt-BR" dirty="0" smtClean="0"/>
            </a:br>
            <a:r>
              <a:rPr lang="pt-BR" dirty="0"/>
              <a:t>X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Valor real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2492896"/>
            <a:ext cx="8640960" cy="3633267"/>
          </a:xfrm>
        </p:spPr>
        <p:txBody>
          <a:bodyPr/>
          <a:lstStyle/>
          <a:p>
            <a:r>
              <a:rPr lang="pt-BR" dirty="0" smtClean="0"/>
              <a:t>Nominal. No catalogo do fabricante.</a:t>
            </a:r>
          </a:p>
          <a:p>
            <a:r>
              <a:rPr lang="pt-BR" dirty="0" smtClean="0"/>
              <a:t>Real. Medida ou obtida no funcionamento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846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Rede </a:t>
            </a:r>
            <a:r>
              <a:rPr lang="pt-BR" dirty="0" smtClean="0"/>
              <a:t>Eletropaulo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Fornece tensão </a:t>
            </a:r>
            <a:r>
              <a:rPr lang="pt-BR" b="1" i="1" u="sng" dirty="0" smtClean="0">
                <a:solidFill>
                  <a:srgbClr val="FF0000"/>
                </a:solidFill>
              </a:rPr>
              <a:t>alternada</a:t>
            </a:r>
            <a:r>
              <a:rPr lang="pt-BR" dirty="0" smtClean="0"/>
              <a:t>:</a:t>
            </a:r>
          </a:p>
          <a:p>
            <a:r>
              <a:rPr lang="pt-BR" dirty="0" smtClean="0"/>
              <a:t>Tensão </a:t>
            </a:r>
            <a:r>
              <a:rPr lang="pt-BR" b="1" i="1" u="sng" dirty="0" smtClean="0">
                <a:solidFill>
                  <a:srgbClr val="FF0000"/>
                </a:solidFill>
              </a:rPr>
              <a:t>nominal</a:t>
            </a:r>
            <a:r>
              <a:rPr lang="pt-BR" dirty="0" smtClean="0"/>
              <a:t> de 127 volts;</a:t>
            </a:r>
          </a:p>
          <a:p>
            <a:r>
              <a:rPr lang="pt-BR" dirty="0" smtClean="0"/>
              <a:t>Alternada </a:t>
            </a:r>
            <a:r>
              <a:rPr lang="pt-BR" dirty="0" smtClean="0"/>
              <a:t>com frequência de </a:t>
            </a:r>
            <a:r>
              <a:rPr lang="pt-BR" dirty="0" smtClean="0"/>
              <a:t>60 Hertz;</a:t>
            </a:r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3131840" y="4221088"/>
            <a:ext cx="1512168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127 Volts</a:t>
            </a:r>
          </a:p>
          <a:p>
            <a:pPr algn="ctr"/>
            <a:r>
              <a:rPr lang="pt-BR" dirty="0" smtClean="0"/>
              <a:t>(nominais)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023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Estabilizador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pt-BR" dirty="0" smtClean="0"/>
              <a:t>Recebe tensão não estabilizada da Eletropaulo</a:t>
            </a:r>
          </a:p>
          <a:p>
            <a:r>
              <a:rPr lang="pt-BR" dirty="0" smtClean="0"/>
              <a:t>Fornece </a:t>
            </a:r>
            <a:r>
              <a:rPr lang="pt-BR" dirty="0" smtClean="0"/>
              <a:t>tensão </a:t>
            </a:r>
            <a:r>
              <a:rPr lang="pt-BR" b="1" i="1" u="sng" dirty="0">
                <a:solidFill>
                  <a:srgbClr val="FF0000"/>
                </a:solidFill>
              </a:rPr>
              <a:t>nominal</a:t>
            </a:r>
            <a:r>
              <a:rPr lang="pt-BR" b="1" i="1" dirty="0">
                <a:solidFill>
                  <a:srgbClr val="FF0000"/>
                </a:solidFill>
              </a:rPr>
              <a:t> </a:t>
            </a:r>
            <a:r>
              <a:rPr lang="pt-BR" b="1" i="1" u="sng" dirty="0" smtClean="0">
                <a:solidFill>
                  <a:srgbClr val="FF0000"/>
                </a:solidFill>
              </a:rPr>
              <a:t>alternada de 115V</a:t>
            </a:r>
            <a:r>
              <a:rPr lang="pt-BR" dirty="0" smtClean="0"/>
              <a:t>:</a:t>
            </a:r>
            <a:endParaRPr lang="pt-BR" dirty="0" smtClean="0"/>
          </a:p>
          <a:p>
            <a:r>
              <a:rPr lang="pt-BR" dirty="0" smtClean="0"/>
              <a:t>60 </a:t>
            </a:r>
            <a:r>
              <a:rPr lang="pt-BR" dirty="0" smtClean="0"/>
              <a:t>Hertz</a:t>
            </a:r>
            <a:r>
              <a:rPr lang="pt-BR" dirty="0" smtClean="0"/>
              <a:t>;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8" name="Elipse 7"/>
          <p:cNvSpPr/>
          <p:nvPr/>
        </p:nvSpPr>
        <p:spPr>
          <a:xfrm>
            <a:off x="3419872" y="3861048"/>
            <a:ext cx="2016224" cy="15841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3743908" y="4221088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115 Volts (nominais</a:t>
            </a:r>
            <a:endParaRPr lang="pt-BR" dirty="0"/>
          </a:p>
        </p:txBody>
      </p:sp>
      <p:cxnSp>
        <p:nvCxnSpPr>
          <p:cNvPr id="12" name="Conector de seta reta 15"/>
          <p:cNvCxnSpPr/>
          <p:nvPr/>
        </p:nvCxnSpPr>
        <p:spPr>
          <a:xfrm>
            <a:off x="2177734" y="4365104"/>
            <a:ext cx="720080" cy="360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15616" y="274638"/>
            <a:ext cx="6840760" cy="63408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Fonte do computador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328592"/>
          </a:xfrm>
        </p:spPr>
        <p:txBody>
          <a:bodyPr/>
          <a:lstStyle/>
          <a:p>
            <a:r>
              <a:rPr lang="pt-BR" dirty="0" smtClean="0"/>
              <a:t>Recebe tensão de 115 Volts do estabilizador.</a:t>
            </a:r>
          </a:p>
          <a:p>
            <a:r>
              <a:rPr lang="pt-BR" dirty="0" smtClean="0"/>
              <a:t>Possui circuitos conversores de tensão alternada em tensão contínua</a:t>
            </a:r>
            <a:endParaRPr lang="pt-BR" dirty="0" smtClean="0"/>
          </a:p>
          <a:p>
            <a:r>
              <a:rPr lang="pt-BR" dirty="0" smtClean="0"/>
              <a:t>Fornece tensão contínua para alimentar </a:t>
            </a:r>
            <a:r>
              <a:rPr lang="pt-BR" dirty="0" err="1" smtClean="0"/>
              <a:t>Cis</a:t>
            </a:r>
            <a:r>
              <a:rPr lang="pt-BR" dirty="0" smtClean="0"/>
              <a:t> (5V) e motores (19V)</a:t>
            </a:r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267753" y="4260140"/>
            <a:ext cx="1912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Recebe 115 </a:t>
            </a:r>
            <a:r>
              <a:rPr lang="pt-BR" dirty="0" smtClean="0"/>
              <a:t>Volts (</a:t>
            </a:r>
            <a:r>
              <a:rPr lang="pt-BR" dirty="0" smtClean="0"/>
              <a:t>nominais) do estabilizador</a:t>
            </a:r>
            <a:endParaRPr lang="pt-BR" dirty="0"/>
          </a:p>
        </p:txBody>
      </p:sp>
      <p:sp>
        <p:nvSpPr>
          <p:cNvPr id="14" name="Quadro 13"/>
          <p:cNvSpPr/>
          <p:nvPr/>
        </p:nvSpPr>
        <p:spPr>
          <a:xfrm>
            <a:off x="3298220" y="4063424"/>
            <a:ext cx="2088232" cy="122413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16" name="Conector de seta reta 15"/>
          <p:cNvCxnSpPr/>
          <p:nvPr/>
        </p:nvCxnSpPr>
        <p:spPr>
          <a:xfrm>
            <a:off x="2464195" y="4709756"/>
            <a:ext cx="720080" cy="360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6504598" y="4161854"/>
            <a:ext cx="2325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5Volts (</a:t>
            </a:r>
            <a:r>
              <a:rPr lang="pt-BR" dirty="0" err="1" smtClean="0"/>
              <a:t>CIs</a:t>
            </a:r>
            <a:r>
              <a:rPr lang="pt-BR" dirty="0" smtClean="0"/>
              <a:t>)</a:t>
            </a:r>
            <a:endParaRPr lang="pt-BR" dirty="0" smtClean="0"/>
          </a:p>
          <a:p>
            <a:r>
              <a:rPr lang="pt-BR" dirty="0" smtClean="0"/>
              <a:t>12Volts(Motores)</a:t>
            </a:r>
            <a:endParaRPr lang="pt-BR" dirty="0"/>
          </a:p>
          <a:p>
            <a:endParaRPr lang="pt-BR" dirty="0"/>
          </a:p>
        </p:txBody>
      </p:sp>
      <p:cxnSp>
        <p:nvCxnSpPr>
          <p:cNvPr id="12" name="Conector de seta reta 15"/>
          <p:cNvCxnSpPr/>
          <p:nvPr/>
        </p:nvCxnSpPr>
        <p:spPr>
          <a:xfrm>
            <a:off x="5556628" y="4365104"/>
            <a:ext cx="720080" cy="360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5"/>
          <p:cNvCxnSpPr/>
          <p:nvPr/>
        </p:nvCxnSpPr>
        <p:spPr>
          <a:xfrm>
            <a:off x="5607242" y="4683955"/>
            <a:ext cx="720080" cy="360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691681" y="5893442"/>
            <a:ext cx="511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                                </a:t>
            </a:r>
            <a:r>
              <a:rPr lang="pt-BR" dirty="0" smtClean="0"/>
              <a:t>Fonte do </a:t>
            </a:r>
            <a:r>
              <a:rPr lang="pt-BR" dirty="0" smtClean="0"/>
              <a:t>Computador</a:t>
            </a:r>
          </a:p>
          <a:p>
            <a:r>
              <a:rPr lang="pt-BR" dirty="0"/>
              <a:t> </a:t>
            </a:r>
            <a:r>
              <a:rPr lang="pt-BR" dirty="0" smtClean="0"/>
              <a:t>            </a:t>
            </a:r>
            <a:r>
              <a:rPr lang="pt-BR" dirty="0" smtClean="0"/>
              <a:t>                      Contínua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4757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792162"/>
          </a:xfrm>
        </p:spPr>
        <p:txBody>
          <a:bodyPr>
            <a:normAutofit/>
          </a:bodyPr>
          <a:lstStyle/>
          <a:p>
            <a:r>
              <a:rPr lang="pt-BR" sz="4000" u="sng" dirty="0">
                <a:solidFill>
                  <a:srgbClr val="FF0000"/>
                </a:solidFill>
              </a:rPr>
              <a:t>Tensão e </a:t>
            </a:r>
            <a:r>
              <a:rPr lang="pt-BR" sz="4000" u="sng" dirty="0" smtClean="0">
                <a:solidFill>
                  <a:srgbClr val="FF0000"/>
                </a:solidFill>
              </a:rPr>
              <a:t>corrente alternada</a:t>
            </a:r>
            <a:endParaRPr lang="pt-BR" sz="4000" u="sng" dirty="0">
              <a:solidFill>
                <a:srgbClr val="FF0000"/>
              </a:solidFill>
            </a:endParaRPr>
          </a:p>
        </p:txBody>
      </p:sp>
      <p:sp>
        <p:nvSpPr>
          <p:cNvPr id="9219" name="Espaço Reservado para Conteúdo 2"/>
          <p:cNvSpPr>
            <a:spLocks noGrp="1"/>
          </p:cNvSpPr>
          <p:nvPr>
            <p:ph idx="1"/>
          </p:nvPr>
        </p:nvSpPr>
        <p:spPr>
          <a:xfrm>
            <a:off x="457201" y="1125538"/>
            <a:ext cx="8291264" cy="5111774"/>
          </a:xfrm>
        </p:spPr>
        <p:txBody>
          <a:bodyPr>
            <a:normAutofit/>
          </a:bodyPr>
          <a:lstStyle/>
          <a:p>
            <a:r>
              <a:rPr lang="pt-BR" sz="2400" dirty="0" smtClean="0"/>
              <a:t>Não há polo fixo</a:t>
            </a:r>
            <a:r>
              <a:rPr lang="pt-BR" sz="2400" dirty="0"/>
              <a:t>. Polaridade inverte no tempo. </a:t>
            </a:r>
            <a:endParaRPr lang="pt-BR" sz="2400" dirty="0" smtClean="0"/>
          </a:p>
          <a:p>
            <a:pPr marL="0" indent="0">
              <a:buNone/>
            </a:pPr>
            <a:r>
              <a:rPr lang="pt-BR" sz="2400" dirty="0"/>
              <a:t> </a:t>
            </a:r>
            <a:r>
              <a:rPr lang="pt-BR" sz="2400" dirty="0" smtClean="0"/>
              <a:t>    </a:t>
            </a:r>
            <a:r>
              <a:rPr lang="pt-BR" sz="2400" dirty="0" smtClean="0"/>
              <a:t>Rede Eletropaulo. Alterna polaridade em 60 Hertz. 60 ciclos por segundo.</a:t>
            </a: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3068960"/>
            <a:ext cx="5760640" cy="317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1053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792162"/>
          </a:xfrm>
        </p:spPr>
        <p:txBody>
          <a:bodyPr>
            <a:normAutofit/>
          </a:bodyPr>
          <a:lstStyle/>
          <a:p>
            <a:r>
              <a:rPr lang="pt-BR" sz="4000" u="sng" dirty="0">
                <a:solidFill>
                  <a:srgbClr val="FF0000"/>
                </a:solidFill>
              </a:rPr>
              <a:t>Tensão e </a:t>
            </a:r>
            <a:r>
              <a:rPr lang="pt-BR" sz="4000" u="sng" dirty="0" smtClean="0">
                <a:solidFill>
                  <a:srgbClr val="FF0000"/>
                </a:solidFill>
              </a:rPr>
              <a:t>corrente </a:t>
            </a:r>
            <a:r>
              <a:rPr lang="pt-BR" sz="4000" u="sng" dirty="0" smtClean="0">
                <a:solidFill>
                  <a:srgbClr val="FF0000"/>
                </a:solidFill>
              </a:rPr>
              <a:t>contínua</a:t>
            </a:r>
            <a:endParaRPr lang="pt-BR" sz="4000" u="sng" dirty="0">
              <a:solidFill>
                <a:srgbClr val="FF0000"/>
              </a:solidFill>
            </a:endParaRPr>
          </a:p>
        </p:txBody>
      </p:sp>
      <p:sp>
        <p:nvSpPr>
          <p:cNvPr id="9219" name="Espaço Reservado para Conteúdo 2"/>
          <p:cNvSpPr>
            <a:spLocks noGrp="1"/>
          </p:cNvSpPr>
          <p:nvPr>
            <p:ph idx="1"/>
          </p:nvPr>
        </p:nvSpPr>
        <p:spPr>
          <a:xfrm>
            <a:off x="457201" y="1125538"/>
            <a:ext cx="8291264" cy="5111774"/>
          </a:xfrm>
        </p:spPr>
        <p:txBody>
          <a:bodyPr>
            <a:normAutofit/>
          </a:bodyPr>
          <a:lstStyle/>
          <a:p>
            <a:r>
              <a:rPr lang="pt-BR" sz="2400" dirty="0" smtClean="0"/>
              <a:t>Há </a:t>
            </a:r>
            <a:r>
              <a:rPr lang="pt-BR" sz="2400" dirty="0" smtClean="0"/>
              <a:t>polo fixo</a:t>
            </a:r>
            <a:r>
              <a:rPr lang="pt-BR" sz="2400" dirty="0"/>
              <a:t>. Polaridade </a:t>
            </a:r>
            <a:r>
              <a:rPr lang="pt-BR" sz="2400" dirty="0" smtClean="0"/>
              <a:t>não inverte </a:t>
            </a:r>
            <a:r>
              <a:rPr lang="pt-BR" sz="2400" dirty="0"/>
              <a:t>no tempo. </a:t>
            </a:r>
            <a:endParaRPr lang="pt-BR" sz="2400" dirty="0" smtClean="0"/>
          </a:p>
          <a:p>
            <a:r>
              <a:rPr lang="pt-BR" sz="2400" dirty="0" smtClean="0"/>
              <a:t>Fornecida por fontes próprias, pilhas, baterias e similares.</a:t>
            </a:r>
            <a:endParaRPr lang="pt-BR" sz="2400" dirty="0" smtClean="0"/>
          </a:p>
          <a:p>
            <a:pPr marL="0" indent="0"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3068960"/>
            <a:ext cx="5760640" cy="317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6796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Alimentação de um computador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r>
              <a:rPr lang="pt-BR" dirty="0" smtClean="0"/>
              <a:t>Fornece tensão </a:t>
            </a:r>
            <a:r>
              <a:rPr lang="pt-BR" b="1" i="1" u="sng" dirty="0" smtClean="0">
                <a:solidFill>
                  <a:srgbClr val="FF0000"/>
                </a:solidFill>
              </a:rPr>
              <a:t>alternada</a:t>
            </a:r>
            <a:r>
              <a:rPr lang="pt-BR" dirty="0" smtClean="0"/>
              <a:t>:</a:t>
            </a:r>
          </a:p>
          <a:p>
            <a:r>
              <a:rPr lang="pt-BR" dirty="0" smtClean="0"/>
              <a:t>Tensão </a:t>
            </a:r>
            <a:r>
              <a:rPr lang="pt-BR" b="1" i="1" u="sng" dirty="0" smtClean="0">
                <a:solidFill>
                  <a:srgbClr val="FF0000"/>
                </a:solidFill>
              </a:rPr>
              <a:t>nominal</a:t>
            </a:r>
            <a:r>
              <a:rPr lang="pt-BR" dirty="0" smtClean="0"/>
              <a:t> de 127 volts;</a:t>
            </a:r>
          </a:p>
          <a:p>
            <a:r>
              <a:rPr lang="pt-BR" dirty="0" smtClean="0"/>
              <a:t>Alternada de </a:t>
            </a:r>
            <a:r>
              <a:rPr lang="pt-BR" dirty="0" smtClean="0"/>
              <a:t>frequência 60 </a:t>
            </a:r>
            <a:r>
              <a:rPr lang="pt-BR" dirty="0" smtClean="0"/>
              <a:t>Hertz</a:t>
            </a:r>
            <a:r>
              <a:rPr lang="pt-BR" dirty="0" smtClean="0"/>
              <a:t>;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755576" y="3573016"/>
            <a:ext cx="1512168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127 Volts</a:t>
            </a:r>
          </a:p>
          <a:p>
            <a:pPr algn="ctr"/>
            <a:r>
              <a:rPr lang="pt-BR" dirty="0" smtClean="0"/>
              <a:t>(nominais)</a:t>
            </a:r>
            <a:endParaRPr lang="pt-BR" dirty="0"/>
          </a:p>
        </p:txBody>
      </p:sp>
      <p:cxnSp>
        <p:nvCxnSpPr>
          <p:cNvPr id="6" name="Conector de seta reta 5"/>
          <p:cNvCxnSpPr>
            <a:stCxn id="4" idx="3"/>
            <a:endCxn id="8" idx="2"/>
          </p:cNvCxnSpPr>
          <p:nvPr/>
        </p:nvCxnSpPr>
        <p:spPr>
          <a:xfrm>
            <a:off x="2267744" y="4113076"/>
            <a:ext cx="1152128" cy="360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3419872" y="3356992"/>
            <a:ext cx="2016224" cy="15841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3779912" y="3717032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115 Volts (nominais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539552" y="5013176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Rede </a:t>
            </a:r>
            <a:r>
              <a:rPr lang="pt-BR" dirty="0" err="1" smtClean="0"/>
              <a:t>EletroPaulo</a:t>
            </a:r>
            <a:r>
              <a:rPr lang="pt-BR" dirty="0" smtClean="0"/>
              <a:t>                        Estabilizador                             Fonte do Computador</a:t>
            </a:r>
          </a:p>
          <a:p>
            <a:r>
              <a:rPr lang="pt-BR" dirty="0" smtClean="0"/>
              <a:t>Alternada                                      </a:t>
            </a:r>
            <a:r>
              <a:rPr lang="pt-BR" dirty="0" err="1" smtClean="0"/>
              <a:t>Alternada</a:t>
            </a:r>
            <a:r>
              <a:rPr lang="pt-BR" dirty="0" smtClean="0"/>
              <a:t>                                 Contínua</a:t>
            </a:r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14" name="Quadro 13"/>
          <p:cNvSpPr/>
          <p:nvPr/>
        </p:nvSpPr>
        <p:spPr>
          <a:xfrm>
            <a:off x="6156176" y="3573016"/>
            <a:ext cx="2088232" cy="122413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16" name="Conector de seta reta 15"/>
          <p:cNvCxnSpPr>
            <a:stCxn id="8" idx="6"/>
            <a:endCxn id="14" idx="1"/>
          </p:cNvCxnSpPr>
          <p:nvPr/>
        </p:nvCxnSpPr>
        <p:spPr>
          <a:xfrm>
            <a:off x="5436096" y="4149080"/>
            <a:ext cx="720080" cy="360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6660232" y="3933056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5Volts</a:t>
            </a:r>
          </a:p>
          <a:p>
            <a:r>
              <a:rPr lang="pt-BR" dirty="0" smtClean="0"/>
              <a:t>12Volts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9271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Watt.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pt-BR" dirty="0" smtClean="0"/>
              <a:t>Unidade de potência elétrica. Energia por unidade de tempo produzida ou consumida por um sistema (mecânico, elétrico,...) .</a:t>
            </a:r>
          </a:p>
          <a:p>
            <a:r>
              <a:rPr lang="pt-BR" dirty="0" smtClean="0"/>
              <a:t>É uma característica do equipamento ou dispositivo.</a:t>
            </a:r>
          </a:p>
          <a:p>
            <a:r>
              <a:rPr lang="pt-BR" dirty="0" smtClean="0"/>
              <a:t>Exemplo: Uma lâmpada elétrica com a indicação </a:t>
            </a:r>
            <a:r>
              <a:rPr lang="pt-BR" dirty="0" smtClean="0"/>
              <a:t>127V/60 </a:t>
            </a:r>
            <a:r>
              <a:rPr lang="pt-BR" dirty="0" smtClean="0"/>
              <a:t>W indica que deve ser alimentada na rede de 127 volts e tem potencia de 60 watts.</a:t>
            </a:r>
          </a:p>
          <a:p>
            <a:r>
              <a:rPr lang="pt-BR" dirty="0" smtClean="0"/>
              <a:t>Exemplo: </a:t>
            </a:r>
            <a:r>
              <a:rPr lang="pt-BR" dirty="0" smtClean="0"/>
              <a:t>Estime a potencia desenvolvida ao subir dois andares do prédio: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Watt.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pt-BR" dirty="0" smtClean="0"/>
              <a:t>Exemplo em sala</a:t>
            </a:r>
          </a:p>
          <a:p>
            <a:pPr marL="0" indent="0">
              <a:buNone/>
            </a:pPr>
            <a:r>
              <a:rPr lang="pt-BR" dirty="0" smtClean="0"/>
              <a:t>Estimativa da potência desenvolvida </a:t>
            </a:r>
            <a:r>
              <a:rPr lang="pt-BR" dirty="0" smtClean="0"/>
              <a:t>ao subir dois andares do </a:t>
            </a:r>
            <a:r>
              <a:rPr lang="pt-BR" dirty="0" smtClean="0"/>
              <a:t>prédio.</a:t>
            </a:r>
          </a:p>
          <a:p>
            <a:pPr marL="0" indent="0">
              <a:buNone/>
            </a:pPr>
            <a:r>
              <a:rPr lang="pt-BR" dirty="0" smtClean="0"/>
              <a:t>P = energia / tempo; energia = massa * altura * gravidade (9,8/s</a:t>
            </a:r>
            <a:r>
              <a:rPr lang="pt-BR" baseline="30000" dirty="0" smtClean="0"/>
              <a:t>2</a:t>
            </a:r>
            <a:r>
              <a:rPr lang="pt-BR" dirty="0" smtClean="0"/>
              <a:t>).</a:t>
            </a:r>
          </a:p>
          <a:p>
            <a:pPr marL="0" indent="0">
              <a:buNone/>
            </a:pPr>
            <a:r>
              <a:rPr lang="pt-BR" dirty="0" smtClean="0"/>
              <a:t>Supor um aluno de 70 Kg subindo dois andares  (</a:t>
            </a:r>
            <a:r>
              <a:rPr lang="pt-BR" dirty="0" err="1" smtClean="0"/>
              <a:t>aktura</a:t>
            </a:r>
            <a:r>
              <a:rPr lang="pt-BR" dirty="0" smtClean="0"/>
              <a:t> = 10 metros) em 40 segundos.</a:t>
            </a:r>
          </a:p>
          <a:p>
            <a:pPr marL="0" indent="0">
              <a:buNone/>
            </a:pPr>
            <a:r>
              <a:rPr lang="pt-BR" dirty="0" smtClean="0"/>
              <a:t>Energia =  70 * 10 * 9,8 = 6860 Joules;</a:t>
            </a:r>
          </a:p>
          <a:p>
            <a:pPr marL="0" indent="0">
              <a:buNone/>
            </a:pPr>
            <a:r>
              <a:rPr lang="pt-BR" dirty="0"/>
              <a:t>P</a:t>
            </a:r>
            <a:r>
              <a:rPr lang="pt-BR" dirty="0" smtClean="0"/>
              <a:t>otencia = 6860/40 Watts = 171,5 Watts</a:t>
            </a:r>
          </a:p>
          <a:p>
            <a:pPr marL="0" indent="0">
              <a:buNone/>
            </a:pPr>
            <a:r>
              <a:rPr lang="pt-BR" dirty="0" smtClean="0"/>
              <a:t>Pergunta: Qual é o valor de energia em cal (caloria) e em Cal (Kcal)?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09420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Watt.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pt-BR" dirty="0" smtClean="0"/>
              <a:t>A potência de um dispositivo </a:t>
            </a:r>
            <a:r>
              <a:rPr lang="pt-BR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independe</a:t>
            </a:r>
            <a:r>
              <a:rPr lang="pt-BR" dirty="0" smtClean="0"/>
              <a:t> do tempo que está ligado. Somente a energia desenvolvida depende do tempo de operação</a:t>
            </a:r>
          </a:p>
          <a:p>
            <a:r>
              <a:rPr lang="pt-BR" dirty="0" smtClean="0"/>
              <a:t>Quanto maior a potencia de um dispositivo, maior é a capacidade de produzir ou dissipar energia. Um chuveiro elétrico consome mais energia que uma lâmpada quando ligadas ao </a:t>
            </a:r>
            <a:r>
              <a:rPr lang="pt-BR" dirty="0" smtClean="0"/>
              <a:t>mesmo </a:t>
            </a:r>
            <a:r>
              <a:rPr lang="pt-BR" dirty="0" smtClean="0"/>
              <a:t>tempo.</a:t>
            </a:r>
          </a:p>
          <a:p>
            <a:r>
              <a:rPr lang="pt-BR" dirty="0" smtClean="0"/>
              <a:t>Potencia aproximada de </a:t>
            </a:r>
            <a:r>
              <a:rPr lang="pt-BR" dirty="0" smtClean="0"/>
              <a:t>um chuveiro?</a:t>
            </a:r>
          </a:p>
          <a:p>
            <a:r>
              <a:rPr lang="pt-BR" dirty="0" smtClean="0"/>
              <a:t>Inverno</a:t>
            </a:r>
            <a:r>
              <a:rPr lang="pt-BR" dirty="0" smtClean="0"/>
              <a:t>: 6000W</a:t>
            </a:r>
            <a:r>
              <a:rPr lang="pt-BR" dirty="0" smtClean="0"/>
              <a:t>		Verão</a:t>
            </a:r>
            <a:r>
              <a:rPr lang="pt-BR" dirty="0" smtClean="0"/>
              <a:t>: 3500W</a:t>
            </a:r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pt-BR" dirty="0" smtClean="0"/>
              <a:t>Volt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r>
              <a:rPr lang="pt-BR" dirty="0" smtClean="0"/>
              <a:t>Unidade de Tensão Elétrica. Também é chamada de </a:t>
            </a:r>
            <a:r>
              <a:rPr lang="pt-BR" dirty="0" smtClean="0">
                <a:solidFill>
                  <a:srgbClr val="FF0000"/>
                </a:solidFill>
              </a:rPr>
              <a:t>d</a:t>
            </a:r>
            <a:r>
              <a:rPr lang="pt-BR" dirty="0" smtClean="0"/>
              <a:t>iferença de </a:t>
            </a:r>
            <a:r>
              <a:rPr lang="pt-BR" dirty="0">
                <a:solidFill>
                  <a:srgbClr val="FF0000"/>
                </a:solidFill>
              </a:rPr>
              <a:t>p</a:t>
            </a:r>
            <a:r>
              <a:rPr lang="pt-BR" dirty="0" smtClean="0"/>
              <a:t>otencial (</a:t>
            </a:r>
            <a:r>
              <a:rPr lang="pt-BR" dirty="0" err="1">
                <a:solidFill>
                  <a:srgbClr val="FF0000"/>
                </a:solidFill>
              </a:rPr>
              <a:t>ddp</a:t>
            </a:r>
            <a:r>
              <a:rPr lang="pt-BR" dirty="0" smtClean="0"/>
              <a:t>).</a:t>
            </a:r>
          </a:p>
          <a:p>
            <a:r>
              <a:rPr lang="pt-BR" dirty="0" smtClean="0"/>
              <a:t>Caracteriza </a:t>
            </a:r>
            <a:r>
              <a:rPr lang="pt-BR" dirty="0" smtClean="0"/>
              <a:t>a</a:t>
            </a:r>
            <a:r>
              <a:rPr lang="pt-BR" dirty="0" smtClean="0"/>
              <a:t> </a:t>
            </a:r>
            <a:r>
              <a:rPr lang="pt-BR" dirty="0" smtClean="0"/>
              <a:t>operação de um equipamento ou dispositivo.</a:t>
            </a:r>
          </a:p>
          <a:p>
            <a:r>
              <a:rPr lang="pt-BR" dirty="0" smtClean="0"/>
              <a:t>A </a:t>
            </a:r>
            <a:r>
              <a:rPr lang="pt-BR" dirty="0" smtClean="0"/>
              <a:t>rede pública opera com tensão alternada.</a:t>
            </a:r>
          </a:p>
          <a:p>
            <a:r>
              <a:rPr lang="pt-BR" dirty="0" smtClean="0"/>
              <a:t> Os dispositivos eletrônicos normalmente operam com tensão contínua.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Ampère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Unidade de Corrente Elétrica.</a:t>
            </a:r>
          </a:p>
          <a:p>
            <a:r>
              <a:rPr lang="pt-BR" dirty="0" smtClean="0"/>
              <a:t>Pode ser entendido como o movimento </a:t>
            </a:r>
            <a:r>
              <a:rPr lang="pt-BR" dirty="0" smtClean="0"/>
              <a:t>de cargas elétricas em um condutor elétrico.</a:t>
            </a:r>
          </a:p>
          <a:p>
            <a:r>
              <a:rPr lang="pt-BR" dirty="0" smtClean="0"/>
              <a:t>Dispositivos em operação são percorridos por correntes elétricas.</a:t>
            </a:r>
          </a:p>
          <a:p>
            <a:r>
              <a:rPr lang="pt-BR" dirty="0" smtClean="0"/>
              <a:t>Representada pela letra I.</a:t>
            </a:r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Características de medição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600200"/>
            <a:ext cx="8964488" cy="4525963"/>
          </a:xfrm>
        </p:spPr>
        <p:txBody>
          <a:bodyPr/>
          <a:lstStyle/>
          <a:p>
            <a:r>
              <a:rPr lang="pt-BR" dirty="0" smtClean="0"/>
              <a:t>Interfere no sistema ao retirar energia do mesmo. (Altera as propriedades do sistema)</a:t>
            </a:r>
          </a:p>
          <a:p>
            <a:r>
              <a:rPr lang="pt-BR" dirty="0" smtClean="0"/>
              <a:t>Exemplo. A medida de temperatura de um corpo retira calor (energia térmica) do corpo</a:t>
            </a:r>
          </a:p>
          <a:p>
            <a:r>
              <a:rPr lang="pt-BR" dirty="0" smtClean="0"/>
              <a:t>O processo de medida deve buscar minimizar a interferência no sistema que está sendo medido, retirando o mínimo de energia do mesmo.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pt-BR" sz="3600" dirty="0" smtClean="0"/>
              <a:t>Medidas elétricas. Aparelhos de medidas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r>
              <a:rPr lang="pt-BR" dirty="0" smtClean="0"/>
              <a:t>Potencia: wattímetro;</a:t>
            </a:r>
          </a:p>
          <a:p>
            <a:r>
              <a:rPr lang="pt-BR" dirty="0" smtClean="0"/>
              <a:t>Corrente: amperímetro;</a:t>
            </a:r>
          </a:p>
          <a:p>
            <a:r>
              <a:rPr lang="pt-BR" dirty="0" smtClean="0"/>
              <a:t>Tensão: Voltímetro;</a:t>
            </a:r>
          </a:p>
          <a:p>
            <a:endParaRPr lang="pt-BR" dirty="0" smtClean="0"/>
          </a:p>
          <a:p>
            <a:r>
              <a:rPr lang="pt-BR" dirty="0" smtClean="0"/>
              <a:t>Multímetro: </a:t>
            </a:r>
            <a:r>
              <a:rPr lang="pt-BR" dirty="0" smtClean="0"/>
              <a:t>Equipamento para medida </a:t>
            </a:r>
            <a:r>
              <a:rPr lang="pt-BR" dirty="0" smtClean="0"/>
              <a:t>de tensão, corrente, temperatura e outras grandezas.</a:t>
            </a:r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Lei da potência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6000" dirty="0" smtClean="0"/>
              <a:t>P = V * I</a:t>
            </a:r>
          </a:p>
          <a:p>
            <a:r>
              <a:rPr lang="pt-BR" sz="3600" dirty="0" smtClean="0"/>
              <a:t>P = potencia em watts;</a:t>
            </a:r>
          </a:p>
          <a:p>
            <a:r>
              <a:rPr lang="pt-BR" sz="3600" dirty="0" smtClean="0"/>
              <a:t>V = voltagem em volts;</a:t>
            </a:r>
          </a:p>
          <a:p>
            <a:r>
              <a:rPr lang="pt-BR" sz="3600" dirty="0" smtClean="0"/>
              <a:t>I = corrente em </a:t>
            </a:r>
            <a:r>
              <a:rPr lang="pt-BR" sz="3600" dirty="0" smtClean="0"/>
              <a:t>ampères.</a:t>
            </a:r>
            <a:endParaRPr lang="pt-BR" sz="3600" dirty="0" smtClean="0"/>
          </a:p>
          <a:p>
            <a:r>
              <a:rPr lang="pt-BR" sz="3600" dirty="0" smtClean="0"/>
              <a:t>Exercício. </a:t>
            </a:r>
            <a:r>
              <a:rPr lang="pt-BR" sz="3600" dirty="0" smtClean="0"/>
              <a:t>Estime </a:t>
            </a:r>
            <a:r>
              <a:rPr lang="pt-BR" sz="3600" dirty="0" smtClean="0"/>
              <a:t>a corrente em um chuveiro </a:t>
            </a:r>
            <a:r>
              <a:rPr lang="pt-BR" sz="3600" dirty="0" smtClean="0"/>
              <a:t>elétrico operando em 220 V:</a:t>
            </a:r>
            <a:endParaRPr lang="pt-BR" sz="3600" dirty="0" smtClean="0"/>
          </a:p>
          <a:p>
            <a:r>
              <a:rPr lang="pt-BR" sz="3600" dirty="0" smtClean="0"/>
              <a:t>No inverno (6000W):</a:t>
            </a:r>
            <a:endParaRPr lang="pt-BR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Transdutor (características)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124744"/>
            <a:ext cx="8892480" cy="5001419"/>
          </a:xfrm>
        </p:spPr>
        <p:txBody>
          <a:bodyPr>
            <a:normAutofit/>
          </a:bodyPr>
          <a:lstStyle/>
          <a:p>
            <a:r>
              <a:rPr lang="pt-BR" dirty="0" smtClean="0"/>
              <a:t>Converte um tipo de energia em outro.</a:t>
            </a:r>
          </a:p>
          <a:p>
            <a:r>
              <a:rPr lang="pt-BR" dirty="0" smtClean="0"/>
              <a:t>Exemplo: Microfone. Converte energia sonora em energia elétrica;</a:t>
            </a:r>
          </a:p>
          <a:p>
            <a:r>
              <a:rPr lang="pt-BR" dirty="0" smtClean="0"/>
              <a:t>Exemplo: Termopar. Dois metais diferentes em contato físico produzem uma </a:t>
            </a:r>
            <a:r>
              <a:rPr lang="pt-BR" dirty="0" err="1" smtClean="0"/>
              <a:t>ddp</a:t>
            </a:r>
            <a:r>
              <a:rPr lang="pt-BR" dirty="0" smtClean="0"/>
              <a:t> (</a:t>
            </a:r>
            <a:r>
              <a:rPr lang="pt-BR" dirty="0" smtClean="0"/>
              <a:t>tensão elétrica) </a:t>
            </a:r>
            <a:r>
              <a:rPr lang="pt-BR" dirty="0" smtClean="0"/>
              <a:t>em suas extremidades. A temperatura é obtida colocando a junção dos condutores em contato físico com o corpo a ser medido. A </a:t>
            </a:r>
            <a:r>
              <a:rPr lang="pt-BR" dirty="0" err="1" smtClean="0"/>
              <a:t>ddp</a:t>
            </a:r>
            <a:r>
              <a:rPr lang="pt-BR" dirty="0" smtClean="0"/>
              <a:t> medida é </a:t>
            </a:r>
            <a:r>
              <a:rPr lang="pt-BR" dirty="0" smtClean="0"/>
              <a:t>correlacionada </a:t>
            </a:r>
            <a:r>
              <a:rPr lang="pt-BR" dirty="0"/>
              <a:t>pelo multímetro a </a:t>
            </a:r>
            <a:r>
              <a:rPr lang="pt-BR" dirty="0" smtClean="0"/>
              <a:t>temperatura.</a:t>
            </a:r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Resumo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pt-BR" dirty="0" smtClean="0"/>
              <a:t>Multímetro. O equipamento para  medir voltagem. A voltagem fornecida pelo termopar é “convertida” em valor de temperatura;</a:t>
            </a:r>
          </a:p>
          <a:p>
            <a:r>
              <a:rPr lang="pt-BR" dirty="0" smtClean="0"/>
              <a:t>Termômetro: escala relacionando o volume de um líquido com a temperatura;</a:t>
            </a:r>
          </a:p>
          <a:p>
            <a:r>
              <a:rPr lang="pt-BR" dirty="0" smtClean="0"/>
              <a:t>Dispositivos semicondutores para medida de temperatura. Fornecem tensões proporcionais à temperatura do meio.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431775"/>
          </a:xfrm>
        </p:spPr>
        <p:txBody>
          <a:bodyPr>
            <a:normAutofit fontScale="90000"/>
          </a:bodyPr>
          <a:lstStyle/>
          <a:p>
            <a:r>
              <a:rPr lang="pt-BR" sz="2400" dirty="0" smtClean="0"/>
              <a:t>Questões adicionais:</a:t>
            </a:r>
          </a:p>
        </p:txBody>
      </p:sp>
      <p:sp>
        <p:nvSpPr>
          <p:cNvPr id="8195" name="Espaço Reservado para Conteúdo 2"/>
          <p:cNvSpPr>
            <a:spLocks noGrp="1"/>
          </p:cNvSpPr>
          <p:nvPr>
            <p:ph idx="1"/>
          </p:nvPr>
        </p:nvSpPr>
        <p:spPr>
          <a:xfrm>
            <a:off x="250825" y="836613"/>
            <a:ext cx="8785225" cy="5688012"/>
          </a:xfrm>
        </p:spPr>
        <p:txBody>
          <a:bodyPr>
            <a:normAutofit/>
          </a:bodyPr>
          <a:lstStyle/>
          <a:p>
            <a:pPr algn="just">
              <a:buFont typeface="Arial" charset="0"/>
              <a:buNone/>
            </a:pPr>
            <a:r>
              <a:rPr lang="pt-BR" sz="2400" dirty="0" smtClean="0"/>
              <a:t>Explique porque as medidas de tensão da rede elétrica diferem quando medidas:</a:t>
            </a:r>
          </a:p>
          <a:p>
            <a:pPr algn="just">
              <a:buFont typeface="Arial" charset="0"/>
              <a:buNone/>
            </a:pPr>
            <a:endParaRPr lang="pt-BR" sz="2400" dirty="0" smtClean="0"/>
          </a:p>
          <a:p>
            <a:pPr algn="just">
              <a:buFont typeface="Arial" charset="0"/>
              <a:buNone/>
            </a:pPr>
            <a:r>
              <a:rPr lang="pt-BR" sz="2400" dirty="0" smtClean="0"/>
              <a:t> (a) por equipamentos diferentes; </a:t>
            </a:r>
          </a:p>
          <a:p>
            <a:pPr algn="just">
              <a:buFont typeface="Arial" charset="0"/>
              <a:buNone/>
            </a:pPr>
            <a:endParaRPr lang="pt-BR" sz="2400" dirty="0" smtClean="0"/>
          </a:p>
          <a:p>
            <a:pPr algn="just">
              <a:buFont typeface="Arial" charset="0"/>
              <a:buNone/>
            </a:pPr>
            <a:endParaRPr lang="pt-BR" sz="2400" dirty="0" smtClean="0"/>
          </a:p>
          <a:p>
            <a:pPr algn="just">
              <a:buFont typeface="Arial" charset="0"/>
              <a:buNone/>
            </a:pPr>
            <a:r>
              <a:rPr lang="pt-BR" sz="2400" dirty="0" smtClean="0"/>
              <a:t>(b) em locais diferentes;</a:t>
            </a:r>
          </a:p>
          <a:p>
            <a:pPr algn="just">
              <a:buFont typeface="Arial" charset="0"/>
              <a:buNone/>
            </a:pPr>
            <a:endParaRPr lang="pt-BR" sz="2400" dirty="0" smtClean="0"/>
          </a:p>
          <a:p>
            <a:pPr algn="just">
              <a:buFont typeface="Arial" charset="0"/>
              <a:buNone/>
            </a:pPr>
            <a:endParaRPr lang="pt-BR" sz="2400" dirty="0" smtClean="0"/>
          </a:p>
          <a:p>
            <a:pPr algn="just">
              <a:buFont typeface="Arial" charset="0"/>
              <a:buNone/>
            </a:pPr>
            <a:r>
              <a:rPr lang="pt-BR" sz="2400" dirty="0" smtClean="0"/>
              <a:t> (c ) em horários diferentes.</a:t>
            </a:r>
          </a:p>
          <a:p>
            <a:pPr algn="just">
              <a:buFont typeface="Arial" charset="0"/>
              <a:buNone/>
            </a:pPr>
            <a:endParaRPr lang="pt-BR" sz="2400" dirty="0" smtClean="0"/>
          </a:p>
          <a:p>
            <a:pPr algn="just">
              <a:buFont typeface="Arial" charset="0"/>
              <a:buNone/>
            </a:pPr>
            <a:r>
              <a:rPr lang="pt-BR" sz="2400" dirty="0" smtClean="0"/>
              <a:t>*Estes efeitos explicam porque os aparelhos devem ser aterrados.</a:t>
            </a:r>
          </a:p>
          <a:p>
            <a:pPr algn="just">
              <a:buFont typeface="Arial" charset="0"/>
              <a:buNone/>
            </a:pPr>
            <a:endParaRPr lang="pt-BR" sz="1600" dirty="0" smtClean="0"/>
          </a:p>
          <a:p>
            <a:endParaRPr lang="pt-BR" sz="2000" dirty="0" smtClean="0"/>
          </a:p>
          <a:p>
            <a:endParaRPr lang="pt-BR" dirty="0" smtClean="0"/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 smtClean="0"/>
              <a:t>Padrão de cores (polaridade)</a:t>
            </a:r>
          </a:p>
        </p:txBody>
      </p:sp>
      <p:sp>
        <p:nvSpPr>
          <p:cNvPr id="1024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 smtClean="0"/>
              <a:t>Tensão continua: polaridades fixas.</a:t>
            </a:r>
          </a:p>
          <a:p>
            <a:pPr algn="just">
              <a:buFont typeface="Arial" charset="0"/>
              <a:buNone/>
            </a:pPr>
            <a:r>
              <a:rPr lang="pt-BR" dirty="0" smtClean="0"/>
              <a:t>	</a:t>
            </a:r>
            <a:r>
              <a:rPr lang="pt-BR" u="sng" dirty="0" smtClean="0"/>
              <a:t>Código de cores na fonte do gabinete</a:t>
            </a:r>
          </a:p>
          <a:p>
            <a:pPr algn="just"/>
            <a:r>
              <a:rPr lang="pt-BR" dirty="0" smtClean="0"/>
              <a:t>Preto </a:t>
            </a:r>
            <a:r>
              <a:rPr lang="pt-BR" dirty="0" smtClean="0">
                <a:sym typeface="Wingdings" pitchFamily="2" charset="2"/>
              </a:rPr>
              <a:t> comum</a:t>
            </a:r>
          </a:p>
          <a:p>
            <a:pPr algn="just"/>
            <a:r>
              <a:rPr lang="pt-BR" dirty="0" smtClean="0">
                <a:solidFill>
                  <a:srgbClr val="FF0000"/>
                </a:solidFill>
                <a:sym typeface="Wingdings" pitchFamily="2" charset="2"/>
              </a:rPr>
              <a:t>Vermelho</a:t>
            </a:r>
            <a:r>
              <a:rPr lang="pt-BR" dirty="0" smtClean="0">
                <a:sym typeface="Wingdings" pitchFamily="2" charset="2"/>
              </a:rPr>
              <a:t>  5 Volts (alimentação do CI); </a:t>
            </a:r>
          </a:p>
          <a:p>
            <a:pPr algn="just"/>
            <a:r>
              <a:rPr lang="pt-BR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Amarelo</a:t>
            </a:r>
            <a:r>
              <a:rPr lang="pt-BR" dirty="0" smtClean="0">
                <a:sym typeface="Wingdings" pitchFamily="2" charset="2"/>
              </a:rPr>
              <a:t>  12 Volts (alimentação de motor); </a:t>
            </a:r>
          </a:p>
          <a:p>
            <a:pPr algn="just">
              <a:buFont typeface="Arial" charset="0"/>
              <a:buNone/>
            </a:pPr>
            <a:endParaRPr lang="pt-BR" sz="1200" dirty="0" smtClean="0">
              <a:sym typeface="Wingdings" pitchFamily="2" charset="2"/>
            </a:endParaRPr>
          </a:p>
          <a:p>
            <a:pPr>
              <a:buNone/>
            </a:pPr>
            <a:endParaRPr lang="pt-BR" dirty="0" smtClean="0">
              <a:sym typeface="Wingdings" pitchFamily="2" charset="2"/>
            </a:endParaRPr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23728" y="274638"/>
            <a:ext cx="4248472" cy="63408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Responda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052736"/>
            <a:ext cx="9036496" cy="5073427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pt-BR" sz="2800" dirty="0" smtClean="0"/>
              <a:t>O que é tensão nominal:</a:t>
            </a:r>
          </a:p>
          <a:p>
            <a:pPr marL="514350" indent="-514350">
              <a:buAutoNum type="arabicPeriod"/>
            </a:pPr>
            <a:r>
              <a:rPr lang="pt-BR" sz="2800" dirty="0" smtClean="0"/>
              <a:t>Qual o valor nominal da rede Eletropaulo:</a:t>
            </a:r>
          </a:p>
          <a:p>
            <a:pPr marL="514350" indent="-514350">
              <a:buAutoNum type="arabicPeriod"/>
            </a:pPr>
            <a:r>
              <a:rPr lang="pt-BR" sz="2800" dirty="0"/>
              <a:t>Qual o valor </a:t>
            </a:r>
            <a:r>
              <a:rPr lang="pt-BR" sz="2800" dirty="0" smtClean="0"/>
              <a:t>nominal do estabilizador:</a:t>
            </a:r>
          </a:p>
          <a:p>
            <a:pPr marL="514350" indent="-514350">
              <a:buAutoNum type="arabicPeriod"/>
            </a:pPr>
            <a:r>
              <a:rPr lang="pt-BR" sz="2800" dirty="0" smtClean="0"/>
              <a:t>O que significa frequência de 60 Hz:</a:t>
            </a:r>
          </a:p>
          <a:p>
            <a:pPr marL="514350" indent="-514350">
              <a:buAutoNum type="arabicPeriod"/>
            </a:pPr>
            <a:r>
              <a:rPr lang="pt-BR" sz="2800" dirty="0" smtClean="0"/>
              <a:t>Diferencie corrente alternada de corrente contínua.</a:t>
            </a:r>
          </a:p>
          <a:p>
            <a:pPr marL="514350" indent="-514350">
              <a:buAutoNum type="arabicPeriod"/>
            </a:pPr>
            <a:r>
              <a:rPr lang="pt-BR" sz="2800" dirty="0" smtClean="0"/>
              <a:t>Que dispositivos utilizam 5V e 12V?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pt-BR" sz="2800" dirty="0" smtClean="0"/>
              <a:t>Dê o significado de VCC e VDD.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pt-BR" sz="2800" dirty="0" smtClean="0"/>
              <a:t>Estime a potencia de um chuveiro ligado no verão.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pt-BR" sz="2800" dirty="0"/>
              <a:t>Estime a corrente nominal do estabilizador do </a:t>
            </a:r>
            <a:r>
              <a:rPr lang="pt-BR" sz="2800" dirty="0" smtClean="0"/>
              <a:t>laboratório. Use </a:t>
            </a:r>
            <a:r>
              <a:rPr lang="pt-BR" sz="2800" dirty="0"/>
              <a:t>a lei da potencia e o valor </a:t>
            </a:r>
            <a:r>
              <a:rPr lang="pt-BR" sz="2800" dirty="0" smtClean="0"/>
              <a:t>da potência no </a:t>
            </a:r>
            <a:r>
              <a:rPr lang="pt-BR" sz="2800" dirty="0"/>
              <a:t>copo do </a:t>
            </a:r>
            <a:r>
              <a:rPr lang="pt-BR" sz="2800" dirty="0" smtClean="0"/>
              <a:t>aparelho. Potencia </a:t>
            </a:r>
            <a:r>
              <a:rPr lang="pt-BR" sz="2800" dirty="0"/>
              <a:t>nominal: </a:t>
            </a:r>
            <a:r>
              <a:rPr lang="pt-BR" sz="2800" dirty="0" smtClean="0"/>
              <a:t>___; </a:t>
            </a:r>
            <a:r>
              <a:rPr lang="pt-BR" sz="2800" dirty="0"/>
              <a:t>Corrente nominal: </a:t>
            </a:r>
            <a:r>
              <a:rPr lang="pt-BR" sz="2800" dirty="0" smtClean="0"/>
              <a:t>______</a:t>
            </a:r>
          </a:p>
          <a:p>
            <a:pPr marL="514350" indent="-514350">
              <a:buFont typeface="Arial" pitchFamily="34" charset="0"/>
              <a:buAutoNum type="arabicPeriod"/>
            </a:pPr>
            <a:r>
              <a:rPr lang="pt-BR" sz="2800" dirty="0" smtClean="0"/>
              <a:t>O que é um transdutor</a:t>
            </a:r>
          </a:p>
          <a:p>
            <a:pPr marL="514350" indent="-514350">
              <a:buFont typeface="Arial" pitchFamily="34" charset="0"/>
              <a:buAutoNum type="arabicPeriod"/>
            </a:pPr>
            <a:endParaRPr lang="pt-BR" sz="2800" dirty="0"/>
          </a:p>
          <a:p>
            <a:pPr algn="just">
              <a:buNone/>
            </a:pPr>
            <a:endParaRPr lang="pt-BR" sz="2800" dirty="0"/>
          </a:p>
          <a:p>
            <a:pPr marL="514350" indent="-514350">
              <a:buFont typeface="Arial" pitchFamily="34" charset="0"/>
              <a:buAutoNum type="arabicPeriod"/>
            </a:pPr>
            <a:endParaRPr lang="pt-BR" sz="2800" dirty="0" smtClean="0"/>
          </a:p>
          <a:p>
            <a:pPr marL="514350" indent="-514350">
              <a:buFont typeface="Arial" pitchFamily="34" charset="0"/>
              <a:buAutoNum type="arabicPeriod"/>
            </a:pPr>
            <a:endParaRPr lang="pt-BR" sz="2800" dirty="0"/>
          </a:p>
          <a:p>
            <a:pPr marL="514350" indent="-514350">
              <a:buAutoNum type="arabicPeriod"/>
            </a:pPr>
            <a:endParaRPr lang="pt-BR" sz="2800" dirty="0" smtClean="0"/>
          </a:p>
          <a:p>
            <a:pPr marL="514350" indent="-514350">
              <a:buAutoNum type="arabicPeriod"/>
            </a:pPr>
            <a:endParaRPr lang="pt-BR" sz="2800" dirty="0" smtClean="0"/>
          </a:p>
          <a:p>
            <a:pPr marL="514350" indent="-514350"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2255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1007</Words>
  <Application>Microsoft Office PowerPoint</Application>
  <PresentationFormat>Apresentação na tela (4:3)</PresentationFormat>
  <Paragraphs>159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Wingdings</vt:lpstr>
      <vt:lpstr>Tema do Office</vt:lpstr>
      <vt:lpstr>Atividades em sala (1): Alimentação</vt:lpstr>
      <vt:lpstr>Valor nominal X Valor real</vt:lpstr>
      <vt:lpstr>Rede Eletropaulo</vt:lpstr>
      <vt:lpstr>Estabilizador</vt:lpstr>
      <vt:lpstr>Fonte do computador</vt:lpstr>
      <vt:lpstr>Tensão e corrente alternada</vt:lpstr>
      <vt:lpstr>Tensão e corrente contínua</vt:lpstr>
      <vt:lpstr>Alimentação de um computador</vt:lpstr>
      <vt:lpstr>Watt.</vt:lpstr>
      <vt:lpstr>Watt.</vt:lpstr>
      <vt:lpstr>Watt.</vt:lpstr>
      <vt:lpstr>Volt</vt:lpstr>
      <vt:lpstr>Ampère</vt:lpstr>
      <vt:lpstr>Características de medição</vt:lpstr>
      <vt:lpstr>Medidas elétricas. Aparelhos de medidas</vt:lpstr>
      <vt:lpstr>Lei da potência</vt:lpstr>
      <vt:lpstr>Transdutor (características)</vt:lpstr>
      <vt:lpstr>Resumo</vt:lpstr>
      <vt:lpstr>Questões adicionais:</vt:lpstr>
      <vt:lpstr>Padrão de cores (polaridade)</vt:lpstr>
      <vt:lpstr>Responda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em sala (1)</dc:title>
  <cp:lastModifiedBy>professor</cp:lastModifiedBy>
  <cp:revision>25</cp:revision>
  <dcterms:modified xsi:type="dcterms:W3CDTF">2019-02-13T12:32:27Z</dcterms:modified>
</cp:coreProperties>
</file>