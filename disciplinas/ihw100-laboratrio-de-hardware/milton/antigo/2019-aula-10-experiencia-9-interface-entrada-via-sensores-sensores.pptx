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3" r:id="rId3"/>
    <p:sldId id="266" r:id="rId4"/>
    <p:sldId id="268" r:id="rId5"/>
    <p:sldId id="270" r:id="rId6"/>
    <p:sldId id="272" r:id="rId7"/>
    <p:sldId id="273" r:id="rId8"/>
    <p:sldId id="274" r:id="rId9"/>
    <p:sldId id="275" r:id="rId10"/>
    <p:sldId id="261" r:id="rId11"/>
    <p:sldId id="278" r:id="rId12"/>
    <p:sldId id="279" r:id="rId13"/>
    <p:sldId id="280" r:id="rId14"/>
    <p:sldId id="281" r:id="rId15"/>
    <p:sldId id="282" r:id="rId16"/>
    <p:sldId id="283" r:id="rId17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546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C7C42B-B6C9-42CB-9F4C-19B865CA5817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E6A544-8891-4744-B2FF-2FB472F53D9E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1462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E6A544-8891-4744-B2FF-2FB472F53D9E}" type="slidenum">
              <a:rPr lang="pt-BR" smtClean="0"/>
              <a:pPr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22384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Explicar</a:t>
            </a:r>
            <a:r>
              <a:rPr lang="pt-BR" baseline="0" dirty="0" smtClean="0"/>
              <a:t> a lei de Ohm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36A2A6-7053-42D9-98EC-443B43B53E20}" type="slidenum">
              <a:rPr lang="pt-BR" smtClean="0"/>
              <a:pPr/>
              <a:t>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577377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Explicar</a:t>
            </a:r>
            <a:r>
              <a:rPr lang="pt-BR" baseline="0" dirty="0" smtClean="0"/>
              <a:t> divisor de Tensão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36A2A6-7053-42D9-98EC-443B43B53E20}" type="slidenum">
              <a:rPr lang="pt-BR" smtClean="0"/>
              <a:pPr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643088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Explicar divisor de corrente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36A2A6-7053-42D9-98EC-443B43B53E20}" type="slidenum">
              <a:rPr lang="pt-BR" smtClean="0"/>
              <a:pPr/>
              <a:t>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867821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Explicar divisor de corrente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36A2A6-7053-42D9-98EC-443B43B53E20}" type="slidenum">
              <a:rPr lang="pt-BR" smtClean="0"/>
              <a:pPr/>
              <a:t>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704218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Leitura de sinais de sensores.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36A2A6-7053-42D9-98EC-443B43B53E20}" type="slidenum">
              <a:rPr lang="pt-BR" smtClean="0"/>
              <a:pPr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87878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36A2A6-7053-42D9-98EC-443B43B53E20}" type="slidenum">
              <a:rPr lang="pt-BR" smtClean="0"/>
              <a:pPr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56586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pt-BR" dirty="0" err="1" smtClean="0"/>
              <a:t>Examples</a:t>
            </a:r>
            <a:r>
              <a:rPr lang="pt-BR" dirty="0" smtClean="0"/>
              <a:t>&gt;</a:t>
            </a:r>
            <a:r>
              <a:rPr lang="pt-BR" dirty="0" err="1" smtClean="0"/>
              <a:t>Basics</a:t>
            </a:r>
            <a:r>
              <a:rPr lang="pt-BR" dirty="0" smtClean="0"/>
              <a:t>&gt;</a:t>
            </a:r>
            <a:r>
              <a:rPr lang="pt-BR" dirty="0" err="1" smtClean="0"/>
              <a:t>ReadAnalogVoltage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36A2A6-7053-42D9-98EC-443B43B53E20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2108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CBFC8-54C6-4D8A-941E-C0CAAFBA1851}" type="datetimeFigureOut">
              <a:rPr lang="pt-BR" smtClean="0"/>
              <a:pPr/>
              <a:t>24/04/2019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22EA4E-796F-4D7B-8927-652BFAF849C2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8.w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8.wmf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90351"/>
            <a:ext cx="8748464" cy="648071"/>
          </a:xfrm>
        </p:spPr>
        <p:txBody>
          <a:bodyPr>
            <a:normAutofit fontScale="90000"/>
          </a:bodyPr>
          <a:lstStyle/>
          <a:p>
            <a:r>
              <a:rPr lang="pt-BR" sz="2800" dirty="0" smtClean="0"/>
              <a:t>Sistemas de entrada e saída. Aplicações de microcontroladores</a:t>
            </a:r>
            <a:endParaRPr lang="pt-BR" sz="2800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79512" y="838422"/>
            <a:ext cx="8640960" cy="5830938"/>
          </a:xfrm>
        </p:spPr>
        <p:txBody>
          <a:bodyPr>
            <a:noAutofit/>
          </a:bodyPr>
          <a:lstStyle/>
          <a:p>
            <a:pPr algn="just"/>
            <a:r>
              <a:rPr lang="pt-BR" sz="2000" dirty="0" smtClean="0">
                <a:solidFill>
                  <a:srgbClr val="2FA19E"/>
                </a:solidFill>
                <a:latin typeface="Times New Roman" pitchFamily="18" charset="0"/>
                <a:cs typeface="Times New Roman" pitchFamily="18" charset="0"/>
              </a:rPr>
              <a:t>Sistemas dedicados (micro-ondas, projetor, mídias,..)</a:t>
            </a:r>
          </a:p>
          <a:p>
            <a:pPr algn="just"/>
            <a:r>
              <a:rPr lang="pt-BR" sz="2000" dirty="0" smtClean="0">
                <a:solidFill>
                  <a:srgbClr val="2FA19E"/>
                </a:solidFill>
                <a:latin typeface="Times New Roman" pitchFamily="18" charset="0"/>
                <a:cs typeface="Times New Roman" pitchFamily="18" charset="0"/>
              </a:rPr>
              <a:t>Controle de processos industriais (operação de máquinas, segurança, estoque,...)</a:t>
            </a:r>
          </a:p>
          <a:p>
            <a:pPr algn="just"/>
            <a:r>
              <a:rPr lang="pt-BR" sz="2000" dirty="0" smtClean="0">
                <a:solidFill>
                  <a:srgbClr val="2FA19E"/>
                </a:solidFill>
                <a:latin typeface="Times New Roman" pitchFamily="18" charset="0"/>
                <a:cs typeface="Times New Roman" pitchFamily="18" charset="0"/>
              </a:rPr>
              <a:t>Entrada/Saída sinais de sensores;</a:t>
            </a:r>
          </a:p>
          <a:p>
            <a:pPr algn="just"/>
            <a:r>
              <a:rPr lang="pt-BR" sz="2000" dirty="0" smtClean="0">
                <a:solidFill>
                  <a:srgbClr val="2FA19E"/>
                </a:solidFill>
                <a:latin typeface="Times New Roman" pitchFamily="18" charset="0"/>
                <a:cs typeface="Times New Roman" pitchFamily="18" charset="0"/>
              </a:rPr>
              <a:t>Transmissão/recepção/tratamento de dados. Conexão entre redes; ...</a:t>
            </a:r>
          </a:p>
          <a:p>
            <a:pPr algn="just"/>
            <a:r>
              <a:rPr lang="pt-BR" sz="2800" dirty="0" smtClean="0">
                <a:solidFill>
                  <a:srgbClr val="2FA19E"/>
                </a:solidFill>
                <a:latin typeface="Times New Roman" pitchFamily="18" charset="0"/>
                <a:cs typeface="Times New Roman" pitchFamily="18" charset="0"/>
              </a:rPr>
              <a:t>Exemplo. D</a:t>
            </a:r>
            <a:r>
              <a:rPr lang="pt-BR" sz="2400" dirty="0" smtClean="0">
                <a:solidFill>
                  <a:srgbClr val="2FA19E"/>
                </a:solidFill>
                <a:latin typeface="Times New Roman" pitchFamily="18" charset="0"/>
                <a:cs typeface="Times New Roman" pitchFamily="18" charset="0"/>
              </a:rPr>
              <a:t>ados de sensores para controle de processos (saída).</a:t>
            </a:r>
          </a:p>
          <a:p>
            <a:pPr algn="just"/>
            <a:endParaRPr lang="pt-BR" sz="2400" dirty="0" smtClean="0">
              <a:solidFill>
                <a:srgbClr val="2FA19E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pt-BR" sz="2400" dirty="0" smtClean="0">
              <a:solidFill>
                <a:srgbClr val="2FA19E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pt-BR" sz="2400" dirty="0" smtClean="0">
              <a:solidFill>
                <a:srgbClr val="2FA19E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pt-BR" sz="2400" dirty="0" smtClean="0">
              <a:solidFill>
                <a:srgbClr val="2FA19E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pt-BR" sz="2400" dirty="0" smtClean="0">
              <a:solidFill>
                <a:srgbClr val="2FA19E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pt-BR" sz="2400" dirty="0" smtClean="0">
              <a:solidFill>
                <a:srgbClr val="2FA19E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pt-BR" sz="2400" dirty="0" smtClean="0">
              <a:solidFill>
                <a:srgbClr val="2FA19E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pt-BR" sz="20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* Um drive é um dispositivo que ajusta os sinais de controle de sistemas de baixa potência para controlar dispositivos de maior potência como uma lâmpada</a:t>
            </a:r>
            <a:endParaRPr lang="pt-BR" sz="2000" dirty="0" smtClean="0">
              <a:solidFill>
                <a:srgbClr val="FF0000"/>
              </a:solidFill>
            </a:endParaRPr>
          </a:p>
        </p:txBody>
      </p:sp>
      <p:grpSp>
        <p:nvGrpSpPr>
          <p:cNvPr id="4" name="Grupo 3"/>
          <p:cNvGrpSpPr/>
          <p:nvPr/>
        </p:nvGrpSpPr>
        <p:grpSpPr>
          <a:xfrm>
            <a:off x="1979712" y="2996952"/>
            <a:ext cx="4500594" cy="2571768"/>
            <a:chOff x="2214546" y="3857628"/>
            <a:chExt cx="4500594" cy="2571768"/>
          </a:xfrm>
        </p:grpSpPr>
        <p:sp>
          <p:nvSpPr>
            <p:cNvPr id="5" name="Retângulo 4"/>
            <p:cNvSpPr/>
            <p:nvPr/>
          </p:nvSpPr>
          <p:spPr>
            <a:xfrm>
              <a:off x="2214546" y="3857628"/>
              <a:ext cx="1071570" cy="1071570"/>
            </a:xfrm>
            <a:prstGeom prst="rect">
              <a:avLst/>
            </a:prstGeom>
            <a:ln>
              <a:solidFill>
                <a:srgbClr val="26828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 smtClean="0">
                  <a:solidFill>
                    <a:srgbClr val="298B89"/>
                  </a:solidFill>
                  <a:latin typeface="Times New Roman" pitchFamily="18" charset="0"/>
                  <a:cs typeface="Times New Roman" pitchFamily="18" charset="0"/>
                </a:rPr>
                <a:t>Arduino</a:t>
              </a:r>
              <a:endParaRPr lang="pt-BR" dirty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6" name="Retângulo 5"/>
            <p:cNvSpPr/>
            <p:nvPr/>
          </p:nvSpPr>
          <p:spPr>
            <a:xfrm>
              <a:off x="3929058" y="3857628"/>
              <a:ext cx="1071570" cy="1071570"/>
            </a:xfrm>
            <a:prstGeom prst="rect">
              <a:avLst/>
            </a:prstGeom>
            <a:ln>
              <a:solidFill>
                <a:srgbClr val="26828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 smtClean="0">
                  <a:solidFill>
                    <a:srgbClr val="FF0000"/>
                  </a:solidFill>
                  <a:latin typeface="Times New Roman" pitchFamily="18" charset="0"/>
                  <a:cs typeface="Times New Roman" pitchFamily="18" charset="0"/>
                </a:rPr>
                <a:t>*</a:t>
              </a:r>
              <a:r>
                <a:rPr lang="pt-BR" dirty="0" smtClean="0">
                  <a:solidFill>
                    <a:srgbClr val="268280"/>
                  </a:solidFill>
                  <a:latin typeface="Times New Roman" pitchFamily="18" charset="0"/>
                  <a:cs typeface="Times New Roman" pitchFamily="18" charset="0"/>
                </a:rPr>
                <a:t>Drive</a:t>
              </a:r>
              <a:endParaRPr lang="pt-BR" dirty="0">
                <a:solidFill>
                  <a:srgbClr val="268280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7" name="Retângulo 6"/>
            <p:cNvSpPr/>
            <p:nvPr/>
          </p:nvSpPr>
          <p:spPr>
            <a:xfrm>
              <a:off x="5643570" y="3857628"/>
              <a:ext cx="1071570" cy="1071570"/>
            </a:xfrm>
            <a:prstGeom prst="rect">
              <a:avLst/>
            </a:prstGeom>
            <a:ln>
              <a:solidFill>
                <a:srgbClr val="26828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 smtClean="0">
                  <a:solidFill>
                    <a:srgbClr val="2FA19E"/>
                  </a:solidFill>
                  <a:latin typeface="Times New Roman" pitchFamily="18" charset="0"/>
                  <a:cs typeface="Times New Roman" pitchFamily="18" charset="0"/>
                </a:rPr>
                <a:t>Saída</a:t>
              </a:r>
              <a:endParaRPr lang="pt-BR" dirty="0">
                <a:solidFill>
                  <a:srgbClr val="2FA19E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sp>
          <p:nvSpPr>
            <p:cNvPr id="8" name="Retângulo 7"/>
            <p:cNvSpPr/>
            <p:nvPr/>
          </p:nvSpPr>
          <p:spPr>
            <a:xfrm>
              <a:off x="2214546" y="5357826"/>
              <a:ext cx="1071570" cy="1071570"/>
            </a:xfrm>
            <a:prstGeom prst="rect">
              <a:avLst/>
            </a:prstGeom>
            <a:ln>
              <a:solidFill>
                <a:srgbClr val="26828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 smtClean="0">
                  <a:solidFill>
                    <a:srgbClr val="298B89"/>
                  </a:solidFill>
                  <a:latin typeface="Times New Roman" pitchFamily="18" charset="0"/>
                  <a:cs typeface="Times New Roman" pitchFamily="18" charset="0"/>
                </a:rPr>
                <a:t>Sensores</a:t>
              </a:r>
              <a:endParaRPr lang="pt-BR" dirty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endParaRPr>
            </a:p>
          </p:txBody>
        </p:sp>
        <p:cxnSp>
          <p:nvCxnSpPr>
            <p:cNvPr id="9" name="Conector de seta reta 8"/>
            <p:cNvCxnSpPr>
              <a:stCxn id="5" idx="3"/>
              <a:endCxn id="6" idx="1"/>
            </p:cNvCxnSpPr>
            <p:nvPr/>
          </p:nvCxnSpPr>
          <p:spPr>
            <a:xfrm>
              <a:off x="3286116" y="4393413"/>
              <a:ext cx="642942" cy="1588"/>
            </a:xfrm>
            <a:prstGeom prst="straightConnector1">
              <a:avLst/>
            </a:prstGeom>
            <a:ln>
              <a:solidFill>
                <a:srgbClr val="268280"/>
              </a:solidFill>
              <a:tailEnd type="arrow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0" name="Conector de seta reta 9"/>
            <p:cNvCxnSpPr>
              <a:stCxn id="6" idx="3"/>
              <a:endCxn id="7" idx="1"/>
            </p:cNvCxnSpPr>
            <p:nvPr/>
          </p:nvCxnSpPr>
          <p:spPr>
            <a:xfrm>
              <a:off x="5000628" y="4393413"/>
              <a:ext cx="642942" cy="1588"/>
            </a:xfrm>
            <a:prstGeom prst="straightConnector1">
              <a:avLst/>
            </a:prstGeom>
            <a:ln>
              <a:solidFill>
                <a:srgbClr val="268280"/>
              </a:solidFill>
              <a:tailEnd type="arrow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  <p:cxnSp>
          <p:nvCxnSpPr>
            <p:cNvPr id="11" name="Conector de seta reta 10"/>
            <p:cNvCxnSpPr>
              <a:stCxn id="8" idx="0"/>
              <a:endCxn id="5" idx="2"/>
            </p:cNvCxnSpPr>
            <p:nvPr/>
          </p:nvCxnSpPr>
          <p:spPr>
            <a:xfrm rot="5400000" flipH="1" flipV="1">
              <a:off x="2536017" y="5143512"/>
              <a:ext cx="428628" cy="1588"/>
            </a:xfrm>
            <a:prstGeom prst="straightConnector1">
              <a:avLst/>
            </a:prstGeom>
            <a:ln>
              <a:solidFill>
                <a:srgbClr val="268280"/>
              </a:solidFill>
              <a:tailEnd type="arrow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23528" y="274638"/>
            <a:ext cx="8363272" cy="1143000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Sistemas de entrada e saída. Conceitos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1600200"/>
            <a:ext cx="8928992" cy="4525963"/>
          </a:xfrm>
        </p:spPr>
        <p:txBody>
          <a:bodyPr>
            <a:normAutofit fontScale="92500" lnSpcReduction="10000"/>
          </a:bodyPr>
          <a:lstStyle/>
          <a:p>
            <a:r>
              <a:rPr lang="pt-BR" dirty="0" smtClean="0">
                <a:solidFill>
                  <a:srgbClr val="FF0000"/>
                </a:solidFill>
              </a:rPr>
              <a:t>Sensor</a:t>
            </a:r>
            <a:r>
              <a:rPr lang="pt-BR" dirty="0" smtClean="0"/>
              <a:t>. Opera a partir de um transdutor. Recebe dados do meio transformando em informação tratável pelo sistema computadorizado;</a:t>
            </a:r>
          </a:p>
          <a:p>
            <a:r>
              <a:rPr lang="pt-BR" dirty="0" smtClean="0">
                <a:solidFill>
                  <a:srgbClr val="FF0000"/>
                </a:solidFill>
              </a:rPr>
              <a:t>Transdutor</a:t>
            </a:r>
            <a:r>
              <a:rPr lang="pt-BR" dirty="0" smtClean="0"/>
              <a:t>. Dispositivo que converte um tipo de energia em outro. Exemplo: Microfone.</a:t>
            </a:r>
          </a:p>
          <a:p>
            <a:pPr>
              <a:buNone/>
            </a:pPr>
            <a:r>
              <a:rPr lang="pt-BR" dirty="0" smtClean="0"/>
              <a:t>Nota: Uma </a:t>
            </a:r>
            <a:r>
              <a:rPr lang="pt-BR" b="1" i="1" u="sng" dirty="0" smtClean="0">
                <a:solidFill>
                  <a:srgbClr val="FF0000"/>
                </a:solidFill>
              </a:rPr>
              <a:t>célula fotoelétrica </a:t>
            </a:r>
            <a:r>
              <a:rPr lang="pt-BR" dirty="0" smtClean="0"/>
              <a:t>converte energia solar diretamente em energia elétrica. </a:t>
            </a:r>
          </a:p>
          <a:p>
            <a:r>
              <a:rPr lang="pt-BR" dirty="0" smtClean="0">
                <a:solidFill>
                  <a:srgbClr val="FF0000"/>
                </a:solidFill>
              </a:rPr>
              <a:t>Drive no Arduino</a:t>
            </a:r>
            <a:r>
              <a:rPr lang="pt-BR" dirty="0" smtClean="0"/>
              <a:t>. Hardware que ajusta sinais de controle à níveis de potencia e formato de sinais adequados ao periférico.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7" name="Picture 3" descr="C:\Users\prof.MiltonRocha\Desktop\arduino_logo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9592" y="0"/>
            <a:ext cx="1071594" cy="1071594"/>
          </a:xfrm>
          <a:prstGeom prst="rect">
            <a:avLst/>
          </a:prstGeom>
          <a:noFill/>
        </p:spPr>
      </p:pic>
      <p:sp>
        <p:nvSpPr>
          <p:cNvPr id="2050" name="AutoShape 2" descr="http://arduino.cc/en/uploads/Main/ArduinoUno_R3_Front_450px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8" name="Retângulo de cantos arredondados 7"/>
          <p:cNvSpPr/>
          <p:nvPr/>
        </p:nvSpPr>
        <p:spPr>
          <a:xfrm>
            <a:off x="2267744" y="214290"/>
            <a:ext cx="5664692" cy="642942"/>
          </a:xfrm>
          <a:prstGeom prst="roundRect">
            <a:avLst/>
          </a:prstGeom>
          <a:solidFill>
            <a:srgbClr val="298B89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000" dirty="0" smtClean="0">
                <a:latin typeface="Times New Roman" pitchFamily="18" charset="0"/>
                <a:cs typeface="Times New Roman" pitchFamily="18" charset="0"/>
              </a:rPr>
              <a:t>CONCEITOS BÁSICOS</a:t>
            </a:r>
            <a:endParaRPr lang="pt-BR" sz="4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7890" name="Picture 2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E0E0D0"/>
              </a:clrFrom>
              <a:clrTo>
                <a:srgbClr val="E0E0D0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928662" y="3241331"/>
            <a:ext cx="4232518" cy="23479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7891" name="Picture 3"/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E0E0D0"/>
              </a:clrFrom>
              <a:clrTo>
                <a:srgbClr val="E0E0D0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5796136" y="2564904"/>
            <a:ext cx="2562225" cy="3960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CaixaDeTexto 8"/>
          <p:cNvSpPr txBox="1"/>
          <p:nvPr/>
        </p:nvSpPr>
        <p:spPr>
          <a:xfrm>
            <a:off x="3786182" y="5807005"/>
            <a:ext cx="15001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 smtClean="0">
                <a:solidFill>
                  <a:srgbClr val="268280"/>
                </a:solidFill>
                <a:latin typeface="Times New Roman" pitchFamily="18" charset="0"/>
                <a:cs typeface="Times New Roman" pitchFamily="18" charset="0"/>
              </a:rPr>
              <a:t>V=R.I</a:t>
            </a:r>
            <a:endParaRPr lang="pt-BR" sz="3600" dirty="0">
              <a:solidFill>
                <a:srgbClr val="26828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2" name="Seta em curva para a esquerda 21"/>
          <p:cNvSpPr/>
          <p:nvPr/>
        </p:nvSpPr>
        <p:spPr>
          <a:xfrm rot="10800000">
            <a:off x="3635896" y="3789040"/>
            <a:ext cx="428628" cy="100013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3" name="Seta entalhada para a direita 22"/>
          <p:cNvSpPr/>
          <p:nvPr/>
        </p:nvSpPr>
        <p:spPr>
          <a:xfrm>
            <a:off x="2267744" y="2998092"/>
            <a:ext cx="1357322" cy="142876"/>
          </a:xfrm>
          <a:prstGeom prst="notched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Seta em curva para a esquerda 23"/>
          <p:cNvSpPr/>
          <p:nvPr/>
        </p:nvSpPr>
        <p:spPr>
          <a:xfrm rot="10800000">
            <a:off x="5508104" y="3645024"/>
            <a:ext cx="428628" cy="100013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25" name="Seta entalhada para a direita 24"/>
          <p:cNvSpPr/>
          <p:nvPr/>
        </p:nvSpPr>
        <p:spPr>
          <a:xfrm rot="5400000">
            <a:off x="5941862" y="3571306"/>
            <a:ext cx="535785" cy="107157"/>
          </a:xfrm>
          <a:prstGeom prst="notched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 25"/>
          <p:cNvSpPr/>
          <p:nvPr/>
        </p:nvSpPr>
        <p:spPr>
          <a:xfrm>
            <a:off x="3214678" y="2500306"/>
            <a:ext cx="574753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5V</a:t>
            </a:r>
            <a:endParaRPr lang="pt-BR" sz="2400" b="1" cap="none" spc="0" dirty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7" name="Retângulo 26"/>
          <p:cNvSpPr/>
          <p:nvPr/>
        </p:nvSpPr>
        <p:spPr>
          <a:xfrm>
            <a:off x="5072066" y="2428868"/>
            <a:ext cx="574753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5V</a:t>
            </a:r>
            <a:endParaRPr lang="pt-BR" sz="2400" b="1" cap="none" spc="0" dirty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8" name="Retângulo 27"/>
          <p:cNvSpPr/>
          <p:nvPr/>
        </p:nvSpPr>
        <p:spPr>
          <a:xfrm>
            <a:off x="2339752" y="1671191"/>
            <a:ext cx="1214446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1 </a:t>
            </a:r>
            <a:r>
              <a:rPr lang="pt-BR" sz="2400" b="1" dirty="0" err="1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mA</a:t>
            </a:r>
            <a:endParaRPr lang="pt-BR" sz="2400" b="1" cap="none" spc="0" dirty="0">
              <a:ln w="12700">
                <a:solidFill>
                  <a:srgbClr val="FF0000"/>
                </a:solidFill>
                <a:prstDash val="solid"/>
              </a:ln>
              <a:solidFill>
                <a:srgbClr val="FF0000"/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" name="Retângulo 28"/>
          <p:cNvSpPr/>
          <p:nvPr/>
        </p:nvSpPr>
        <p:spPr>
          <a:xfrm>
            <a:off x="6516216" y="1844824"/>
            <a:ext cx="1214446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1 </a:t>
            </a:r>
            <a:r>
              <a:rPr lang="pt-BR" sz="2400" b="1" dirty="0" err="1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mA</a:t>
            </a:r>
            <a:endParaRPr lang="pt-BR" sz="2400" b="1" cap="none" spc="0" dirty="0">
              <a:ln w="12700">
                <a:solidFill>
                  <a:srgbClr val="FF0000"/>
                </a:solidFill>
                <a:prstDash val="solid"/>
              </a:ln>
              <a:solidFill>
                <a:srgbClr val="FF0000"/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7" name="CaixaDeTexto 16"/>
          <p:cNvSpPr txBox="1"/>
          <p:nvPr/>
        </p:nvSpPr>
        <p:spPr>
          <a:xfrm>
            <a:off x="539552" y="1124744"/>
            <a:ext cx="8280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 smtClean="0"/>
              <a:t>Circuito Elétrico – Percurso fechado de corrente elétrica</a:t>
            </a:r>
            <a:endParaRPr lang="pt-BR" sz="2800" dirty="0"/>
          </a:p>
        </p:txBody>
      </p:sp>
      <p:sp>
        <p:nvSpPr>
          <p:cNvPr id="2" name="CaixaDeTexto 1"/>
          <p:cNvSpPr txBox="1"/>
          <p:nvPr/>
        </p:nvSpPr>
        <p:spPr>
          <a:xfrm>
            <a:off x="7524328" y="2636912"/>
            <a:ext cx="15121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Cada pino do </a:t>
            </a:r>
            <a:r>
              <a:rPr lang="pt-BR" dirty="0" err="1" smtClean="0"/>
              <a:t>Arduino</a:t>
            </a:r>
            <a:r>
              <a:rPr lang="pt-BR" dirty="0" smtClean="0"/>
              <a:t> fornece ATÉ 40mA.</a:t>
            </a:r>
          </a:p>
          <a:p>
            <a:r>
              <a:rPr lang="pt-BR" dirty="0" smtClean="0"/>
              <a:t>(Rádio de pilha 5mA).</a:t>
            </a:r>
          </a:p>
          <a:p>
            <a:r>
              <a:rPr lang="pt-BR" dirty="0" smtClean="0"/>
              <a:t>LED 10 </a:t>
            </a:r>
            <a:r>
              <a:rPr lang="pt-BR" dirty="0" err="1" smtClean="0"/>
              <a:t>mA.</a:t>
            </a:r>
            <a:endParaRPr lang="pt-BR" dirty="0" smtClean="0"/>
          </a:p>
          <a:p>
            <a:r>
              <a:rPr lang="pt-BR" dirty="0" smtClean="0"/>
              <a:t>Fonte USB: 500mA.</a:t>
            </a:r>
            <a:endParaRPr lang="pt-BR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378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5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378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  <p:bldP spid="2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7" name="Picture 3" descr="C:\Users\prof.MiltonRocha\Desktop\arduino_logo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85918" y="0"/>
            <a:ext cx="1071594" cy="1071594"/>
          </a:xfrm>
          <a:prstGeom prst="rect">
            <a:avLst/>
          </a:prstGeom>
          <a:noFill/>
        </p:spPr>
      </p:pic>
      <p:sp>
        <p:nvSpPr>
          <p:cNvPr id="2050" name="AutoShape 2" descr="http://arduino.cc/en/uploads/Main/ArduinoUno_R3_Front_450px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8" name="Retângulo de cantos arredondados 7"/>
          <p:cNvSpPr/>
          <p:nvPr/>
        </p:nvSpPr>
        <p:spPr>
          <a:xfrm>
            <a:off x="2928926" y="214290"/>
            <a:ext cx="4643470" cy="642942"/>
          </a:xfrm>
          <a:prstGeom prst="roundRect">
            <a:avLst/>
          </a:prstGeom>
          <a:solidFill>
            <a:srgbClr val="298B89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000" dirty="0" smtClean="0">
                <a:latin typeface="Times New Roman" pitchFamily="18" charset="0"/>
                <a:cs typeface="Times New Roman" pitchFamily="18" charset="0"/>
              </a:rPr>
              <a:t>CONCEITO</a:t>
            </a:r>
            <a:endParaRPr lang="pt-BR" sz="4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E0E0D0"/>
              </a:clrFrom>
              <a:clrTo>
                <a:srgbClr val="E0E0D0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1142976" y="1285860"/>
            <a:ext cx="2852745" cy="4998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CaixaDeTexto 8"/>
          <p:cNvSpPr txBox="1"/>
          <p:nvPr/>
        </p:nvSpPr>
        <p:spPr>
          <a:xfrm>
            <a:off x="5572132" y="3214686"/>
            <a:ext cx="32861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rgbClr val="268280"/>
                </a:solidFill>
                <a:latin typeface="Times New Roman" pitchFamily="18" charset="0"/>
                <a:cs typeface="Times New Roman" pitchFamily="18" charset="0"/>
              </a:rPr>
              <a:t>V1=R1.V/(R1+R2)</a:t>
            </a:r>
            <a:endParaRPr lang="pt-BR" sz="2400" dirty="0">
              <a:solidFill>
                <a:srgbClr val="26828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CaixaDeTexto 9"/>
          <p:cNvSpPr txBox="1"/>
          <p:nvPr/>
        </p:nvSpPr>
        <p:spPr>
          <a:xfrm>
            <a:off x="5572132" y="3714752"/>
            <a:ext cx="32861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rgbClr val="268280"/>
                </a:solidFill>
                <a:latin typeface="Times New Roman" pitchFamily="18" charset="0"/>
                <a:cs typeface="Times New Roman" pitchFamily="18" charset="0"/>
              </a:rPr>
              <a:t>V2=R2.V/(R1+R2)</a:t>
            </a:r>
            <a:endParaRPr lang="pt-BR" sz="2400" dirty="0">
              <a:solidFill>
                <a:srgbClr val="26828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8916" name="Picture 4"/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E0E0D0"/>
              </a:clrFrom>
              <a:clrTo>
                <a:srgbClr val="E0E0D0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4143372" y="1643050"/>
            <a:ext cx="1118324" cy="44958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Seta em curva para a esquerda 10"/>
          <p:cNvSpPr/>
          <p:nvPr/>
        </p:nvSpPr>
        <p:spPr>
          <a:xfrm rot="10800000">
            <a:off x="1142976" y="2500306"/>
            <a:ext cx="428628" cy="100013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357158" y="2786058"/>
            <a:ext cx="86050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2,5V</a:t>
            </a:r>
            <a:endParaRPr lang="pt-BR" sz="2400" b="1" cap="none" spc="0" dirty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" name="Seta em curva para a esquerda 14"/>
          <p:cNvSpPr/>
          <p:nvPr/>
        </p:nvSpPr>
        <p:spPr>
          <a:xfrm rot="10800000">
            <a:off x="1142976" y="4214818"/>
            <a:ext cx="428628" cy="100013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17" name="Retângulo 16"/>
          <p:cNvSpPr/>
          <p:nvPr/>
        </p:nvSpPr>
        <p:spPr>
          <a:xfrm>
            <a:off x="357158" y="4500570"/>
            <a:ext cx="860505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2,5V</a:t>
            </a:r>
            <a:endParaRPr lang="pt-BR" sz="2400" b="1" cap="none" spc="0" dirty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8" name="Seta em curva para a esquerda 17"/>
          <p:cNvSpPr/>
          <p:nvPr/>
        </p:nvSpPr>
        <p:spPr>
          <a:xfrm rot="10800000">
            <a:off x="3786182" y="2571744"/>
            <a:ext cx="428628" cy="100013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19" name="Retângulo 18"/>
          <p:cNvSpPr/>
          <p:nvPr/>
        </p:nvSpPr>
        <p:spPr>
          <a:xfrm>
            <a:off x="2786050" y="2857496"/>
            <a:ext cx="1074819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1,25V</a:t>
            </a:r>
            <a:endParaRPr lang="pt-BR" sz="2400" b="1" cap="none" spc="0" dirty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0" name="Seta em curva para a esquerda 19"/>
          <p:cNvSpPr/>
          <p:nvPr/>
        </p:nvSpPr>
        <p:spPr>
          <a:xfrm rot="10800000">
            <a:off x="3786182" y="4143380"/>
            <a:ext cx="428628" cy="100013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21" name="Retângulo 20"/>
          <p:cNvSpPr/>
          <p:nvPr/>
        </p:nvSpPr>
        <p:spPr>
          <a:xfrm>
            <a:off x="2786050" y="4429132"/>
            <a:ext cx="1074819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3,75V</a:t>
            </a:r>
            <a:endParaRPr lang="pt-BR" sz="2400" b="1" cap="none" spc="0" dirty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2" name="Seta entalhada para a direita 21"/>
          <p:cNvSpPr/>
          <p:nvPr/>
        </p:nvSpPr>
        <p:spPr>
          <a:xfrm rot="5400000">
            <a:off x="1785918" y="2214554"/>
            <a:ext cx="535785" cy="107157"/>
          </a:xfrm>
          <a:prstGeom prst="notched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Retângulo 22"/>
          <p:cNvSpPr/>
          <p:nvPr/>
        </p:nvSpPr>
        <p:spPr>
          <a:xfrm>
            <a:off x="2143108" y="2000240"/>
            <a:ext cx="1214446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0,5 </a:t>
            </a:r>
            <a:r>
              <a:rPr lang="pt-BR" sz="2400" b="1" dirty="0" err="1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mA</a:t>
            </a:r>
            <a:endParaRPr lang="pt-BR" sz="2400" b="1" cap="none" spc="0" dirty="0">
              <a:ln w="12700">
                <a:solidFill>
                  <a:srgbClr val="FF0000"/>
                </a:solidFill>
                <a:prstDash val="solid"/>
              </a:ln>
              <a:solidFill>
                <a:srgbClr val="FF0000"/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4" name="Seta entalhada para a direita 23"/>
          <p:cNvSpPr/>
          <p:nvPr/>
        </p:nvSpPr>
        <p:spPr>
          <a:xfrm rot="5400000">
            <a:off x="4286248" y="2285992"/>
            <a:ext cx="535785" cy="107157"/>
          </a:xfrm>
          <a:prstGeom prst="notched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Retângulo 24"/>
          <p:cNvSpPr/>
          <p:nvPr/>
        </p:nvSpPr>
        <p:spPr>
          <a:xfrm>
            <a:off x="4643438" y="2071678"/>
            <a:ext cx="1214446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0,25</a:t>
            </a:r>
            <a:r>
              <a:rPr lang="pt-BR" sz="2400" b="1" dirty="0" err="1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mA</a:t>
            </a:r>
            <a:endParaRPr lang="pt-BR" sz="2400" b="1" cap="none" spc="0" dirty="0">
              <a:ln w="12700">
                <a:solidFill>
                  <a:srgbClr val="FF0000"/>
                </a:solidFill>
                <a:prstDash val="solid"/>
              </a:ln>
              <a:solidFill>
                <a:srgbClr val="FF0000"/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6" name="CaixaDeTexto 25"/>
          <p:cNvSpPr txBox="1"/>
          <p:nvPr/>
        </p:nvSpPr>
        <p:spPr>
          <a:xfrm>
            <a:off x="1619672" y="1196752"/>
            <a:ext cx="64807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 smtClean="0"/>
              <a:t>Divisor de Tensão.  Lei de OHM. V =  R * I</a:t>
            </a:r>
            <a:endParaRPr lang="pt-BR" sz="2800" dirty="0"/>
          </a:p>
        </p:txBody>
      </p:sp>
      <p:sp>
        <p:nvSpPr>
          <p:cNvPr id="2" name="CaixaDeTexto 1"/>
          <p:cNvSpPr txBox="1"/>
          <p:nvPr/>
        </p:nvSpPr>
        <p:spPr>
          <a:xfrm>
            <a:off x="5572132" y="4500570"/>
            <a:ext cx="26722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A Soma das tensões é igual a tensão no circuito série</a:t>
            </a:r>
            <a:endParaRPr lang="pt-BR" dirty="0"/>
          </a:p>
        </p:txBody>
      </p:sp>
      <p:sp>
        <p:nvSpPr>
          <p:cNvPr id="3" name="CaixaDeTexto 2"/>
          <p:cNvSpPr txBox="1"/>
          <p:nvPr/>
        </p:nvSpPr>
        <p:spPr>
          <a:xfrm>
            <a:off x="6156176" y="1719972"/>
            <a:ext cx="24209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Divisor de tensão: A energia se distribui proporcionalmente ao valor da </a:t>
            </a:r>
            <a:r>
              <a:rPr lang="pt-BR" dirty="0" err="1" smtClean="0"/>
              <a:t>resistencia</a:t>
            </a:r>
            <a:endParaRPr lang="pt-BR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89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38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/>
      <p:bldP spid="15" grpId="0" animBg="1"/>
      <p:bldP spid="17" grpId="0"/>
      <p:bldP spid="18" grpId="0" animBg="1"/>
      <p:bldP spid="19" grpId="0"/>
      <p:bldP spid="20" grpId="0" animBg="1"/>
      <p:bldP spid="21" grpId="0"/>
      <p:bldP spid="22" grpId="0" animBg="1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7" name="Picture 3" descr="C:\Users\prof.MiltonRocha\Desktop\arduino_logo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85918" y="0"/>
            <a:ext cx="1071594" cy="1071594"/>
          </a:xfrm>
          <a:prstGeom prst="rect">
            <a:avLst/>
          </a:prstGeom>
          <a:noFill/>
        </p:spPr>
      </p:pic>
      <p:sp>
        <p:nvSpPr>
          <p:cNvPr id="2050" name="AutoShape 2" descr="http://arduino.cc/en/uploads/Main/ArduinoUno_R3_Front_450px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8" name="Retângulo de cantos arredondados 7"/>
          <p:cNvSpPr/>
          <p:nvPr/>
        </p:nvSpPr>
        <p:spPr>
          <a:xfrm>
            <a:off x="2928926" y="214290"/>
            <a:ext cx="4643470" cy="642942"/>
          </a:xfrm>
          <a:prstGeom prst="roundRect">
            <a:avLst/>
          </a:prstGeom>
          <a:solidFill>
            <a:srgbClr val="298B89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000" dirty="0" smtClean="0">
                <a:latin typeface="Times New Roman" pitchFamily="18" charset="0"/>
                <a:cs typeface="Times New Roman" pitchFamily="18" charset="0"/>
              </a:rPr>
              <a:t>CONCEITO</a:t>
            </a:r>
            <a:endParaRPr lang="pt-BR" sz="4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CaixaDeTexto 8"/>
          <p:cNvSpPr txBox="1"/>
          <p:nvPr/>
        </p:nvSpPr>
        <p:spPr>
          <a:xfrm>
            <a:off x="5429256" y="2214554"/>
            <a:ext cx="32861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rgbClr val="268280"/>
                </a:solidFill>
                <a:latin typeface="Times New Roman" pitchFamily="18" charset="0"/>
                <a:cs typeface="Times New Roman" pitchFamily="18" charset="0"/>
              </a:rPr>
              <a:t>I1=V/R1</a:t>
            </a:r>
            <a:endParaRPr lang="pt-BR" sz="2400" dirty="0">
              <a:solidFill>
                <a:srgbClr val="26828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CaixaDeTexto 9"/>
          <p:cNvSpPr txBox="1"/>
          <p:nvPr/>
        </p:nvSpPr>
        <p:spPr>
          <a:xfrm>
            <a:off x="5500694" y="3214686"/>
            <a:ext cx="32861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rgbClr val="268280"/>
                </a:solidFill>
                <a:latin typeface="Times New Roman" pitchFamily="18" charset="0"/>
                <a:cs typeface="Times New Roman" pitchFamily="18" charset="0"/>
              </a:rPr>
              <a:t>I2=V/R2</a:t>
            </a:r>
            <a:endParaRPr lang="pt-BR" sz="2400" dirty="0">
              <a:solidFill>
                <a:srgbClr val="26828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E0E0D0"/>
              </a:clrFrom>
              <a:clrTo>
                <a:srgbClr val="E0E0D0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928662" y="1214422"/>
            <a:ext cx="2847975" cy="484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Seta em curva para a esquerda 10"/>
          <p:cNvSpPr/>
          <p:nvPr/>
        </p:nvSpPr>
        <p:spPr>
          <a:xfrm rot="10800000">
            <a:off x="857224" y="3071810"/>
            <a:ext cx="428628" cy="100013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214282" y="3357562"/>
            <a:ext cx="574753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5V</a:t>
            </a:r>
            <a:endParaRPr lang="pt-BR" sz="2400" b="1" cap="none" spc="0" dirty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Seta em curva para a esquerda 12"/>
          <p:cNvSpPr/>
          <p:nvPr/>
        </p:nvSpPr>
        <p:spPr>
          <a:xfrm rot="10800000" flipH="1">
            <a:off x="3643306" y="3143248"/>
            <a:ext cx="428628" cy="1000132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14" name="Retângulo 13"/>
          <p:cNvSpPr/>
          <p:nvPr/>
        </p:nvSpPr>
        <p:spPr>
          <a:xfrm>
            <a:off x="4143372" y="3429000"/>
            <a:ext cx="574753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5V</a:t>
            </a:r>
            <a:endParaRPr lang="pt-BR" sz="2400" b="1" cap="none" spc="0" dirty="0">
              <a:ln w="12700">
                <a:solidFill>
                  <a:schemeClr val="tx2">
                    <a:satMod val="155000"/>
                  </a:schemeClr>
                </a:solidFill>
                <a:prstDash val="solid"/>
              </a:ln>
              <a:solidFill>
                <a:schemeClr val="bg2">
                  <a:tint val="85000"/>
                  <a:satMod val="155000"/>
                </a:schemeClr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" name="Seta entalhada para a direita 14"/>
          <p:cNvSpPr/>
          <p:nvPr/>
        </p:nvSpPr>
        <p:spPr>
          <a:xfrm rot="5400000">
            <a:off x="3000364" y="2786058"/>
            <a:ext cx="535785" cy="107157"/>
          </a:xfrm>
          <a:prstGeom prst="notched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3357554" y="2571744"/>
            <a:ext cx="1214446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1 </a:t>
            </a:r>
            <a:r>
              <a:rPr lang="pt-BR" sz="2400" b="1" dirty="0" err="1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mA</a:t>
            </a:r>
            <a:endParaRPr lang="pt-BR" sz="2400" b="1" cap="none" spc="0" dirty="0">
              <a:ln w="12700">
                <a:solidFill>
                  <a:srgbClr val="FF0000"/>
                </a:solidFill>
                <a:prstDash val="solid"/>
              </a:ln>
              <a:solidFill>
                <a:srgbClr val="FF0000"/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7" name="Seta entalhada para a direita 16"/>
          <p:cNvSpPr/>
          <p:nvPr/>
        </p:nvSpPr>
        <p:spPr>
          <a:xfrm rot="5400000">
            <a:off x="857224" y="4357694"/>
            <a:ext cx="535785" cy="107157"/>
          </a:xfrm>
          <a:prstGeom prst="notched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-285784" y="4286256"/>
            <a:ext cx="1214446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1 </a:t>
            </a:r>
            <a:r>
              <a:rPr lang="pt-BR" sz="2400" b="1" dirty="0" err="1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mA</a:t>
            </a:r>
            <a:endParaRPr lang="pt-BR" sz="2400" b="1" cap="none" spc="0" dirty="0">
              <a:ln w="12700">
                <a:solidFill>
                  <a:srgbClr val="FF0000"/>
                </a:solidFill>
                <a:prstDash val="solid"/>
              </a:ln>
              <a:solidFill>
                <a:srgbClr val="FF0000"/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9" name="Seta entalhada para a direita 18"/>
          <p:cNvSpPr/>
          <p:nvPr/>
        </p:nvSpPr>
        <p:spPr>
          <a:xfrm rot="5400000">
            <a:off x="1500166" y="2071678"/>
            <a:ext cx="535785" cy="107157"/>
          </a:xfrm>
          <a:prstGeom prst="notched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 19"/>
          <p:cNvSpPr/>
          <p:nvPr/>
        </p:nvSpPr>
        <p:spPr>
          <a:xfrm>
            <a:off x="1857356" y="1857364"/>
            <a:ext cx="1214446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2400" b="1" dirty="0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2 </a:t>
            </a:r>
            <a:r>
              <a:rPr lang="pt-BR" sz="2400" b="1" dirty="0" err="1" smtClean="0">
                <a:ln w="12700">
                  <a:solidFill>
                    <a:srgbClr val="FF0000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latin typeface="Times New Roman" pitchFamily="18" charset="0"/>
                <a:cs typeface="Times New Roman" pitchFamily="18" charset="0"/>
              </a:rPr>
              <a:t>mA</a:t>
            </a:r>
            <a:endParaRPr lang="pt-BR" sz="2400" b="1" cap="none" spc="0" dirty="0">
              <a:ln w="12700">
                <a:solidFill>
                  <a:srgbClr val="FF0000"/>
                </a:solidFill>
                <a:prstDash val="solid"/>
              </a:ln>
              <a:solidFill>
                <a:srgbClr val="FF0000"/>
              </a:solidFill>
              <a:effectLst>
                <a:outerShdw blurRad="41275" dist="20320" dir="1800000" algn="tl" rotWithShape="0">
                  <a:srgbClr val="000000">
                    <a:alpha val="40000"/>
                  </a:srgbClr>
                </a:outerShdw>
              </a:effectLst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1" name="CaixaDeTexto 20"/>
          <p:cNvSpPr txBox="1"/>
          <p:nvPr/>
        </p:nvSpPr>
        <p:spPr>
          <a:xfrm>
            <a:off x="2771800" y="1196752"/>
            <a:ext cx="4824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 smtClean="0"/>
              <a:t>Divisor de corrente</a:t>
            </a:r>
            <a:endParaRPr lang="pt-BR" sz="2800" dirty="0"/>
          </a:p>
        </p:txBody>
      </p:sp>
      <p:sp>
        <p:nvSpPr>
          <p:cNvPr id="2" name="CaixaDeTexto 1"/>
          <p:cNvSpPr txBox="1"/>
          <p:nvPr/>
        </p:nvSpPr>
        <p:spPr>
          <a:xfrm>
            <a:off x="5148064" y="4071942"/>
            <a:ext cx="30243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A soma das correntes em paralelo é igual a corrente total fornecida.</a:t>
            </a:r>
            <a:endParaRPr lang="pt-BR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399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7" name="Picture 3" descr="C:\Users\prof.MiltonRocha\Desktop\arduino_logo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85918" y="0"/>
            <a:ext cx="1071594" cy="1071594"/>
          </a:xfrm>
          <a:prstGeom prst="rect">
            <a:avLst/>
          </a:prstGeom>
          <a:noFill/>
        </p:spPr>
      </p:pic>
      <p:sp>
        <p:nvSpPr>
          <p:cNvPr id="2050" name="AutoShape 2" descr="http://arduino.cc/en/uploads/Main/ArduinoUno_R3_Front_450px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8" name="Retângulo de cantos arredondados 7"/>
          <p:cNvSpPr/>
          <p:nvPr/>
        </p:nvSpPr>
        <p:spPr>
          <a:xfrm>
            <a:off x="2928926" y="214290"/>
            <a:ext cx="4643470" cy="642942"/>
          </a:xfrm>
          <a:prstGeom prst="roundRect">
            <a:avLst/>
          </a:prstGeom>
          <a:solidFill>
            <a:srgbClr val="298B89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000" dirty="0" smtClean="0">
                <a:latin typeface="Times New Roman" pitchFamily="18" charset="0"/>
                <a:cs typeface="Times New Roman" pitchFamily="18" charset="0"/>
              </a:rPr>
              <a:t>CONCEITO</a:t>
            </a:r>
            <a:endParaRPr lang="pt-BR" sz="4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" name="Retângulo de cantos arredondados 10"/>
          <p:cNvSpPr/>
          <p:nvPr/>
        </p:nvSpPr>
        <p:spPr>
          <a:xfrm>
            <a:off x="1000100" y="1714488"/>
            <a:ext cx="2857520" cy="428628"/>
          </a:xfrm>
          <a:prstGeom prst="roundRect">
            <a:avLst/>
          </a:prstGeom>
          <a:solidFill>
            <a:srgbClr val="298B89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 smtClean="0">
                <a:latin typeface="Times New Roman" pitchFamily="18" charset="0"/>
                <a:cs typeface="Times New Roman" pitchFamily="18" charset="0"/>
              </a:rPr>
              <a:t>DIGITAL</a:t>
            </a:r>
            <a:endParaRPr lang="pt-B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Retângulo de cantos arredondados 11"/>
          <p:cNvSpPr/>
          <p:nvPr/>
        </p:nvSpPr>
        <p:spPr>
          <a:xfrm>
            <a:off x="5214942" y="1785926"/>
            <a:ext cx="2857520" cy="428628"/>
          </a:xfrm>
          <a:prstGeom prst="roundRect">
            <a:avLst/>
          </a:prstGeom>
          <a:solidFill>
            <a:srgbClr val="298B89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 smtClean="0">
                <a:latin typeface="Times New Roman" pitchFamily="18" charset="0"/>
                <a:cs typeface="Times New Roman" pitchFamily="18" charset="0"/>
              </a:rPr>
              <a:t>Analógico</a:t>
            </a:r>
            <a:endParaRPr lang="pt-BR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Retângulo de cantos arredondados 12"/>
          <p:cNvSpPr/>
          <p:nvPr/>
        </p:nvSpPr>
        <p:spPr>
          <a:xfrm>
            <a:off x="214282" y="2571744"/>
            <a:ext cx="4214842" cy="321471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4400" dirty="0" smtClean="0">
                <a:solidFill>
                  <a:srgbClr val="268280"/>
                </a:solidFill>
                <a:latin typeface="Times New Roman" pitchFamily="18" charset="0"/>
                <a:cs typeface="Times New Roman" pitchFamily="18" charset="0"/>
              </a:rPr>
              <a:t>Nível lógico=1: 5V</a:t>
            </a:r>
          </a:p>
          <a:p>
            <a:pPr algn="ctr"/>
            <a:r>
              <a:rPr lang="pt-BR" sz="4400" dirty="0">
                <a:solidFill>
                  <a:srgbClr val="268280"/>
                </a:solidFill>
                <a:latin typeface="Times New Roman" pitchFamily="18" charset="0"/>
                <a:cs typeface="Times New Roman" pitchFamily="18" charset="0"/>
              </a:rPr>
              <a:t>Nível </a:t>
            </a:r>
            <a:r>
              <a:rPr lang="pt-BR" sz="4400" dirty="0" smtClean="0">
                <a:solidFill>
                  <a:srgbClr val="268280"/>
                </a:solidFill>
                <a:latin typeface="Times New Roman" pitchFamily="18" charset="0"/>
                <a:cs typeface="Times New Roman" pitchFamily="18" charset="0"/>
              </a:rPr>
              <a:t>lógico=0: ~0V</a:t>
            </a:r>
          </a:p>
          <a:p>
            <a:pPr algn="ctr"/>
            <a:r>
              <a:rPr lang="pt-BR" dirty="0" smtClean="0"/>
              <a:t>Somente dois valores lógicos</a:t>
            </a:r>
            <a:endParaRPr lang="pt-BR" dirty="0"/>
          </a:p>
        </p:txBody>
      </p:sp>
      <p:sp>
        <p:nvSpPr>
          <p:cNvPr id="15" name="Retângulo de cantos arredondados 14"/>
          <p:cNvSpPr/>
          <p:nvPr/>
        </p:nvSpPr>
        <p:spPr>
          <a:xfrm>
            <a:off x="4643438" y="2500306"/>
            <a:ext cx="4214842" cy="321471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3200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0 a 5V</a:t>
            </a:r>
          </a:p>
          <a:p>
            <a:pPr algn="ctr"/>
            <a:r>
              <a:rPr lang="pt-BR" sz="2400" dirty="0" smtClean="0">
                <a:solidFill>
                  <a:srgbClr val="268280"/>
                </a:solidFill>
                <a:latin typeface="Times New Roman" pitchFamily="18" charset="0"/>
                <a:cs typeface="Times New Roman" pitchFamily="18" charset="0"/>
              </a:rPr>
              <a:t>0,1V...	2,0V...	3,0V...	4,5V</a:t>
            </a:r>
          </a:p>
          <a:p>
            <a:pPr algn="ctr"/>
            <a:endParaRPr lang="pt-BR" dirty="0" smtClean="0"/>
          </a:p>
          <a:p>
            <a:pPr algn="ctr"/>
            <a:r>
              <a:rPr lang="pt-BR" dirty="0" smtClean="0"/>
              <a:t>Valores definidos em uma faixa.</a:t>
            </a:r>
            <a:endParaRPr lang="pt-BR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7" name="Picture 3" descr="C:\Users\prof.MiltonRocha\Desktop\arduino_logo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-36512" y="0"/>
            <a:ext cx="1071594" cy="1071594"/>
          </a:xfrm>
          <a:prstGeom prst="rect">
            <a:avLst/>
          </a:prstGeom>
          <a:noFill/>
        </p:spPr>
      </p:pic>
      <p:sp>
        <p:nvSpPr>
          <p:cNvPr id="2050" name="AutoShape 2" descr="http://arduino.cc/en/uploads/Main/ArduinoUno_R3_Front_450px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8" name="Retângulo de cantos arredondados 7"/>
          <p:cNvSpPr/>
          <p:nvPr/>
        </p:nvSpPr>
        <p:spPr>
          <a:xfrm>
            <a:off x="1187624" y="214290"/>
            <a:ext cx="7776864" cy="642942"/>
          </a:xfrm>
          <a:prstGeom prst="roundRect">
            <a:avLst/>
          </a:prstGeom>
          <a:solidFill>
            <a:srgbClr val="298B89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000" dirty="0" smtClean="0">
                <a:latin typeface="Times New Roman" pitchFamily="18" charset="0"/>
                <a:cs typeface="Times New Roman" pitchFamily="18" charset="0"/>
              </a:rPr>
              <a:t>Leitura de sinal analógico</a:t>
            </a:r>
            <a:endParaRPr lang="pt-BR" sz="4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5842" name="Picture 2"/>
          <p:cNvPicPr>
            <a:picLocks noChangeAspect="1" noChangeArrowheads="1"/>
          </p:cNvPicPr>
          <p:nvPr/>
        </p:nvPicPr>
        <p:blipFill>
          <a:blip r:embed="rId4" cstate="print">
            <a:clrChange>
              <a:clrFrom>
                <a:srgbClr val="E0E0D0"/>
              </a:clrFrom>
              <a:clrTo>
                <a:srgbClr val="E0E0D0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785786" y="1214422"/>
            <a:ext cx="7893847" cy="48577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5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358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7" name="Picture 3" descr="C:\Users\prof.MiltonRocha\Desktop\arduino_logo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785918" y="0"/>
            <a:ext cx="1071594" cy="1071594"/>
          </a:xfrm>
          <a:prstGeom prst="rect">
            <a:avLst/>
          </a:prstGeom>
          <a:noFill/>
        </p:spPr>
      </p:pic>
      <p:sp>
        <p:nvSpPr>
          <p:cNvPr id="2050" name="AutoShape 2" descr="http://arduino.cc/en/uploads/Main/ArduinoUno_R3_Front_450px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8" name="Retângulo de cantos arredondados 7"/>
          <p:cNvSpPr/>
          <p:nvPr/>
        </p:nvSpPr>
        <p:spPr>
          <a:xfrm>
            <a:off x="2928926" y="214290"/>
            <a:ext cx="4643470" cy="642942"/>
          </a:xfrm>
          <a:prstGeom prst="roundRect">
            <a:avLst/>
          </a:prstGeom>
          <a:solidFill>
            <a:srgbClr val="298B89"/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000" dirty="0" smtClean="0">
                <a:latin typeface="Times New Roman" pitchFamily="18" charset="0"/>
                <a:cs typeface="Times New Roman" pitchFamily="18" charset="0"/>
              </a:rPr>
              <a:t>Conversão A/D</a:t>
            </a:r>
            <a:endParaRPr lang="pt-BR" sz="4000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5123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72811376"/>
              </p:ext>
            </p:extLst>
          </p:nvPr>
        </p:nvGraphicFramePr>
        <p:xfrm>
          <a:off x="899592" y="1052736"/>
          <a:ext cx="7783513" cy="5500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6" name="Graph" r:id="rId5" imgW="4276954" imgH="3023616" progId="">
                  <p:embed/>
                </p:oleObj>
              </mc:Choice>
              <mc:Fallback>
                <p:oleObj name="Graph" r:id="rId5" imgW="4276954" imgH="3023616" progId="">
                  <p:embed/>
                  <p:pic>
                    <p:nvPicPr>
                      <p:cNvPr id="0" name="Picture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9592" y="1052736"/>
                        <a:ext cx="7783513" cy="55006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CaixaDeTexto 2"/>
          <p:cNvSpPr txBox="1"/>
          <p:nvPr/>
        </p:nvSpPr>
        <p:spPr>
          <a:xfrm>
            <a:off x="5148064" y="3717032"/>
            <a:ext cx="23042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Nem sempre a curva é linear: Estatística : ajuste de equações</a:t>
            </a:r>
            <a:endParaRPr lang="pt-BR" dirty="0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5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2" descr="http://arduino.cc/en/uploads/Main/ArduinoUno_R3_Front_450px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9" name="Retângulo de cantos arredondados 8"/>
          <p:cNvSpPr/>
          <p:nvPr/>
        </p:nvSpPr>
        <p:spPr>
          <a:xfrm>
            <a:off x="155575" y="260648"/>
            <a:ext cx="8621808" cy="6084168"/>
          </a:xfrm>
          <a:prstGeom prst="round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2400" b="1" dirty="0" smtClean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/*</a:t>
            </a:r>
            <a:r>
              <a:rPr lang="en-US" b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Obtenção</a:t>
            </a:r>
            <a: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de valor </a:t>
            </a:r>
            <a:r>
              <a:rPr lang="en-US" b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máximo</a:t>
            </a:r>
            <a: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e </a:t>
            </a:r>
            <a:r>
              <a:rPr lang="en-US" b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mínimo</a:t>
            </a:r>
            <a: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de um </a:t>
            </a:r>
            <a:r>
              <a:rPr lang="en-US" b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conjunto</a:t>
            </a:r>
            <a: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de </a:t>
            </a:r>
            <a:r>
              <a:rPr lang="en-US" b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leituras</a:t>
            </a:r>
            <a: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analógicas</a:t>
            </a:r>
            <a: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. */</a:t>
            </a:r>
            <a:endParaRPr lang="en-US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float </a:t>
            </a:r>
            <a:r>
              <a:rPr lang="en-US" sz="2400" b="1" dirty="0" err="1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vmax</a:t>
            </a:r>
            <a:r>
              <a:rPr lang="en-US" sz="24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=0;  float </a:t>
            </a:r>
            <a:r>
              <a:rPr lang="en-US" sz="2400" b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vmin</a:t>
            </a:r>
            <a:r>
              <a:rPr lang="en-US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=5.0;</a:t>
            </a:r>
          </a:p>
          <a:p>
            <a:r>
              <a:rPr lang="en-US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//</a:t>
            </a:r>
            <a:r>
              <a:rPr lang="en-US" sz="2400" b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Programa</a:t>
            </a:r>
            <a:r>
              <a:rPr lang="en-US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ANALOG</a:t>
            </a:r>
          </a:p>
          <a:p>
            <a:endParaRPr lang="en-US" sz="9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void setup() {  </a:t>
            </a:r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Serial.begin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(9600);   }</a:t>
            </a:r>
          </a:p>
          <a:p>
            <a:endParaRPr lang="en-US" sz="900" b="1" dirty="0" smtClean="0">
              <a:solidFill>
                <a:srgbClr val="298B89"/>
              </a:solidFill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void loop()       </a:t>
            </a:r>
            <a:r>
              <a:rPr lang="en-US" sz="2400" b="1" dirty="0" smtClean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{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// </a:t>
            </a:r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leitura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analógica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no </a:t>
            </a:r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pino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A0 </a:t>
            </a:r>
          </a:p>
          <a:p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 </a:t>
            </a:r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int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sensorValue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= </a:t>
            </a:r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analogRead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(A0);</a:t>
            </a:r>
          </a:p>
          <a:p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serial.print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(“Valor digital =   “); </a:t>
            </a:r>
          </a:p>
          <a:p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serial.println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sensorValue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); </a:t>
            </a:r>
          </a:p>
          <a:p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// </a:t>
            </a:r>
            <a:r>
              <a:rPr lang="en-US" sz="20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Converte</a:t>
            </a:r>
            <a:r>
              <a:rPr lang="en-US" sz="20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a </a:t>
            </a:r>
            <a:r>
              <a:rPr lang="en-US" sz="20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leitura</a:t>
            </a:r>
            <a:r>
              <a:rPr lang="en-US" sz="20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0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analógica</a:t>
            </a:r>
            <a:r>
              <a:rPr lang="en-US" sz="20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(0 - 1023) para </a:t>
            </a:r>
            <a:r>
              <a:rPr lang="en-US" sz="20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voltagem</a:t>
            </a:r>
            <a:r>
              <a:rPr lang="en-US" sz="20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(0 - 5V):</a:t>
            </a:r>
          </a:p>
          <a:p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 float voltage = </a:t>
            </a:r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sensorValue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* (100.0 / 1023.0);</a:t>
            </a:r>
          </a:p>
          <a:p>
            <a:r>
              <a:rPr lang="en-US" sz="2400" b="1" dirty="0" err="1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</a:t>
            </a:r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erial.print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(“</a:t>
            </a:r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Voltagem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=   “); </a:t>
            </a:r>
          </a:p>
          <a:p>
            <a:r>
              <a:rPr lang="en-US" sz="24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serial.println</a:t>
            </a:r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(voltage</a:t>
            </a:r>
            <a:r>
              <a:rPr lang="en-US" sz="2400" b="1" dirty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); </a:t>
            </a:r>
            <a:endParaRPr lang="en-US" sz="2400" b="1" dirty="0" smtClean="0">
              <a:solidFill>
                <a:srgbClr val="298B89"/>
              </a:solidFill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delay(1000);    </a:t>
            </a:r>
            <a:r>
              <a:rPr lang="en-US" sz="2400" b="1" dirty="0">
                <a:solidFill>
                  <a:srgbClr val="002060"/>
                </a:solidFill>
                <a:latin typeface="Times New Roman" pitchFamily="18" charset="0"/>
                <a:cs typeface="Times New Roman" pitchFamily="18" charset="0"/>
              </a:rPr>
              <a:t>}</a:t>
            </a:r>
            <a:endParaRPr lang="pt-BR" sz="2400" b="1" dirty="0">
              <a:solidFill>
                <a:srgbClr val="00206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92696"/>
          </a:xfrm>
        </p:spPr>
        <p:txBody>
          <a:bodyPr>
            <a:normAutofit fontScale="90000"/>
          </a:bodyPr>
          <a:lstStyle/>
          <a:p>
            <a:r>
              <a:rPr lang="pt-BR" sz="2700" dirty="0" smtClean="0"/>
              <a:t/>
            </a:r>
            <a:br>
              <a:rPr lang="pt-BR" sz="2700" dirty="0" smtClean="0"/>
            </a:br>
            <a:r>
              <a:rPr lang="pt-BR" sz="2700" dirty="0" smtClean="0"/>
              <a:t>As questões propostas estão baseadas no </a:t>
            </a:r>
            <a:r>
              <a:rPr lang="en-US" sz="27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//</a:t>
            </a:r>
            <a:r>
              <a:rPr lang="en-US" sz="2700" b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Programa</a:t>
            </a:r>
            <a:r>
              <a:rPr lang="en-US" sz="27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ANALOG</a:t>
            </a:r>
            <a: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pt-BR" dirty="0" smtClean="0"/>
              <a:t>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692696"/>
            <a:ext cx="8229600" cy="5433467"/>
          </a:xfrm>
        </p:spPr>
        <p:txBody>
          <a:bodyPr>
            <a:normAutofit/>
          </a:bodyPr>
          <a:lstStyle/>
          <a:p>
            <a:pPr>
              <a:buNone/>
            </a:pPr>
            <a:endParaRPr lang="pt-BR" dirty="0" smtClean="0"/>
          </a:p>
          <a:p>
            <a:r>
              <a:rPr lang="pt-BR" dirty="0" smtClean="0"/>
              <a:t>Modo de operação do conversor A/D.</a:t>
            </a:r>
          </a:p>
          <a:p>
            <a:endParaRPr lang="pt-BR" dirty="0"/>
          </a:p>
          <a:p>
            <a:r>
              <a:rPr lang="pt-BR" dirty="0" smtClean="0"/>
              <a:t>Função </a:t>
            </a:r>
            <a:r>
              <a:rPr lang="pt-BR" dirty="0" err="1" smtClean="0"/>
              <a:t>analogRead</a:t>
            </a:r>
            <a:r>
              <a:rPr lang="pt-BR" dirty="0" smtClean="0"/>
              <a:t> na instrução:</a:t>
            </a:r>
          </a:p>
          <a:p>
            <a:pPr>
              <a:buNone/>
            </a:pPr>
            <a:r>
              <a:rPr lang="pt-BR" dirty="0" smtClean="0"/>
              <a:t>          </a:t>
            </a:r>
            <a:r>
              <a:rPr lang="pt-BR" dirty="0" err="1" smtClean="0"/>
              <a:t>int</a:t>
            </a:r>
            <a:r>
              <a:rPr lang="pt-BR" dirty="0" smtClean="0"/>
              <a:t> </a:t>
            </a:r>
            <a:r>
              <a:rPr lang="pt-BR" dirty="0" err="1" smtClean="0"/>
              <a:t>valorLido</a:t>
            </a:r>
            <a:r>
              <a:rPr lang="pt-BR" dirty="0" smtClean="0"/>
              <a:t> = </a:t>
            </a:r>
            <a:r>
              <a:rPr lang="pt-BR" dirty="0" err="1" smtClean="0"/>
              <a:t>analogRead</a:t>
            </a:r>
            <a:r>
              <a:rPr lang="pt-BR" dirty="0" smtClean="0"/>
              <a:t>(A0)?</a:t>
            </a:r>
          </a:p>
          <a:p>
            <a:endParaRPr lang="pt-BR" dirty="0" smtClean="0"/>
          </a:p>
          <a:p>
            <a:endParaRPr lang="pt-BR" dirty="0"/>
          </a:p>
          <a:p>
            <a:endParaRPr lang="pt-BR" dirty="0"/>
          </a:p>
          <a:p>
            <a:pPr>
              <a:buNone/>
            </a:pPr>
            <a:endParaRPr lang="pt-BR" dirty="0" smtClean="0"/>
          </a:p>
          <a:p>
            <a:endParaRPr lang="pt-BR" dirty="0"/>
          </a:p>
          <a:p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 smtClean="0"/>
              <a:t>Interface para medida de temperatura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 smtClean="0"/>
              <a:t>Descreva a função: Serial.</a:t>
            </a:r>
            <a:r>
              <a:rPr lang="pt-BR" dirty="0" err="1" smtClean="0"/>
              <a:t>print</a:t>
            </a:r>
            <a:endParaRPr lang="pt-BR" dirty="0" smtClean="0"/>
          </a:p>
          <a:p>
            <a:pPr>
              <a:buNone/>
            </a:pPr>
            <a:r>
              <a:rPr lang="pt-BR" dirty="0"/>
              <a:t> </a:t>
            </a:r>
            <a:r>
              <a:rPr lang="pt-BR" dirty="0" smtClean="0"/>
              <a:t>       (Vide help; </a:t>
            </a:r>
            <a:r>
              <a:rPr lang="pt-BR" dirty="0" err="1"/>
              <a:t>R</a:t>
            </a:r>
            <a:r>
              <a:rPr lang="pt-BR" dirty="0" err="1" smtClean="0"/>
              <a:t>eference</a:t>
            </a:r>
            <a:r>
              <a:rPr lang="pt-BR" dirty="0" smtClean="0"/>
              <a:t>)</a:t>
            </a:r>
          </a:p>
          <a:p>
            <a:endParaRPr lang="pt-BR" dirty="0"/>
          </a:p>
          <a:p>
            <a:r>
              <a:rPr lang="pt-BR" dirty="0" smtClean="0"/>
              <a:t>O que faz a instrução: </a:t>
            </a:r>
          </a:p>
          <a:p>
            <a:r>
              <a:rPr lang="pt-BR" dirty="0" smtClean="0"/>
              <a:t>Serial.</a:t>
            </a:r>
            <a:r>
              <a:rPr lang="pt-BR" dirty="0" err="1" smtClean="0"/>
              <a:t>print</a:t>
            </a:r>
            <a:r>
              <a:rPr lang="pt-BR" dirty="0" smtClean="0"/>
              <a:t>(“Fatec");</a:t>
            </a:r>
          </a:p>
          <a:p>
            <a:endParaRPr lang="pt-BR" dirty="0"/>
          </a:p>
          <a:p>
            <a:r>
              <a:rPr lang="pt-BR" dirty="0" err="1" smtClean="0"/>
              <a:t>Int</a:t>
            </a:r>
            <a:r>
              <a:rPr lang="pt-BR" dirty="0" smtClean="0"/>
              <a:t>  varia = 10;</a:t>
            </a:r>
          </a:p>
          <a:p>
            <a:r>
              <a:rPr lang="pt-BR" dirty="0" smtClean="0"/>
              <a:t>Serial.</a:t>
            </a:r>
            <a:r>
              <a:rPr lang="pt-BR" dirty="0" err="1" smtClean="0"/>
              <a:t>println</a:t>
            </a:r>
            <a:r>
              <a:rPr lang="pt-BR" dirty="0" smtClean="0"/>
              <a:t>(varia); </a:t>
            </a:r>
            <a:endParaRPr lang="pt-BR" dirty="0"/>
          </a:p>
          <a:p>
            <a:endParaRPr lang="pt-BR" dirty="0" smtClean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21557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Medida de temperatura. LM35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 fontScale="70000" lnSpcReduction="20000"/>
          </a:bodyPr>
          <a:lstStyle/>
          <a:p>
            <a:r>
              <a:rPr lang="pt-BR" dirty="0" smtClean="0"/>
              <a:t>Como funciona um sensor de temperatura (Ex.LM35)? Anote a sua pinagem.  Consulte o arquivo lm35.pdf em anexo (</a:t>
            </a:r>
            <a:r>
              <a:rPr lang="pt-BR" dirty="0" err="1" smtClean="0"/>
              <a:t>datasheet</a:t>
            </a:r>
            <a:r>
              <a:rPr lang="pt-BR" dirty="0" smtClean="0"/>
              <a:t>).</a:t>
            </a:r>
          </a:p>
          <a:p>
            <a:endParaRPr lang="pt-BR" dirty="0" smtClean="0"/>
          </a:p>
          <a:p>
            <a:pPr marL="0" indent="0">
              <a:buNone/>
            </a:pPr>
            <a:endParaRPr lang="pt-BR" dirty="0" smtClean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 smtClean="0"/>
          </a:p>
          <a:p>
            <a:pPr marL="0" indent="0">
              <a:buNone/>
            </a:pPr>
            <a:endParaRPr lang="pt-BR" dirty="0" smtClean="0"/>
          </a:p>
          <a:p>
            <a:pPr marL="0" indent="0">
              <a:buNone/>
            </a:pPr>
            <a:endParaRPr lang="pt-BR" dirty="0"/>
          </a:p>
          <a:p>
            <a:r>
              <a:rPr lang="pt-BR" dirty="0" smtClean="0"/>
              <a:t>Conecte o sensor de temperatura  ao Arduino. Anote as ligações.</a:t>
            </a:r>
          </a:p>
          <a:p>
            <a:endParaRPr lang="pt-BR" dirty="0"/>
          </a:p>
          <a:p>
            <a:r>
              <a:rPr lang="pt-BR" dirty="0" smtClean="0"/>
              <a:t>Ajuste o programa anterior para leitura de temperatura. Ajuste as escalas para medida de 0 a 100 graus Celsius. Compare com o valor real da temperatura obtida pelo multímetro.</a:t>
            </a:r>
          </a:p>
          <a:p>
            <a:endParaRPr lang="pt-BR" dirty="0" smtClean="0"/>
          </a:p>
          <a:p>
            <a:pPr marL="0" indent="0">
              <a:buNone/>
            </a:pPr>
            <a:endParaRPr lang="pt-BR" dirty="0" smtClean="0"/>
          </a:p>
          <a:p>
            <a:pPr>
              <a:buNone/>
            </a:pPr>
            <a:endParaRPr lang="pt-BR" dirty="0" smtClean="0"/>
          </a:p>
          <a:p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233737" y="2276873"/>
            <a:ext cx="2676525" cy="194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1392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59832" y="0"/>
            <a:ext cx="3672408" cy="620688"/>
          </a:xfrm>
        </p:spPr>
        <p:txBody>
          <a:bodyPr>
            <a:normAutofit/>
          </a:bodyPr>
          <a:lstStyle/>
          <a:p>
            <a:r>
              <a:rPr lang="pt-BR" sz="3200" dirty="0" smtClean="0"/>
              <a:t>Exercícios</a:t>
            </a:r>
            <a:endParaRPr lang="pt-BR" sz="3200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0" y="692696"/>
            <a:ext cx="9144000" cy="6048672"/>
          </a:xfrm>
        </p:spPr>
        <p:txBody>
          <a:bodyPr>
            <a:normAutofit/>
          </a:bodyPr>
          <a:lstStyle/>
          <a:p>
            <a:pPr marL="514350" indent="-514350">
              <a:buFont typeface="Arial" pitchFamily="34" charset="0"/>
              <a:buAutoNum type="arabicPeriod"/>
            </a:pPr>
            <a:r>
              <a:rPr lang="pt-BR" sz="1800" dirty="0" smtClean="0"/>
              <a:t>Anote. </a:t>
            </a:r>
          </a:p>
          <a:p>
            <a:pPr marL="514350" indent="-514350">
              <a:buNone/>
            </a:pPr>
            <a:r>
              <a:rPr lang="pt-BR" sz="1800" dirty="0" smtClean="0"/>
              <a:t>(a) Tensão em cada pino de saída do Arduino: _____________</a:t>
            </a:r>
          </a:p>
          <a:p>
            <a:pPr marL="514350" indent="-514350">
              <a:buNone/>
            </a:pPr>
            <a:r>
              <a:rPr lang="pt-BR" sz="1800" dirty="0" smtClean="0"/>
              <a:t>(b). Corrente máxima fornecida por cada pino do Arduino: _____________</a:t>
            </a:r>
          </a:p>
          <a:p>
            <a:pPr marL="514350" indent="-514350">
              <a:buNone/>
            </a:pPr>
            <a:r>
              <a:rPr lang="pt-BR" sz="1800" dirty="0" smtClean="0"/>
              <a:t>(c) Potencia máxima fornecida por cada pino do Arduino</a:t>
            </a:r>
          </a:p>
          <a:p>
            <a:pPr marL="514350" indent="-514350">
              <a:buNone/>
            </a:pPr>
            <a:endParaRPr lang="pt-BR" sz="1800" dirty="0" smtClean="0"/>
          </a:p>
          <a:p>
            <a:pPr marL="514350" indent="-514350">
              <a:buNone/>
            </a:pPr>
            <a:r>
              <a:rPr lang="pt-BR" sz="1800" dirty="0" smtClean="0"/>
              <a:t>2. Um resistor de 10K</a:t>
            </a:r>
            <a:r>
              <a:rPr lang="pt-BR" sz="1800" dirty="0" smtClean="0">
                <a:sym typeface="Symbol"/>
              </a:rPr>
              <a:t> é inserido entre o pino 10 é o GND do Arduino. </a:t>
            </a:r>
            <a:r>
              <a:rPr lang="pt-BR" sz="1800" dirty="0" smtClean="0"/>
              <a:t> (a) Calcule a corrente e a potência no resistor.</a:t>
            </a:r>
          </a:p>
          <a:p>
            <a:pPr marL="514350" indent="-514350">
              <a:buNone/>
            </a:pPr>
            <a:r>
              <a:rPr lang="pt-BR" sz="1800" dirty="0" smtClean="0"/>
              <a:t>(b). Repita para um resistor de 200</a:t>
            </a:r>
            <a:r>
              <a:rPr lang="pt-BR" sz="1800" dirty="0" smtClean="0">
                <a:sym typeface="Symbol"/>
              </a:rPr>
              <a:t>.</a:t>
            </a:r>
          </a:p>
          <a:p>
            <a:pPr marL="514350" indent="-514350">
              <a:buNone/>
            </a:pPr>
            <a:r>
              <a:rPr lang="pt-BR" sz="1800" dirty="0" smtClean="0">
                <a:sym typeface="Symbol"/>
              </a:rPr>
              <a:t>(c). </a:t>
            </a:r>
            <a:r>
              <a:rPr lang="pt-BR" sz="1800" dirty="0" smtClean="0"/>
              <a:t>Repita para um resistor de 10</a:t>
            </a:r>
            <a:r>
              <a:rPr lang="pt-BR" sz="1800" dirty="0" smtClean="0">
                <a:sym typeface="Symbol"/>
              </a:rPr>
              <a:t>. Compare a potencia obtida com a obtida no item 1.c.</a:t>
            </a:r>
          </a:p>
          <a:p>
            <a:pPr marL="514350" indent="-514350">
              <a:buNone/>
            </a:pPr>
            <a:endParaRPr lang="pt-BR" sz="1800" dirty="0" smtClean="0">
              <a:sym typeface="Symbol"/>
            </a:endParaRPr>
          </a:p>
          <a:p>
            <a:pPr marL="514350" indent="-514350">
              <a:buNone/>
            </a:pPr>
            <a:r>
              <a:rPr lang="pt-BR" sz="1800" dirty="0" smtClean="0">
                <a:sym typeface="Symbol"/>
              </a:rPr>
              <a:t>3. </a:t>
            </a:r>
          </a:p>
          <a:p>
            <a:pPr marL="514350" indent="-514350">
              <a:buNone/>
            </a:pPr>
            <a:endParaRPr lang="pt-BR" sz="1800" dirty="0" smtClean="0">
              <a:sym typeface="Symbol"/>
            </a:endParaRPr>
          </a:p>
          <a:p>
            <a:pPr marL="514350" indent="-514350">
              <a:buNone/>
            </a:pPr>
            <a:endParaRPr lang="pt-BR" sz="1800" dirty="0" smtClean="0">
              <a:sym typeface="Symbol"/>
            </a:endParaRPr>
          </a:p>
          <a:p>
            <a:pPr marL="514350" indent="-514350">
              <a:buNone/>
            </a:pPr>
            <a:endParaRPr lang="pt-BR" sz="1800" dirty="0" smtClean="0">
              <a:sym typeface="Symbol"/>
            </a:endParaRPr>
          </a:p>
          <a:p>
            <a:pPr marL="514350" indent="-514350">
              <a:buNone/>
            </a:pPr>
            <a:endParaRPr lang="pt-BR" sz="18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>
            <a:clrChange>
              <a:clrFrom>
                <a:srgbClr val="E0E0D0"/>
              </a:clrFrom>
              <a:clrTo>
                <a:srgbClr val="E0E0D0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467544" y="3933056"/>
            <a:ext cx="1800200" cy="2711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CaixaDeTexto 4"/>
          <p:cNvSpPr txBox="1"/>
          <p:nvPr/>
        </p:nvSpPr>
        <p:spPr>
          <a:xfrm>
            <a:off x="3059832" y="3933056"/>
            <a:ext cx="50405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Na figura ao lado, V1= 1,2V.</a:t>
            </a:r>
          </a:p>
          <a:p>
            <a:r>
              <a:rPr lang="pt-BR" dirty="0" smtClean="0"/>
              <a:t>Obtenha:</a:t>
            </a:r>
          </a:p>
          <a:p>
            <a:r>
              <a:rPr lang="pt-BR" dirty="0" smtClean="0"/>
              <a:t>I1: </a:t>
            </a:r>
          </a:p>
          <a:p>
            <a:r>
              <a:rPr lang="pt-BR" dirty="0" smtClean="0"/>
              <a:t>P1:</a:t>
            </a:r>
          </a:p>
          <a:p>
            <a:endParaRPr lang="pt-BR" dirty="0" smtClean="0"/>
          </a:p>
          <a:p>
            <a:r>
              <a:rPr lang="pt-BR" dirty="0" smtClean="0"/>
              <a:t>V2=___________</a:t>
            </a:r>
          </a:p>
          <a:p>
            <a:r>
              <a:rPr lang="pt-BR" dirty="0" smtClean="0"/>
              <a:t>I2:</a:t>
            </a:r>
          </a:p>
          <a:p>
            <a:r>
              <a:rPr lang="pt-BR" dirty="0" smtClean="0"/>
              <a:t>P2</a:t>
            </a:r>
            <a:endParaRPr lang="pt-BR" dirty="0"/>
          </a:p>
        </p:txBody>
      </p:sp>
      <p:sp>
        <p:nvSpPr>
          <p:cNvPr id="6" name="CaixaDeTexto 5"/>
          <p:cNvSpPr txBox="1"/>
          <p:nvPr/>
        </p:nvSpPr>
        <p:spPr>
          <a:xfrm>
            <a:off x="1403648" y="4149081"/>
            <a:ext cx="86409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sz="1400" dirty="0" smtClean="0"/>
          </a:p>
          <a:p>
            <a:endParaRPr lang="pt-BR" sz="1400" dirty="0" smtClean="0"/>
          </a:p>
          <a:p>
            <a:endParaRPr lang="pt-BR" sz="1400" dirty="0" smtClean="0"/>
          </a:p>
          <a:p>
            <a:r>
              <a:rPr lang="pt-BR" sz="1400" dirty="0" smtClean="0"/>
              <a:t>V1=1,2V</a:t>
            </a:r>
          </a:p>
          <a:p>
            <a:r>
              <a:rPr lang="pt-BR" sz="1400" dirty="0" smtClean="0"/>
              <a:t>I1=</a:t>
            </a:r>
          </a:p>
          <a:p>
            <a:r>
              <a:rPr lang="pt-BR" sz="1400" dirty="0" smtClean="0"/>
              <a:t>P1=</a:t>
            </a:r>
          </a:p>
          <a:p>
            <a:endParaRPr lang="pt-BR" sz="1400" dirty="0" smtClean="0"/>
          </a:p>
          <a:p>
            <a:r>
              <a:rPr lang="pt-BR" sz="1400" dirty="0" smtClean="0"/>
              <a:t>V2=</a:t>
            </a:r>
          </a:p>
          <a:p>
            <a:r>
              <a:rPr lang="pt-BR" sz="1400" dirty="0" smtClean="0"/>
              <a:t>I2=</a:t>
            </a:r>
          </a:p>
          <a:p>
            <a:r>
              <a:rPr lang="pt-BR" sz="1400" dirty="0" smtClean="0"/>
              <a:t>P2=</a:t>
            </a:r>
          </a:p>
          <a:p>
            <a:endParaRPr lang="pt-BR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051720" y="332656"/>
            <a:ext cx="4680520" cy="504056"/>
          </a:xfrm>
        </p:spPr>
        <p:txBody>
          <a:bodyPr>
            <a:normAutofit fontScale="90000"/>
          </a:bodyPr>
          <a:lstStyle/>
          <a:p>
            <a:r>
              <a:rPr lang="pt-BR" sz="3200" dirty="0" smtClean="0"/>
              <a:t>Exercícios</a:t>
            </a:r>
          </a:p>
        </p:txBody>
      </p:sp>
      <p:graphicFrame>
        <p:nvGraphicFramePr>
          <p:cNvPr id="28674" name="Object 2"/>
          <p:cNvGraphicFramePr>
            <a:graphicFrameLocks noGrp="1" noChangeAspect="1"/>
          </p:cNvGraphicFramePr>
          <p:nvPr>
            <p:ph idx="1"/>
          </p:nvPr>
        </p:nvGraphicFramePr>
        <p:xfrm>
          <a:off x="3851920" y="908720"/>
          <a:ext cx="4896544" cy="30241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75" name="Graph" r:id="rId3" imgW="4276954" imgH="3023616" progId="">
                  <p:embed/>
                </p:oleObj>
              </mc:Choice>
              <mc:Fallback>
                <p:oleObj name="Graph" r:id="rId3" imgW="4276954" imgH="3023616" progId="">
                  <p:embed/>
                  <p:pic>
                    <p:nvPicPr>
                      <p:cNvPr id="0" name="Picture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1920" y="908720"/>
                        <a:ext cx="4896544" cy="30241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aixaDeTexto 4"/>
          <p:cNvSpPr txBox="1"/>
          <p:nvPr/>
        </p:nvSpPr>
        <p:spPr>
          <a:xfrm>
            <a:off x="467544" y="1124744"/>
            <a:ext cx="37444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4. Complete os valores, de acordo com o gráfico ao lado.</a:t>
            </a:r>
          </a:p>
          <a:p>
            <a:endParaRPr lang="pt-BR" dirty="0" smtClean="0"/>
          </a:p>
          <a:p>
            <a:endParaRPr lang="pt-BR" dirty="0" smtClean="0"/>
          </a:p>
          <a:p>
            <a:endParaRPr lang="pt-BR" dirty="0" smtClean="0"/>
          </a:p>
          <a:p>
            <a:endParaRPr lang="pt-BR" dirty="0" smtClean="0"/>
          </a:p>
          <a:p>
            <a:endParaRPr lang="pt-BR" dirty="0" smtClean="0"/>
          </a:p>
          <a:p>
            <a:endParaRPr lang="pt-BR" dirty="0" smtClean="0"/>
          </a:p>
          <a:p>
            <a:endParaRPr lang="pt-BR" dirty="0" smtClean="0"/>
          </a:p>
          <a:p>
            <a:endParaRPr lang="pt-BR" dirty="0" smtClean="0"/>
          </a:p>
          <a:p>
            <a:endParaRPr lang="pt-BR" dirty="0" smtClean="0"/>
          </a:p>
          <a:p>
            <a:endParaRPr lang="pt-BR" dirty="0" smtClean="0"/>
          </a:p>
          <a:p>
            <a:endParaRPr lang="pt-BR" dirty="0" smtClean="0"/>
          </a:p>
          <a:p>
            <a:endParaRPr lang="pt-BR" dirty="0"/>
          </a:p>
        </p:txBody>
      </p:sp>
      <p:graphicFrame>
        <p:nvGraphicFramePr>
          <p:cNvPr id="6" name="Tabela 5"/>
          <p:cNvGraphicFramePr>
            <a:graphicFrameLocks noGrp="1"/>
          </p:cNvGraphicFramePr>
          <p:nvPr/>
        </p:nvGraphicFramePr>
        <p:xfrm>
          <a:off x="755576" y="1844824"/>
          <a:ext cx="324036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8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1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V(Volts) 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 R (Conversor)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5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??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3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??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1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??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??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1000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??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800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??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400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??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smtClean="0"/>
                        <a:t>0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CaixaDeTexto 6"/>
          <p:cNvSpPr txBox="1"/>
          <p:nvPr/>
        </p:nvSpPr>
        <p:spPr>
          <a:xfrm>
            <a:off x="827584" y="5013176"/>
            <a:ext cx="75608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5.</a:t>
            </a:r>
            <a: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a. //</a:t>
            </a:r>
            <a:r>
              <a:rPr lang="en-US" b="1" dirty="0" err="1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Programa</a:t>
            </a:r>
            <a:r>
              <a:rPr lang="en-US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 ANALOG. </a:t>
            </a:r>
            <a:r>
              <a:rPr lang="pt-BR" dirty="0" smtClean="0"/>
              <a:t> Qual será o valor lido no pino A0 se o mesmo for conectado ao GND? Resposta:____________________</a:t>
            </a:r>
          </a:p>
          <a:p>
            <a:r>
              <a:rPr lang="pt-BR" dirty="0" smtClean="0"/>
              <a:t>5.b. E se for conectado ao pino VCC. Resposta:____________________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286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627784" y="274638"/>
            <a:ext cx="3096344" cy="418058"/>
          </a:xfrm>
        </p:spPr>
        <p:txBody>
          <a:bodyPr>
            <a:normAutofit fontScale="90000"/>
          </a:bodyPr>
          <a:lstStyle/>
          <a:p>
            <a:r>
              <a:rPr lang="pt-BR" sz="2800" dirty="0" smtClean="0"/>
              <a:t>Exercícios</a:t>
            </a:r>
            <a:endParaRPr lang="pt-BR" sz="2800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95536" y="764704"/>
            <a:ext cx="8748464" cy="5361459"/>
          </a:xfrm>
        </p:spPr>
        <p:txBody>
          <a:bodyPr>
            <a:normAutofit fontScale="70000" lnSpcReduction="20000"/>
          </a:bodyPr>
          <a:lstStyle/>
          <a:p>
            <a:pPr>
              <a:buNone/>
            </a:pPr>
            <a:r>
              <a:rPr lang="pt-BR" sz="2800" dirty="0" smtClean="0"/>
              <a:t>6. Explique o modo de operação de um conversor A/D.</a:t>
            </a:r>
          </a:p>
          <a:p>
            <a:pPr>
              <a:buNone/>
            </a:pPr>
            <a:endParaRPr lang="pt-BR" sz="2800" dirty="0" smtClean="0"/>
          </a:p>
          <a:p>
            <a:pPr>
              <a:buNone/>
            </a:pPr>
            <a:r>
              <a:rPr lang="pt-BR" sz="2800" dirty="0" smtClean="0"/>
              <a:t>7. O que faz a instrução: </a:t>
            </a:r>
          </a:p>
          <a:p>
            <a:pPr>
              <a:buNone/>
            </a:pPr>
            <a:r>
              <a:rPr lang="pt-BR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float voltage = </a:t>
            </a: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sensorValue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* (100.0 / 1023.0);</a:t>
            </a:r>
          </a:p>
          <a:p>
            <a:pPr>
              <a:buNone/>
            </a:pPr>
            <a:endParaRPr lang="en-US" sz="2800" b="1" dirty="0" smtClean="0">
              <a:solidFill>
                <a:srgbClr val="298B89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buNone/>
            </a:pPr>
            <a:r>
              <a:rPr lang="en-US" sz="2800" dirty="0" smtClean="0"/>
              <a:t>8. </a:t>
            </a:r>
            <a:r>
              <a:rPr lang="en-US" sz="2800" dirty="0" err="1" smtClean="0"/>
              <a:t>Explique</a:t>
            </a:r>
            <a:r>
              <a:rPr lang="en-US" sz="2800" dirty="0" smtClean="0"/>
              <a:t> </a:t>
            </a:r>
            <a:r>
              <a:rPr lang="en-US" sz="2800" dirty="0" err="1" smtClean="0"/>
              <a:t>os</a:t>
            </a:r>
            <a:r>
              <a:rPr lang="en-US" sz="2800" dirty="0" smtClean="0"/>
              <a:t> </a:t>
            </a:r>
            <a:r>
              <a:rPr lang="en-US" sz="2800" dirty="0" err="1" smtClean="0"/>
              <a:t>resultados</a:t>
            </a:r>
            <a:r>
              <a:rPr lang="en-US" sz="2800" dirty="0" smtClean="0"/>
              <a:t> </a:t>
            </a:r>
            <a:r>
              <a:rPr lang="en-US" sz="2800" dirty="0" err="1" smtClean="0"/>
              <a:t>obtidos</a:t>
            </a:r>
            <a:r>
              <a:rPr lang="en-US" sz="2800" dirty="0" smtClean="0"/>
              <a:t> </a:t>
            </a:r>
            <a:r>
              <a:rPr lang="en-US" sz="2800" dirty="0" err="1" smtClean="0"/>
              <a:t>nas</a:t>
            </a:r>
            <a:r>
              <a:rPr lang="en-US" sz="2800" dirty="0" smtClean="0"/>
              <a:t> </a:t>
            </a:r>
            <a:r>
              <a:rPr lang="en-US" sz="2800" dirty="0" err="1" smtClean="0"/>
              <a:t>saídas</a:t>
            </a:r>
            <a:r>
              <a:rPr lang="en-US" sz="2800" dirty="0" smtClean="0"/>
              <a:t>:</a:t>
            </a:r>
          </a:p>
          <a:p>
            <a:pPr algn="ctr">
              <a:buNone/>
            </a:pP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int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sensorValue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= </a:t>
            </a: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analogRead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(A0);</a:t>
            </a:r>
          </a:p>
          <a:p>
            <a:pPr algn="ctr">
              <a:buNone/>
            </a:pP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serial.print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(“Valor digital =   “); </a:t>
            </a:r>
          </a:p>
          <a:p>
            <a:pPr algn="ctr">
              <a:buNone/>
            </a:pP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serial.println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sensorValue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); </a:t>
            </a:r>
          </a:p>
          <a:p>
            <a:pPr algn="ctr">
              <a:buNone/>
            </a:pP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 float voltage = </a:t>
            </a: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sensorValue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* (100.0 / 1023.0);</a:t>
            </a:r>
          </a:p>
          <a:p>
            <a:pPr algn="ctr">
              <a:buNone/>
            </a:pP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serial.print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(“</a:t>
            </a: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Voltagem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 =   “); </a:t>
            </a:r>
          </a:p>
          <a:p>
            <a:pPr algn="ctr">
              <a:buNone/>
            </a:pP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serial.println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(voltage);</a:t>
            </a:r>
          </a:p>
          <a:p>
            <a:pPr algn="ctr">
              <a:buNone/>
            </a:pPr>
            <a:endParaRPr lang="en-US" sz="2800" b="1" dirty="0" smtClean="0">
              <a:solidFill>
                <a:srgbClr val="298B89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>
              <a:buNone/>
            </a:pP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(8.a) </a:t>
            </a: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serial.println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sensorValue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);: ____________________________</a:t>
            </a:r>
          </a:p>
          <a:p>
            <a:pPr algn="just">
              <a:buNone/>
            </a:pP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_________________________________________________________</a:t>
            </a:r>
          </a:p>
          <a:p>
            <a:pPr algn="just">
              <a:buNone/>
            </a:pP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(8.b) </a:t>
            </a:r>
            <a:r>
              <a:rPr lang="en-US" sz="2800" b="1" dirty="0" err="1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serial.println</a:t>
            </a: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(voltage);: ________________________________</a:t>
            </a:r>
          </a:p>
          <a:p>
            <a:pPr algn="just">
              <a:buNone/>
            </a:pPr>
            <a:r>
              <a:rPr lang="en-US" sz="2800" b="1" dirty="0" smtClean="0">
                <a:solidFill>
                  <a:srgbClr val="298B89"/>
                </a:solidFill>
                <a:latin typeface="Times New Roman" pitchFamily="18" charset="0"/>
                <a:cs typeface="Times New Roman" pitchFamily="18" charset="0"/>
              </a:rPr>
              <a:t>_________________________________________________________</a:t>
            </a:r>
            <a:endParaRPr lang="pt-BR" sz="2800" dirty="0" smtClean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0" y="764704"/>
            <a:ext cx="9144000" cy="5361459"/>
          </a:xfrm>
        </p:spPr>
        <p:txBody>
          <a:bodyPr/>
          <a:lstStyle/>
          <a:p>
            <a:pPr>
              <a:buNone/>
            </a:pPr>
            <a:r>
              <a:rPr lang="pt-BR" dirty="0" smtClean="0"/>
              <a:t>9. O que é um sensor de temperatura?</a:t>
            </a:r>
          </a:p>
          <a:p>
            <a:pPr>
              <a:buNone/>
            </a:pPr>
            <a:endParaRPr lang="pt-BR" dirty="0" smtClean="0"/>
          </a:p>
          <a:p>
            <a:pPr>
              <a:buNone/>
            </a:pPr>
            <a:endParaRPr lang="pt-BR" dirty="0" smtClean="0"/>
          </a:p>
          <a:p>
            <a:pPr>
              <a:buNone/>
            </a:pPr>
            <a:endParaRPr lang="pt-BR" dirty="0" smtClean="0"/>
          </a:p>
          <a:p>
            <a:pPr>
              <a:buNone/>
            </a:pPr>
            <a:r>
              <a:rPr lang="pt-BR" dirty="0" smtClean="0"/>
              <a:t>10. Descreva o modo de operação do LM35</a:t>
            </a:r>
            <a:endParaRPr lang="pt-BR" dirty="0"/>
          </a:p>
        </p:txBody>
      </p:sp>
      <p:sp>
        <p:nvSpPr>
          <p:cNvPr id="4" name="Título 1"/>
          <p:cNvSpPr>
            <a:spLocks noGrp="1"/>
          </p:cNvSpPr>
          <p:nvPr>
            <p:ph type="title"/>
          </p:nvPr>
        </p:nvSpPr>
        <p:spPr>
          <a:xfrm>
            <a:off x="2627784" y="274638"/>
            <a:ext cx="3096344" cy="418058"/>
          </a:xfrm>
        </p:spPr>
        <p:txBody>
          <a:bodyPr>
            <a:normAutofit fontScale="90000"/>
          </a:bodyPr>
          <a:lstStyle/>
          <a:p>
            <a:r>
              <a:rPr lang="pt-BR" sz="2800" dirty="0" smtClean="0"/>
              <a:t>Exercícios</a:t>
            </a:r>
            <a:endParaRPr lang="pt-BR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894</Words>
  <Application>Microsoft Office PowerPoint</Application>
  <PresentationFormat>Apresentação na tela (4:3)</PresentationFormat>
  <Paragraphs>217</Paragraphs>
  <Slides>16</Slides>
  <Notes>8</Notes>
  <HiddenSlides>0</HiddenSlides>
  <MMClips>0</MMClips>
  <ScaleCrop>false</ScaleCrop>
  <HeadingPairs>
    <vt:vector size="8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2" baseType="lpstr">
      <vt:lpstr>Arial</vt:lpstr>
      <vt:lpstr>Calibri</vt:lpstr>
      <vt:lpstr>Symbol</vt:lpstr>
      <vt:lpstr>Times New Roman</vt:lpstr>
      <vt:lpstr>Tema do Office</vt:lpstr>
      <vt:lpstr>Graph</vt:lpstr>
      <vt:lpstr>Sistemas de entrada e saída. Aplicações de microcontroladores</vt:lpstr>
      <vt:lpstr>Sistemas de entrada e saída. Conceitos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 As questões propostas estão baseadas no //Programa ANALOG  </vt:lpstr>
      <vt:lpstr>Interface para medida de temperatura</vt:lpstr>
      <vt:lpstr>Medida de temperatura. LM35</vt:lpstr>
      <vt:lpstr>Exercícios</vt:lpstr>
      <vt:lpstr>Exercícios</vt:lpstr>
      <vt:lpstr>Exercícios</vt:lpstr>
      <vt:lpstr>Exercícios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Interface para medida de temperatura</dc:title>
  <dc:creator>Rafael</dc:creator>
  <cp:lastModifiedBy>professor</cp:lastModifiedBy>
  <cp:revision>28</cp:revision>
  <dcterms:created xsi:type="dcterms:W3CDTF">2014-09-24T13:03:54Z</dcterms:created>
  <dcterms:modified xsi:type="dcterms:W3CDTF">2019-04-24T14:12:45Z</dcterms:modified>
</cp:coreProperties>
</file>