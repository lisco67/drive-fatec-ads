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67" r:id="rId5"/>
    <p:sldId id="265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54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10/04/2019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10/04/2019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10/04/2019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10/04/2019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10/04/2019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10/04/2019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10/04/2019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10/04/2019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10/04/2019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10/04/2019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10/04/2019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700DB3-DBF0-4086-B675-117E7A9610B8}" type="datetimeFigureOut">
              <a:rPr lang="pt-BR" smtClean="0"/>
              <a:pPr/>
              <a:t>10/04/2019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pt.wikipedia.org/w/index.php?title=Unified_EFI_Forum&amp;action=edit&amp;redlink=1" TargetMode="External"/><Relationship Id="rId3" Type="http://schemas.openxmlformats.org/officeDocument/2006/relationships/hyperlink" Target="https://pt.wikipedia.org/wiki/Interface_(ci%C3%AAncia_da_computa%C3%A7%C3%A3o)" TargetMode="External"/><Relationship Id="rId7" Type="http://schemas.openxmlformats.org/officeDocument/2006/relationships/hyperlink" Target="https://pt.wikipedia.org/wiki/Intel" TargetMode="External"/><Relationship Id="rId2" Type="http://schemas.openxmlformats.org/officeDocument/2006/relationships/hyperlink" Target="https://pt.wikipedia.org/w/index.php?title=Especifica%C3%A7%C3%A3o&amp;action=edit&amp;redlink=1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t.wikipedia.org/wiki/BIOS" TargetMode="External"/><Relationship Id="rId5" Type="http://schemas.openxmlformats.org/officeDocument/2006/relationships/hyperlink" Target="https://pt.wikipedia.org/wiki/Firmware" TargetMode="External"/><Relationship Id="rId4" Type="http://schemas.openxmlformats.org/officeDocument/2006/relationships/hyperlink" Target="https://pt.wikipedia.org/wiki/Sistema_operacional" TargetMode="External"/><Relationship Id="rId9" Type="http://schemas.openxmlformats.org/officeDocument/2006/relationships/hyperlink" Target="https://pt.wikipedia.org/wiki/Unified_Extensible_Firmware_Interface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88641"/>
            <a:ext cx="7772400" cy="432047"/>
          </a:xfrm>
        </p:spPr>
        <p:txBody>
          <a:bodyPr>
            <a:normAutofit fontScale="90000"/>
          </a:bodyPr>
          <a:lstStyle/>
          <a:p>
            <a:r>
              <a:rPr lang="pt-BR" dirty="0" smtClean="0"/>
              <a:t>Atividade 7 – O micro não liga 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67544" y="980728"/>
            <a:ext cx="8496944" cy="5472608"/>
          </a:xfrm>
        </p:spPr>
        <p:txBody>
          <a:bodyPr>
            <a:normAutofit fontScale="92500" lnSpcReduction="20000"/>
          </a:bodyPr>
          <a:lstStyle/>
          <a:p>
            <a:r>
              <a:rPr lang="pt-BR" b="1" dirty="0" smtClean="0">
                <a:solidFill>
                  <a:srgbClr val="FF0000"/>
                </a:solidFill>
              </a:rPr>
              <a:t>O que significa?</a:t>
            </a:r>
          </a:p>
          <a:p>
            <a:pPr algn="just">
              <a:buFont typeface="Arial" pitchFamily="34" charset="0"/>
              <a:buChar char="•"/>
            </a:pPr>
            <a:r>
              <a:rPr lang="pt-BR" b="1" dirty="0" smtClean="0">
                <a:solidFill>
                  <a:srgbClr val="FF0000"/>
                </a:solidFill>
              </a:rPr>
              <a:t>Possíveis falhas no </a:t>
            </a:r>
            <a:r>
              <a:rPr lang="pt-BR" b="1" dirty="0" err="1" smtClean="0">
                <a:solidFill>
                  <a:srgbClr val="FF0000"/>
                </a:solidFill>
              </a:rPr>
              <a:t>HardWare</a:t>
            </a:r>
            <a:r>
              <a:rPr lang="pt-BR" b="1" dirty="0" smtClean="0">
                <a:solidFill>
                  <a:srgbClr val="FF0000"/>
                </a:solidFill>
              </a:rPr>
              <a:t>;</a:t>
            </a:r>
          </a:p>
          <a:p>
            <a:pPr algn="just">
              <a:buFont typeface="Arial" pitchFamily="34" charset="0"/>
              <a:buChar char="•"/>
            </a:pPr>
            <a:r>
              <a:rPr lang="pt-BR" b="1" dirty="0" smtClean="0">
                <a:solidFill>
                  <a:srgbClr val="FF0000"/>
                </a:solidFill>
              </a:rPr>
              <a:t>Possíveis falhas no </a:t>
            </a:r>
            <a:r>
              <a:rPr lang="pt-BR" b="1" dirty="0" err="1" smtClean="0">
                <a:solidFill>
                  <a:srgbClr val="FF0000"/>
                </a:solidFill>
              </a:rPr>
              <a:t>SoftWare</a:t>
            </a:r>
            <a:r>
              <a:rPr lang="pt-BR" b="1" dirty="0" smtClean="0">
                <a:solidFill>
                  <a:srgbClr val="FF0000"/>
                </a:solidFill>
              </a:rPr>
              <a:t>;</a:t>
            </a:r>
          </a:p>
          <a:p>
            <a:pPr algn="just">
              <a:buFont typeface="Arial" pitchFamily="34" charset="0"/>
              <a:buChar char="•"/>
            </a:pPr>
            <a:r>
              <a:rPr lang="pt-BR" b="1" dirty="0" smtClean="0">
                <a:solidFill>
                  <a:srgbClr val="FF0000"/>
                </a:solidFill>
              </a:rPr>
              <a:t>BIOS (Basic Input Output System)</a:t>
            </a:r>
          </a:p>
          <a:p>
            <a:pPr algn="just">
              <a:buFont typeface="Arial" pitchFamily="34" charset="0"/>
              <a:buChar char="•"/>
            </a:pPr>
            <a:r>
              <a:rPr lang="pt-BR" b="1" dirty="0" smtClean="0">
                <a:solidFill>
                  <a:srgbClr val="FF0000"/>
                </a:solidFill>
                <a:sym typeface="Wingdings" pitchFamily="2" charset="2"/>
              </a:rPr>
              <a:t>Modo de segurança: Vídeo VGA.</a:t>
            </a:r>
            <a:endParaRPr lang="pt-BR" b="1" dirty="0" smtClean="0">
              <a:solidFill>
                <a:srgbClr val="FF0000"/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pt-BR" b="1" dirty="0" smtClean="0">
                <a:solidFill>
                  <a:srgbClr val="FF0000"/>
                </a:solidFill>
              </a:rPr>
              <a:t>     </a:t>
            </a:r>
            <a:r>
              <a:rPr lang="pt-BR" b="1" dirty="0" err="1" smtClean="0">
                <a:solidFill>
                  <a:srgbClr val="FF0000"/>
                </a:solidFill>
              </a:rPr>
              <a:t>BIOS-Gravada</a:t>
            </a:r>
            <a:r>
              <a:rPr lang="pt-BR" b="1" dirty="0" smtClean="0">
                <a:solidFill>
                  <a:srgbClr val="FF0000"/>
                </a:solidFill>
              </a:rPr>
              <a:t> em ROM (Read </a:t>
            </a:r>
            <a:r>
              <a:rPr lang="pt-BR" b="1" dirty="0" err="1" smtClean="0">
                <a:solidFill>
                  <a:srgbClr val="FF0000"/>
                </a:solidFill>
              </a:rPr>
              <a:t>Only</a:t>
            </a:r>
            <a:r>
              <a:rPr lang="pt-BR" b="1" dirty="0" smtClean="0">
                <a:solidFill>
                  <a:srgbClr val="FF0000"/>
                </a:solidFill>
              </a:rPr>
              <a:t> Memory).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pt-BR" b="1" dirty="0" smtClean="0">
                <a:solidFill>
                  <a:srgbClr val="FF0000"/>
                </a:solidFill>
              </a:rPr>
              <a:t>     Funções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pt-BR" b="1" dirty="0">
                <a:solidFill>
                  <a:srgbClr val="FF0000"/>
                </a:solidFill>
              </a:rPr>
              <a:t>	</a:t>
            </a:r>
            <a:r>
              <a:rPr lang="pt-BR" sz="3900" b="1" dirty="0" smtClean="0">
                <a:solidFill>
                  <a:schemeClr val="tx1"/>
                </a:solidFill>
              </a:rPr>
              <a:t>P</a:t>
            </a:r>
            <a:r>
              <a:rPr lang="pt-BR" b="1" dirty="0" smtClean="0">
                <a:solidFill>
                  <a:srgbClr val="FF0000"/>
                </a:solidFill>
              </a:rPr>
              <a:t>ower </a:t>
            </a:r>
            <a:r>
              <a:rPr lang="pt-BR" sz="3900" b="1" dirty="0" err="1" smtClean="0">
                <a:solidFill>
                  <a:schemeClr val="tx1"/>
                </a:solidFill>
              </a:rPr>
              <a:t>O</a:t>
            </a:r>
            <a:r>
              <a:rPr lang="pt-BR" b="1" dirty="0" err="1" smtClean="0">
                <a:solidFill>
                  <a:srgbClr val="FF0000"/>
                </a:solidFill>
              </a:rPr>
              <a:t>n</a:t>
            </a:r>
            <a:r>
              <a:rPr lang="pt-BR" b="1" dirty="0" smtClean="0">
                <a:solidFill>
                  <a:srgbClr val="FF0000"/>
                </a:solidFill>
              </a:rPr>
              <a:t> </a:t>
            </a:r>
            <a:r>
              <a:rPr lang="pt-BR" sz="3900" b="1" dirty="0" err="1" smtClean="0">
                <a:solidFill>
                  <a:schemeClr val="tx1"/>
                </a:solidFill>
              </a:rPr>
              <a:t>S</a:t>
            </a:r>
            <a:r>
              <a:rPr lang="pt-BR" b="1" dirty="0" err="1" smtClean="0">
                <a:solidFill>
                  <a:srgbClr val="FF0000"/>
                </a:solidFill>
              </a:rPr>
              <a:t>elf</a:t>
            </a:r>
            <a:r>
              <a:rPr lang="pt-BR" b="1" dirty="0" smtClean="0">
                <a:solidFill>
                  <a:srgbClr val="FF0000"/>
                </a:solidFill>
              </a:rPr>
              <a:t> </a:t>
            </a:r>
            <a:r>
              <a:rPr lang="pt-BR" sz="3900" b="1" dirty="0" err="1" smtClean="0">
                <a:solidFill>
                  <a:schemeClr val="tx1"/>
                </a:solidFill>
              </a:rPr>
              <a:t>T</a:t>
            </a:r>
            <a:r>
              <a:rPr lang="pt-BR" b="1" dirty="0" err="1" smtClean="0">
                <a:solidFill>
                  <a:srgbClr val="FF0000"/>
                </a:solidFill>
              </a:rPr>
              <a:t>est</a:t>
            </a:r>
            <a:endParaRPr lang="pt-BR" b="1" dirty="0">
              <a:solidFill>
                <a:srgbClr val="FF0000"/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pt-BR" b="1" dirty="0" smtClean="0">
                <a:solidFill>
                  <a:srgbClr val="FF0000"/>
                </a:solidFill>
              </a:rPr>
              <a:t>     Explicar duas funções da BIOS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pt-BR" b="1" dirty="0" smtClean="0">
              <a:solidFill>
                <a:srgbClr val="FF0000"/>
              </a:solidFill>
            </a:endParaRPr>
          </a:p>
          <a:p>
            <a:pPr algn="just"/>
            <a:r>
              <a:rPr lang="pt-BR" b="1" dirty="0" smtClean="0">
                <a:solidFill>
                  <a:srgbClr val="FF0000"/>
                </a:solidFill>
              </a:rPr>
              <a:t>Manutenção: corretiva, preventiva, preditiva</a:t>
            </a:r>
            <a:endParaRPr lang="pt-BR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11560" y="188640"/>
            <a:ext cx="7772400" cy="432047"/>
          </a:xfrm>
        </p:spPr>
        <p:txBody>
          <a:bodyPr>
            <a:normAutofit fontScale="90000"/>
          </a:bodyPr>
          <a:lstStyle/>
          <a:p>
            <a:r>
              <a:rPr lang="pt-BR" dirty="0" smtClean="0"/>
              <a:t>BIOS - </a:t>
            </a:r>
            <a:r>
              <a:rPr lang="pt-BR" b="1" dirty="0" smtClean="0"/>
              <a:t>Funcionamento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23528" y="980728"/>
            <a:ext cx="8640960" cy="5400600"/>
          </a:xfrm>
        </p:spPr>
        <p:txBody>
          <a:bodyPr>
            <a:normAutofit/>
          </a:bodyPr>
          <a:lstStyle/>
          <a:p>
            <a:pPr algn="just"/>
            <a:r>
              <a:rPr lang="pt-BR" dirty="0" smtClean="0"/>
              <a:t>BIOS - Sistema Básico de Entrada e Saída.</a:t>
            </a:r>
          </a:p>
          <a:p>
            <a:pPr algn="just"/>
            <a:r>
              <a:rPr lang="pt-BR" dirty="0" smtClean="0"/>
              <a:t>Aplicativo responsável pela execução de atividades  executadas do momento em que o computador é ligado até o carregamento do sistema operacional.</a:t>
            </a:r>
          </a:p>
          <a:p>
            <a:pPr algn="just"/>
            <a:r>
              <a:rPr lang="pt-BR" dirty="0" smtClean="0"/>
              <a:t>No início, a BIOS faz uma varredura para detectar e identificar todos os componentes de hardware conectados à máquina. Em seguida, depois desse processo, a BIOS passa o controle para o sistema operacional e é dado o boot (carregamento do SO).</a:t>
            </a:r>
          </a:p>
          <a:p>
            <a:pPr marL="514350" indent="-514350" algn="just"/>
            <a:endParaRPr lang="pt-BR" dirty="0" smtClean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11560" y="188640"/>
            <a:ext cx="7772400" cy="432047"/>
          </a:xfrm>
        </p:spPr>
        <p:txBody>
          <a:bodyPr>
            <a:normAutofit fontScale="90000"/>
          </a:bodyPr>
          <a:lstStyle/>
          <a:p>
            <a:r>
              <a:rPr lang="pt-BR" dirty="0" smtClean="0"/>
              <a:t>BIOS - </a:t>
            </a:r>
            <a:r>
              <a:rPr lang="pt-BR" b="1" dirty="0" smtClean="0"/>
              <a:t>Funcionamento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23528" y="980728"/>
            <a:ext cx="8640960" cy="5616624"/>
          </a:xfrm>
        </p:spPr>
        <p:txBody>
          <a:bodyPr>
            <a:normAutofit fontScale="92500" lnSpcReduction="10000"/>
          </a:bodyPr>
          <a:lstStyle/>
          <a:p>
            <a:pPr algn="just">
              <a:buFont typeface="Arial" pitchFamily="34" charset="0"/>
              <a:buChar char="•"/>
            </a:pPr>
            <a:r>
              <a:rPr lang="pt-BR" dirty="0" smtClean="0"/>
              <a:t>Possibilita  visualizar e alterar algumas informações do  PC: ajustar o relógio do sistema; verificar a temperatura da placa-mãe e do processador; conferir a velocidade do cooler.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/>
              <a:t>Determina se o boot PC será feito por disco rígido, drive de CD/DVD ou dispositivos USB.</a:t>
            </a:r>
          </a:p>
          <a:p>
            <a:pPr algn="just"/>
            <a:r>
              <a:rPr lang="pt-BR" dirty="0" smtClean="0"/>
              <a:t>*O </a:t>
            </a:r>
            <a:r>
              <a:rPr lang="pt-BR" dirty="0" err="1" smtClean="0"/>
              <a:t>overclock</a:t>
            </a:r>
            <a:r>
              <a:rPr lang="pt-BR" dirty="0" smtClean="0"/>
              <a:t> e </a:t>
            </a:r>
            <a:r>
              <a:rPr lang="pt-BR" dirty="0" err="1" smtClean="0"/>
              <a:t>underclock</a:t>
            </a:r>
            <a:r>
              <a:rPr lang="pt-BR" dirty="0" smtClean="0"/>
              <a:t>, alteração da velocidade de </a:t>
            </a:r>
            <a:r>
              <a:rPr lang="pt-BR" dirty="0" err="1" smtClean="0"/>
              <a:t>clock</a:t>
            </a:r>
            <a:r>
              <a:rPr lang="pt-BR" dirty="0" smtClean="0"/>
              <a:t> são feitos por meio da BIOS.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/>
              <a:t>Integridade: A BIOS fica gravada em memória ROM (somente de leitura). Não é possível alterar suas características centrais, tais como desinstalar a BIOS, mas, apenas atualizar ou modificar opções permitidas.</a:t>
            </a:r>
            <a:endParaRPr lang="pt-BR" dirty="0" smtClean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11560" y="188640"/>
            <a:ext cx="7772400" cy="432047"/>
          </a:xfrm>
        </p:spPr>
        <p:txBody>
          <a:bodyPr>
            <a:normAutofit fontScale="90000"/>
          </a:bodyPr>
          <a:lstStyle/>
          <a:p>
            <a:r>
              <a:rPr lang="pt-BR" dirty="0" smtClean="0"/>
              <a:t>UEFI - BIOS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23528" y="980728"/>
            <a:ext cx="8640960" cy="5616624"/>
          </a:xfrm>
        </p:spPr>
        <p:txBody>
          <a:bodyPr>
            <a:normAutofit fontScale="77500" lnSpcReduction="20000"/>
          </a:bodyPr>
          <a:lstStyle/>
          <a:p>
            <a:pPr algn="just"/>
            <a:r>
              <a:rPr lang="pt-BR" b="1" dirty="0" err="1" smtClean="0"/>
              <a:t>Unified</a:t>
            </a:r>
            <a:r>
              <a:rPr lang="pt-BR" b="1" dirty="0" smtClean="0"/>
              <a:t> </a:t>
            </a:r>
            <a:r>
              <a:rPr lang="pt-BR" b="1" dirty="0" err="1" smtClean="0"/>
              <a:t>Extensible</a:t>
            </a:r>
            <a:r>
              <a:rPr lang="pt-BR" b="1" dirty="0" smtClean="0"/>
              <a:t> Firmware Interface</a:t>
            </a:r>
            <a:r>
              <a:rPr lang="pt-BR" dirty="0" smtClean="0"/>
              <a:t> (</a:t>
            </a:r>
            <a:r>
              <a:rPr lang="pt-BR" b="1" dirty="0" smtClean="0"/>
              <a:t>UEFI</a:t>
            </a:r>
            <a:r>
              <a:rPr lang="pt-BR" dirty="0" smtClean="0"/>
              <a:t>), </a:t>
            </a:r>
            <a:r>
              <a:rPr lang="pt-BR" b="1" dirty="0" smtClean="0"/>
              <a:t>Interface Unificada de Firmware Extensível.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>
                <a:hlinkClick r:id="rId2" tooltip="Especificação (página não existe)"/>
              </a:rPr>
              <a:t>Especificação</a:t>
            </a:r>
            <a:r>
              <a:rPr lang="pt-BR" dirty="0" smtClean="0"/>
              <a:t> que define </a:t>
            </a:r>
            <a:r>
              <a:rPr lang="pt-BR" dirty="0" smtClean="0">
                <a:hlinkClick r:id="rId3" tooltip="Interface (ciência da computação)"/>
              </a:rPr>
              <a:t>interface</a:t>
            </a:r>
            <a:r>
              <a:rPr lang="pt-BR" dirty="0" smtClean="0"/>
              <a:t> de software entre o </a:t>
            </a:r>
            <a:r>
              <a:rPr lang="pt-BR" dirty="0" smtClean="0">
                <a:hlinkClick r:id="rId4" tooltip="Sistema operacional"/>
              </a:rPr>
              <a:t>sistema operacional</a:t>
            </a:r>
            <a:r>
              <a:rPr lang="pt-BR" dirty="0" smtClean="0"/>
              <a:t> e o </a:t>
            </a:r>
            <a:r>
              <a:rPr lang="pt-BR" dirty="0" smtClean="0">
                <a:hlinkClick r:id="rId5" tooltip="Firmware"/>
              </a:rPr>
              <a:t>firmware</a:t>
            </a:r>
            <a:r>
              <a:rPr lang="pt-BR" dirty="0" smtClean="0"/>
              <a:t>.</a:t>
            </a:r>
          </a:p>
          <a:p>
            <a:pPr algn="just"/>
            <a:r>
              <a:rPr lang="pt-BR" dirty="0" smtClean="0"/>
              <a:t>UEFI pretende substituir a interface de firmware da </a:t>
            </a:r>
            <a:r>
              <a:rPr lang="pt-BR" dirty="0" smtClean="0">
                <a:hlinkClick r:id="rId6" tooltip="BIOS"/>
              </a:rPr>
              <a:t>BIOS</a:t>
            </a:r>
            <a:r>
              <a:rPr lang="pt-BR" dirty="0" smtClean="0"/>
              <a:t>, de </a:t>
            </a:r>
            <a:r>
              <a:rPr lang="pt-BR" dirty="0" err="1" smtClean="0"/>
              <a:t>PCs</a:t>
            </a:r>
            <a:r>
              <a:rPr lang="pt-BR" dirty="0" smtClean="0"/>
              <a:t>.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/>
              <a:t>Na prática, fornecem suporte </a:t>
            </a:r>
            <a:r>
              <a:rPr lang="pt-BR" b="1" dirty="0" smtClean="0">
                <a:solidFill>
                  <a:srgbClr val="FF0000"/>
                </a:solidFill>
              </a:rPr>
              <a:t>legado</a:t>
            </a:r>
            <a:r>
              <a:rPr lang="pt-BR" dirty="0" smtClean="0"/>
              <a:t> para os serviços do BIOS.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/>
              <a:t>Pode suportar diagnósticos remotos e reparação de computadores, mesmo sem sistema operacional instalado.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/>
              <a:t>A especificação original </a:t>
            </a:r>
            <a:r>
              <a:rPr lang="pt-BR" b="1" dirty="0" smtClean="0"/>
              <a:t>EFI</a:t>
            </a:r>
            <a:r>
              <a:rPr lang="pt-BR" dirty="0" smtClean="0"/>
              <a:t> (</a:t>
            </a:r>
            <a:r>
              <a:rPr lang="pt-BR" b="1" dirty="0" err="1" smtClean="0"/>
              <a:t>Extensible</a:t>
            </a:r>
            <a:r>
              <a:rPr lang="pt-BR" b="1" dirty="0" smtClean="0"/>
              <a:t> Firmware Interface</a:t>
            </a:r>
            <a:r>
              <a:rPr lang="pt-BR" dirty="0" smtClean="0"/>
              <a:t>) foi desenvolvida pela </a:t>
            </a:r>
            <a:r>
              <a:rPr lang="pt-BR" dirty="0" smtClean="0">
                <a:hlinkClick r:id="rId7" tooltip="Intel"/>
              </a:rPr>
              <a:t>Intel</a:t>
            </a:r>
            <a:r>
              <a:rPr lang="pt-BR" dirty="0" smtClean="0"/>
              <a:t> e algumas de suas práticas e formatos de dados espelham o Windows.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/>
              <a:t>Em 2005, a UEFI tornou a EFI 1.10 (versão final do EFI) obsoleta.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/>
              <a:t>A especificação da UEFI é gerenciada pelo </a:t>
            </a:r>
            <a:r>
              <a:rPr lang="pt-BR" u="sng" dirty="0" err="1" smtClean="0">
                <a:hlinkClick r:id="rId8" tooltip="Unified EFI Forum (página não existe)"/>
              </a:rPr>
              <a:t>Unified</a:t>
            </a:r>
            <a:r>
              <a:rPr lang="pt-BR" u="sng" dirty="0" smtClean="0">
                <a:hlinkClick r:id="rId8" tooltip="Unified EFI Forum (página não existe)"/>
              </a:rPr>
              <a:t> EFI </a:t>
            </a:r>
            <a:r>
              <a:rPr lang="pt-BR" u="sng" dirty="0" err="1" smtClean="0">
                <a:hlinkClick r:id="rId8" tooltip="Unified EFI Forum (página não existe)"/>
              </a:rPr>
              <a:t>Forum</a:t>
            </a:r>
            <a:r>
              <a:rPr lang="pt-BR" dirty="0" smtClean="0"/>
              <a:t>.</a:t>
            </a:r>
          </a:p>
          <a:p>
            <a:pPr algn="just"/>
            <a:endParaRPr lang="pt-BR" u="sng" dirty="0" smtClean="0"/>
          </a:p>
          <a:p>
            <a:pPr algn="just"/>
            <a:r>
              <a:rPr lang="pt-BR" sz="2600" dirty="0" smtClean="0">
                <a:hlinkClick r:id="rId9"/>
              </a:rPr>
              <a:t>Fonte: https://pt.wikipedia.org/wiki/Unified_Extensible_Firmware_Interface</a:t>
            </a:r>
            <a:endParaRPr lang="pt-BR" sz="2600" dirty="0" smtClean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88641"/>
            <a:ext cx="7772400" cy="432047"/>
          </a:xfrm>
        </p:spPr>
        <p:txBody>
          <a:bodyPr>
            <a:normAutofit fontScale="90000"/>
          </a:bodyPr>
          <a:lstStyle/>
          <a:p>
            <a:r>
              <a:rPr lang="pt-BR" dirty="0" smtClean="0"/>
              <a:t>Atividade 8 – O micro não liga 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23528" y="980728"/>
            <a:ext cx="8640960" cy="5184576"/>
          </a:xfrm>
        </p:spPr>
        <p:txBody>
          <a:bodyPr>
            <a:normAutofit/>
          </a:bodyPr>
          <a:lstStyle/>
          <a:p>
            <a:pPr marL="514350" indent="-514350" algn="just"/>
            <a:r>
              <a:rPr lang="pt-BR" dirty="0" smtClean="0">
                <a:solidFill>
                  <a:srgbClr val="0070C0"/>
                </a:solidFill>
              </a:rPr>
              <a:t>1. Verificação de hardware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>
                <a:solidFill>
                  <a:srgbClr val="0070C0"/>
                </a:solidFill>
              </a:rPr>
              <a:t>Tomada; estabilizador; cabos; alimentação insuficiente; cooler (pasta para resfriamento).</a:t>
            </a:r>
          </a:p>
          <a:p>
            <a:pPr marL="514350" indent="-514350" algn="just"/>
            <a:r>
              <a:rPr lang="pt-BR" dirty="0" smtClean="0">
                <a:solidFill>
                  <a:srgbClr val="0070C0"/>
                </a:solidFill>
              </a:rPr>
              <a:t>2. O micro trava: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>
                <a:solidFill>
                  <a:srgbClr val="0070C0"/>
                </a:solidFill>
              </a:rPr>
              <a:t>Superaquecimento do processador.</a:t>
            </a:r>
          </a:p>
          <a:p>
            <a:pPr algn="just"/>
            <a:r>
              <a:rPr lang="pt-BR" dirty="0">
                <a:solidFill>
                  <a:srgbClr val="0070C0"/>
                </a:solidFill>
              </a:rPr>
              <a:t>	</a:t>
            </a:r>
            <a:r>
              <a:rPr lang="pt-BR" dirty="0" smtClean="0">
                <a:solidFill>
                  <a:srgbClr val="0070C0"/>
                </a:solidFill>
              </a:rPr>
              <a:t>M</a:t>
            </a:r>
            <a:r>
              <a:rPr lang="pt-BR" dirty="0" smtClean="0">
                <a:solidFill>
                  <a:srgbClr val="0070C0"/>
                </a:solidFill>
                <a:sym typeface="Wingdings" pitchFamily="2" charset="2"/>
              </a:rPr>
              <a:t>onitorar temperatura: SETUP.</a:t>
            </a:r>
            <a:endParaRPr lang="pt-BR" dirty="0" smtClean="0">
              <a:solidFill>
                <a:srgbClr val="0070C0"/>
              </a:solidFill>
            </a:endParaRPr>
          </a:p>
          <a:p>
            <a:pPr algn="just">
              <a:buFont typeface="Arial" pitchFamily="34" charset="0"/>
              <a:buChar char="•"/>
            </a:pPr>
            <a:r>
              <a:rPr lang="pt-BR" dirty="0" smtClean="0">
                <a:solidFill>
                  <a:srgbClr val="0070C0"/>
                </a:solidFill>
              </a:rPr>
              <a:t>Memória RAM defeituosa. Teste memória: boot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>
                <a:solidFill>
                  <a:srgbClr val="0070C0"/>
                </a:solidFill>
              </a:rPr>
              <a:t>HD fragmentado </a:t>
            </a:r>
            <a:r>
              <a:rPr lang="pt-BR" dirty="0" smtClean="0">
                <a:solidFill>
                  <a:srgbClr val="0070C0"/>
                </a:solidFill>
                <a:sym typeface="Wingdings" pitchFamily="2" charset="2"/>
              </a:rPr>
              <a:t> </a:t>
            </a:r>
            <a:r>
              <a:rPr lang="pt-BR" dirty="0" err="1" smtClean="0">
                <a:solidFill>
                  <a:srgbClr val="0070C0"/>
                </a:solidFill>
                <a:sym typeface="Wingdings" pitchFamily="2" charset="2"/>
              </a:rPr>
              <a:t>defrag</a:t>
            </a:r>
            <a:r>
              <a:rPr lang="pt-BR" dirty="0" smtClean="0">
                <a:solidFill>
                  <a:srgbClr val="0070C0"/>
                </a:solidFill>
                <a:sym typeface="Wingdings" pitchFamily="2" charset="2"/>
              </a:rPr>
              <a:t> </a:t>
            </a:r>
            <a:endParaRPr lang="pt-BR" dirty="0" smtClean="0">
              <a:solidFill>
                <a:srgbClr val="0070C0"/>
              </a:solidFill>
            </a:endParaRPr>
          </a:p>
          <a:p>
            <a:pPr algn="just">
              <a:buFont typeface="Arial" pitchFamily="34" charset="0"/>
              <a:buChar char="•"/>
            </a:pPr>
            <a:r>
              <a:rPr lang="pt-BR" dirty="0" smtClean="0">
                <a:solidFill>
                  <a:srgbClr val="0070C0"/>
                </a:solidFill>
              </a:rPr>
              <a:t>Placas de expansão com defeito:modem, vídeo,...)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88641"/>
            <a:ext cx="7772400" cy="432047"/>
          </a:xfrm>
        </p:spPr>
        <p:txBody>
          <a:bodyPr>
            <a:normAutofit fontScale="90000"/>
          </a:bodyPr>
          <a:lstStyle/>
          <a:p>
            <a:r>
              <a:rPr lang="pt-BR" dirty="0" smtClean="0"/>
              <a:t>Atividade 8 – O micro não liga 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67544" y="692696"/>
            <a:ext cx="8496944" cy="5832648"/>
          </a:xfrm>
        </p:spPr>
        <p:txBody>
          <a:bodyPr>
            <a:normAutofit fontScale="92500" lnSpcReduction="10000"/>
          </a:bodyPr>
          <a:lstStyle/>
          <a:p>
            <a:pPr algn="just">
              <a:buFont typeface="Arial" pitchFamily="34" charset="0"/>
              <a:buChar char="•"/>
            </a:pPr>
            <a:r>
              <a:rPr lang="pt-BR" b="1" dirty="0" smtClean="0">
                <a:solidFill>
                  <a:srgbClr val="00B050"/>
                </a:solidFill>
              </a:rPr>
              <a:t>Liga  mas não conta a memória</a:t>
            </a:r>
          </a:p>
          <a:p>
            <a:pPr algn="just">
              <a:buFont typeface="Arial" pitchFamily="34" charset="0"/>
              <a:buChar char="•"/>
            </a:pPr>
            <a:r>
              <a:rPr lang="pt-BR" b="1" dirty="0" smtClean="0">
                <a:solidFill>
                  <a:srgbClr val="00B050"/>
                </a:solidFill>
              </a:rPr>
              <a:t>Monitor sem imagem</a:t>
            </a:r>
          </a:p>
          <a:p>
            <a:pPr algn="just">
              <a:buFont typeface="Arial" pitchFamily="34" charset="0"/>
              <a:buChar char="•"/>
            </a:pPr>
            <a:r>
              <a:rPr lang="pt-BR" b="1" dirty="0" smtClean="0">
                <a:solidFill>
                  <a:srgbClr val="00B050"/>
                </a:solidFill>
              </a:rPr>
              <a:t>Bateria fraca;</a:t>
            </a:r>
          </a:p>
          <a:p>
            <a:pPr algn="just">
              <a:buFont typeface="Arial" pitchFamily="34" charset="0"/>
              <a:buChar char="•"/>
            </a:pPr>
            <a:r>
              <a:rPr lang="pt-BR" b="1" dirty="0" smtClean="0">
                <a:solidFill>
                  <a:srgbClr val="00B050"/>
                </a:solidFill>
              </a:rPr>
              <a:t>Cabos, placas, memória mal encaixadas. </a:t>
            </a:r>
            <a:r>
              <a:rPr lang="pt-BR" b="1" dirty="0" smtClean="0">
                <a:solidFill>
                  <a:srgbClr val="FF0000"/>
                </a:solidFill>
              </a:rPr>
              <a:t>Origem em transporte.</a:t>
            </a:r>
            <a:r>
              <a:rPr lang="pt-BR" b="1" dirty="0" smtClean="0">
                <a:solidFill>
                  <a:srgbClr val="FF0000"/>
                </a:solidFill>
                <a:sym typeface="Wingdings" pitchFamily="2" charset="2"/>
              </a:rPr>
              <a:t> </a:t>
            </a:r>
            <a:endParaRPr lang="pt-BR" b="1" dirty="0" smtClean="0">
              <a:solidFill>
                <a:srgbClr val="FF0000"/>
              </a:solidFill>
            </a:endParaRPr>
          </a:p>
          <a:p>
            <a:pPr algn="just">
              <a:buFont typeface="Arial" pitchFamily="34" charset="0"/>
              <a:buChar char="•"/>
            </a:pPr>
            <a:r>
              <a:rPr lang="pt-BR" b="1" dirty="0" smtClean="0">
                <a:solidFill>
                  <a:srgbClr val="00B050"/>
                </a:solidFill>
              </a:rPr>
              <a:t>Defeitos físicos nos dispositivos:</a:t>
            </a:r>
          </a:p>
          <a:p>
            <a:pPr algn="just"/>
            <a:r>
              <a:rPr lang="pt-BR" b="1" dirty="0" smtClean="0">
                <a:solidFill>
                  <a:srgbClr val="00B050"/>
                </a:solidFill>
              </a:rPr>
              <a:t>    Vídeo;</a:t>
            </a:r>
          </a:p>
          <a:p>
            <a:pPr algn="just"/>
            <a:r>
              <a:rPr lang="pt-BR" b="1" dirty="0" smtClean="0">
                <a:solidFill>
                  <a:srgbClr val="00B050"/>
                </a:solidFill>
              </a:rPr>
              <a:t>     Memória;</a:t>
            </a:r>
          </a:p>
          <a:p>
            <a:pPr algn="just"/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b="1" dirty="0" smtClean="0">
                <a:solidFill>
                  <a:srgbClr val="00B050"/>
                </a:solidFill>
              </a:rPr>
              <a:t>    Processador;</a:t>
            </a:r>
          </a:p>
          <a:p>
            <a:pPr algn="just"/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b="1" dirty="0" smtClean="0">
                <a:solidFill>
                  <a:srgbClr val="00B050"/>
                </a:solidFill>
              </a:rPr>
              <a:t>    Placa mãe (capacitores estourados,...);</a:t>
            </a:r>
          </a:p>
          <a:p>
            <a:pPr algn="just"/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b="1" dirty="0" smtClean="0">
                <a:solidFill>
                  <a:srgbClr val="00B050"/>
                </a:solidFill>
              </a:rPr>
              <a:t>    Fonte de alimentação.</a:t>
            </a:r>
            <a:endParaRPr lang="pt-BR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88641"/>
            <a:ext cx="7772400" cy="432047"/>
          </a:xfrm>
        </p:spPr>
        <p:txBody>
          <a:bodyPr>
            <a:normAutofit fontScale="90000"/>
          </a:bodyPr>
          <a:lstStyle/>
          <a:p>
            <a:r>
              <a:rPr lang="pt-BR" dirty="0" smtClean="0"/>
              <a:t>Atividade 8 – O micro não liga 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67544" y="980728"/>
            <a:ext cx="8496944" cy="4680520"/>
          </a:xfrm>
        </p:spPr>
        <p:txBody>
          <a:bodyPr/>
          <a:lstStyle/>
          <a:p>
            <a:r>
              <a:rPr lang="pt-BR" u="sng" dirty="0" smtClean="0">
                <a:solidFill>
                  <a:srgbClr val="C00000"/>
                </a:solidFill>
              </a:rPr>
              <a:t>Reinicia sozinho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>
                <a:solidFill>
                  <a:srgbClr val="C00000"/>
                </a:solidFill>
              </a:rPr>
              <a:t>Setup: Verificar gerenciamento de energia;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>
                <a:solidFill>
                  <a:srgbClr val="C00000"/>
                </a:solidFill>
              </a:rPr>
              <a:t>Fonte de alimentação insuficiente;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>
                <a:solidFill>
                  <a:srgbClr val="C00000"/>
                </a:solidFill>
              </a:rPr>
              <a:t>Componentes mal encaixados;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>
                <a:solidFill>
                  <a:srgbClr val="C00000"/>
                </a:solidFill>
              </a:rPr>
              <a:t>Oscilação da rede elétrica.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88641"/>
            <a:ext cx="7772400" cy="432047"/>
          </a:xfrm>
        </p:spPr>
        <p:txBody>
          <a:bodyPr>
            <a:normAutofit fontScale="90000"/>
          </a:bodyPr>
          <a:lstStyle/>
          <a:p>
            <a:r>
              <a:rPr lang="pt-BR" dirty="0" smtClean="0"/>
              <a:t>Atividade 8 – O micro não liga 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0" y="980728"/>
            <a:ext cx="8964488" cy="5472608"/>
          </a:xfrm>
        </p:spPr>
        <p:txBody>
          <a:bodyPr>
            <a:normAutofit fontScale="77500" lnSpcReduction="20000"/>
          </a:bodyPr>
          <a:lstStyle/>
          <a:p>
            <a:r>
              <a:rPr lang="pt-BR" dirty="0" smtClean="0"/>
              <a:t>Lento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/>
              <a:t> </a:t>
            </a:r>
            <a:r>
              <a:rPr lang="pt-BR" dirty="0" smtClean="0">
                <a:solidFill>
                  <a:srgbClr val="7030A0"/>
                </a:solidFill>
              </a:rPr>
              <a:t>Quantidade de RAM insuficiente</a:t>
            </a:r>
          </a:p>
          <a:p>
            <a:pPr algn="just">
              <a:buFont typeface="Arial" pitchFamily="34" charset="0"/>
              <a:buChar char="•"/>
            </a:pPr>
            <a:r>
              <a:rPr lang="pt-BR" dirty="0" smtClean="0">
                <a:solidFill>
                  <a:srgbClr val="7030A0"/>
                </a:solidFill>
              </a:rPr>
              <a:t> HD carregado (deixar 20% livre) </a:t>
            </a:r>
            <a:r>
              <a:rPr lang="pt-BR" dirty="0" smtClean="0">
                <a:solidFill>
                  <a:srgbClr val="7030A0"/>
                </a:solidFill>
                <a:sym typeface="Wingdings" pitchFamily="2" charset="2"/>
              </a:rPr>
              <a:t>  memória virtual</a:t>
            </a:r>
            <a:endParaRPr lang="pt-BR" dirty="0" smtClean="0">
              <a:solidFill>
                <a:srgbClr val="7030A0"/>
              </a:solidFill>
            </a:endParaRPr>
          </a:p>
          <a:p>
            <a:pPr algn="just">
              <a:buFont typeface="Arial" pitchFamily="34" charset="0"/>
              <a:buChar char="•"/>
            </a:pPr>
            <a:r>
              <a:rPr lang="pt-BR" dirty="0" smtClean="0">
                <a:solidFill>
                  <a:srgbClr val="7030A0"/>
                </a:solidFill>
              </a:rPr>
              <a:t>Setup: caches internos desabilitados. Fraco desempenho</a:t>
            </a:r>
          </a:p>
          <a:p>
            <a:pPr algn="just">
              <a:buFont typeface="Arial" pitchFamily="34" charset="0"/>
              <a:buChar char="•"/>
            </a:pPr>
            <a:endParaRPr lang="pt-BR" dirty="0" smtClean="0">
              <a:solidFill>
                <a:srgbClr val="7030A0"/>
              </a:solidFill>
            </a:endParaRPr>
          </a:p>
          <a:p>
            <a:pPr algn="just"/>
            <a:r>
              <a:rPr lang="pt-BR" dirty="0" smtClean="0">
                <a:solidFill>
                  <a:srgbClr val="7030A0"/>
                </a:solidFill>
              </a:rPr>
              <a:t> CPU        </a:t>
            </a:r>
            <a:r>
              <a:rPr lang="pt-BR" dirty="0" smtClean="0">
                <a:solidFill>
                  <a:srgbClr val="7030A0"/>
                </a:solidFill>
                <a:sym typeface="Wingdings" pitchFamily="2" charset="2"/>
              </a:rPr>
              <a:t>     RAM</a:t>
            </a:r>
          </a:p>
          <a:p>
            <a:pPr algn="just"/>
            <a:r>
              <a:rPr lang="pt-BR" dirty="0" smtClean="0">
                <a:solidFill>
                  <a:srgbClr val="7030A0"/>
                </a:solidFill>
                <a:sym typeface="Wingdings" pitchFamily="2" charset="2"/>
              </a:rPr>
              <a:t>  1 </a:t>
            </a:r>
            <a:r>
              <a:rPr lang="pt-BR" dirty="0" err="1" smtClean="0">
                <a:solidFill>
                  <a:srgbClr val="7030A0"/>
                </a:solidFill>
                <a:sym typeface="Wingdings" pitchFamily="2" charset="2"/>
              </a:rPr>
              <a:t>ns</a:t>
            </a:r>
            <a:r>
              <a:rPr lang="pt-BR" dirty="0" smtClean="0">
                <a:solidFill>
                  <a:srgbClr val="7030A0"/>
                </a:solidFill>
                <a:sym typeface="Wingdings" pitchFamily="2" charset="2"/>
              </a:rPr>
              <a:t>        </a:t>
            </a:r>
            <a:r>
              <a:rPr lang="pt-BR" dirty="0" err="1" smtClean="0">
                <a:solidFill>
                  <a:srgbClr val="FF0000"/>
                </a:solidFill>
                <a:sym typeface="Wingdings" pitchFamily="2" charset="2"/>
              </a:rPr>
              <a:t>cache</a:t>
            </a:r>
            <a:r>
              <a:rPr lang="pt-BR" dirty="0" smtClean="0">
                <a:solidFill>
                  <a:srgbClr val="7030A0"/>
                </a:solidFill>
                <a:sym typeface="Wingdings" pitchFamily="2" charset="2"/>
              </a:rPr>
              <a:t>        50ns</a:t>
            </a:r>
          </a:p>
          <a:p>
            <a:pPr algn="just"/>
            <a:r>
              <a:rPr lang="pt-BR" dirty="0" smtClean="0">
                <a:solidFill>
                  <a:srgbClr val="7030A0"/>
                </a:solidFill>
                <a:sym typeface="Wingdings" pitchFamily="2" charset="2"/>
              </a:rPr>
              <a:t>    (L1)         </a:t>
            </a:r>
            <a:r>
              <a:rPr lang="pt-BR" dirty="0" smtClean="0">
                <a:solidFill>
                  <a:srgbClr val="FF0000"/>
                </a:solidFill>
                <a:sym typeface="Wingdings" pitchFamily="2" charset="2"/>
              </a:rPr>
              <a:t>L2</a:t>
            </a:r>
            <a:r>
              <a:rPr lang="pt-BR" dirty="0" smtClean="0">
                <a:solidFill>
                  <a:srgbClr val="7030A0"/>
                </a:solidFill>
                <a:sym typeface="Wingdings" pitchFamily="2" charset="2"/>
              </a:rPr>
              <a:t> </a:t>
            </a:r>
          </a:p>
          <a:p>
            <a:pPr algn="just"/>
            <a:r>
              <a:rPr lang="pt-BR" dirty="0" smtClean="0">
                <a:solidFill>
                  <a:srgbClr val="7030A0"/>
                </a:solidFill>
                <a:sym typeface="Wingdings" pitchFamily="2" charset="2"/>
              </a:rPr>
              <a:t> dentro      </a:t>
            </a:r>
            <a:r>
              <a:rPr lang="pt-BR" dirty="0" smtClean="0">
                <a:solidFill>
                  <a:srgbClr val="FF0000"/>
                </a:solidFill>
                <a:sym typeface="Wingdings" pitchFamily="2" charset="2"/>
              </a:rPr>
              <a:t>fora</a:t>
            </a:r>
            <a:r>
              <a:rPr lang="pt-BR" dirty="0" smtClean="0">
                <a:solidFill>
                  <a:srgbClr val="7030A0"/>
                </a:solidFill>
                <a:sym typeface="Wingdings" pitchFamily="2" charset="2"/>
              </a:rPr>
              <a:t> </a:t>
            </a:r>
          </a:p>
          <a:p>
            <a:pPr algn="just"/>
            <a:r>
              <a:rPr lang="pt-BR" dirty="0" smtClean="0">
                <a:solidFill>
                  <a:srgbClr val="7030A0"/>
                </a:solidFill>
                <a:sym typeface="Wingdings" pitchFamily="2" charset="2"/>
              </a:rPr>
              <a:t>da CPU      </a:t>
            </a:r>
            <a:r>
              <a:rPr lang="pt-BR" dirty="0" smtClean="0">
                <a:solidFill>
                  <a:srgbClr val="FF0000"/>
                </a:solidFill>
                <a:sym typeface="Wingdings" pitchFamily="2" charset="2"/>
              </a:rPr>
              <a:t>da CPU</a:t>
            </a:r>
          </a:p>
          <a:p>
            <a:pPr algn="just"/>
            <a:r>
              <a:rPr lang="pt-BR" dirty="0" smtClean="0">
                <a:solidFill>
                  <a:srgbClr val="7030A0"/>
                </a:solidFill>
                <a:sym typeface="Wingdings" pitchFamily="2" charset="2"/>
              </a:rPr>
              <a:t>64KB            </a:t>
            </a:r>
            <a:r>
              <a:rPr lang="pt-BR" dirty="0" smtClean="0">
                <a:solidFill>
                  <a:srgbClr val="FF0000"/>
                </a:solidFill>
                <a:sym typeface="Wingdings" pitchFamily="2" charset="2"/>
              </a:rPr>
              <a:t>1MB</a:t>
            </a:r>
            <a:r>
              <a:rPr lang="pt-BR" dirty="0" smtClean="0">
                <a:solidFill>
                  <a:srgbClr val="7030A0"/>
                </a:solidFill>
                <a:sym typeface="Wingdings" pitchFamily="2" charset="2"/>
              </a:rPr>
              <a:t>     </a:t>
            </a:r>
          </a:p>
          <a:p>
            <a:pPr algn="just"/>
            <a:r>
              <a:rPr lang="pt-BR" dirty="0">
                <a:solidFill>
                  <a:srgbClr val="7030A0"/>
                </a:solidFill>
                <a:sym typeface="Wingdings" pitchFamily="2" charset="2"/>
              </a:rPr>
              <a:t>Tempo de resposta de um cache 1 5 </a:t>
            </a:r>
            <a:r>
              <a:rPr lang="pt-BR" dirty="0" err="1">
                <a:solidFill>
                  <a:srgbClr val="7030A0"/>
                </a:solidFill>
                <a:sym typeface="Wingdings" pitchFamily="2" charset="2"/>
              </a:rPr>
              <a:t>ns</a:t>
            </a:r>
            <a:endParaRPr lang="pt-BR" dirty="0">
              <a:solidFill>
                <a:srgbClr val="7030A0"/>
              </a:solidFill>
            </a:endParaRPr>
          </a:p>
          <a:p>
            <a:pPr algn="just"/>
            <a:endParaRPr lang="pt-BR" dirty="0">
              <a:solidFill>
                <a:srgbClr val="7030A0"/>
              </a:solidFill>
              <a:sym typeface="Wingdings" pitchFamily="2" charset="2"/>
            </a:endParaRPr>
          </a:p>
          <a:p>
            <a:pPr algn="just"/>
            <a:r>
              <a:rPr lang="pt-BR" dirty="0" smtClean="0">
                <a:solidFill>
                  <a:srgbClr val="7030A0"/>
                </a:solidFill>
                <a:sym typeface="Wingdings" pitchFamily="2" charset="2"/>
              </a:rPr>
              <a:t>Processadores de alto desempenho: </a:t>
            </a:r>
            <a:r>
              <a:rPr lang="pt-BR" sz="4100" dirty="0" smtClean="0">
                <a:solidFill>
                  <a:srgbClr val="FF0000"/>
                </a:solidFill>
                <a:sym typeface="Wingdings" pitchFamily="2" charset="2"/>
              </a:rPr>
              <a:t>Xeon</a:t>
            </a:r>
            <a:r>
              <a:rPr lang="pt-BR" dirty="0" smtClean="0">
                <a:solidFill>
                  <a:srgbClr val="7030A0"/>
                </a:solidFill>
                <a:sym typeface="Wingdings" pitchFamily="2" charset="2"/>
              </a:rPr>
              <a:t>  servidores)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88641"/>
            <a:ext cx="7772400" cy="432047"/>
          </a:xfrm>
        </p:spPr>
        <p:txBody>
          <a:bodyPr>
            <a:normAutofit fontScale="90000"/>
          </a:bodyPr>
          <a:lstStyle/>
          <a:p>
            <a:r>
              <a:rPr lang="pt-BR" dirty="0" smtClean="0"/>
              <a:t>Atividade 8 – O micro não liga 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67544" y="980728"/>
            <a:ext cx="8496944" cy="4680520"/>
          </a:xfrm>
        </p:spPr>
        <p:txBody>
          <a:bodyPr/>
          <a:lstStyle/>
          <a:p>
            <a:pPr algn="l"/>
            <a:endParaRPr lang="pt-BR" dirty="0" smtClean="0">
              <a:solidFill>
                <a:srgbClr val="7030A0"/>
              </a:solidFill>
            </a:endParaRPr>
          </a:p>
          <a:p>
            <a:pPr algn="l"/>
            <a:r>
              <a:rPr lang="pt-BR" dirty="0" smtClean="0">
                <a:solidFill>
                  <a:srgbClr val="7030A0"/>
                </a:solidFill>
              </a:rPr>
              <a:t>Como diferenciar defeitos de HW X SW?</a:t>
            </a:r>
          </a:p>
          <a:p>
            <a:pPr algn="r"/>
            <a:r>
              <a:rPr lang="pt-BR" dirty="0" smtClean="0">
                <a:solidFill>
                  <a:srgbClr val="7030A0"/>
                </a:solidFill>
              </a:rPr>
              <a:t>Analise defeitos simples</a:t>
            </a:r>
          </a:p>
          <a:p>
            <a:endParaRPr lang="pt-BR" dirty="0" smtClean="0">
              <a:solidFill>
                <a:srgbClr val="7030A0"/>
              </a:solidFill>
            </a:endParaRPr>
          </a:p>
          <a:p>
            <a:endParaRPr lang="pt-BR" dirty="0" smtClean="0">
              <a:solidFill>
                <a:srgbClr val="7030A0"/>
              </a:solidFill>
            </a:endParaRPr>
          </a:p>
          <a:p>
            <a:pPr algn="l"/>
            <a:r>
              <a:rPr lang="pt-BR" dirty="0" smtClean="0">
                <a:solidFill>
                  <a:srgbClr val="7030A0"/>
                </a:solidFill>
              </a:rPr>
              <a:t>Uso de CD de diagnóstico (LIVE CD).</a:t>
            </a:r>
          </a:p>
          <a:p>
            <a:pPr algn="r"/>
            <a:r>
              <a:rPr lang="pt-BR" dirty="0" smtClean="0">
                <a:solidFill>
                  <a:srgbClr val="7030A0"/>
                </a:solidFill>
              </a:rPr>
              <a:t>O que é um disco de diagnóstico?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75656" y="274638"/>
            <a:ext cx="5976664" cy="922114"/>
          </a:xfrm>
        </p:spPr>
        <p:txBody>
          <a:bodyPr/>
          <a:lstStyle/>
          <a:p>
            <a:r>
              <a:rPr lang="pt-BR" dirty="0" smtClean="0"/>
              <a:t>Manutenção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79512" y="1600200"/>
            <a:ext cx="8568952" cy="4525963"/>
          </a:xfrm>
        </p:spPr>
        <p:txBody>
          <a:bodyPr>
            <a:normAutofit fontScale="85000" lnSpcReduction="10000"/>
          </a:bodyPr>
          <a:lstStyle/>
          <a:p>
            <a:r>
              <a:rPr lang="pt-BR" dirty="0" smtClean="0">
                <a:solidFill>
                  <a:srgbClr val="FF0000"/>
                </a:solidFill>
              </a:rPr>
              <a:t>Corretiva</a:t>
            </a:r>
            <a:r>
              <a:rPr lang="pt-BR" dirty="0" smtClean="0"/>
              <a:t>: Após a ocorrência do problema;</a:t>
            </a:r>
          </a:p>
          <a:p>
            <a:endParaRPr lang="pt-BR" dirty="0" smtClean="0"/>
          </a:p>
          <a:p>
            <a:r>
              <a:rPr lang="pt-BR" dirty="0" smtClean="0">
                <a:solidFill>
                  <a:srgbClr val="FF0000"/>
                </a:solidFill>
              </a:rPr>
              <a:t>Preventiva</a:t>
            </a:r>
            <a:r>
              <a:rPr lang="pt-BR" dirty="0" smtClean="0"/>
              <a:t>: Previne ocorrência de problemas. Exemplo: HD apresenta BAD BLOCKS</a:t>
            </a:r>
            <a:r>
              <a:rPr lang="pt-BR" dirty="0" smtClean="0">
                <a:sym typeface="Wingdings" pitchFamily="2" charset="2"/>
              </a:rPr>
              <a:t> troca HD</a:t>
            </a:r>
          </a:p>
          <a:p>
            <a:endParaRPr lang="pt-BR" dirty="0" smtClean="0">
              <a:sym typeface="Wingdings" pitchFamily="2" charset="2"/>
            </a:endParaRPr>
          </a:p>
          <a:p>
            <a:r>
              <a:rPr lang="pt-BR" dirty="0" smtClean="0">
                <a:solidFill>
                  <a:srgbClr val="FF0000"/>
                </a:solidFill>
                <a:sym typeface="Wingdings" pitchFamily="2" charset="2"/>
              </a:rPr>
              <a:t>Preditiva</a:t>
            </a:r>
            <a:r>
              <a:rPr lang="pt-BR" dirty="0" smtClean="0">
                <a:sym typeface="Wingdings" pitchFamily="2" charset="2"/>
              </a:rPr>
              <a:t>: Baseada no tempo de vida média do dispositivo (MTBF). Exemplo: um dispositivo é projetado para operar por número de horas. Troca o dispositivo se for atingido este limite, mesmo que não apresente defeito.</a:t>
            </a:r>
          </a:p>
          <a:p>
            <a:r>
              <a:rPr lang="pt-BR" dirty="0" smtClean="0">
                <a:sym typeface="Wingdings" pitchFamily="2" charset="2"/>
              </a:rPr>
              <a:t>Duas funções da BIOS e suas características:,</a:t>
            </a:r>
          </a:p>
          <a:p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260648"/>
            <a:ext cx="8229600" cy="6336704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pt-BR" sz="3600" b="1" dirty="0" smtClean="0"/>
              <a:t>Responda (Tema </a:t>
            </a:r>
            <a:r>
              <a:rPr lang="pt-BR" sz="3600" b="1" dirty="0"/>
              <a:t>de </a:t>
            </a:r>
            <a:r>
              <a:rPr lang="pt-BR" sz="3600" b="1" dirty="0" smtClean="0"/>
              <a:t>estudo)</a:t>
            </a:r>
            <a:r>
              <a:rPr lang="pt-BR" b="1" dirty="0" smtClean="0"/>
              <a:t>.</a:t>
            </a:r>
            <a:endParaRPr lang="pt-BR" dirty="0"/>
          </a:p>
          <a:p>
            <a:pPr>
              <a:buNone/>
            </a:pPr>
            <a:r>
              <a:rPr lang="pt-BR" sz="3400" dirty="0" smtClean="0"/>
              <a:t>1. Cite três possíveis defeitos de Hardware:</a:t>
            </a:r>
          </a:p>
          <a:p>
            <a:pPr>
              <a:buNone/>
            </a:pPr>
            <a:endParaRPr lang="pt-BR" sz="3400" dirty="0" smtClean="0"/>
          </a:p>
          <a:p>
            <a:pPr>
              <a:buNone/>
            </a:pPr>
            <a:r>
              <a:rPr lang="pt-BR" sz="3400" dirty="0" smtClean="0"/>
              <a:t>2. Cite três possíveis defeitos ocasionados pelo transporte do computador</a:t>
            </a:r>
          </a:p>
          <a:p>
            <a:pPr>
              <a:buNone/>
            </a:pPr>
            <a:endParaRPr lang="pt-BR" sz="3400" dirty="0" smtClean="0"/>
          </a:p>
          <a:p>
            <a:pPr>
              <a:buNone/>
            </a:pPr>
            <a:r>
              <a:rPr lang="pt-BR" sz="3400" dirty="0" smtClean="0"/>
              <a:t>3. Cite uma possível causa do sistema reinicializar sozinho</a:t>
            </a:r>
          </a:p>
          <a:p>
            <a:pPr>
              <a:buNone/>
            </a:pPr>
            <a:endParaRPr lang="pt-BR" sz="3400" dirty="0" smtClean="0"/>
          </a:p>
          <a:p>
            <a:pPr>
              <a:buNone/>
            </a:pPr>
            <a:r>
              <a:rPr lang="pt-BR" sz="3400" dirty="0" smtClean="0"/>
              <a:t>4. Cite três possíveis causas  do computador estar lento</a:t>
            </a:r>
          </a:p>
          <a:p>
            <a:pPr>
              <a:buNone/>
            </a:pPr>
            <a:endParaRPr lang="pt-BR" sz="3400" dirty="0" smtClean="0"/>
          </a:p>
          <a:p>
            <a:pPr>
              <a:buNone/>
            </a:pPr>
            <a:r>
              <a:rPr lang="pt-BR" sz="3400" dirty="0" smtClean="0"/>
              <a:t>5. Dê exemplos de manutenção corretiva, preventiva e preditiva</a:t>
            </a:r>
          </a:p>
          <a:p>
            <a:pPr>
              <a:buNone/>
            </a:pPr>
            <a:endParaRPr lang="pt-BR" sz="3400" dirty="0" smtClean="0"/>
          </a:p>
        </p:txBody>
      </p:sp>
    </p:spTree>
    <p:extLst>
      <p:ext uri="{BB962C8B-B14F-4D97-AF65-F5344CB8AC3E}">
        <p14:creationId xmlns:p14="http://schemas.microsoft.com/office/powerpoint/2010/main" val="2067066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260648"/>
            <a:ext cx="8229600" cy="6120680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pt-BR" sz="3600" b="1" dirty="0" smtClean="0"/>
              <a:t>Responda (Tema </a:t>
            </a:r>
            <a:r>
              <a:rPr lang="pt-BR" sz="3600" b="1" dirty="0"/>
              <a:t>de </a:t>
            </a:r>
            <a:r>
              <a:rPr lang="pt-BR" sz="3600" b="1" dirty="0" smtClean="0"/>
              <a:t>estudo)</a:t>
            </a:r>
            <a:r>
              <a:rPr lang="pt-BR" b="1" dirty="0" smtClean="0"/>
              <a:t>.</a:t>
            </a:r>
            <a:endParaRPr lang="pt-BR" dirty="0"/>
          </a:p>
          <a:p>
            <a:pPr>
              <a:buNone/>
            </a:pPr>
            <a:r>
              <a:rPr lang="pt-BR" sz="3400" dirty="0" smtClean="0"/>
              <a:t>6. Como é a operação da memória </a:t>
            </a:r>
            <a:r>
              <a:rPr lang="pt-BR" sz="3400" dirty="0" err="1"/>
              <a:t>shadow</a:t>
            </a:r>
            <a:r>
              <a:rPr lang="pt-BR" sz="3400" dirty="0" smtClean="0"/>
              <a:t>.</a:t>
            </a:r>
          </a:p>
          <a:p>
            <a:pPr>
              <a:buNone/>
            </a:pPr>
            <a:endParaRPr lang="pt-BR" sz="3400" dirty="0" smtClean="0"/>
          </a:p>
          <a:p>
            <a:pPr>
              <a:buNone/>
            </a:pPr>
            <a:r>
              <a:rPr lang="pt-BR" sz="3400" dirty="0" smtClean="0"/>
              <a:t>7. Que é um dispositivo </a:t>
            </a:r>
            <a:r>
              <a:rPr lang="pt-BR" sz="3400" dirty="0" err="1" smtClean="0"/>
              <a:t>P&amp;P</a:t>
            </a:r>
            <a:r>
              <a:rPr lang="pt-BR" sz="3400" dirty="0" smtClean="0"/>
              <a:t>.</a:t>
            </a:r>
          </a:p>
          <a:p>
            <a:pPr>
              <a:buNone/>
            </a:pPr>
            <a:endParaRPr lang="pt-BR" sz="3400" dirty="0" smtClean="0"/>
          </a:p>
          <a:p>
            <a:pPr>
              <a:buNone/>
            </a:pPr>
            <a:r>
              <a:rPr lang="pt-BR" sz="3400" dirty="0" smtClean="0"/>
              <a:t>8. Como pode ser visualizado o </a:t>
            </a:r>
            <a:r>
              <a:rPr lang="pt-BR" sz="3400" dirty="0"/>
              <a:t>relatório do </a:t>
            </a:r>
            <a:r>
              <a:rPr lang="pt-BR" sz="3400" dirty="0" smtClean="0"/>
              <a:t>POST</a:t>
            </a:r>
          </a:p>
          <a:p>
            <a:pPr>
              <a:buNone/>
            </a:pPr>
            <a:endParaRPr lang="pt-BR" sz="3400" dirty="0" smtClean="0"/>
          </a:p>
          <a:p>
            <a:pPr>
              <a:buNone/>
            </a:pPr>
            <a:r>
              <a:rPr lang="pt-BR" sz="3400" dirty="0" smtClean="0"/>
              <a:t>9. O </a:t>
            </a:r>
            <a:r>
              <a:rPr lang="pt-BR" sz="3400" dirty="0"/>
              <a:t>que </a:t>
            </a:r>
            <a:r>
              <a:rPr lang="pt-BR" sz="5000" dirty="0">
                <a:solidFill>
                  <a:srgbClr val="FF0000"/>
                </a:solidFill>
              </a:rPr>
              <a:t>o usuário entende </a:t>
            </a:r>
            <a:r>
              <a:rPr lang="pt-BR" sz="3400" dirty="0"/>
              <a:t>por “O MICRO NÃO LIGA</a:t>
            </a:r>
            <a:r>
              <a:rPr lang="pt-BR" sz="3400" dirty="0" smtClean="0"/>
              <a:t>”. Como </a:t>
            </a:r>
            <a:r>
              <a:rPr lang="pt-BR" sz="3400" dirty="0"/>
              <a:t>saber se o erro não é na:</a:t>
            </a:r>
          </a:p>
          <a:p>
            <a:pPr marL="0" indent="0"/>
            <a:r>
              <a:rPr lang="pt-BR" sz="3400" dirty="0" smtClean="0">
                <a:solidFill>
                  <a:srgbClr val="FF0000"/>
                </a:solidFill>
              </a:rPr>
              <a:t> 	Tomada</a:t>
            </a:r>
            <a:r>
              <a:rPr lang="pt-BR" sz="3400" dirty="0">
                <a:solidFill>
                  <a:srgbClr val="FF0000"/>
                </a:solidFill>
              </a:rPr>
              <a:t>	</a:t>
            </a:r>
            <a:endParaRPr lang="pt-BR" sz="3400" dirty="0" smtClean="0">
              <a:solidFill>
                <a:srgbClr val="FF0000"/>
              </a:solidFill>
            </a:endParaRPr>
          </a:p>
          <a:p>
            <a:pPr marL="0" indent="0"/>
            <a:r>
              <a:rPr lang="pt-BR" sz="3400" dirty="0" smtClean="0">
                <a:solidFill>
                  <a:srgbClr val="FF0000"/>
                </a:solidFill>
              </a:rPr>
              <a:t> 	</a:t>
            </a:r>
            <a:r>
              <a:rPr lang="pt-BR" sz="3000" dirty="0" smtClean="0">
                <a:solidFill>
                  <a:srgbClr val="FF0000"/>
                </a:solidFill>
              </a:rPr>
              <a:t>Fonte </a:t>
            </a:r>
            <a:r>
              <a:rPr lang="pt-BR" sz="3000" dirty="0">
                <a:solidFill>
                  <a:srgbClr val="FF0000"/>
                </a:solidFill>
              </a:rPr>
              <a:t>de alimentação</a:t>
            </a:r>
          </a:p>
          <a:p>
            <a:pPr marL="0" indent="0"/>
            <a:r>
              <a:rPr lang="pt-BR" sz="3400" dirty="0" smtClean="0">
                <a:solidFill>
                  <a:srgbClr val="FF0000"/>
                </a:solidFill>
              </a:rPr>
              <a:t> 	HD</a:t>
            </a:r>
            <a:endParaRPr lang="pt-BR" sz="3400" dirty="0">
              <a:solidFill>
                <a:srgbClr val="FF0000"/>
              </a:solidFill>
            </a:endParaRPr>
          </a:p>
          <a:p>
            <a:pPr marL="0" indent="0"/>
            <a:r>
              <a:rPr lang="pt-BR" sz="3400" dirty="0" smtClean="0">
                <a:solidFill>
                  <a:srgbClr val="FF0000"/>
                </a:solidFill>
              </a:rPr>
              <a:t> 	Memória</a:t>
            </a:r>
          </a:p>
          <a:p>
            <a:pPr marL="0" lvl="0" indent="0">
              <a:buNone/>
            </a:pPr>
            <a:endParaRPr lang="pt-BR" sz="3400" dirty="0" smtClean="0">
              <a:solidFill>
                <a:srgbClr val="FF0000"/>
              </a:solidFill>
            </a:endParaRPr>
          </a:p>
          <a:p>
            <a:pPr marL="0" lvl="0" indent="0">
              <a:buNone/>
            </a:pPr>
            <a:r>
              <a:rPr lang="pt-BR" sz="3400" dirty="0" smtClean="0"/>
              <a:t>10. Como </a:t>
            </a:r>
            <a:r>
              <a:rPr lang="pt-BR" sz="3400" dirty="0"/>
              <a:t>ligar uma fonte ATX sem estar conectado na placa mãe</a:t>
            </a:r>
            <a:r>
              <a:rPr lang="pt-BR" sz="3400" dirty="0" smtClean="0"/>
              <a:t>?</a:t>
            </a:r>
            <a:endParaRPr lang="pt-BR" sz="3400" dirty="0"/>
          </a:p>
        </p:txBody>
      </p:sp>
    </p:spTree>
    <p:extLst>
      <p:ext uri="{BB962C8B-B14F-4D97-AF65-F5344CB8AC3E}">
        <p14:creationId xmlns:p14="http://schemas.microsoft.com/office/powerpoint/2010/main" val="206706629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665</Words>
  <Application>Microsoft Office PowerPoint</Application>
  <PresentationFormat>Apresentação na tela (4:3)</PresentationFormat>
  <Paragraphs>112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Calibri</vt:lpstr>
      <vt:lpstr>Wingdings</vt:lpstr>
      <vt:lpstr>Tema do Office</vt:lpstr>
      <vt:lpstr>Atividade 7 – O micro não liga </vt:lpstr>
      <vt:lpstr>BIOS - Funcionamento</vt:lpstr>
      <vt:lpstr>BIOS - Funcionamento</vt:lpstr>
      <vt:lpstr>UEFI - BIOS</vt:lpstr>
      <vt:lpstr>Atividade 8 – O micro não liga </vt:lpstr>
      <vt:lpstr>Atividade 8 – O micro não liga </vt:lpstr>
      <vt:lpstr>Atividade 8 – O micro não liga </vt:lpstr>
      <vt:lpstr>Atividade 8 – O micro não liga </vt:lpstr>
      <vt:lpstr>Atividade 8 – O micro não liga </vt:lpstr>
      <vt:lpstr>Manutenção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 8 – O micro não liga</dc:title>
  <dc:creator>Rafael</dc:creator>
  <cp:lastModifiedBy>professor</cp:lastModifiedBy>
  <cp:revision>30</cp:revision>
  <dcterms:created xsi:type="dcterms:W3CDTF">2014-08-29T19:34:12Z</dcterms:created>
  <dcterms:modified xsi:type="dcterms:W3CDTF">2019-04-10T14:16:15Z</dcterms:modified>
</cp:coreProperties>
</file>