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8" r:id="rId4"/>
    <p:sldId id="258" r:id="rId5"/>
    <p:sldId id="259" r:id="rId6"/>
    <p:sldId id="260" r:id="rId7"/>
    <p:sldId id="261" r:id="rId8"/>
    <p:sldId id="262" r:id="rId9"/>
    <p:sldId id="273" r:id="rId10"/>
    <p:sldId id="263" r:id="rId11"/>
    <p:sldId id="264" r:id="rId12"/>
    <p:sldId id="274" r:id="rId13"/>
    <p:sldId id="265" r:id="rId14"/>
    <p:sldId id="266" r:id="rId15"/>
    <p:sldId id="267" r:id="rId16"/>
    <p:sldId id="276" r:id="rId17"/>
    <p:sldId id="270" r:id="rId18"/>
    <p:sldId id="271" r:id="rId19"/>
    <p:sldId id="277" r:id="rId20"/>
    <p:sldId id="279" r:id="rId2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5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17/04/2019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17/04/2019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17/04/2019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17/04/2019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17/04/2019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17/04/2019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17/04/2019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17/04/2019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17/04/2019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17/04/2019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17/04/2019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17/04/2019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Retângulo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3600" b="1" u="sng" dirty="0" smtClean="0"/>
              <a:t/>
            </a:r>
            <a:br>
              <a:rPr lang="pt-BR" sz="3600" b="1" u="sng" dirty="0" smtClean="0"/>
            </a:br>
            <a:r>
              <a:rPr lang="pt-BR" sz="3600" b="1" u="sng" dirty="0" smtClean="0"/>
              <a:t/>
            </a:r>
            <a:br>
              <a:rPr lang="pt-BR" sz="3600" b="1" u="sng" dirty="0" smtClean="0"/>
            </a:br>
            <a:r>
              <a:rPr lang="pt-BR" u="sng" dirty="0">
                <a:solidFill>
                  <a:srgbClr val="FF0000"/>
                </a:solidFill>
              </a:rPr>
              <a:t>A</a:t>
            </a:r>
            <a:r>
              <a:rPr lang="pt-BR" u="sng" dirty="0" smtClean="0">
                <a:solidFill>
                  <a:srgbClr val="FF0000"/>
                </a:solidFill>
              </a:rPr>
              <a:t>tividades em sala (8) </a:t>
            </a:r>
            <a:r>
              <a:rPr lang="pt-BR" sz="3600" b="1" u="sng" dirty="0" smtClean="0"/>
              <a:t/>
            </a:r>
            <a:br>
              <a:rPr lang="pt-BR" sz="3600" b="1" u="sng" dirty="0" smtClean="0"/>
            </a:br>
            <a:r>
              <a:rPr lang="pt-BR" b="1" i="1" u="sng" dirty="0" smtClean="0"/>
              <a:t/>
            </a:r>
            <a:br>
              <a:rPr lang="pt-BR" b="1" i="1" u="sng" dirty="0" smtClean="0"/>
            </a:br>
            <a:endParaRPr lang="pt-BR" dirty="0" smtClean="0"/>
          </a:p>
        </p:txBody>
      </p:sp>
      <p:sp>
        <p:nvSpPr>
          <p:cNvPr id="55299" name="Espaço Reservado para Conteúdo 2"/>
          <p:cNvSpPr>
            <a:spLocks noGrp="1"/>
          </p:cNvSpPr>
          <p:nvPr>
            <p:ph idx="1"/>
          </p:nvPr>
        </p:nvSpPr>
        <p:spPr>
          <a:xfrm>
            <a:off x="468313" y="1412875"/>
            <a:ext cx="8229600" cy="4525963"/>
          </a:xfrm>
        </p:spPr>
        <p:txBody>
          <a:bodyPr/>
          <a:lstStyle/>
          <a:p>
            <a:pPr algn="just" eaLnBrk="1" hangingPunct="1">
              <a:buFont typeface="Arial" charset="0"/>
              <a:buNone/>
            </a:pPr>
            <a:r>
              <a:rPr lang="pt-BR" b="1" u="sng" smtClean="0"/>
              <a:t>Medida indireta de potência</a:t>
            </a:r>
            <a:endParaRPr lang="pt-BR" smtClean="0"/>
          </a:p>
          <a:p>
            <a:pPr algn="just" eaLnBrk="1" hangingPunct="1"/>
            <a:r>
              <a:rPr lang="pt-BR" smtClean="0"/>
              <a:t>Base teórica de circuitos. Potência, corrente e tensão  elétrica.</a:t>
            </a:r>
          </a:p>
          <a:p>
            <a:pPr algn="just" eaLnBrk="1" hangingPunct="1"/>
            <a:r>
              <a:rPr lang="pt-BR" smtClean="0"/>
              <a:t>Montagem e medidas.</a:t>
            </a:r>
          </a:p>
          <a:p>
            <a:pPr algn="just" eaLnBrk="1" hangingPunct="1"/>
            <a:r>
              <a:rPr lang="pt-BR" smtClean="0"/>
              <a:t>Obtenção dos resultados. </a:t>
            </a:r>
          </a:p>
          <a:p>
            <a:pPr algn="just" eaLnBrk="1" hangingPunct="1"/>
            <a:r>
              <a:rPr lang="pt-BR" smtClean="0"/>
              <a:t>Análise.</a:t>
            </a:r>
          </a:p>
          <a:p>
            <a:endParaRPr lang="pt-B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u="sng" smtClean="0"/>
              <a:t>Atividades 7 - Medida indireta de potência</a:t>
            </a:r>
          </a:p>
        </p:txBody>
      </p:sp>
      <p:sp>
        <p:nvSpPr>
          <p:cNvPr id="56323" name="Espaço Reservado para Conteúdo 2"/>
          <p:cNvSpPr>
            <a:spLocks noGrp="1"/>
          </p:cNvSpPr>
          <p:nvPr>
            <p:ph idx="1"/>
          </p:nvPr>
        </p:nvSpPr>
        <p:spPr>
          <a:xfrm>
            <a:off x="683568" y="1196752"/>
            <a:ext cx="8064896" cy="5472608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</a:pPr>
            <a:r>
              <a:rPr lang="pt-BR" sz="2400" b="1" dirty="0" smtClean="0"/>
              <a:t>Rede elétrica: </a:t>
            </a:r>
            <a:r>
              <a:rPr lang="pt-BR" sz="2400" dirty="0" smtClean="0"/>
              <a:t>127volts (nominal</a:t>
            </a:r>
            <a:r>
              <a:rPr lang="pt-BR" sz="2400" b="1" dirty="0" smtClean="0"/>
              <a:t>).</a:t>
            </a:r>
          </a:p>
          <a:p>
            <a:pPr eaLnBrk="1" hangingPunct="1">
              <a:buFont typeface="Arial" charset="0"/>
              <a:buNone/>
            </a:pPr>
            <a:r>
              <a:rPr lang="pt-BR" sz="2400" b="1" dirty="0" smtClean="0"/>
              <a:t>Estabilizador</a:t>
            </a:r>
            <a:r>
              <a:rPr lang="pt-BR" sz="2400" dirty="0" smtClean="0"/>
              <a:t>: Entrada 127V nominais. Fornecimentos (saída): 115V/500W</a:t>
            </a:r>
          </a:p>
          <a:p>
            <a:pPr eaLnBrk="1" hangingPunct="1">
              <a:buFont typeface="Arial" charset="0"/>
              <a:buNone/>
            </a:pPr>
            <a:endParaRPr lang="pt-BR" sz="2400" dirty="0" smtClean="0"/>
          </a:p>
          <a:p>
            <a:pPr eaLnBrk="1" hangingPunct="1">
              <a:buFont typeface="Arial" charset="0"/>
              <a:buNone/>
            </a:pPr>
            <a:r>
              <a:rPr lang="pt-BR" sz="2400" dirty="0" smtClean="0"/>
              <a:t>Exemplo: </a:t>
            </a:r>
            <a:r>
              <a:rPr lang="pt-BR" sz="2400" b="1" dirty="0" smtClean="0"/>
              <a:t>Lâmpada: </a:t>
            </a:r>
            <a:r>
              <a:rPr lang="pt-BR" sz="2400" dirty="0" smtClean="0"/>
              <a:t>100W (potência nominal) /127volts.</a:t>
            </a:r>
          </a:p>
          <a:p>
            <a:pPr algn="ctr" eaLnBrk="1" hangingPunct="1">
              <a:buFont typeface="Arial" charset="0"/>
              <a:buNone/>
            </a:pPr>
            <a:r>
              <a:rPr lang="pt-BR" sz="2400" b="1" i="1" u="sng" dirty="0" smtClean="0"/>
              <a:t>Cálculo da Potência e corrente. Lâmpada ligada na rede Eletropaulo</a:t>
            </a:r>
          </a:p>
          <a:p>
            <a:pPr>
              <a:buFont typeface="Arial" charset="0"/>
              <a:buNone/>
            </a:pPr>
            <a:r>
              <a:rPr lang="pt-BR" sz="2400" b="1" i="1" dirty="0" smtClean="0"/>
              <a:t>P(potência: Watts)= V(tensão: Volts) *I (corrente: Ampères).</a:t>
            </a:r>
          </a:p>
          <a:p>
            <a:pPr algn="ctr">
              <a:buFont typeface="Arial" charset="0"/>
              <a:buNone/>
            </a:pPr>
            <a:r>
              <a:rPr lang="pt-BR" sz="2400" b="1" i="1" u="sng" dirty="0" smtClean="0">
                <a:solidFill>
                  <a:srgbClr val="0070C0"/>
                </a:solidFill>
              </a:rPr>
              <a:t>P= V * I </a:t>
            </a:r>
            <a:r>
              <a:rPr lang="pt-BR" sz="2400" b="1" i="1" u="sng" dirty="0" smtClean="0"/>
              <a:t>: </a:t>
            </a:r>
            <a:r>
              <a:rPr lang="pt-BR" sz="2400" b="1" i="1" u="sng" dirty="0" smtClean="0">
                <a:sym typeface="Wingdings" pitchFamily="2" charset="2"/>
              </a:rPr>
              <a:t> I=P/V: 100/127=0,78A</a:t>
            </a:r>
            <a:r>
              <a:rPr lang="pt-BR" sz="2400" b="1" i="1" dirty="0" smtClean="0">
                <a:sym typeface="Wingdings" pitchFamily="2" charset="2"/>
              </a:rPr>
              <a:t>  </a:t>
            </a:r>
            <a:r>
              <a:rPr lang="pt-BR" sz="2400" b="1" i="1" u="sng" dirty="0" smtClean="0">
                <a:sym typeface="Wingdings" pitchFamily="2" charset="2"/>
              </a:rPr>
              <a:t>     </a:t>
            </a:r>
          </a:p>
          <a:p>
            <a:pPr algn="ctr">
              <a:buFont typeface="Arial" charset="0"/>
              <a:buNone/>
            </a:pPr>
            <a:r>
              <a:rPr lang="pt-BR" sz="2400" b="1" i="1" u="sng" dirty="0" smtClean="0">
                <a:solidFill>
                  <a:srgbClr val="92D050"/>
                </a:solidFill>
                <a:sym typeface="Wingdings" pitchFamily="2" charset="2"/>
              </a:rPr>
              <a:t>R=V/I</a:t>
            </a:r>
            <a:r>
              <a:rPr lang="pt-BR" sz="2400" b="1" i="1" dirty="0" smtClean="0">
                <a:sym typeface="Wingdings" pitchFamily="2" charset="2"/>
              </a:rPr>
              <a:t> = </a:t>
            </a:r>
            <a:r>
              <a:rPr lang="pt-BR" sz="2400" b="1" i="1" u="sng" dirty="0" smtClean="0">
                <a:sym typeface="Wingdings" pitchFamily="2" charset="2"/>
              </a:rPr>
              <a:t> 127 / 0,78= </a:t>
            </a:r>
            <a:r>
              <a:rPr lang="pt-BR" sz="2400" b="1" i="1" dirty="0" smtClean="0">
                <a:sym typeface="Wingdings" pitchFamily="2" charset="2"/>
              </a:rPr>
              <a:t>  </a:t>
            </a:r>
            <a:r>
              <a:rPr lang="pt-BR" sz="2400" b="1" i="1" u="sng" dirty="0" smtClean="0">
                <a:sym typeface="Wingdings" pitchFamily="2" charset="2"/>
              </a:rPr>
              <a:t>162,8 </a:t>
            </a:r>
            <a:r>
              <a:rPr lang="pt-BR" sz="2400" b="1" i="1" u="sng" dirty="0" err="1" smtClean="0">
                <a:sym typeface="Wingdings" pitchFamily="2" charset="2"/>
              </a:rPr>
              <a:t>OHMs</a:t>
            </a:r>
            <a:endParaRPr lang="pt-BR" sz="2400" b="1" i="1" u="sng" dirty="0" smtClean="0">
              <a:sym typeface="Wingdings" pitchFamily="2" charset="2"/>
            </a:endParaRPr>
          </a:p>
          <a:p>
            <a:endParaRPr lang="pt-BR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u="sng" smtClean="0"/>
              <a:t>Atividades 7 - Medida indireta de potência</a:t>
            </a:r>
          </a:p>
        </p:txBody>
      </p:sp>
      <p:sp>
        <p:nvSpPr>
          <p:cNvPr id="5632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96752"/>
            <a:ext cx="8507288" cy="5472608"/>
          </a:xfrm>
        </p:spPr>
        <p:txBody>
          <a:bodyPr>
            <a:noAutofit/>
          </a:bodyPr>
          <a:lstStyle/>
          <a:p>
            <a:pPr algn="ctr">
              <a:buFont typeface="Arial" charset="0"/>
              <a:buNone/>
            </a:pPr>
            <a:r>
              <a:rPr lang="pt-BR" sz="2400" b="1" i="1" u="sng" dirty="0" smtClean="0">
                <a:solidFill>
                  <a:srgbClr val="00B050"/>
                </a:solidFill>
                <a:sym typeface="Wingdings" pitchFamily="2" charset="2"/>
              </a:rPr>
              <a:t>Exemplo: UM CHUVEIRO ELÉTRICO no inverno </a:t>
            </a:r>
            <a:r>
              <a:rPr lang="pt-BR" sz="2400" b="1" i="1" u="sng" dirty="0" smtClean="0">
                <a:solidFill>
                  <a:srgbClr val="FF0000"/>
                </a:solidFill>
                <a:sym typeface="Wingdings" pitchFamily="2" charset="2"/>
              </a:rPr>
              <a:t>:</a:t>
            </a:r>
          </a:p>
          <a:p>
            <a:pPr algn="ctr">
              <a:buFont typeface="Arial" charset="0"/>
              <a:buNone/>
            </a:pPr>
            <a:r>
              <a:rPr lang="pt-BR" sz="2400" b="1" i="1" u="sng" dirty="0" smtClean="0">
                <a:solidFill>
                  <a:srgbClr val="FF0000"/>
                </a:solidFill>
                <a:sym typeface="Wingdings" pitchFamily="2" charset="2"/>
              </a:rPr>
              <a:t>P=6600W      V=220V  (inverno) </a:t>
            </a:r>
          </a:p>
          <a:p>
            <a:pPr>
              <a:buFont typeface="Arial" charset="0"/>
              <a:buNone/>
            </a:pPr>
            <a:r>
              <a:rPr lang="pt-BR" sz="2400" b="1" i="1" u="sng" dirty="0" smtClean="0">
                <a:sym typeface="Wingdings" pitchFamily="2" charset="2"/>
              </a:rPr>
              <a:t>Cálculo da corrente.</a:t>
            </a:r>
          </a:p>
          <a:p>
            <a:pPr algn="ctr">
              <a:buFont typeface="Arial" charset="0"/>
              <a:buNone/>
            </a:pPr>
            <a:r>
              <a:rPr lang="pt-BR" sz="2400" b="1" i="1" u="sng" dirty="0" smtClean="0">
                <a:solidFill>
                  <a:srgbClr val="FF0000"/>
                </a:solidFill>
                <a:sym typeface="Wingdings" pitchFamily="2" charset="2"/>
              </a:rPr>
              <a:t>I=6600/220 = 30 </a:t>
            </a:r>
            <a:r>
              <a:rPr lang="pt-BR" sz="2400" b="1" i="1" u="sng" dirty="0" err="1" smtClean="0">
                <a:solidFill>
                  <a:srgbClr val="FF0000"/>
                </a:solidFill>
                <a:sym typeface="Wingdings" pitchFamily="2" charset="2"/>
              </a:rPr>
              <a:t>Ampéres</a:t>
            </a:r>
            <a:endParaRPr lang="pt-BR" sz="2400" b="1" i="1" u="sng" dirty="0" smtClean="0">
              <a:solidFill>
                <a:srgbClr val="FF0000"/>
              </a:solidFill>
              <a:sym typeface="Wingdings" pitchFamily="2" charset="2"/>
            </a:endParaRPr>
          </a:p>
          <a:p>
            <a:pPr algn="ctr">
              <a:buFont typeface="Arial" charset="0"/>
              <a:buNone/>
            </a:pPr>
            <a:r>
              <a:rPr lang="pt-BR" sz="2400" b="1" i="1" u="sng" dirty="0" smtClean="0">
                <a:solidFill>
                  <a:srgbClr val="FF0000"/>
                </a:solidFill>
                <a:sym typeface="Wingdings" pitchFamily="2" charset="2"/>
              </a:rPr>
              <a:t>R=V/I = 220/30 = 7,3 </a:t>
            </a:r>
            <a:r>
              <a:rPr lang="pt-BR" sz="2400" b="1" i="1" u="sng" dirty="0" err="1" smtClean="0">
                <a:solidFill>
                  <a:srgbClr val="FF0000"/>
                </a:solidFill>
                <a:sym typeface="Wingdings" pitchFamily="2" charset="2"/>
              </a:rPr>
              <a:t>OHMs</a:t>
            </a:r>
            <a:endParaRPr lang="pt-BR" sz="2400" b="1" i="1" u="sng" dirty="0" smtClean="0">
              <a:solidFill>
                <a:srgbClr val="FF0000"/>
              </a:solidFill>
              <a:sym typeface="Wingdings" pitchFamily="2" charset="2"/>
            </a:endParaRPr>
          </a:p>
          <a:p>
            <a:pPr>
              <a:buNone/>
            </a:pPr>
            <a:r>
              <a:rPr lang="pt-BR" sz="2400" b="1" i="1" u="sng" dirty="0" smtClean="0">
                <a:sym typeface="Wingdings" pitchFamily="2" charset="2"/>
              </a:rPr>
              <a:t>Cálculo da resistência do chuveiro</a:t>
            </a:r>
          </a:p>
          <a:p>
            <a:pPr algn="r">
              <a:buNone/>
            </a:pPr>
            <a:r>
              <a:rPr lang="pt-BR" sz="2400" b="1" i="1" u="sng" dirty="0" smtClean="0"/>
              <a:t>LEI DE OHM</a:t>
            </a:r>
            <a:r>
              <a:rPr lang="pt-BR" sz="2400" b="1" i="1" dirty="0" smtClean="0"/>
              <a:t>    </a:t>
            </a:r>
            <a:r>
              <a:rPr lang="pt-BR" sz="2400" i="1" u="sng" dirty="0" smtClean="0"/>
              <a:t>V = R *I ;</a:t>
            </a:r>
            <a:r>
              <a:rPr lang="pt-BR" sz="2400" i="1" dirty="0" smtClean="0"/>
              <a:t>   </a:t>
            </a:r>
            <a:r>
              <a:rPr lang="pt-BR" sz="2400" i="1" u="sng" dirty="0" smtClean="0"/>
              <a:t>ONDE</a:t>
            </a:r>
            <a:r>
              <a:rPr lang="pt-BR" sz="2400" i="1" dirty="0" smtClean="0"/>
              <a:t>   </a:t>
            </a:r>
            <a:r>
              <a:rPr lang="pt-BR" sz="2400" i="1" u="sng" dirty="0" smtClean="0"/>
              <a:t>R : (resistência: ohm) </a:t>
            </a:r>
          </a:p>
          <a:p>
            <a:pPr algn="ctr">
              <a:buFont typeface="Arial" charset="0"/>
              <a:buNone/>
            </a:pPr>
            <a:r>
              <a:rPr lang="pt-BR" sz="2400" b="1" i="1" u="sng" dirty="0" smtClean="0">
                <a:solidFill>
                  <a:srgbClr val="FF0000"/>
                </a:solidFill>
                <a:sym typeface="Wingdings" pitchFamily="2" charset="2"/>
              </a:rPr>
              <a:t>R=V/I = 220/30 = 7,3 </a:t>
            </a:r>
            <a:r>
              <a:rPr lang="pt-BR" sz="2400" b="1" i="1" u="sng" dirty="0" err="1" smtClean="0">
                <a:solidFill>
                  <a:srgbClr val="FF0000"/>
                </a:solidFill>
                <a:sym typeface="Wingdings" pitchFamily="2" charset="2"/>
              </a:rPr>
              <a:t>OHMs</a:t>
            </a:r>
            <a:endParaRPr lang="pt-BR" sz="2400" b="1" i="1" u="sng" dirty="0" smtClean="0">
              <a:solidFill>
                <a:srgbClr val="FF0000"/>
              </a:solidFill>
              <a:sym typeface="Wingdings" pitchFamily="2" charset="2"/>
            </a:endParaRPr>
          </a:p>
          <a:p>
            <a:pPr algn="ctr">
              <a:buFont typeface="Arial" charset="0"/>
              <a:buNone/>
            </a:pPr>
            <a:endParaRPr lang="pt-BR" sz="2400" b="1" i="1" u="sng" dirty="0" smtClean="0"/>
          </a:p>
          <a:p>
            <a:pPr algn="ctr">
              <a:buNone/>
            </a:pPr>
            <a:r>
              <a:rPr lang="pt-BR" sz="2400" b="1" i="1" u="sng" dirty="0" smtClean="0">
                <a:solidFill>
                  <a:srgbClr val="00B050"/>
                </a:solidFill>
                <a:sym typeface="Wingdings" pitchFamily="2" charset="2"/>
              </a:rPr>
              <a:t>EXEMPLO: LÂMPADA INCANDESCENTE</a:t>
            </a:r>
          </a:p>
          <a:p>
            <a:pPr>
              <a:buNone/>
            </a:pPr>
            <a:r>
              <a:rPr lang="pt-BR" sz="2400" b="1" i="1" dirty="0" smtClean="0"/>
              <a:t>I= P/V = </a:t>
            </a:r>
            <a:r>
              <a:rPr lang="pt-BR" sz="2400" i="1" dirty="0" smtClean="0"/>
              <a:t>100/127 </a:t>
            </a:r>
            <a:r>
              <a:rPr lang="pt-BR" sz="2400" i="1" dirty="0" smtClean="0">
                <a:solidFill>
                  <a:srgbClr val="FF0000"/>
                </a:solidFill>
              </a:rPr>
              <a:t>= 0,79 Ampères.</a:t>
            </a:r>
          </a:p>
          <a:p>
            <a:pPr>
              <a:buNone/>
            </a:pPr>
            <a:r>
              <a:rPr lang="pt-BR" sz="2400" b="1" i="1" dirty="0" smtClean="0"/>
              <a:t>R = V/I = </a:t>
            </a:r>
            <a:r>
              <a:rPr lang="pt-BR" sz="2400" i="1" dirty="0" smtClean="0"/>
              <a:t>127/0,79= </a:t>
            </a:r>
            <a:r>
              <a:rPr lang="pt-BR" sz="2400" i="1" dirty="0" smtClean="0">
                <a:solidFill>
                  <a:srgbClr val="FF0000"/>
                </a:solidFill>
              </a:rPr>
              <a:t>160,76 </a:t>
            </a:r>
            <a:r>
              <a:rPr lang="pt-BR" sz="2400" i="1" dirty="0" err="1" smtClean="0">
                <a:solidFill>
                  <a:srgbClr val="FF0000"/>
                </a:solidFill>
              </a:rPr>
              <a:t>OHMs</a:t>
            </a:r>
            <a:r>
              <a:rPr lang="pt-BR" sz="2400" i="1" dirty="0" smtClean="0">
                <a:solidFill>
                  <a:srgbClr val="FF0000"/>
                </a:solidFill>
              </a:rPr>
              <a:t>(161  </a:t>
            </a:r>
            <a:r>
              <a:rPr lang="pt-BR" sz="2400" i="1" dirty="0" err="1" smtClean="0">
                <a:solidFill>
                  <a:srgbClr val="FF0000"/>
                </a:solidFill>
              </a:rPr>
              <a:t>OHMs</a:t>
            </a:r>
            <a:r>
              <a:rPr lang="pt-BR" sz="2400" i="1" dirty="0" smtClean="0">
                <a:solidFill>
                  <a:srgbClr val="FF0000"/>
                </a:solidFill>
              </a:rPr>
              <a:t>).</a:t>
            </a:r>
          </a:p>
          <a:p>
            <a:endParaRPr lang="pt-BR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ítulo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/>
          <a:lstStyle/>
          <a:p>
            <a:r>
              <a:rPr lang="pt-BR" b="1" u="sng" dirty="0" smtClean="0"/>
              <a:t>Lei de Ohm</a:t>
            </a:r>
          </a:p>
        </p:txBody>
      </p:sp>
      <p:pic>
        <p:nvPicPr>
          <p:cNvPr id="573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619672" y="3861048"/>
            <a:ext cx="5928710" cy="2814761"/>
          </a:xfrm>
          <a:noFill/>
        </p:spPr>
      </p:pic>
      <p:sp>
        <p:nvSpPr>
          <p:cNvPr id="5" name="CaixaDeTexto 4"/>
          <p:cNvSpPr txBox="1"/>
          <p:nvPr/>
        </p:nvSpPr>
        <p:spPr>
          <a:xfrm>
            <a:off x="251520" y="980728"/>
            <a:ext cx="86409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2000" dirty="0" smtClean="0">
                <a:latin typeface="+mn-lt"/>
              </a:rPr>
              <a:t>Para visualizar o que significa a lei de Ohm imagine um circuito básico, representado na figura 1. </a:t>
            </a:r>
          </a:p>
          <a:p>
            <a:pPr algn="just">
              <a:buFont typeface="Arial" pitchFamily="34" charset="0"/>
              <a:buChar char="•"/>
            </a:pPr>
            <a:r>
              <a:rPr lang="pt-BR" sz="2000" dirty="0" smtClean="0">
                <a:latin typeface="+mn-lt"/>
              </a:rPr>
              <a:t>Temos um gerador corrente(G), que pode ser uma pilha de lanterna ou bateria de um carro, pro exemplo. </a:t>
            </a:r>
          </a:p>
          <a:p>
            <a:pPr algn="just">
              <a:buFont typeface="Arial" pitchFamily="34" charset="0"/>
              <a:buChar char="•"/>
            </a:pPr>
            <a:endParaRPr lang="pt-BR" sz="2000" dirty="0" smtClean="0">
              <a:latin typeface="+mn-lt"/>
            </a:endParaRPr>
          </a:p>
          <a:p>
            <a:pPr algn="just">
              <a:buFont typeface="Arial" pitchFamily="34" charset="0"/>
              <a:buChar char="•"/>
            </a:pPr>
            <a:r>
              <a:rPr lang="pt-BR" sz="2000" dirty="0" smtClean="0">
                <a:latin typeface="+mn-lt"/>
              </a:rPr>
              <a:t>Este gerador está ligado através de um condutor (fio) a uma resistência (R) que pode ser algo como um aquecedor de ambiente ou uma lâmpada incandescente.</a:t>
            </a:r>
          </a:p>
          <a:p>
            <a:pPr algn="just">
              <a:buFont typeface="Arial" pitchFamily="34" charset="0"/>
              <a:buChar char="•"/>
            </a:pPr>
            <a:r>
              <a:rPr lang="pt-BR" sz="2000" dirty="0" smtClean="0">
                <a:latin typeface="+mn-lt"/>
              </a:rPr>
              <a:t> Este esquema vai fazer com que circule uma corrente elétrica (I) no condutor (em azul) indo do polo positivo para o negativo.</a:t>
            </a:r>
          </a:p>
          <a:p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ítulo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882352"/>
          </a:xfrm>
        </p:spPr>
        <p:txBody>
          <a:bodyPr>
            <a:normAutofit/>
          </a:bodyPr>
          <a:lstStyle/>
          <a:p>
            <a:r>
              <a:rPr lang="pt-BR" b="1" u="sng" dirty="0" smtClean="0"/>
              <a:t>Resistor</a:t>
            </a:r>
          </a:p>
        </p:txBody>
      </p:sp>
      <p:pic>
        <p:nvPicPr>
          <p:cNvPr id="8" name="Espaço Reservado para Conteúdo 7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8413" y="1950423"/>
            <a:ext cx="6792273" cy="287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ítulo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882352"/>
          </a:xfrm>
        </p:spPr>
        <p:txBody>
          <a:bodyPr>
            <a:normAutofit/>
          </a:bodyPr>
          <a:lstStyle/>
          <a:p>
            <a:r>
              <a:rPr lang="pt-BR" b="1" u="sng" dirty="0" smtClean="0"/>
              <a:t>Capacitor</a:t>
            </a:r>
          </a:p>
        </p:txBody>
      </p:sp>
      <p:pic>
        <p:nvPicPr>
          <p:cNvPr id="7" name="Imagem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628800"/>
            <a:ext cx="7848872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tângulo 3"/>
          <p:cNvSpPr/>
          <p:nvPr/>
        </p:nvSpPr>
        <p:spPr>
          <a:xfrm>
            <a:off x="3203848" y="5229200"/>
            <a:ext cx="129614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3203848" y="5949280"/>
            <a:ext cx="129614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6" name="Retângulo 5" descr="Dielétrico"/>
          <p:cNvSpPr/>
          <p:nvPr/>
        </p:nvSpPr>
        <p:spPr>
          <a:xfrm>
            <a:off x="3203848" y="5517232"/>
            <a:ext cx="1296144" cy="360040"/>
          </a:xfrm>
          <a:prstGeom prst="rect">
            <a:avLst/>
          </a:prstGeom>
          <a:ln>
            <a:gradFill>
              <a:gsLst>
                <a:gs pos="0">
                  <a:srgbClr val="FF0000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endParaRPr lang="pt-BR"/>
          </a:p>
        </p:txBody>
      </p:sp>
      <p:cxnSp>
        <p:nvCxnSpPr>
          <p:cNvPr id="9" name="Conector reto 8"/>
          <p:cNvCxnSpPr>
            <a:endCxn id="4" idx="0"/>
          </p:cNvCxnSpPr>
          <p:nvPr/>
        </p:nvCxnSpPr>
        <p:spPr>
          <a:xfrm>
            <a:off x="3851920" y="4797152"/>
            <a:ext cx="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3851920" y="6165304"/>
            <a:ext cx="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3275856" y="551723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Dielétrico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5436096" y="537321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Representação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Indutor - Bobinas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8666" y="2477467"/>
            <a:ext cx="6866667" cy="2771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emicírculos 4"/>
          <p:cNvSpPr/>
          <p:nvPr/>
        </p:nvSpPr>
        <p:spPr>
          <a:xfrm>
            <a:off x="2267744" y="5445224"/>
            <a:ext cx="216024" cy="576064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Semicírculos 5"/>
          <p:cNvSpPr/>
          <p:nvPr/>
        </p:nvSpPr>
        <p:spPr>
          <a:xfrm>
            <a:off x="2555776" y="5445224"/>
            <a:ext cx="216024" cy="576064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7" name="Semicírculos 6"/>
          <p:cNvSpPr/>
          <p:nvPr/>
        </p:nvSpPr>
        <p:spPr>
          <a:xfrm>
            <a:off x="2915816" y="5445224"/>
            <a:ext cx="216024" cy="576064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Semicírculos 7"/>
          <p:cNvSpPr/>
          <p:nvPr/>
        </p:nvSpPr>
        <p:spPr>
          <a:xfrm flipV="1">
            <a:off x="2411760" y="5373216"/>
            <a:ext cx="216024" cy="648072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Semicírculos 8"/>
          <p:cNvSpPr/>
          <p:nvPr/>
        </p:nvSpPr>
        <p:spPr>
          <a:xfrm>
            <a:off x="3203848" y="5445224"/>
            <a:ext cx="288032" cy="576064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0" name="Semicírculos 9"/>
          <p:cNvSpPr/>
          <p:nvPr/>
        </p:nvSpPr>
        <p:spPr>
          <a:xfrm flipV="1">
            <a:off x="2699792" y="5373216"/>
            <a:ext cx="216024" cy="648072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Semicírculos 10"/>
          <p:cNvSpPr/>
          <p:nvPr/>
        </p:nvSpPr>
        <p:spPr>
          <a:xfrm flipV="1">
            <a:off x="3059832" y="5373216"/>
            <a:ext cx="216024" cy="648072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14" name="Conector reto 13"/>
          <p:cNvCxnSpPr>
            <a:stCxn id="9" idx="1"/>
          </p:cNvCxnSpPr>
          <p:nvPr/>
        </p:nvCxnSpPr>
        <p:spPr>
          <a:xfrm>
            <a:off x="3455876" y="5733256"/>
            <a:ext cx="936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1331640" y="5733256"/>
            <a:ext cx="936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5004048" y="566124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Representação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pt-BR" sz="3100" dirty="0" smtClean="0">
                <a:solidFill>
                  <a:srgbClr val="00B050"/>
                </a:solidFill>
              </a:rPr>
              <a:t>Fator de potência (circuitos de corrente alternada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fontScale="70000" lnSpcReduction="20000"/>
          </a:bodyPr>
          <a:lstStyle/>
          <a:p>
            <a:endParaRPr lang="pt-BR" dirty="0" smtClean="0"/>
          </a:p>
          <a:p>
            <a:r>
              <a:rPr lang="pt-BR" dirty="0" smtClean="0"/>
              <a:t>Em circuitos reativos (Contém resistências, capacitores e indutores) a corrente elétrica está defasada em à tensão.</a:t>
            </a:r>
          </a:p>
          <a:p>
            <a:pPr>
              <a:buNone/>
            </a:pPr>
            <a:r>
              <a:rPr lang="pt-BR" dirty="0" smtClean="0"/>
              <a:t>Em outras palavras elas não estão correlacionadas. Quando o valor da corrente aumenta o valor da tensão não segue essa regra.Devido a este fenômeno, a potência dissipada é sempre menor que a multiplicação da tensão pela corrente.</a:t>
            </a:r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Num circuito reativo a potência é igual a P = U * I * FP, onde: </a:t>
            </a:r>
          </a:p>
          <a:p>
            <a:r>
              <a:rPr lang="pt-BR" dirty="0" smtClean="0"/>
              <a:t>P = Potência efetivamente dissipada. Medida em Watt (W)</a:t>
            </a:r>
          </a:p>
          <a:p>
            <a:r>
              <a:rPr lang="pt-BR" dirty="0" smtClean="0"/>
              <a:t>U = Tensão aplicada no circuito, em Volt (V) </a:t>
            </a:r>
          </a:p>
          <a:p>
            <a:r>
              <a:rPr lang="pt-BR" dirty="0" smtClean="0"/>
              <a:t>I = Corrente que atravessa o circuito. Medida em Ampère</a:t>
            </a:r>
          </a:p>
          <a:p>
            <a:r>
              <a:rPr lang="pt-BR" dirty="0" smtClean="0"/>
              <a:t>FP = Fator de potência não tem unidade, é apenas um número.</a:t>
            </a:r>
          </a:p>
          <a:p>
            <a:endParaRPr lang="pt-BR" dirty="0" smtClean="0"/>
          </a:p>
          <a:p>
            <a:pPr>
              <a:buNone/>
            </a:pPr>
            <a:r>
              <a:rPr lang="pt-BR" dirty="0" smtClean="0"/>
              <a:t>Nesta atividade, não será considerado o fator de potência.</a:t>
            </a: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Em uso residencial: FP=1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pt-BR" sz="6000" dirty="0" smtClean="0"/>
              <a:t>P </a:t>
            </a:r>
            <a:r>
              <a:rPr lang="pt-BR" sz="6000" dirty="0"/>
              <a:t>= U * I * 1</a:t>
            </a:r>
            <a:r>
              <a:rPr lang="pt-BR" sz="6000" dirty="0" smtClean="0"/>
              <a:t> ; FP [0,..,1]</a:t>
            </a:r>
          </a:p>
          <a:p>
            <a:r>
              <a:rPr lang="pt-BR" sz="4000" dirty="0" smtClean="0"/>
              <a:t>Todos equipamentos  residenciais e industriais usam resistores, bobinas indutores resistores. Neste caso, o fator de potência é um valor entre [0,..,1]</a:t>
            </a:r>
            <a:endParaRPr lang="pt-BR" sz="4000" dirty="0" smtClean="0">
              <a:sym typeface="Wingdings" panose="05000000000000000000" pitchFamily="2" charset="2"/>
            </a:endParaRPr>
          </a:p>
          <a:p>
            <a:r>
              <a:rPr lang="pt-BR" sz="4000" dirty="0" smtClean="0">
                <a:sym typeface="Wingdings" panose="05000000000000000000" pitchFamily="2" charset="2"/>
              </a:rPr>
              <a:t>Em medidas de consumo: FP= 1.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85445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90066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Instrumento para medida: Multímetro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836712"/>
            <a:ext cx="8291264" cy="547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562074"/>
          </a:xfrm>
        </p:spPr>
        <p:txBody>
          <a:bodyPr>
            <a:noAutofit/>
          </a:bodyPr>
          <a:lstStyle/>
          <a:p>
            <a:r>
              <a:rPr lang="pt-BR" sz="3200" dirty="0" smtClean="0">
                <a:solidFill>
                  <a:srgbClr val="00B050"/>
                </a:solidFill>
              </a:rPr>
              <a:t>Instrumento para medida: Amperímetro de alicate</a:t>
            </a:r>
            <a:endParaRPr lang="pt-BR" sz="3200" dirty="0">
              <a:solidFill>
                <a:srgbClr val="00B050"/>
              </a:solidFill>
            </a:endParaRPr>
          </a:p>
        </p:txBody>
      </p:sp>
      <p:pic>
        <p:nvPicPr>
          <p:cNvPr id="4" name="Espaço Reservado para Conteúdo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908720"/>
            <a:ext cx="6552728" cy="5174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Ferro elétrico: 2,52 A;    127V;</a:t>
            </a:r>
          </a:p>
          <a:p>
            <a:r>
              <a:rPr lang="pt-BR" dirty="0" smtClean="0"/>
              <a:t>P = V * I = 2,52 * 127 = 320W</a:t>
            </a:r>
          </a:p>
          <a:p>
            <a:r>
              <a:rPr lang="pt-BR" dirty="0"/>
              <a:t> </a:t>
            </a:r>
            <a:r>
              <a:rPr lang="pt-BR" dirty="0" smtClean="0"/>
              <a:t>R = V/I = 127 / 2,52 = 50 </a:t>
            </a:r>
            <a:r>
              <a:rPr lang="pt-BR" dirty="0" err="1" smtClean="0"/>
              <a:t>OHMs</a:t>
            </a:r>
            <a:endParaRPr lang="pt-BR" dirty="0" smtClean="0"/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68496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47664" y="274638"/>
            <a:ext cx="5976664" cy="634082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Medida de corrente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052736"/>
            <a:ext cx="5976664" cy="5073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Medição de corrente com alicate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 smtClean="0"/>
          </a:p>
          <a:p>
            <a:endParaRPr lang="pt-BR" dirty="0"/>
          </a:p>
        </p:txBody>
      </p:sp>
      <p:pic>
        <p:nvPicPr>
          <p:cNvPr id="4" name="Imagem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875746"/>
            <a:ext cx="5976664" cy="3785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251520" y="5949280"/>
            <a:ext cx="6336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LAMPADA: 127 V    I= O,73 A.    P: V * I=127*0,73=92,712W      </a:t>
            </a:r>
          </a:p>
          <a:p>
            <a:r>
              <a:rPr lang="pt-BR" dirty="0"/>
              <a:t> </a:t>
            </a:r>
            <a:r>
              <a:rPr lang="pt-BR" dirty="0" smtClean="0"/>
              <a:t>                                                      R=V/I= 127/0,73= 173,9 </a:t>
            </a:r>
            <a:r>
              <a:rPr lang="pt-BR" dirty="0" err="1" smtClean="0"/>
              <a:t>OHMs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Medição direta de corrente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484784"/>
            <a:ext cx="7344816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Medidas de segurança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Uso de sapato de borracha ao operar com a rede Eletropaulo.</a:t>
            </a:r>
          </a:p>
          <a:p>
            <a:endParaRPr lang="pt-BR" dirty="0" smtClean="0"/>
          </a:p>
          <a:p>
            <a:r>
              <a:rPr lang="pt-BR" dirty="0" smtClean="0"/>
              <a:t>i=v/r(borracha)= </a:t>
            </a:r>
          </a:p>
          <a:p>
            <a:pPr>
              <a:buNone/>
            </a:pPr>
            <a:r>
              <a:rPr lang="pt-BR" dirty="0" smtClean="0"/>
              <a:t>127v/(Resistência da sola do sapato é muito grande- aprox. 500000 OHM)</a:t>
            </a:r>
          </a:p>
          <a:p>
            <a:pPr>
              <a:buNone/>
            </a:pPr>
            <a:r>
              <a:rPr lang="pt-BR" dirty="0" smtClean="0"/>
              <a:t>    i ~ 0,254  mA.</a:t>
            </a:r>
          </a:p>
          <a:p>
            <a:pPr>
              <a:buNone/>
            </a:pPr>
            <a:r>
              <a:rPr lang="pt-BR" dirty="0" smtClean="0"/>
              <a:t>Nota: Uma corrente elétrica da ordem de 10mA </a:t>
            </a:r>
            <a:r>
              <a:rPr lang="pt-BR" dirty="0" smtClean="0">
                <a:sym typeface="Wingdings" panose="05000000000000000000" pitchFamily="2" charset="2"/>
              </a:rPr>
              <a:t>tende a ser mortal.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689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pt-BR" sz="3200" dirty="0" smtClean="0"/>
              <a:t>Metodologia para medida indireta de potência</a:t>
            </a:r>
            <a:endParaRPr lang="pt-BR" sz="32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pt-BR" sz="2400" b="1" i="1" u="sng" dirty="0" smtClean="0">
                <a:solidFill>
                  <a:srgbClr val="00B050"/>
                </a:solidFill>
              </a:rPr>
              <a:t>Potencia de um ferroelétrico</a:t>
            </a:r>
          </a:p>
          <a:p>
            <a:r>
              <a:rPr lang="pt-BR" sz="2400" dirty="0" smtClean="0"/>
              <a:t>Montar o circuito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400" dirty="0" smtClean="0"/>
              <a:t>Medir a tensão no resistor (</a:t>
            </a:r>
            <a:r>
              <a:rPr lang="pt-BR" sz="2400" dirty="0" err="1" smtClean="0"/>
              <a:t>Vr</a:t>
            </a:r>
            <a:r>
              <a:rPr lang="pt-BR" sz="2400" dirty="0" smtClean="0"/>
              <a:t>): </a:t>
            </a:r>
            <a:r>
              <a:rPr lang="pt-BR" sz="2400" dirty="0" err="1" smtClean="0"/>
              <a:t>Vr</a:t>
            </a:r>
            <a:r>
              <a:rPr lang="pt-BR" sz="2400" dirty="0" smtClean="0"/>
              <a:t>=_______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400" dirty="0" smtClean="0"/>
              <a:t>Conhecer o valor do resistor: 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400" dirty="0" smtClean="0"/>
              <a:t>Calcular a corrente no resistor (Ir)através da tensão medida:</a:t>
            </a:r>
          </a:p>
          <a:p>
            <a:pPr marL="514350" indent="-514350">
              <a:buNone/>
            </a:pPr>
            <a:r>
              <a:rPr lang="pt-BR" sz="2400" dirty="0" smtClean="0"/>
              <a:t>      Ir=</a:t>
            </a:r>
            <a:r>
              <a:rPr lang="pt-BR" sz="2400" dirty="0" err="1" smtClean="0"/>
              <a:t>Vr</a:t>
            </a:r>
            <a:r>
              <a:rPr lang="pt-BR" sz="2400" dirty="0" smtClean="0"/>
              <a:t>/R = ___________________</a:t>
            </a:r>
          </a:p>
          <a:p>
            <a:pPr>
              <a:buNone/>
            </a:pPr>
            <a:r>
              <a:rPr lang="pt-BR" sz="2400" dirty="0" smtClean="0"/>
              <a:t>5. Valor da potência no dispositivo:</a:t>
            </a:r>
          </a:p>
          <a:p>
            <a:pPr algn="ctr">
              <a:buNone/>
            </a:pPr>
            <a:r>
              <a:rPr lang="pt-BR" sz="2400" dirty="0" smtClean="0"/>
              <a:t> P= (</a:t>
            </a:r>
            <a:r>
              <a:rPr lang="pt-BR" sz="2400" dirty="0" err="1" smtClean="0"/>
              <a:t>V_eletropaulo</a:t>
            </a:r>
            <a:r>
              <a:rPr lang="pt-BR" sz="2400" dirty="0" smtClean="0"/>
              <a:t> – </a:t>
            </a:r>
            <a:r>
              <a:rPr lang="pt-BR" sz="2400" dirty="0" err="1" smtClean="0"/>
              <a:t>Vr</a:t>
            </a:r>
            <a:r>
              <a:rPr lang="pt-BR" sz="2400" dirty="0" smtClean="0"/>
              <a:t>)*Ir</a:t>
            </a:r>
          </a:p>
          <a:p>
            <a:pPr algn="ctr">
              <a:buNone/>
            </a:pPr>
            <a:r>
              <a:rPr lang="pt-BR" sz="2400" dirty="0" smtClean="0"/>
              <a:t>= _________________</a:t>
            </a:r>
          </a:p>
          <a:p>
            <a:pPr>
              <a:buNone/>
            </a:pPr>
            <a:r>
              <a:rPr lang="pt-BR" sz="2400" dirty="0" smtClean="0"/>
              <a:t>6. Valor da potência no resistor: </a:t>
            </a:r>
            <a:r>
              <a:rPr lang="pt-BR" sz="2400" dirty="0" err="1" smtClean="0"/>
              <a:t>Pr</a:t>
            </a:r>
            <a:r>
              <a:rPr lang="pt-BR" sz="2400" dirty="0" smtClean="0"/>
              <a:t>= Ir * </a:t>
            </a:r>
            <a:r>
              <a:rPr lang="pt-BR" sz="2400" dirty="0" err="1" smtClean="0"/>
              <a:t>Vr</a:t>
            </a:r>
            <a:r>
              <a:rPr lang="pt-BR" sz="2400" dirty="0" smtClean="0"/>
              <a:t>.</a:t>
            </a:r>
          </a:p>
          <a:p>
            <a:pPr>
              <a:buNone/>
            </a:pPr>
            <a:r>
              <a:rPr lang="pt-BR" sz="2400" dirty="0" smtClean="0"/>
              <a:t>O que significam </a:t>
            </a:r>
            <a:r>
              <a:rPr lang="pt-BR" sz="2400" dirty="0" err="1" smtClean="0"/>
              <a:t>Pr</a:t>
            </a:r>
            <a:r>
              <a:rPr lang="pt-BR" sz="2400" dirty="0" smtClean="0"/>
              <a:t> e Ir?:__________________________</a:t>
            </a:r>
          </a:p>
          <a:p>
            <a:pPr>
              <a:buNone/>
            </a:pPr>
            <a:r>
              <a:rPr lang="pt-BR" sz="2400" dirty="0" smtClean="0"/>
              <a:t>______________________________________________</a:t>
            </a:r>
            <a:endParaRPr lang="pt-B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31640" y="274638"/>
            <a:ext cx="7355160" cy="850106"/>
          </a:xfrm>
        </p:spPr>
        <p:txBody>
          <a:bodyPr/>
          <a:lstStyle/>
          <a:p>
            <a:r>
              <a:rPr lang="pt-BR" dirty="0" smtClean="0"/>
              <a:t>Diagrama do experimento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Faça um desenho do experimento.</a:t>
            </a:r>
          </a:p>
          <a:p>
            <a:r>
              <a:rPr lang="pt-BR" dirty="0" smtClean="0"/>
              <a:t>Voltagem na tomada da Eletropaulo V=127 V</a:t>
            </a:r>
          </a:p>
          <a:p>
            <a:r>
              <a:rPr lang="pt-BR" dirty="0" smtClean="0"/>
              <a:t>Resistor em série (R)</a:t>
            </a:r>
          </a:p>
          <a:p>
            <a:r>
              <a:rPr lang="pt-BR" dirty="0" smtClean="0"/>
              <a:t>Corrente no circuito (Ir)</a:t>
            </a:r>
          </a:p>
          <a:p>
            <a:r>
              <a:rPr lang="pt-BR" dirty="0" smtClean="0"/>
              <a:t>Voltagem no dispositivo</a:t>
            </a:r>
          </a:p>
          <a:p>
            <a:r>
              <a:rPr lang="pt-BR" dirty="0" smtClean="0"/>
              <a:t>Potencia no dispositivo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74638"/>
            <a:ext cx="8424936" cy="418058"/>
          </a:xfrm>
        </p:spPr>
        <p:txBody>
          <a:bodyPr>
            <a:normAutofit/>
          </a:bodyPr>
          <a:lstStyle/>
          <a:p>
            <a:r>
              <a:rPr lang="pt-BR" sz="2000" dirty="0" smtClean="0"/>
              <a:t>Questões relacionadas ao experimento </a:t>
            </a:r>
            <a:endParaRPr lang="pt-BR" sz="2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692696"/>
            <a:ext cx="8229600" cy="55446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1600" dirty="0" smtClean="0"/>
              <a:t>1a- Anote a lei da potência:</a:t>
            </a:r>
          </a:p>
          <a:p>
            <a:pPr>
              <a:buNone/>
            </a:pPr>
            <a:r>
              <a:rPr lang="pt-BR" sz="1600" dirty="0" smtClean="0"/>
              <a:t>1b – Anote a lei de OHM:</a:t>
            </a:r>
          </a:p>
          <a:p>
            <a:pPr>
              <a:buNone/>
            </a:pPr>
            <a:r>
              <a:rPr lang="pt-BR" sz="1600" dirty="0" smtClean="0"/>
              <a:t>1c – Uma lâmpada antiga tem a seguinte especificação em seu bulbo: 100W/220V. Calcule a corrente e a resistência da lâmpada.</a:t>
            </a:r>
          </a:p>
          <a:p>
            <a:pPr>
              <a:buNone/>
            </a:pPr>
            <a:r>
              <a:rPr lang="pt-BR" sz="1600" dirty="0" smtClean="0"/>
              <a:t>2- Faça o diagrama de um circuito (percurso fechado) contendo a rede </a:t>
            </a:r>
            <a:r>
              <a:rPr lang="pt-BR" sz="1600" dirty="0" err="1" smtClean="0"/>
              <a:t>eletropaulo</a:t>
            </a:r>
            <a:r>
              <a:rPr lang="pt-BR" sz="1600" dirty="0" smtClean="0"/>
              <a:t> + e um ferro elétrico. Indique quem é o gerador e o consumidor. Indique a corrente no circuito</a:t>
            </a:r>
          </a:p>
          <a:p>
            <a:pPr>
              <a:buNone/>
            </a:pPr>
            <a:r>
              <a:rPr lang="pt-BR" sz="1600" dirty="0" smtClean="0"/>
              <a:t> </a:t>
            </a:r>
          </a:p>
          <a:p>
            <a:pPr>
              <a:buNone/>
            </a:pPr>
            <a:endParaRPr lang="pt-BR" sz="1600" dirty="0" smtClean="0"/>
          </a:p>
          <a:p>
            <a:pPr>
              <a:buNone/>
            </a:pPr>
            <a:r>
              <a:rPr lang="pt-BR" sz="1600" dirty="0" smtClean="0"/>
              <a:t>3a-O que são: Resistores, Capacitores e Indutores. Desenhe a sua representação </a:t>
            </a:r>
          </a:p>
          <a:p>
            <a:pPr>
              <a:buNone/>
            </a:pPr>
            <a:endParaRPr lang="pt-BR" sz="1600" dirty="0" smtClean="0"/>
          </a:p>
          <a:p>
            <a:pPr>
              <a:buNone/>
            </a:pPr>
            <a:endParaRPr lang="pt-BR" sz="1600" dirty="0" smtClean="0"/>
          </a:p>
          <a:p>
            <a:pPr>
              <a:buNone/>
            </a:pPr>
            <a:endParaRPr lang="pt-BR" sz="1600" dirty="0" smtClean="0"/>
          </a:p>
          <a:p>
            <a:pPr>
              <a:buNone/>
            </a:pPr>
            <a:r>
              <a:rPr lang="pt-BR" sz="1600" dirty="0" smtClean="0"/>
              <a:t>4. Quais instrumentos fornecem o valor direto da corrente: </a:t>
            </a:r>
          </a:p>
          <a:p>
            <a:pPr>
              <a:buNone/>
            </a:pPr>
            <a:r>
              <a:rPr lang="pt-BR" sz="1600" dirty="0" smtClean="0"/>
              <a:t>___________________________________; _____________________________</a:t>
            </a:r>
          </a:p>
          <a:p>
            <a:pPr>
              <a:buNone/>
            </a:pPr>
            <a:r>
              <a:rPr lang="pt-BR" sz="1600" dirty="0" smtClean="0"/>
              <a:t>5. Faça um diagrama (ou desenho) indicando as formas de medidas diretas de corrente.</a:t>
            </a:r>
          </a:p>
          <a:p>
            <a:pPr>
              <a:buNone/>
            </a:pPr>
            <a:endParaRPr lang="pt-BR" sz="1600" dirty="0" smtClean="0"/>
          </a:p>
          <a:p>
            <a:pPr>
              <a:buNone/>
            </a:pPr>
            <a:endParaRPr lang="pt-BR" sz="1600" dirty="0" smtClean="0"/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59632" y="274638"/>
            <a:ext cx="6696744" cy="490066"/>
          </a:xfrm>
        </p:spPr>
        <p:txBody>
          <a:bodyPr>
            <a:normAutofit fontScale="90000"/>
          </a:bodyPr>
          <a:lstStyle/>
          <a:p>
            <a:r>
              <a:rPr lang="pt-BR" sz="2800" dirty="0" smtClean="0"/>
              <a:t>Questões relacionadas ao experimento </a:t>
            </a:r>
            <a:endParaRPr lang="pt-BR" sz="2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908720"/>
            <a:ext cx="9036496" cy="521744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dirty="0" smtClean="0"/>
              <a:t>6</a:t>
            </a:r>
            <a:r>
              <a:rPr lang="pt-BR" sz="2400" dirty="0" smtClean="0"/>
              <a:t>. Faça o diagrama do experimento MEDIDA INDIRETA DE POTÊNCIA. Indique as tensões e correntes envolvidas</a:t>
            </a:r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r>
              <a:rPr lang="pt-BR" sz="2400" dirty="0" smtClean="0"/>
              <a:t>7. O que é um sensor. Que dispositivo opera como sensor no experimento acima?</a:t>
            </a:r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r>
              <a:rPr lang="pt-BR" sz="2400" dirty="0" smtClean="0"/>
              <a:t>8. </a:t>
            </a:r>
            <a:r>
              <a:rPr lang="pt-BR" sz="2000" b="1" dirty="0" smtClean="0"/>
              <a:t>Considere que no experimento medida indireta de potência : R= 0,2</a:t>
            </a:r>
            <a:r>
              <a:rPr lang="pt-BR" sz="2000" b="1" dirty="0" err="1" smtClean="0"/>
              <a:t>OHMs</a:t>
            </a:r>
            <a:r>
              <a:rPr lang="pt-BR" sz="2000" b="1" dirty="0" smtClean="0"/>
              <a:t>; </a:t>
            </a:r>
            <a:r>
              <a:rPr lang="pt-BR" sz="2000" b="1" dirty="0" err="1" smtClean="0"/>
              <a:t>Vr</a:t>
            </a:r>
            <a:r>
              <a:rPr lang="pt-BR" sz="2000" b="1" dirty="0" smtClean="0"/>
              <a:t>= 2V. O experimento foi alimentado pelo estabilizador.</a:t>
            </a:r>
          </a:p>
          <a:p>
            <a:pPr>
              <a:buNone/>
            </a:pPr>
            <a:r>
              <a:rPr lang="pt-BR" sz="2000" b="1" dirty="0" smtClean="0"/>
              <a:t>Calcule as potências do dispositivo (</a:t>
            </a:r>
            <a:r>
              <a:rPr lang="pt-BR" sz="2000" b="1" dirty="0" err="1" smtClean="0"/>
              <a:t>Pd</a:t>
            </a:r>
            <a:r>
              <a:rPr lang="pt-BR" sz="2000" b="1" dirty="0" smtClean="0"/>
              <a:t>?) , do resistor (PR) e a relação </a:t>
            </a:r>
            <a:r>
              <a:rPr lang="pt-BR" sz="2000" b="1" dirty="0" err="1" smtClean="0"/>
              <a:t>Pr</a:t>
            </a:r>
            <a:r>
              <a:rPr lang="pt-BR" sz="2000" b="1" dirty="0" smtClean="0"/>
              <a:t>/</a:t>
            </a:r>
            <a:r>
              <a:rPr lang="pt-BR" sz="2000" b="1" dirty="0" err="1" smtClean="0"/>
              <a:t>Pd</a:t>
            </a:r>
            <a:r>
              <a:rPr lang="pt-BR" sz="2000" b="1" dirty="0" smtClean="0"/>
              <a:t>.</a:t>
            </a:r>
            <a:endParaRPr lang="pt-BR" sz="2000" b="1" smtClean="0"/>
          </a:p>
          <a:p>
            <a:pPr>
              <a:buNone/>
            </a:pPr>
            <a:endParaRPr lang="pt-BR" sz="2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960</Words>
  <Application>Microsoft Office PowerPoint</Application>
  <PresentationFormat>Apresentação na tela (4:3)</PresentationFormat>
  <Paragraphs>119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Wingdings</vt:lpstr>
      <vt:lpstr>Tema do Office</vt:lpstr>
      <vt:lpstr>  Atividades em sala (8)   </vt:lpstr>
      <vt:lpstr>Atividades 7 - Medida indireta de potência</vt:lpstr>
      <vt:lpstr>Atividades 7 - Medida indireta de potência</vt:lpstr>
      <vt:lpstr>Lei de Ohm</vt:lpstr>
      <vt:lpstr>Resistor</vt:lpstr>
      <vt:lpstr>Capacitor</vt:lpstr>
      <vt:lpstr>Indutor - Bobinas</vt:lpstr>
      <vt:lpstr>Fator de potência (circuitos de corrente alternada)</vt:lpstr>
      <vt:lpstr>Em uso residencial: FP=1</vt:lpstr>
      <vt:lpstr>Instrumento para medida: Multímetro</vt:lpstr>
      <vt:lpstr>Instrumento para medida: Amperímetro de alicate</vt:lpstr>
      <vt:lpstr>Apresentação do PowerPoint</vt:lpstr>
      <vt:lpstr>Medida de corrente</vt:lpstr>
      <vt:lpstr>Medição de corrente com alicate</vt:lpstr>
      <vt:lpstr>Medição direta de corrente</vt:lpstr>
      <vt:lpstr>Medidas de segurança </vt:lpstr>
      <vt:lpstr>Metodologia para medida indireta de potência</vt:lpstr>
      <vt:lpstr>Diagrama do experimento</vt:lpstr>
      <vt:lpstr>Questões relacionadas ao experimento </vt:lpstr>
      <vt:lpstr>Questões relacionadas ao experimento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em sala (7)</dc:title>
  <dc:creator>Rafael</dc:creator>
  <cp:lastModifiedBy>professor</cp:lastModifiedBy>
  <cp:revision>23</cp:revision>
  <dcterms:modified xsi:type="dcterms:W3CDTF">2019-04-17T14:17:01Z</dcterms:modified>
</cp:coreProperties>
</file>