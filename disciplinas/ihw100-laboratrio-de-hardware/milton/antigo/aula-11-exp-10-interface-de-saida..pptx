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handoutMasterIdLst>
    <p:handoutMasterId r:id="rId37"/>
  </p:handoutMasterIdLst>
  <p:sldIdLst>
    <p:sldId id="276" r:id="rId2"/>
    <p:sldId id="262" r:id="rId3"/>
    <p:sldId id="264" r:id="rId4"/>
    <p:sldId id="267" r:id="rId5"/>
    <p:sldId id="288" r:id="rId6"/>
    <p:sldId id="289" r:id="rId7"/>
    <p:sldId id="290" r:id="rId8"/>
    <p:sldId id="291" r:id="rId9"/>
    <p:sldId id="292" r:id="rId10"/>
    <p:sldId id="293" r:id="rId11"/>
    <p:sldId id="301" r:id="rId12"/>
    <p:sldId id="302" r:id="rId13"/>
    <p:sldId id="303" r:id="rId14"/>
    <p:sldId id="304" r:id="rId15"/>
    <p:sldId id="305" r:id="rId16"/>
    <p:sldId id="306" r:id="rId17"/>
    <p:sldId id="309" r:id="rId18"/>
    <p:sldId id="310" r:id="rId19"/>
    <p:sldId id="311" r:id="rId20"/>
    <p:sldId id="294" r:id="rId21"/>
    <p:sldId id="295" r:id="rId22"/>
    <p:sldId id="317" r:id="rId23"/>
    <p:sldId id="297" r:id="rId24"/>
    <p:sldId id="314" r:id="rId25"/>
    <p:sldId id="312" r:id="rId26"/>
    <p:sldId id="298" r:id="rId27"/>
    <p:sldId id="313" r:id="rId28"/>
    <p:sldId id="318" r:id="rId29"/>
    <p:sldId id="319" r:id="rId30"/>
    <p:sldId id="320" r:id="rId31"/>
    <p:sldId id="278" r:id="rId32"/>
    <p:sldId id="299" r:id="rId33"/>
    <p:sldId id="315" r:id="rId34"/>
    <p:sldId id="263" r:id="rId35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0B19"/>
    <a:srgbClr val="0F122B"/>
    <a:srgbClr val="15163F"/>
    <a:srgbClr val="2FA19E"/>
    <a:srgbClr val="268280"/>
    <a:srgbClr val="298B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76" autoAdjust="0"/>
    <p:restoredTop sz="94660"/>
  </p:normalViewPr>
  <p:slideViewPr>
    <p:cSldViewPr>
      <p:cViewPr varScale="1">
        <p:scale>
          <a:sx n="69" d="100"/>
          <a:sy n="69" d="100"/>
        </p:scale>
        <p:origin x="540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2940"/>
    </p:cViewPr>
  </p:sorterViewPr>
  <p:notesViewPr>
    <p:cSldViewPr>
      <p:cViewPr varScale="1">
        <p:scale>
          <a:sx n="55" d="100"/>
          <a:sy n="55" d="100"/>
        </p:scale>
        <p:origin x="-1878" y="-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B8CE4D-C4EF-4A41-A718-3CDAFC528929}" type="datetimeFigureOut">
              <a:rPr lang="pt-BR" smtClean="0"/>
              <a:pPr/>
              <a:t>02/05/2019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7B1197-358E-4E33-8A0B-C6B3B1470A2E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760718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333ED-FE93-41FE-9F2A-0632BE11574D}" type="datetimeFigureOut">
              <a:rPr lang="pt-BR" smtClean="0"/>
              <a:pPr/>
              <a:t>02/05/2019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36A2A6-7053-42D9-98EC-443B43B53E20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545052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B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36A2A6-7053-42D9-98EC-443B43B53E20}" type="slidenum">
              <a:rPr lang="pt-BR" smtClean="0"/>
              <a:pPr/>
              <a:t>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879350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B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36A2A6-7053-42D9-98EC-443B43B53E20}" type="slidenum">
              <a:rPr lang="pt-BR" smtClean="0"/>
              <a:pPr/>
              <a:t>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782243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B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36A2A6-7053-42D9-98EC-443B43B53E20}" type="slidenum">
              <a:rPr lang="pt-BR" smtClean="0"/>
              <a:pPr/>
              <a:t>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26473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B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36A2A6-7053-42D9-98EC-443B43B53E20}" type="slidenum">
              <a:rPr lang="pt-BR" smtClean="0"/>
              <a:pPr/>
              <a:t>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342432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B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36A2A6-7053-42D9-98EC-443B43B53E20}" type="slidenum">
              <a:rPr lang="pt-BR" smtClean="0"/>
              <a:pPr/>
              <a:t>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96704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B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36A2A6-7053-42D9-98EC-443B43B53E20}" type="slidenum">
              <a:rPr lang="pt-BR" smtClean="0"/>
              <a:pPr/>
              <a:t>10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248351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B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36A2A6-7053-42D9-98EC-443B43B53E20}" type="slidenum">
              <a:rPr lang="pt-BR" smtClean="0"/>
              <a:pPr/>
              <a:t>11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947188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B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36A2A6-7053-42D9-98EC-443B43B53E20}" type="slidenum">
              <a:rPr lang="pt-BR" smtClean="0"/>
              <a:pPr/>
              <a:t>12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050605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B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36A2A6-7053-42D9-98EC-443B43B53E20}" type="slidenum">
              <a:rPr lang="pt-BR" smtClean="0"/>
              <a:pPr/>
              <a:t>13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348916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36A2A6-7053-42D9-98EC-443B43B53E20}" type="slidenum">
              <a:rPr lang="pt-BR" smtClean="0"/>
              <a:pPr/>
              <a:t>14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82027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B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36A2A6-7053-42D9-98EC-443B43B53E20}" type="slidenum">
              <a:rPr lang="pt-BR" smtClean="0"/>
              <a:pPr/>
              <a:t>15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930665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B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36A2A6-7053-42D9-98EC-443B43B53E20}" type="slidenum">
              <a:rPr lang="pt-BR" smtClean="0"/>
              <a:pPr/>
              <a:t>16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367532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B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36A2A6-7053-42D9-98EC-443B43B53E20}" type="slidenum">
              <a:rPr lang="pt-BR" smtClean="0"/>
              <a:pPr/>
              <a:t>17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233555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B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36A2A6-7053-42D9-98EC-443B43B53E20}" type="slidenum">
              <a:rPr lang="pt-BR" smtClean="0"/>
              <a:pPr/>
              <a:t>18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164862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B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36A2A6-7053-42D9-98EC-443B43B53E20}" type="slidenum">
              <a:rPr lang="pt-BR" smtClean="0"/>
              <a:pPr/>
              <a:t>19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283891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Leitura de sinais de sensores.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36A2A6-7053-42D9-98EC-443B43B53E20}" type="slidenum">
              <a:rPr lang="pt-BR" smtClean="0"/>
              <a:pPr/>
              <a:t>31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35038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36A2A6-7053-42D9-98EC-443B43B53E20}" type="slidenum">
              <a:rPr lang="pt-BR" smtClean="0"/>
              <a:pPr/>
              <a:t>34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239299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A601B-7CF3-4651-A72E-F9C6E6DC028B}" type="datetimeFigureOut">
              <a:rPr lang="pt-BR" smtClean="0"/>
              <a:pPr/>
              <a:t>02/05/2019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74936-F68C-4968-B3D8-B045E09ED683}" type="slidenum">
              <a:rPr lang="pt-BR" smtClean="0"/>
              <a:pPr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A601B-7CF3-4651-A72E-F9C6E6DC028B}" type="datetimeFigureOut">
              <a:rPr lang="pt-BR" smtClean="0"/>
              <a:pPr/>
              <a:t>02/05/2019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74936-F68C-4968-B3D8-B045E09ED683}" type="slidenum">
              <a:rPr lang="pt-BR" smtClean="0"/>
              <a:pPr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A601B-7CF3-4651-A72E-F9C6E6DC028B}" type="datetimeFigureOut">
              <a:rPr lang="pt-BR" smtClean="0"/>
              <a:pPr/>
              <a:t>02/05/2019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74936-F68C-4968-B3D8-B045E09ED683}" type="slidenum">
              <a:rPr lang="pt-BR" smtClean="0"/>
              <a:pPr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A601B-7CF3-4651-A72E-F9C6E6DC028B}" type="datetimeFigureOut">
              <a:rPr lang="pt-BR" smtClean="0"/>
              <a:pPr/>
              <a:t>02/05/2019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74936-F68C-4968-B3D8-B045E09ED683}" type="slidenum">
              <a:rPr lang="pt-BR" smtClean="0"/>
              <a:pPr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A601B-7CF3-4651-A72E-F9C6E6DC028B}" type="datetimeFigureOut">
              <a:rPr lang="pt-BR" smtClean="0"/>
              <a:pPr/>
              <a:t>02/05/2019</a:t>
            </a:fld>
            <a:endParaRPr lang="pt-BR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74936-F68C-4968-B3D8-B045E09ED683}" type="slidenum">
              <a:rPr lang="pt-BR" smtClean="0"/>
              <a:pPr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A601B-7CF3-4651-A72E-F9C6E6DC028B}" type="datetimeFigureOut">
              <a:rPr lang="pt-BR" smtClean="0"/>
              <a:pPr/>
              <a:t>02/05/2019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74936-F68C-4968-B3D8-B045E09ED683}" type="slidenum">
              <a:rPr lang="pt-BR" smtClean="0"/>
              <a:pPr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A601B-7CF3-4651-A72E-F9C6E6DC028B}" type="datetimeFigureOut">
              <a:rPr lang="pt-BR" smtClean="0"/>
              <a:pPr/>
              <a:t>02/05/2019</a:t>
            </a:fld>
            <a:endParaRPr lang="pt-BR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74936-F68C-4968-B3D8-B045E09ED683}" type="slidenum">
              <a:rPr lang="pt-BR" smtClean="0"/>
              <a:pPr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A601B-7CF3-4651-A72E-F9C6E6DC028B}" type="datetimeFigureOut">
              <a:rPr lang="pt-BR" smtClean="0"/>
              <a:pPr/>
              <a:t>02/05/2019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74936-F68C-4968-B3D8-B045E09ED683}" type="slidenum">
              <a:rPr lang="pt-BR" smtClean="0"/>
              <a:pPr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A601B-7CF3-4651-A72E-F9C6E6DC028B}" type="datetimeFigureOut">
              <a:rPr lang="pt-BR" smtClean="0"/>
              <a:pPr/>
              <a:t>02/05/2019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74936-F68C-4968-B3D8-B045E09ED683}" type="slidenum">
              <a:rPr lang="pt-BR" smtClean="0"/>
              <a:pPr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A601B-7CF3-4651-A72E-F9C6E6DC028B}" type="datetimeFigureOut">
              <a:rPr lang="pt-BR" smtClean="0"/>
              <a:pPr/>
              <a:t>02/05/2019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74936-F68C-4968-B3D8-B045E09ED683}" type="slidenum">
              <a:rPr lang="pt-BR" smtClean="0"/>
              <a:pPr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A601B-7CF3-4651-A72E-F9C6E6DC028B}" type="datetimeFigureOut">
              <a:rPr lang="pt-BR" smtClean="0"/>
              <a:pPr/>
              <a:t>02/05/2019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74936-F68C-4968-B3D8-B045E09ED683}" type="slidenum">
              <a:rPr lang="pt-BR" smtClean="0"/>
              <a:pPr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BA601B-7CF3-4651-A72E-F9C6E6DC028B}" type="datetimeFigureOut">
              <a:rPr lang="pt-BR" smtClean="0"/>
              <a:pPr/>
              <a:t>02/05/2019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974936-F68C-4968-B3D8-B045E09ED683}" type="slidenum">
              <a:rPr lang="pt-BR" smtClean="0"/>
              <a:pPr/>
              <a:t>‹nº›</a:t>
            </a:fld>
            <a:endParaRPr lang="pt-B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de cantos arredondados 10"/>
          <p:cNvSpPr/>
          <p:nvPr/>
        </p:nvSpPr>
        <p:spPr>
          <a:xfrm>
            <a:off x="1835696" y="250021"/>
            <a:ext cx="6984776" cy="642942"/>
          </a:xfrm>
          <a:prstGeom prst="roundRect">
            <a:avLst/>
          </a:prstGeom>
          <a:solidFill>
            <a:srgbClr val="090B19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 smtClean="0">
                <a:latin typeface="Times New Roman" pitchFamily="18" charset="0"/>
                <a:cs typeface="Times New Roman" pitchFamily="18" charset="0"/>
              </a:rPr>
              <a:t>Interface de comunicação</a:t>
            </a:r>
            <a:endParaRPr lang="pt-BR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Retângulo de cantos arredondados 11"/>
          <p:cNvSpPr/>
          <p:nvPr/>
        </p:nvSpPr>
        <p:spPr>
          <a:xfrm>
            <a:off x="285720" y="1142984"/>
            <a:ext cx="8643998" cy="5214974"/>
          </a:xfrm>
          <a:prstGeom prst="roundRect">
            <a:avLst/>
          </a:prstGeom>
          <a:ln>
            <a:solidFill>
              <a:srgbClr val="090B19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4000" dirty="0" err="1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Processing</a:t>
            </a:r>
            <a:endParaRPr lang="pt-BR" sz="4000" dirty="0" smtClean="0">
              <a:solidFill>
                <a:srgbClr val="090B19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ü"/>
            </a:pPr>
            <a:r>
              <a:rPr lang="pt-BR" sz="24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Introdução;</a:t>
            </a:r>
          </a:p>
          <a:p>
            <a:pPr>
              <a:buFont typeface="Wingdings" pitchFamily="2" charset="2"/>
              <a:buChar char="ü"/>
            </a:pPr>
            <a:r>
              <a:rPr lang="pt-BR" sz="24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Comandos Básicos;</a:t>
            </a:r>
          </a:p>
          <a:p>
            <a:pPr>
              <a:buFont typeface="Wingdings" pitchFamily="2" charset="2"/>
              <a:buChar char="ü"/>
            </a:pPr>
            <a:r>
              <a:rPr lang="pt-BR" sz="24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Comunicação com o Arduino.</a:t>
            </a:r>
          </a:p>
          <a:p>
            <a:pPr algn="ctr"/>
            <a:endParaRPr lang="pt-BR" sz="2400" dirty="0" smtClean="0">
              <a:solidFill>
                <a:srgbClr val="090B1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5" descr="C:\Users\prof.MiltonRocha\Desktop\2000px-Processing_Logo_Clipped.svg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42876"/>
            <a:ext cx="857232" cy="857232"/>
          </a:xfrm>
          <a:prstGeom prst="rect">
            <a:avLst/>
          </a:prstGeom>
          <a:noFill/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de cantos arredondados 10"/>
          <p:cNvSpPr/>
          <p:nvPr/>
        </p:nvSpPr>
        <p:spPr>
          <a:xfrm>
            <a:off x="1043608" y="214290"/>
            <a:ext cx="6528788" cy="642942"/>
          </a:xfrm>
          <a:prstGeom prst="roundRect">
            <a:avLst/>
          </a:prstGeom>
          <a:solidFill>
            <a:schemeClr val="tx1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 err="1" smtClean="0">
                <a:latin typeface="Times New Roman" pitchFamily="18" charset="0"/>
                <a:cs typeface="Times New Roman" pitchFamily="18" charset="0"/>
              </a:rPr>
              <a:t>Processing</a:t>
            </a:r>
            <a:r>
              <a:rPr lang="pt-BR" sz="4000" dirty="0" smtClean="0">
                <a:latin typeface="Times New Roman" pitchFamily="18" charset="0"/>
                <a:cs typeface="Times New Roman" pitchFamily="18" charset="0"/>
              </a:rPr>
              <a:t> - INTRODUÇÃO</a:t>
            </a:r>
            <a:endParaRPr lang="pt-BR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Retângulo de cantos arredondados 11"/>
          <p:cNvSpPr/>
          <p:nvPr/>
        </p:nvSpPr>
        <p:spPr>
          <a:xfrm>
            <a:off x="285720" y="1142984"/>
            <a:ext cx="8643998" cy="5214974"/>
          </a:xfrm>
          <a:prstGeom prst="roundRect">
            <a:avLst/>
          </a:prstGeom>
          <a:ln>
            <a:solidFill>
              <a:srgbClr val="090B19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4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Ambiente de programação em software livre. </a:t>
            </a:r>
          </a:p>
          <a:p>
            <a:pPr algn="ctr"/>
            <a:r>
              <a:rPr lang="pt-BR" sz="24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Criado em 2001 por 2 estudantes do MIT (</a:t>
            </a:r>
            <a:r>
              <a:rPr lang="pt-BR" sz="2400" dirty="0" err="1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Casey</a:t>
            </a:r>
            <a:r>
              <a:rPr lang="pt-BR" sz="24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pt-BR" sz="2400" dirty="0" err="1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Reas</a:t>
            </a:r>
            <a:r>
              <a:rPr lang="pt-BR" sz="24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 e Benjamin </a:t>
            </a:r>
            <a:r>
              <a:rPr lang="pt-BR" sz="2400" dirty="0" err="1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Fry</a:t>
            </a:r>
            <a:r>
              <a:rPr lang="pt-BR" sz="24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 algn="ctr"/>
            <a:r>
              <a:rPr lang="pt-BR" sz="24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Tem o  objetivo de ser uma ferramenta para desenvolvimento de projetos gráficos e interativos.</a:t>
            </a:r>
          </a:p>
        </p:txBody>
      </p:sp>
      <p:pic>
        <p:nvPicPr>
          <p:cNvPr id="5" name="Picture 5" descr="C:\Users\prof.MiltonRocha\Desktop\2000px-Processing_Logo_Clipped.svg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42852"/>
            <a:ext cx="899592" cy="857232"/>
          </a:xfrm>
          <a:prstGeom prst="rect">
            <a:avLst/>
          </a:prstGeom>
          <a:noFill/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de cantos arredondados 5"/>
          <p:cNvSpPr/>
          <p:nvPr/>
        </p:nvSpPr>
        <p:spPr>
          <a:xfrm>
            <a:off x="2928926" y="214290"/>
            <a:ext cx="4643470" cy="642942"/>
          </a:xfrm>
          <a:prstGeom prst="roundRect">
            <a:avLst/>
          </a:prstGeom>
          <a:solidFill>
            <a:schemeClr val="tx1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 smtClean="0">
                <a:latin typeface="Times New Roman" pitchFamily="18" charset="0"/>
                <a:cs typeface="Times New Roman" pitchFamily="18" charset="0"/>
              </a:rPr>
              <a:t>Atividade </a:t>
            </a:r>
            <a:endParaRPr lang="pt-BR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Retângulo de cantos arredondados 8"/>
          <p:cNvSpPr/>
          <p:nvPr/>
        </p:nvSpPr>
        <p:spPr>
          <a:xfrm>
            <a:off x="285720" y="1142984"/>
            <a:ext cx="8643998" cy="2428892"/>
          </a:xfrm>
          <a:prstGeom prst="roundRect">
            <a:avLst/>
          </a:prstGeom>
          <a:ln>
            <a:solidFill>
              <a:srgbClr val="090B19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4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IHC com o </a:t>
            </a:r>
            <a:r>
              <a:rPr lang="pt-BR" sz="2400" dirty="0" err="1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Arduino</a:t>
            </a:r>
            <a:r>
              <a:rPr lang="pt-BR" sz="24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: apresentar dados analógicos obtidos via sensores.</a:t>
            </a:r>
          </a:p>
        </p:txBody>
      </p:sp>
      <p:sp>
        <p:nvSpPr>
          <p:cNvPr id="11" name="Retângulo 10"/>
          <p:cNvSpPr/>
          <p:nvPr/>
        </p:nvSpPr>
        <p:spPr>
          <a:xfrm>
            <a:off x="3929058" y="3857628"/>
            <a:ext cx="1071570" cy="1071570"/>
          </a:xfrm>
          <a:prstGeom prst="rect">
            <a:avLst/>
          </a:prstGeom>
          <a:ln>
            <a:solidFill>
              <a:srgbClr val="090B19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Arduino</a:t>
            </a:r>
            <a:endParaRPr lang="pt-BR" dirty="0">
              <a:solidFill>
                <a:srgbClr val="090B1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Retângulo 13"/>
          <p:cNvSpPr/>
          <p:nvPr/>
        </p:nvSpPr>
        <p:spPr>
          <a:xfrm>
            <a:off x="3929058" y="5357826"/>
            <a:ext cx="1071570" cy="1071570"/>
          </a:xfrm>
          <a:prstGeom prst="rect">
            <a:avLst/>
          </a:prstGeom>
          <a:ln>
            <a:solidFill>
              <a:srgbClr val="090B19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Sensores</a:t>
            </a:r>
            <a:endParaRPr lang="pt-BR" dirty="0">
              <a:solidFill>
                <a:srgbClr val="090B1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7" name="Conector de seta reta 16"/>
          <p:cNvCxnSpPr>
            <a:stCxn id="14" idx="0"/>
            <a:endCxn id="11" idx="2"/>
          </p:cNvCxnSpPr>
          <p:nvPr/>
        </p:nvCxnSpPr>
        <p:spPr>
          <a:xfrm rot="5400000" flipH="1" flipV="1">
            <a:off x="4250529" y="5143512"/>
            <a:ext cx="428628" cy="1588"/>
          </a:xfrm>
          <a:prstGeom prst="straightConnector1">
            <a:avLst/>
          </a:prstGeom>
          <a:ln>
            <a:solidFill>
              <a:srgbClr val="090B19"/>
            </a:solidFill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pic>
        <p:nvPicPr>
          <p:cNvPr id="18" name="Picture 5" descr="C:\Users\prof.MiltonRocha\Desktop\2000px-Processing_Logo_Clipped.svg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28794" y="142852"/>
            <a:ext cx="857232" cy="857232"/>
          </a:xfrm>
          <a:prstGeom prst="rect">
            <a:avLst/>
          </a:prstGeom>
          <a:noFill/>
        </p:spPr>
      </p:pic>
      <p:sp>
        <p:nvSpPr>
          <p:cNvPr id="35" name="Retângulo 34"/>
          <p:cNvSpPr/>
          <p:nvPr/>
        </p:nvSpPr>
        <p:spPr>
          <a:xfrm>
            <a:off x="785786" y="3857628"/>
            <a:ext cx="1500198" cy="1071570"/>
          </a:xfrm>
          <a:prstGeom prst="rect">
            <a:avLst/>
          </a:prstGeom>
          <a:ln>
            <a:solidFill>
              <a:srgbClr val="090B19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IHc</a:t>
            </a:r>
            <a:endParaRPr lang="pt-BR" dirty="0" smtClean="0">
              <a:solidFill>
                <a:srgbClr val="090B19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pt-BR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pt-BR" dirty="0" err="1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Processing</a:t>
            </a:r>
            <a:r>
              <a:rPr lang="pt-BR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endParaRPr lang="pt-BR" dirty="0">
              <a:solidFill>
                <a:srgbClr val="090B1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7" name="Conector de seta reta 36"/>
          <p:cNvCxnSpPr>
            <a:stCxn id="35" idx="3"/>
            <a:endCxn id="11" idx="1"/>
          </p:cNvCxnSpPr>
          <p:nvPr/>
        </p:nvCxnSpPr>
        <p:spPr>
          <a:xfrm>
            <a:off x="2285984" y="4393413"/>
            <a:ext cx="1643074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Conector de seta reta 43"/>
          <p:cNvCxnSpPr/>
          <p:nvPr/>
        </p:nvCxnSpPr>
        <p:spPr>
          <a:xfrm rot="10800000">
            <a:off x="2285984" y="4572008"/>
            <a:ext cx="1643074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4" grpId="0" animBg="1"/>
      <p:bldP spid="3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de cantos arredondados 5"/>
          <p:cNvSpPr/>
          <p:nvPr/>
        </p:nvSpPr>
        <p:spPr>
          <a:xfrm>
            <a:off x="1165207" y="214290"/>
            <a:ext cx="6407189" cy="642942"/>
          </a:xfrm>
          <a:prstGeom prst="roundRect">
            <a:avLst/>
          </a:prstGeom>
          <a:solidFill>
            <a:schemeClr val="tx1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 smtClean="0">
                <a:latin typeface="Times New Roman" pitchFamily="18" charset="0"/>
                <a:cs typeface="Times New Roman" pitchFamily="18" charset="0"/>
              </a:rPr>
              <a:t>Características do </a:t>
            </a:r>
            <a:r>
              <a:rPr lang="pt-BR" sz="4000" dirty="0" err="1" smtClean="0">
                <a:latin typeface="Times New Roman" pitchFamily="18" charset="0"/>
                <a:cs typeface="Times New Roman" pitchFamily="18" charset="0"/>
              </a:rPr>
              <a:t>Processing</a:t>
            </a:r>
            <a:endParaRPr lang="pt-BR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50" name="AutoShape 2" descr="http://arduino.cc/en/uploads/Main/ArduinoUno_R3_Front_450px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 dirty="0"/>
          </a:p>
        </p:txBody>
      </p:sp>
      <p:pic>
        <p:nvPicPr>
          <p:cNvPr id="7" name="Picture 5" descr="C:\Users\prof.MiltonRocha\Desktop\2000px-Processing_Logo_Clipped.svg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7975" y="160338"/>
            <a:ext cx="857232" cy="857232"/>
          </a:xfrm>
          <a:prstGeom prst="rect">
            <a:avLst/>
          </a:prstGeom>
          <a:noFill/>
        </p:spPr>
      </p:pic>
      <p:pic>
        <p:nvPicPr>
          <p:cNvPr id="61441" name="Picture 1" descr="C:\Users\prof.MiltonRocha\Desktop\k364p_col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714876" y="4143380"/>
            <a:ext cx="3214710" cy="2497555"/>
          </a:xfrm>
          <a:prstGeom prst="rect">
            <a:avLst/>
          </a:prstGeom>
          <a:noFill/>
        </p:spPr>
      </p:pic>
      <p:pic>
        <p:nvPicPr>
          <p:cNvPr id="61442" name="Picture 2" descr="C:\Users\prof.MiltonRocha\Desktop\p115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928662" y="4143380"/>
            <a:ext cx="3071834" cy="2457467"/>
          </a:xfrm>
          <a:prstGeom prst="rect">
            <a:avLst/>
          </a:prstGeom>
          <a:noFill/>
        </p:spPr>
      </p:pic>
      <p:sp>
        <p:nvSpPr>
          <p:cNvPr id="8" name="Retângulo de cantos arredondados 7"/>
          <p:cNvSpPr/>
          <p:nvPr/>
        </p:nvSpPr>
        <p:spPr>
          <a:xfrm>
            <a:off x="285720" y="1142984"/>
            <a:ext cx="8643998" cy="2428892"/>
          </a:xfrm>
          <a:prstGeom prst="roundRect">
            <a:avLst/>
          </a:prstGeom>
          <a:ln>
            <a:solidFill>
              <a:srgbClr val="090B19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4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Pode ser utilizado para elaboração de desenhos artísticos e interação com as obras de arte.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61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61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de cantos arredondados 10"/>
          <p:cNvSpPr/>
          <p:nvPr/>
        </p:nvSpPr>
        <p:spPr>
          <a:xfrm>
            <a:off x="1997208" y="214290"/>
            <a:ext cx="6168748" cy="766438"/>
          </a:xfrm>
          <a:prstGeom prst="roundRect">
            <a:avLst/>
          </a:prstGeom>
          <a:solidFill>
            <a:schemeClr val="tx1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 smtClean="0">
                <a:latin typeface="Times New Roman" pitchFamily="18" charset="0"/>
                <a:cs typeface="Times New Roman" pitchFamily="18" charset="0"/>
              </a:rPr>
              <a:t>Modo de operação </a:t>
            </a:r>
            <a:endParaRPr lang="pt-BR" sz="4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5" descr="C:\Users\prof.MiltonRocha\Desktop\2000px-Processing_Logo_Clipped.svg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211044"/>
            <a:ext cx="857232" cy="857232"/>
          </a:xfrm>
          <a:prstGeom prst="rect">
            <a:avLst/>
          </a:prstGeom>
          <a:noFill/>
        </p:spPr>
      </p:pic>
      <p:pic>
        <p:nvPicPr>
          <p:cNvPr id="9625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57488" y="1214422"/>
            <a:ext cx="4448189" cy="53485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6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de cantos arredondados 5"/>
          <p:cNvSpPr/>
          <p:nvPr/>
        </p:nvSpPr>
        <p:spPr>
          <a:xfrm>
            <a:off x="1131390" y="214290"/>
            <a:ext cx="6441006" cy="803280"/>
          </a:xfrm>
          <a:prstGeom prst="roundRect">
            <a:avLst/>
          </a:prstGeom>
          <a:solidFill>
            <a:schemeClr val="tx1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 smtClean="0">
                <a:latin typeface="Times New Roman" pitchFamily="18" charset="0"/>
                <a:cs typeface="Times New Roman" pitchFamily="18" charset="0"/>
              </a:rPr>
              <a:t>Exemplos de Funções</a:t>
            </a:r>
            <a:endParaRPr lang="pt-BR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50" name="AutoShape 2" descr="http://arduino.cc/en/uploads/Main/ArduinoUno_R3_Front_450px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 dirty="0"/>
          </a:p>
        </p:txBody>
      </p:sp>
      <p:pic>
        <p:nvPicPr>
          <p:cNvPr id="7" name="Picture 5" descr="C:\Users\prof.MiltonRocha\Desktop\2000px-Processing_Logo_Clipped.svg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74158" y="160338"/>
            <a:ext cx="857232" cy="857232"/>
          </a:xfrm>
          <a:prstGeom prst="rect">
            <a:avLst/>
          </a:prstGeom>
          <a:noFill/>
        </p:spPr>
      </p:pic>
      <p:sp>
        <p:nvSpPr>
          <p:cNvPr id="9" name="Retângulo de cantos arredondados 8"/>
          <p:cNvSpPr/>
          <p:nvPr/>
        </p:nvSpPr>
        <p:spPr>
          <a:xfrm>
            <a:off x="285720" y="1142984"/>
            <a:ext cx="8643998" cy="5214974"/>
          </a:xfrm>
          <a:prstGeom prst="roundRect">
            <a:avLst/>
          </a:prstGeom>
          <a:ln>
            <a:solidFill>
              <a:srgbClr val="090B19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457200" indent="-457200">
              <a:buAutoNum type="arabicPeriod"/>
            </a:pPr>
            <a:r>
              <a:rPr lang="pt-BR" sz="2400" dirty="0" err="1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size</a:t>
            </a:r>
            <a:r>
              <a:rPr lang="pt-BR" sz="24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(largura,altura)</a:t>
            </a:r>
          </a:p>
          <a:p>
            <a:pPr marL="457200" indent="-457200">
              <a:buAutoNum type="arabicPeriod"/>
            </a:pPr>
            <a:r>
              <a:rPr lang="pt-BR" sz="2400" dirty="0" err="1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point</a:t>
            </a:r>
            <a:r>
              <a:rPr lang="pt-BR" sz="24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(x,y)</a:t>
            </a:r>
          </a:p>
          <a:p>
            <a:pPr marL="457200" indent="-457200">
              <a:buAutoNum type="arabicPeriod"/>
            </a:pPr>
            <a:r>
              <a:rPr lang="pt-BR" sz="2400" dirty="0" err="1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line</a:t>
            </a:r>
            <a:r>
              <a:rPr lang="pt-BR" sz="24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(x1,y1,x2,y2)</a:t>
            </a:r>
          </a:p>
          <a:p>
            <a:pPr marL="457200" indent="-457200">
              <a:buFontTx/>
              <a:buAutoNum type="arabicPeriod"/>
            </a:pPr>
            <a:r>
              <a:rPr lang="pt-BR" sz="2400" dirty="0" err="1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triangle</a:t>
            </a:r>
            <a:r>
              <a:rPr lang="pt-BR" sz="24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(x1,y1,x2,y2,x3,y3)</a:t>
            </a:r>
          </a:p>
          <a:p>
            <a:pPr marL="457200" indent="-457200">
              <a:buAutoNum type="arabicPeriod"/>
            </a:pPr>
            <a:r>
              <a:rPr lang="pt-BR" sz="2400" dirty="0" err="1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quad</a:t>
            </a:r>
            <a:r>
              <a:rPr lang="pt-BR" sz="24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(x1,y1,x2,y2,x3,y3,x4,y4)</a:t>
            </a:r>
          </a:p>
          <a:p>
            <a:pPr marL="457200" indent="-457200">
              <a:buAutoNum type="arabicPeriod"/>
            </a:pPr>
            <a:r>
              <a:rPr lang="pt-BR" sz="2400" dirty="0" err="1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rect</a:t>
            </a:r>
            <a:r>
              <a:rPr lang="pt-BR" sz="24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(x,y,largura,altura)</a:t>
            </a:r>
          </a:p>
          <a:p>
            <a:pPr marL="457200" indent="-457200">
              <a:buAutoNum type="arabicPeriod"/>
            </a:pPr>
            <a:r>
              <a:rPr lang="pt-BR" sz="2400" dirty="0" err="1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ellipse</a:t>
            </a:r>
            <a:r>
              <a:rPr lang="pt-BR" sz="24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(x,y,largura,altura)</a:t>
            </a:r>
          </a:p>
          <a:p>
            <a:pPr marL="457200" indent="-457200">
              <a:buAutoNum type="arabicPeriod"/>
            </a:pPr>
            <a:r>
              <a:rPr lang="pt-BR" sz="2400" dirty="0" err="1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arc</a:t>
            </a:r>
            <a:r>
              <a:rPr lang="pt-BR" sz="24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(x,y,largura,altura,inicio,fim)</a:t>
            </a:r>
          </a:p>
          <a:p>
            <a:pPr marL="457200" indent="-457200" algn="ctr">
              <a:buAutoNum type="arabicPeriod"/>
            </a:pPr>
            <a:endParaRPr lang="pt-BR" sz="2400" dirty="0" smtClean="0">
              <a:solidFill>
                <a:srgbClr val="090B19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de cantos arredondados 5"/>
          <p:cNvSpPr/>
          <p:nvPr/>
        </p:nvSpPr>
        <p:spPr>
          <a:xfrm>
            <a:off x="1539825" y="214290"/>
            <a:ext cx="7064623" cy="642942"/>
          </a:xfrm>
          <a:prstGeom prst="roundRect">
            <a:avLst/>
          </a:prstGeom>
          <a:solidFill>
            <a:schemeClr val="tx1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 err="1" smtClean="0">
                <a:latin typeface="Times New Roman" pitchFamily="18" charset="0"/>
                <a:cs typeface="Times New Roman" pitchFamily="18" charset="0"/>
              </a:rPr>
              <a:t>Aplicações:size</a:t>
            </a:r>
            <a:r>
              <a:rPr lang="pt-BR" sz="4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pt-BR" sz="4000" dirty="0" err="1" smtClean="0">
                <a:latin typeface="Times New Roman" pitchFamily="18" charset="0"/>
                <a:cs typeface="Times New Roman" pitchFamily="18" charset="0"/>
              </a:rPr>
              <a:t>largura,altura</a:t>
            </a:r>
            <a:r>
              <a:rPr lang="pt-BR" sz="40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pt-BR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50" name="AutoShape 2" descr="http://arduino.cc/en/uploads/Main/ArduinoUno_R3_Front_450px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 dirty="0"/>
          </a:p>
        </p:txBody>
      </p:sp>
      <p:pic>
        <p:nvPicPr>
          <p:cNvPr id="7" name="Picture 5" descr="C:\Users\prof.MiltonRocha\Desktop\2000px-Processing_Logo_Clipped.svg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1484" y="107145"/>
            <a:ext cx="857232" cy="857232"/>
          </a:xfrm>
          <a:prstGeom prst="rect">
            <a:avLst/>
          </a:prstGeom>
          <a:noFill/>
        </p:spPr>
      </p:pic>
      <p:sp>
        <p:nvSpPr>
          <p:cNvPr id="10" name="Retângulo 9"/>
          <p:cNvSpPr/>
          <p:nvPr/>
        </p:nvSpPr>
        <p:spPr>
          <a:xfrm>
            <a:off x="1785918" y="2428868"/>
            <a:ext cx="6429420" cy="32147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2" name="Conector de seta reta 11"/>
          <p:cNvCxnSpPr/>
          <p:nvPr/>
        </p:nvCxnSpPr>
        <p:spPr>
          <a:xfrm rot="5400000">
            <a:off x="-71470" y="4000504"/>
            <a:ext cx="3143272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/>
          <p:nvPr/>
        </p:nvCxnSpPr>
        <p:spPr>
          <a:xfrm>
            <a:off x="1785918" y="2143116"/>
            <a:ext cx="6429420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/>
          <p:cNvSpPr txBox="1"/>
          <p:nvPr/>
        </p:nvSpPr>
        <p:spPr>
          <a:xfrm>
            <a:off x="4786314" y="1643050"/>
            <a:ext cx="57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400</a:t>
            </a:r>
            <a:endParaRPr lang="pt-BR" dirty="0"/>
          </a:p>
        </p:txBody>
      </p:sp>
      <p:sp>
        <p:nvSpPr>
          <p:cNvPr id="17" name="CaixaDeTexto 16"/>
          <p:cNvSpPr txBox="1"/>
          <p:nvPr/>
        </p:nvSpPr>
        <p:spPr>
          <a:xfrm>
            <a:off x="714348" y="3571876"/>
            <a:ext cx="57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200</a:t>
            </a:r>
            <a:endParaRPr lang="pt-BR" dirty="0"/>
          </a:p>
        </p:txBody>
      </p:sp>
      <p:sp>
        <p:nvSpPr>
          <p:cNvPr id="11" name="CaixaDeTexto 10"/>
          <p:cNvSpPr txBox="1"/>
          <p:nvPr/>
        </p:nvSpPr>
        <p:spPr>
          <a:xfrm>
            <a:off x="714348" y="1142984"/>
            <a:ext cx="1500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 smtClean="0"/>
              <a:t>size</a:t>
            </a:r>
            <a:r>
              <a:rPr lang="pt-BR" dirty="0" smtClean="0"/>
              <a:t>(400,200);</a:t>
            </a:r>
            <a:endParaRPr lang="pt-BR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  <p:bldP spid="16" grpId="0"/>
      <p:bldP spid="17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de cantos arredondados 5"/>
          <p:cNvSpPr/>
          <p:nvPr/>
        </p:nvSpPr>
        <p:spPr>
          <a:xfrm>
            <a:off x="1952258" y="220361"/>
            <a:ext cx="6096740" cy="642942"/>
          </a:xfrm>
          <a:prstGeom prst="roundRect">
            <a:avLst/>
          </a:prstGeom>
          <a:solidFill>
            <a:schemeClr val="tx1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 err="1">
                <a:latin typeface="Times New Roman" pitchFamily="18" charset="0"/>
                <a:cs typeface="Times New Roman" pitchFamily="18" charset="0"/>
              </a:rPr>
              <a:t>Aplicações:point</a:t>
            </a:r>
            <a:r>
              <a:rPr lang="pt-BR" sz="40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pt-BR" sz="4000" dirty="0" err="1">
                <a:latin typeface="Times New Roman" pitchFamily="18" charset="0"/>
                <a:cs typeface="Times New Roman" pitchFamily="18" charset="0"/>
              </a:rPr>
              <a:t>x,y</a:t>
            </a:r>
            <a:r>
              <a:rPr lang="pt-BR" sz="4000" dirty="0" smtClean="0">
                <a:latin typeface="Times New Roman" pitchFamily="18" charset="0"/>
                <a:cs typeface="Times New Roman" pitchFamily="18" charset="0"/>
              </a:rPr>
              <a:t>);</a:t>
            </a:r>
            <a:endParaRPr lang="pt-BR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50" name="AutoShape 2" descr="http://arduino.cc/en/uploads/Main/ArduinoUno_R3_Front_450px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 dirty="0"/>
          </a:p>
        </p:txBody>
      </p:sp>
      <p:pic>
        <p:nvPicPr>
          <p:cNvPr id="7" name="Picture 5" descr="C:\Users\prof.MiltonRocha\Desktop\2000px-Processing_Logo_Clipped.svg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4952" y="155006"/>
            <a:ext cx="857232" cy="857232"/>
          </a:xfrm>
          <a:prstGeom prst="rect">
            <a:avLst/>
          </a:prstGeom>
          <a:noFill/>
        </p:spPr>
      </p:pic>
      <p:sp>
        <p:nvSpPr>
          <p:cNvPr id="8" name="CaixaDeTexto 7"/>
          <p:cNvSpPr txBox="1"/>
          <p:nvPr/>
        </p:nvSpPr>
        <p:spPr>
          <a:xfrm>
            <a:off x="714348" y="1142984"/>
            <a:ext cx="1500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 smtClean="0"/>
              <a:t>size</a:t>
            </a:r>
            <a:r>
              <a:rPr lang="pt-BR" dirty="0" smtClean="0"/>
              <a:t>(400,200);</a:t>
            </a:r>
            <a:endParaRPr lang="pt-BR" dirty="0"/>
          </a:p>
        </p:txBody>
      </p:sp>
      <p:sp>
        <p:nvSpPr>
          <p:cNvPr id="10" name="Retângulo 9"/>
          <p:cNvSpPr/>
          <p:nvPr/>
        </p:nvSpPr>
        <p:spPr>
          <a:xfrm>
            <a:off x="1785918" y="2428868"/>
            <a:ext cx="6429420" cy="32147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2" name="Conector de seta reta 11"/>
          <p:cNvCxnSpPr/>
          <p:nvPr/>
        </p:nvCxnSpPr>
        <p:spPr>
          <a:xfrm rot="5400000">
            <a:off x="4608513" y="3321049"/>
            <a:ext cx="1642280" cy="79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/>
          <p:nvPr/>
        </p:nvCxnSpPr>
        <p:spPr>
          <a:xfrm>
            <a:off x="1785918" y="4214818"/>
            <a:ext cx="3571900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/>
          <p:cNvSpPr txBox="1"/>
          <p:nvPr/>
        </p:nvSpPr>
        <p:spPr>
          <a:xfrm>
            <a:off x="5786446" y="3143248"/>
            <a:ext cx="57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100</a:t>
            </a:r>
            <a:endParaRPr lang="pt-BR" dirty="0"/>
          </a:p>
        </p:txBody>
      </p:sp>
      <p:sp>
        <p:nvSpPr>
          <p:cNvPr id="17" name="CaixaDeTexto 16"/>
          <p:cNvSpPr txBox="1"/>
          <p:nvPr/>
        </p:nvSpPr>
        <p:spPr>
          <a:xfrm>
            <a:off x="2714612" y="4429132"/>
            <a:ext cx="57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200</a:t>
            </a:r>
            <a:endParaRPr lang="pt-BR" dirty="0"/>
          </a:p>
        </p:txBody>
      </p:sp>
      <p:sp>
        <p:nvSpPr>
          <p:cNvPr id="11" name="CaixaDeTexto 10"/>
          <p:cNvSpPr txBox="1"/>
          <p:nvPr/>
        </p:nvSpPr>
        <p:spPr>
          <a:xfrm>
            <a:off x="714348" y="1500174"/>
            <a:ext cx="1643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 smtClean="0"/>
              <a:t>point</a:t>
            </a:r>
            <a:r>
              <a:rPr lang="pt-BR" dirty="0" smtClean="0"/>
              <a:t>(200,100);</a:t>
            </a:r>
            <a:endParaRPr lang="pt-BR" dirty="0"/>
          </a:p>
        </p:txBody>
      </p:sp>
      <p:sp>
        <p:nvSpPr>
          <p:cNvPr id="21" name="Elipse 20"/>
          <p:cNvSpPr/>
          <p:nvPr/>
        </p:nvSpPr>
        <p:spPr>
          <a:xfrm>
            <a:off x="5357818" y="4143380"/>
            <a:ext cx="142876" cy="14287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6" grpId="0"/>
      <p:bldP spid="17" grpId="0"/>
      <p:bldP spid="11" grpId="0"/>
      <p:bldP spid="2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de cantos arredondados 5"/>
          <p:cNvSpPr/>
          <p:nvPr/>
        </p:nvSpPr>
        <p:spPr>
          <a:xfrm>
            <a:off x="1619672" y="214290"/>
            <a:ext cx="6768752" cy="642942"/>
          </a:xfrm>
          <a:prstGeom prst="roundRect">
            <a:avLst/>
          </a:prstGeom>
          <a:solidFill>
            <a:schemeClr val="tx1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 err="1">
                <a:latin typeface="Times New Roman" pitchFamily="18" charset="0"/>
                <a:cs typeface="Times New Roman" pitchFamily="18" charset="0"/>
              </a:rPr>
              <a:t>Aplicações:line</a:t>
            </a:r>
            <a:r>
              <a:rPr lang="pt-BR" sz="4000" dirty="0">
                <a:latin typeface="Times New Roman" pitchFamily="18" charset="0"/>
                <a:cs typeface="Times New Roman" pitchFamily="18" charset="0"/>
              </a:rPr>
              <a:t>(x1,y1,x2,y2</a:t>
            </a:r>
            <a:r>
              <a:rPr lang="pt-BR" sz="4000" dirty="0" smtClean="0">
                <a:latin typeface="Times New Roman" pitchFamily="18" charset="0"/>
                <a:cs typeface="Times New Roman" pitchFamily="18" charset="0"/>
              </a:rPr>
              <a:t>);</a:t>
            </a:r>
            <a:endParaRPr lang="pt-BR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50" name="AutoShape 2" descr="http://arduino.cc/en/uploads/Main/ArduinoUno_R3_Front_450px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 dirty="0"/>
          </a:p>
        </p:txBody>
      </p:sp>
      <p:pic>
        <p:nvPicPr>
          <p:cNvPr id="7" name="Picture 5" descr="C:\Users\prof.MiltonRocha\Desktop\2000px-Processing_Logo_Clipped.svg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2951" y="155006"/>
            <a:ext cx="857232" cy="857232"/>
          </a:xfrm>
          <a:prstGeom prst="rect">
            <a:avLst/>
          </a:prstGeom>
          <a:noFill/>
        </p:spPr>
      </p:pic>
      <p:sp>
        <p:nvSpPr>
          <p:cNvPr id="8" name="CaixaDeTexto 7"/>
          <p:cNvSpPr txBox="1"/>
          <p:nvPr/>
        </p:nvSpPr>
        <p:spPr>
          <a:xfrm>
            <a:off x="714348" y="1142984"/>
            <a:ext cx="1500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 smtClean="0"/>
              <a:t>size</a:t>
            </a:r>
            <a:r>
              <a:rPr lang="pt-BR" dirty="0" smtClean="0"/>
              <a:t>(400,200);</a:t>
            </a:r>
            <a:endParaRPr lang="pt-BR" dirty="0"/>
          </a:p>
        </p:txBody>
      </p:sp>
      <p:sp>
        <p:nvSpPr>
          <p:cNvPr id="10" name="Retângulo 9"/>
          <p:cNvSpPr/>
          <p:nvPr/>
        </p:nvSpPr>
        <p:spPr>
          <a:xfrm>
            <a:off x="1785918" y="2428868"/>
            <a:ext cx="6429420" cy="32147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2" name="Conector de seta reta 11"/>
          <p:cNvCxnSpPr/>
          <p:nvPr/>
        </p:nvCxnSpPr>
        <p:spPr>
          <a:xfrm rot="5400000">
            <a:off x="2822166" y="3464322"/>
            <a:ext cx="2071702" cy="79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/>
          <p:nvPr/>
        </p:nvCxnSpPr>
        <p:spPr>
          <a:xfrm>
            <a:off x="1785918" y="4714884"/>
            <a:ext cx="2000264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/>
          <p:cNvSpPr txBox="1"/>
          <p:nvPr/>
        </p:nvSpPr>
        <p:spPr>
          <a:xfrm>
            <a:off x="3143240" y="2857496"/>
            <a:ext cx="57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150</a:t>
            </a:r>
            <a:endParaRPr lang="pt-BR" dirty="0"/>
          </a:p>
        </p:txBody>
      </p:sp>
      <p:sp>
        <p:nvSpPr>
          <p:cNvPr id="17" name="CaixaDeTexto 16"/>
          <p:cNvSpPr txBox="1"/>
          <p:nvPr/>
        </p:nvSpPr>
        <p:spPr>
          <a:xfrm>
            <a:off x="2357422" y="4929198"/>
            <a:ext cx="57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100</a:t>
            </a:r>
            <a:endParaRPr lang="pt-BR" dirty="0"/>
          </a:p>
        </p:txBody>
      </p:sp>
      <p:sp>
        <p:nvSpPr>
          <p:cNvPr id="11" name="CaixaDeTexto 10"/>
          <p:cNvSpPr txBox="1"/>
          <p:nvPr/>
        </p:nvSpPr>
        <p:spPr>
          <a:xfrm>
            <a:off x="714348" y="1500174"/>
            <a:ext cx="2571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 smtClean="0"/>
              <a:t>line</a:t>
            </a:r>
            <a:r>
              <a:rPr lang="pt-BR" dirty="0" smtClean="0"/>
              <a:t>(100,150,</a:t>
            </a:r>
            <a:r>
              <a:rPr lang="pt-BR" dirty="0" smtClean="0">
                <a:solidFill>
                  <a:srgbClr val="FF0000"/>
                </a:solidFill>
              </a:rPr>
              <a:t>300</a:t>
            </a:r>
            <a:r>
              <a:rPr lang="pt-BR" dirty="0" smtClean="0"/>
              <a:t>,</a:t>
            </a:r>
            <a:r>
              <a:rPr lang="pt-BR" dirty="0" smtClean="0">
                <a:solidFill>
                  <a:srgbClr val="FF0000"/>
                </a:solidFill>
              </a:rPr>
              <a:t>75</a:t>
            </a:r>
            <a:r>
              <a:rPr lang="pt-BR" dirty="0" smtClean="0"/>
              <a:t>);</a:t>
            </a:r>
            <a:endParaRPr lang="pt-BR" dirty="0"/>
          </a:p>
        </p:txBody>
      </p:sp>
      <p:cxnSp>
        <p:nvCxnSpPr>
          <p:cNvPr id="22" name="Conector reto 21"/>
          <p:cNvCxnSpPr/>
          <p:nvPr/>
        </p:nvCxnSpPr>
        <p:spPr>
          <a:xfrm flipV="1">
            <a:off x="3929058" y="3357562"/>
            <a:ext cx="2571768" cy="128588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de seta reta 22"/>
          <p:cNvCxnSpPr/>
          <p:nvPr/>
        </p:nvCxnSpPr>
        <p:spPr>
          <a:xfrm>
            <a:off x="1785918" y="3286124"/>
            <a:ext cx="4643470" cy="158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/>
          <p:cNvSpPr txBox="1"/>
          <p:nvPr/>
        </p:nvSpPr>
        <p:spPr>
          <a:xfrm>
            <a:off x="4071934" y="2928934"/>
            <a:ext cx="57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rgbClr val="FF0000"/>
                </a:solidFill>
              </a:rPr>
              <a:t>300</a:t>
            </a:r>
            <a:endParaRPr lang="pt-BR" dirty="0">
              <a:solidFill>
                <a:srgbClr val="FF0000"/>
              </a:solidFill>
            </a:endParaRPr>
          </a:p>
        </p:txBody>
      </p:sp>
      <p:cxnSp>
        <p:nvCxnSpPr>
          <p:cNvPr id="28" name="Conector de seta reta 27"/>
          <p:cNvCxnSpPr/>
          <p:nvPr/>
        </p:nvCxnSpPr>
        <p:spPr>
          <a:xfrm rot="5400000">
            <a:off x="6072595" y="2857099"/>
            <a:ext cx="857256" cy="794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aixaDeTexto 29"/>
          <p:cNvSpPr txBox="1"/>
          <p:nvPr/>
        </p:nvSpPr>
        <p:spPr>
          <a:xfrm>
            <a:off x="6643702" y="2643182"/>
            <a:ext cx="57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rgbClr val="FF0000"/>
                </a:solidFill>
              </a:rPr>
              <a:t>75</a:t>
            </a:r>
            <a:endParaRPr lang="pt-BR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6" grpId="0"/>
      <p:bldP spid="17" grpId="0"/>
      <p:bldP spid="11" grpId="0"/>
      <p:bldP spid="26" grpId="0"/>
      <p:bldP spid="3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de cantos arredondados 5"/>
          <p:cNvSpPr/>
          <p:nvPr/>
        </p:nvSpPr>
        <p:spPr>
          <a:xfrm>
            <a:off x="1214414" y="214290"/>
            <a:ext cx="7715304" cy="642942"/>
          </a:xfrm>
          <a:prstGeom prst="roundRect">
            <a:avLst/>
          </a:prstGeom>
          <a:solidFill>
            <a:schemeClr val="tx1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dirty="0">
                <a:latin typeface="Times New Roman" pitchFamily="18" charset="0"/>
                <a:cs typeface="Times New Roman" pitchFamily="18" charset="0"/>
              </a:rPr>
              <a:t>Aplicações</a:t>
            </a:r>
            <a:r>
              <a:rPr lang="pt-BR" sz="3600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pt-BR" sz="3600" dirty="0" err="1" smtClean="0">
                <a:latin typeface="Times New Roman" pitchFamily="18" charset="0"/>
                <a:cs typeface="Times New Roman" pitchFamily="18" charset="0"/>
              </a:rPr>
              <a:t>triangle</a:t>
            </a:r>
            <a:r>
              <a:rPr lang="pt-BR" sz="3600" dirty="0" smtClean="0">
                <a:latin typeface="Times New Roman" pitchFamily="18" charset="0"/>
                <a:cs typeface="Times New Roman" pitchFamily="18" charset="0"/>
              </a:rPr>
              <a:t>(x1,y1,x2,y2,x3,y3);</a:t>
            </a:r>
            <a:endParaRPr lang="pt-BR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50" name="AutoShape 2" descr="http://arduino.cc/en/uploads/Main/ArduinoUno_R3_Front_450px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 dirty="0"/>
          </a:p>
        </p:txBody>
      </p:sp>
      <p:pic>
        <p:nvPicPr>
          <p:cNvPr id="7" name="Picture 5" descr="C:\Users\prof.MiltonRocha\Desktop\2000px-Processing_Logo_Clipped.svg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4282" y="142852"/>
            <a:ext cx="857232" cy="857232"/>
          </a:xfrm>
          <a:prstGeom prst="rect">
            <a:avLst/>
          </a:prstGeom>
          <a:noFill/>
        </p:spPr>
      </p:pic>
      <p:sp>
        <p:nvSpPr>
          <p:cNvPr id="8" name="CaixaDeTexto 7"/>
          <p:cNvSpPr txBox="1"/>
          <p:nvPr/>
        </p:nvSpPr>
        <p:spPr>
          <a:xfrm>
            <a:off x="714348" y="1142984"/>
            <a:ext cx="1500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 smtClean="0"/>
              <a:t>size</a:t>
            </a:r>
            <a:r>
              <a:rPr lang="pt-BR" dirty="0" smtClean="0"/>
              <a:t>(400,200);</a:t>
            </a:r>
            <a:endParaRPr lang="pt-BR" dirty="0"/>
          </a:p>
        </p:txBody>
      </p:sp>
      <p:sp>
        <p:nvSpPr>
          <p:cNvPr id="10" name="Retângulo 9"/>
          <p:cNvSpPr/>
          <p:nvPr/>
        </p:nvSpPr>
        <p:spPr>
          <a:xfrm>
            <a:off x="1785918" y="2428868"/>
            <a:ext cx="6429420" cy="32147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2" name="Conector de seta reta 11"/>
          <p:cNvCxnSpPr/>
          <p:nvPr/>
        </p:nvCxnSpPr>
        <p:spPr>
          <a:xfrm rot="5400000">
            <a:off x="2357819" y="2785661"/>
            <a:ext cx="714380" cy="79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/>
          <p:nvPr/>
        </p:nvCxnSpPr>
        <p:spPr>
          <a:xfrm>
            <a:off x="1785918" y="3214686"/>
            <a:ext cx="857256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/>
          <p:cNvSpPr txBox="1"/>
          <p:nvPr/>
        </p:nvSpPr>
        <p:spPr>
          <a:xfrm>
            <a:off x="2714612" y="2643182"/>
            <a:ext cx="57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50</a:t>
            </a:r>
            <a:endParaRPr lang="pt-BR" dirty="0"/>
          </a:p>
        </p:txBody>
      </p:sp>
      <p:sp>
        <p:nvSpPr>
          <p:cNvPr id="17" name="CaixaDeTexto 16"/>
          <p:cNvSpPr txBox="1"/>
          <p:nvPr/>
        </p:nvSpPr>
        <p:spPr>
          <a:xfrm>
            <a:off x="2071670" y="3357562"/>
            <a:ext cx="57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50</a:t>
            </a:r>
            <a:endParaRPr lang="pt-BR" dirty="0"/>
          </a:p>
        </p:txBody>
      </p:sp>
      <p:sp>
        <p:nvSpPr>
          <p:cNvPr id="11" name="CaixaDeTexto 10"/>
          <p:cNvSpPr txBox="1"/>
          <p:nvPr/>
        </p:nvSpPr>
        <p:spPr>
          <a:xfrm>
            <a:off x="714348" y="1500174"/>
            <a:ext cx="3214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 smtClean="0"/>
              <a:t>triangle</a:t>
            </a:r>
            <a:r>
              <a:rPr lang="pt-BR" dirty="0" smtClean="0"/>
              <a:t>(50,50,</a:t>
            </a:r>
            <a:r>
              <a:rPr lang="pt-BR" dirty="0" smtClean="0">
                <a:solidFill>
                  <a:srgbClr val="FF0000"/>
                </a:solidFill>
              </a:rPr>
              <a:t>50</a:t>
            </a:r>
            <a:r>
              <a:rPr lang="pt-BR" dirty="0" smtClean="0"/>
              <a:t>,</a:t>
            </a:r>
            <a:r>
              <a:rPr lang="pt-BR" dirty="0" smtClean="0">
                <a:solidFill>
                  <a:srgbClr val="FF0000"/>
                </a:solidFill>
              </a:rPr>
              <a:t>150</a:t>
            </a:r>
            <a:r>
              <a:rPr lang="pt-BR" dirty="0" smtClean="0"/>
              <a:t>,</a:t>
            </a:r>
            <a:r>
              <a:rPr lang="pt-BR" dirty="0" smtClean="0">
                <a:solidFill>
                  <a:srgbClr val="00B050"/>
                </a:solidFill>
              </a:rPr>
              <a:t>150</a:t>
            </a:r>
            <a:r>
              <a:rPr lang="pt-BR" dirty="0" smtClean="0"/>
              <a:t>,</a:t>
            </a:r>
            <a:r>
              <a:rPr lang="pt-BR" dirty="0" smtClean="0">
                <a:solidFill>
                  <a:srgbClr val="00B050"/>
                </a:solidFill>
              </a:rPr>
              <a:t>50</a:t>
            </a:r>
            <a:r>
              <a:rPr lang="pt-BR" dirty="0" smtClean="0"/>
              <a:t>);</a:t>
            </a:r>
            <a:endParaRPr lang="pt-BR" dirty="0"/>
          </a:p>
        </p:txBody>
      </p:sp>
      <p:cxnSp>
        <p:nvCxnSpPr>
          <p:cNvPr id="23" name="Conector de seta reta 22"/>
          <p:cNvCxnSpPr/>
          <p:nvPr/>
        </p:nvCxnSpPr>
        <p:spPr>
          <a:xfrm>
            <a:off x="1785918" y="4857760"/>
            <a:ext cx="857256" cy="158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/>
          <p:cNvSpPr txBox="1"/>
          <p:nvPr/>
        </p:nvSpPr>
        <p:spPr>
          <a:xfrm>
            <a:off x="1928794" y="3857628"/>
            <a:ext cx="57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rgbClr val="FF0000"/>
                </a:solidFill>
              </a:rPr>
              <a:t>150</a:t>
            </a:r>
            <a:endParaRPr lang="pt-BR" dirty="0">
              <a:solidFill>
                <a:srgbClr val="FF0000"/>
              </a:solidFill>
            </a:endParaRPr>
          </a:p>
        </p:txBody>
      </p:sp>
      <p:sp>
        <p:nvSpPr>
          <p:cNvPr id="30" name="CaixaDeTexto 29"/>
          <p:cNvSpPr txBox="1"/>
          <p:nvPr/>
        </p:nvSpPr>
        <p:spPr>
          <a:xfrm>
            <a:off x="1928794" y="5000636"/>
            <a:ext cx="57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rgbClr val="FF0000"/>
                </a:solidFill>
              </a:rPr>
              <a:t>50</a:t>
            </a:r>
            <a:endParaRPr lang="pt-BR" dirty="0">
              <a:solidFill>
                <a:srgbClr val="FF0000"/>
              </a:solidFill>
            </a:endParaRPr>
          </a:p>
        </p:txBody>
      </p:sp>
      <p:sp>
        <p:nvSpPr>
          <p:cNvPr id="19" name="Triângulo retângulo 18"/>
          <p:cNvSpPr/>
          <p:nvPr/>
        </p:nvSpPr>
        <p:spPr>
          <a:xfrm rot="5400000">
            <a:off x="2768190" y="3161108"/>
            <a:ext cx="1643074" cy="1750231"/>
          </a:xfrm>
          <a:prstGeom prst="rt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8" name="Conector de seta reta 27"/>
          <p:cNvCxnSpPr/>
          <p:nvPr/>
        </p:nvCxnSpPr>
        <p:spPr>
          <a:xfrm rot="5400000">
            <a:off x="1429125" y="3571479"/>
            <a:ext cx="2428892" cy="794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de seta reta 34"/>
          <p:cNvCxnSpPr/>
          <p:nvPr/>
        </p:nvCxnSpPr>
        <p:spPr>
          <a:xfrm rot="5400000">
            <a:off x="4071934" y="2786058"/>
            <a:ext cx="714380" cy="1588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de seta reta 36"/>
          <p:cNvCxnSpPr/>
          <p:nvPr/>
        </p:nvCxnSpPr>
        <p:spPr>
          <a:xfrm>
            <a:off x="1785918" y="3286124"/>
            <a:ext cx="2571768" cy="1588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aixaDeTexto 37"/>
          <p:cNvSpPr txBox="1"/>
          <p:nvPr/>
        </p:nvSpPr>
        <p:spPr>
          <a:xfrm>
            <a:off x="2786050" y="3357562"/>
            <a:ext cx="57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rgbClr val="00B050"/>
                </a:solidFill>
              </a:rPr>
              <a:t>150</a:t>
            </a:r>
            <a:endParaRPr lang="pt-BR" dirty="0">
              <a:solidFill>
                <a:srgbClr val="00B050"/>
              </a:solidFill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4500562" y="2643182"/>
            <a:ext cx="57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rgbClr val="00B050"/>
                </a:solidFill>
              </a:rPr>
              <a:t>50</a:t>
            </a:r>
            <a:endParaRPr lang="pt-BR" dirty="0">
              <a:solidFill>
                <a:srgbClr val="00B05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6" grpId="0"/>
      <p:bldP spid="17" grpId="0"/>
      <p:bldP spid="11" grpId="0"/>
      <p:bldP spid="26" grpId="0"/>
      <p:bldP spid="30" grpId="0"/>
      <p:bldP spid="19" grpId="0" animBg="1"/>
      <p:bldP spid="38" grpId="0"/>
      <p:bldP spid="3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de cantos arredondados 5"/>
          <p:cNvSpPr/>
          <p:nvPr/>
        </p:nvSpPr>
        <p:spPr>
          <a:xfrm>
            <a:off x="1214414" y="214290"/>
            <a:ext cx="7715304" cy="642942"/>
          </a:xfrm>
          <a:prstGeom prst="roundRect">
            <a:avLst/>
          </a:prstGeom>
          <a:solidFill>
            <a:schemeClr val="tx1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dirty="0" err="1">
                <a:latin typeface="Times New Roman" pitchFamily="18" charset="0"/>
                <a:cs typeface="Times New Roman" pitchFamily="18" charset="0"/>
              </a:rPr>
              <a:t>Aplicações:quad</a:t>
            </a:r>
            <a:r>
              <a:rPr lang="pt-BR" sz="3200" dirty="0">
                <a:latin typeface="Times New Roman" pitchFamily="18" charset="0"/>
                <a:cs typeface="Times New Roman" pitchFamily="18" charset="0"/>
              </a:rPr>
              <a:t>(x1,y1,x2,y2,x3,y3,x4,y4</a:t>
            </a:r>
            <a:r>
              <a:rPr lang="pt-BR" sz="3200" dirty="0" smtClean="0">
                <a:latin typeface="Times New Roman" pitchFamily="18" charset="0"/>
                <a:cs typeface="Times New Roman" pitchFamily="18" charset="0"/>
              </a:rPr>
              <a:t>);</a:t>
            </a:r>
            <a:endParaRPr lang="pt-BR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50" name="AutoShape 2" descr="http://arduino.cc/en/uploads/Main/ArduinoUno_R3_Front_450px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 dirty="0"/>
          </a:p>
        </p:txBody>
      </p:sp>
      <p:pic>
        <p:nvPicPr>
          <p:cNvPr id="7" name="Picture 5" descr="C:\Users\prof.MiltonRocha\Desktop\2000px-Processing_Logo_Clipped.svg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4282" y="142852"/>
            <a:ext cx="857232" cy="857232"/>
          </a:xfrm>
          <a:prstGeom prst="rect">
            <a:avLst/>
          </a:prstGeom>
          <a:noFill/>
        </p:spPr>
      </p:pic>
      <p:sp>
        <p:nvSpPr>
          <p:cNvPr id="8" name="CaixaDeTexto 7"/>
          <p:cNvSpPr txBox="1"/>
          <p:nvPr/>
        </p:nvSpPr>
        <p:spPr>
          <a:xfrm>
            <a:off x="714348" y="1142984"/>
            <a:ext cx="1500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 smtClean="0"/>
              <a:t>size</a:t>
            </a:r>
            <a:r>
              <a:rPr lang="pt-BR" dirty="0" smtClean="0"/>
              <a:t>(400,200);</a:t>
            </a:r>
            <a:endParaRPr lang="pt-BR" dirty="0"/>
          </a:p>
        </p:txBody>
      </p:sp>
      <p:sp>
        <p:nvSpPr>
          <p:cNvPr id="10" name="Retângulo 9"/>
          <p:cNvSpPr/>
          <p:nvPr/>
        </p:nvSpPr>
        <p:spPr>
          <a:xfrm>
            <a:off x="1785918" y="2428868"/>
            <a:ext cx="6429420" cy="3214710"/>
          </a:xfrm>
          <a:prstGeom prst="rect">
            <a:avLst/>
          </a:prstGeom>
          <a:solidFill>
            <a:schemeClr val="bg1"/>
          </a:solidFill>
          <a:ln>
            <a:solidFill>
              <a:srgbClr val="090B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2" name="Conector de seta reta 11"/>
          <p:cNvCxnSpPr/>
          <p:nvPr/>
        </p:nvCxnSpPr>
        <p:spPr>
          <a:xfrm rot="5400000">
            <a:off x="2357819" y="2785661"/>
            <a:ext cx="714380" cy="79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/>
          <p:nvPr/>
        </p:nvCxnSpPr>
        <p:spPr>
          <a:xfrm>
            <a:off x="1785918" y="3214686"/>
            <a:ext cx="857256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/>
          <p:cNvSpPr txBox="1"/>
          <p:nvPr/>
        </p:nvSpPr>
        <p:spPr>
          <a:xfrm>
            <a:off x="2714612" y="2643182"/>
            <a:ext cx="57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50</a:t>
            </a:r>
            <a:endParaRPr lang="pt-BR" dirty="0"/>
          </a:p>
        </p:txBody>
      </p:sp>
      <p:sp>
        <p:nvSpPr>
          <p:cNvPr id="17" name="CaixaDeTexto 16"/>
          <p:cNvSpPr txBox="1"/>
          <p:nvPr/>
        </p:nvSpPr>
        <p:spPr>
          <a:xfrm>
            <a:off x="2071670" y="3357562"/>
            <a:ext cx="57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50</a:t>
            </a:r>
            <a:endParaRPr lang="pt-BR" dirty="0"/>
          </a:p>
        </p:txBody>
      </p:sp>
      <p:sp>
        <p:nvSpPr>
          <p:cNvPr id="11" name="CaixaDeTexto 10"/>
          <p:cNvSpPr txBox="1"/>
          <p:nvPr/>
        </p:nvSpPr>
        <p:spPr>
          <a:xfrm>
            <a:off x="714348" y="1500174"/>
            <a:ext cx="3643338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dirty="0" err="1" smtClean="0"/>
              <a:t>quad</a:t>
            </a:r>
            <a:r>
              <a:rPr lang="pt-BR" dirty="0" smtClean="0"/>
              <a:t>(50,50,</a:t>
            </a:r>
            <a:r>
              <a:rPr lang="pt-BR" dirty="0" smtClean="0">
                <a:solidFill>
                  <a:srgbClr val="FF0000"/>
                </a:solidFill>
              </a:rPr>
              <a:t>50</a:t>
            </a:r>
            <a:r>
              <a:rPr lang="pt-BR" dirty="0" smtClean="0"/>
              <a:t>,</a:t>
            </a:r>
            <a:r>
              <a:rPr lang="pt-BR" dirty="0" smtClean="0">
                <a:solidFill>
                  <a:srgbClr val="FF0000"/>
                </a:solidFill>
              </a:rPr>
              <a:t>150</a:t>
            </a:r>
            <a:r>
              <a:rPr lang="pt-BR" dirty="0" smtClean="0"/>
              <a:t>,</a:t>
            </a:r>
            <a:r>
              <a:rPr lang="pt-BR" dirty="0" smtClean="0">
                <a:solidFill>
                  <a:srgbClr val="00B050"/>
                </a:solidFill>
              </a:rPr>
              <a:t>150</a:t>
            </a:r>
            <a:r>
              <a:rPr lang="pt-BR" dirty="0" smtClean="0"/>
              <a:t>,1</a:t>
            </a:r>
            <a:r>
              <a:rPr lang="pt-BR" dirty="0" smtClean="0">
                <a:solidFill>
                  <a:srgbClr val="00B050"/>
                </a:solidFill>
              </a:rPr>
              <a:t>50</a:t>
            </a:r>
            <a:r>
              <a:rPr lang="pt-BR" dirty="0" smtClean="0">
                <a:solidFill>
                  <a:sysClr val="windowText" lastClr="000000"/>
                </a:solidFill>
              </a:rPr>
              <a:t>,</a:t>
            </a:r>
            <a:r>
              <a:rPr lang="pt-BR" dirty="0" smtClean="0">
                <a:solidFill>
                  <a:schemeClr val="accent1"/>
                </a:solidFill>
              </a:rPr>
              <a:t>150</a:t>
            </a:r>
            <a:r>
              <a:rPr lang="pt-BR" dirty="0" smtClean="0">
                <a:solidFill>
                  <a:sysClr val="windowText" lastClr="000000"/>
                </a:solidFill>
              </a:rPr>
              <a:t>,</a:t>
            </a:r>
            <a:r>
              <a:rPr lang="pt-BR" dirty="0" smtClean="0">
                <a:solidFill>
                  <a:schemeClr val="accent1"/>
                </a:solidFill>
              </a:rPr>
              <a:t>50</a:t>
            </a:r>
            <a:r>
              <a:rPr lang="pt-BR" dirty="0" smtClean="0"/>
              <a:t>);</a:t>
            </a:r>
            <a:endParaRPr lang="pt-BR" dirty="0"/>
          </a:p>
        </p:txBody>
      </p:sp>
      <p:cxnSp>
        <p:nvCxnSpPr>
          <p:cNvPr id="23" name="Conector de seta reta 22"/>
          <p:cNvCxnSpPr/>
          <p:nvPr/>
        </p:nvCxnSpPr>
        <p:spPr>
          <a:xfrm>
            <a:off x="1785918" y="4857760"/>
            <a:ext cx="857256" cy="158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/>
          <p:cNvSpPr txBox="1"/>
          <p:nvPr/>
        </p:nvSpPr>
        <p:spPr>
          <a:xfrm>
            <a:off x="1928794" y="3857628"/>
            <a:ext cx="57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rgbClr val="FF0000"/>
                </a:solidFill>
              </a:rPr>
              <a:t>150</a:t>
            </a:r>
            <a:endParaRPr lang="pt-BR" dirty="0">
              <a:solidFill>
                <a:srgbClr val="FF0000"/>
              </a:solidFill>
            </a:endParaRPr>
          </a:p>
        </p:txBody>
      </p:sp>
      <p:sp>
        <p:nvSpPr>
          <p:cNvPr id="30" name="CaixaDeTexto 29"/>
          <p:cNvSpPr txBox="1"/>
          <p:nvPr/>
        </p:nvSpPr>
        <p:spPr>
          <a:xfrm>
            <a:off x="1928794" y="5000636"/>
            <a:ext cx="57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rgbClr val="FF0000"/>
                </a:solidFill>
              </a:rPr>
              <a:t>50</a:t>
            </a:r>
            <a:endParaRPr lang="pt-BR" dirty="0">
              <a:solidFill>
                <a:srgbClr val="FF0000"/>
              </a:solidFill>
            </a:endParaRPr>
          </a:p>
        </p:txBody>
      </p:sp>
      <p:cxnSp>
        <p:nvCxnSpPr>
          <p:cNvPr id="28" name="Conector de seta reta 27"/>
          <p:cNvCxnSpPr/>
          <p:nvPr/>
        </p:nvCxnSpPr>
        <p:spPr>
          <a:xfrm rot="5400000">
            <a:off x="1429125" y="3571479"/>
            <a:ext cx="2428892" cy="794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de seta reta 34"/>
          <p:cNvCxnSpPr/>
          <p:nvPr/>
        </p:nvCxnSpPr>
        <p:spPr>
          <a:xfrm rot="5400000">
            <a:off x="4071934" y="2786058"/>
            <a:ext cx="714380" cy="1588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de seta reta 36"/>
          <p:cNvCxnSpPr/>
          <p:nvPr/>
        </p:nvCxnSpPr>
        <p:spPr>
          <a:xfrm>
            <a:off x="1785918" y="3286124"/>
            <a:ext cx="2571768" cy="1588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aixaDeTexto 37"/>
          <p:cNvSpPr txBox="1"/>
          <p:nvPr/>
        </p:nvSpPr>
        <p:spPr>
          <a:xfrm>
            <a:off x="2786050" y="3357562"/>
            <a:ext cx="57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rgbClr val="00B050"/>
                </a:solidFill>
              </a:rPr>
              <a:t>150</a:t>
            </a:r>
            <a:endParaRPr lang="pt-BR" dirty="0">
              <a:solidFill>
                <a:srgbClr val="00B050"/>
              </a:solidFill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4500562" y="2643182"/>
            <a:ext cx="57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rgbClr val="00B050"/>
                </a:solidFill>
              </a:rPr>
              <a:t>50</a:t>
            </a:r>
            <a:endParaRPr lang="pt-BR" dirty="0">
              <a:solidFill>
                <a:srgbClr val="00B050"/>
              </a:solidFill>
            </a:endParaRPr>
          </a:p>
        </p:txBody>
      </p:sp>
      <p:sp>
        <p:nvSpPr>
          <p:cNvPr id="21" name="Retângulo 20"/>
          <p:cNvSpPr/>
          <p:nvPr/>
        </p:nvSpPr>
        <p:spPr>
          <a:xfrm>
            <a:off x="2714612" y="3214686"/>
            <a:ext cx="1714512" cy="164307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4" name="Conector de seta reta 23"/>
          <p:cNvCxnSpPr/>
          <p:nvPr/>
        </p:nvCxnSpPr>
        <p:spPr>
          <a:xfrm>
            <a:off x="1785918" y="4786322"/>
            <a:ext cx="2571768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/>
          <p:nvPr/>
        </p:nvCxnSpPr>
        <p:spPr>
          <a:xfrm rot="5400000">
            <a:off x="3286116" y="3571876"/>
            <a:ext cx="214314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aixaDeTexto 28"/>
          <p:cNvSpPr txBox="1"/>
          <p:nvPr/>
        </p:nvSpPr>
        <p:spPr>
          <a:xfrm>
            <a:off x="4500562" y="3714752"/>
            <a:ext cx="57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accent1"/>
                </a:solidFill>
              </a:rPr>
              <a:t>150</a:t>
            </a:r>
            <a:endParaRPr lang="pt-BR" dirty="0">
              <a:solidFill>
                <a:schemeClr val="accent1"/>
              </a:solidFill>
            </a:endParaRPr>
          </a:p>
        </p:txBody>
      </p:sp>
      <p:sp>
        <p:nvSpPr>
          <p:cNvPr id="31" name="CaixaDeTexto 30"/>
          <p:cNvSpPr txBox="1"/>
          <p:nvPr/>
        </p:nvSpPr>
        <p:spPr>
          <a:xfrm>
            <a:off x="3000364" y="4357694"/>
            <a:ext cx="57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accent1"/>
                </a:solidFill>
              </a:rPr>
              <a:t>150</a:t>
            </a:r>
            <a:endParaRPr lang="pt-BR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6" grpId="0"/>
      <p:bldP spid="17" grpId="0"/>
      <p:bldP spid="11" grpId="0"/>
      <p:bldP spid="26" grpId="0"/>
      <p:bldP spid="30" grpId="0"/>
      <p:bldP spid="38" grpId="0"/>
      <p:bldP spid="39" grpId="0"/>
      <p:bldP spid="21" grpId="0" animBg="1"/>
      <p:bldP spid="29" grpId="0"/>
      <p:bldP spid="3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de cantos arredondados 5"/>
          <p:cNvSpPr/>
          <p:nvPr/>
        </p:nvSpPr>
        <p:spPr>
          <a:xfrm>
            <a:off x="1214414" y="214290"/>
            <a:ext cx="7715304" cy="642942"/>
          </a:xfrm>
          <a:prstGeom prst="roundRect">
            <a:avLst/>
          </a:prstGeom>
          <a:solidFill>
            <a:schemeClr val="tx1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>
                <a:latin typeface="Times New Roman" pitchFamily="18" charset="0"/>
                <a:cs typeface="Times New Roman" pitchFamily="18" charset="0"/>
              </a:rPr>
              <a:t>Aplicações</a:t>
            </a:r>
            <a:r>
              <a:rPr lang="pt-BR" sz="4000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pt-BR" sz="4000" dirty="0" err="1" smtClean="0">
                <a:latin typeface="Times New Roman" pitchFamily="18" charset="0"/>
                <a:cs typeface="Times New Roman" pitchFamily="18" charset="0"/>
              </a:rPr>
              <a:t>rect</a:t>
            </a:r>
            <a:r>
              <a:rPr lang="pt-BR" sz="4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pt-BR" sz="4000" dirty="0" err="1" smtClean="0">
                <a:latin typeface="Times New Roman" pitchFamily="18" charset="0"/>
                <a:cs typeface="Times New Roman" pitchFamily="18" charset="0"/>
              </a:rPr>
              <a:t>x,y,largura,altura</a:t>
            </a:r>
            <a:r>
              <a:rPr lang="pt-BR" sz="4000" dirty="0" smtClean="0">
                <a:latin typeface="Times New Roman" pitchFamily="18" charset="0"/>
                <a:cs typeface="Times New Roman" pitchFamily="18" charset="0"/>
              </a:rPr>
              <a:t>);</a:t>
            </a:r>
            <a:endParaRPr lang="pt-BR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50" name="AutoShape 2" descr="http://arduino.cc/en/uploads/Main/ArduinoUno_R3_Front_450px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 dirty="0"/>
          </a:p>
        </p:txBody>
      </p:sp>
      <p:pic>
        <p:nvPicPr>
          <p:cNvPr id="7" name="Picture 5" descr="C:\Users\prof.MiltonRocha\Desktop\2000px-Processing_Logo_Clipped.svg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4282" y="142852"/>
            <a:ext cx="857232" cy="857232"/>
          </a:xfrm>
          <a:prstGeom prst="rect">
            <a:avLst/>
          </a:prstGeom>
          <a:noFill/>
        </p:spPr>
      </p:pic>
      <p:sp>
        <p:nvSpPr>
          <p:cNvPr id="8" name="CaixaDeTexto 7"/>
          <p:cNvSpPr txBox="1"/>
          <p:nvPr/>
        </p:nvSpPr>
        <p:spPr>
          <a:xfrm>
            <a:off x="714348" y="1142984"/>
            <a:ext cx="1500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 smtClean="0"/>
              <a:t>size</a:t>
            </a:r>
            <a:r>
              <a:rPr lang="pt-BR" dirty="0" smtClean="0"/>
              <a:t>(400,200);</a:t>
            </a:r>
            <a:endParaRPr lang="pt-BR" dirty="0"/>
          </a:p>
        </p:txBody>
      </p:sp>
      <p:sp>
        <p:nvSpPr>
          <p:cNvPr id="10" name="Retângulo 9"/>
          <p:cNvSpPr/>
          <p:nvPr/>
        </p:nvSpPr>
        <p:spPr>
          <a:xfrm>
            <a:off x="1785918" y="2428868"/>
            <a:ext cx="6429420" cy="3214710"/>
          </a:xfrm>
          <a:prstGeom prst="rect">
            <a:avLst/>
          </a:prstGeom>
          <a:solidFill>
            <a:schemeClr val="bg1"/>
          </a:solidFill>
          <a:ln>
            <a:solidFill>
              <a:srgbClr val="090B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2" name="Conector de seta reta 11"/>
          <p:cNvCxnSpPr/>
          <p:nvPr/>
        </p:nvCxnSpPr>
        <p:spPr>
          <a:xfrm rot="5400000">
            <a:off x="2357819" y="2785661"/>
            <a:ext cx="714380" cy="79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/>
          <p:nvPr/>
        </p:nvCxnSpPr>
        <p:spPr>
          <a:xfrm>
            <a:off x="1785918" y="3214686"/>
            <a:ext cx="857256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/>
          <p:cNvSpPr txBox="1"/>
          <p:nvPr/>
        </p:nvSpPr>
        <p:spPr>
          <a:xfrm>
            <a:off x="2714612" y="2643182"/>
            <a:ext cx="57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50</a:t>
            </a:r>
            <a:endParaRPr lang="pt-BR" dirty="0"/>
          </a:p>
        </p:txBody>
      </p:sp>
      <p:sp>
        <p:nvSpPr>
          <p:cNvPr id="17" name="CaixaDeTexto 16"/>
          <p:cNvSpPr txBox="1"/>
          <p:nvPr/>
        </p:nvSpPr>
        <p:spPr>
          <a:xfrm>
            <a:off x="2071670" y="3357562"/>
            <a:ext cx="57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50</a:t>
            </a:r>
            <a:endParaRPr lang="pt-BR" dirty="0"/>
          </a:p>
        </p:txBody>
      </p:sp>
      <p:sp>
        <p:nvSpPr>
          <p:cNvPr id="11" name="CaixaDeTexto 10"/>
          <p:cNvSpPr txBox="1"/>
          <p:nvPr/>
        </p:nvSpPr>
        <p:spPr>
          <a:xfrm>
            <a:off x="714348" y="1500174"/>
            <a:ext cx="3643338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dirty="0" err="1" smtClean="0"/>
              <a:t>rect</a:t>
            </a:r>
            <a:r>
              <a:rPr lang="pt-BR" dirty="0" smtClean="0"/>
              <a:t>(50,50,</a:t>
            </a:r>
            <a:r>
              <a:rPr lang="pt-BR" dirty="0" smtClean="0">
                <a:solidFill>
                  <a:srgbClr val="FF0000"/>
                </a:solidFill>
              </a:rPr>
              <a:t>300</a:t>
            </a:r>
            <a:r>
              <a:rPr lang="pt-BR" dirty="0" smtClean="0"/>
              <a:t>,</a:t>
            </a:r>
            <a:r>
              <a:rPr lang="pt-BR" dirty="0" smtClean="0">
                <a:solidFill>
                  <a:srgbClr val="FF0000"/>
                </a:solidFill>
              </a:rPr>
              <a:t>100</a:t>
            </a:r>
            <a:r>
              <a:rPr lang="pt-BR" dirty="0" smtClean="0"/>
              <a:t>);</a:t>
            </a:r>
            <a:endParaRPr lang="pt-BR" dirty="0"/>
          </a:p>
        </p:txBody>
      </p:sp>
      <p:sp>
        <p:nvSpPr>
          <p:cNvPr id="21" name="Retângulo 20"/>
          <p:cNvSpPr/>
          <p:nvPr/>
        </p:nvSpPr>
        <p:spPr>
          <a:xfrm>
            <a:off x="2714612" y="3214686"/>
            <a:ext cx="4429156" cy="164307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Elipse 24"/>
          <p:cNvSpPr/>
          <p:nvPr/>
        </p:nvSpPr>
        <p:spPr>
          <a:xfrm>
            <a:off x="2643174" y="3143248"/>
            <a:ext cx="142876" cy="14287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3" name="Conector de seta reta 32"/>
          <p:cNvCxnSpPr>
            <a:stCxn id="25" idx="4"/>
          </p:cNvCxnSpPr>
          <p:nvPr/>
        </p:nvCxnSpPr>
        <p:spPr>
          <a:xfrm rot="16200000" flipH="1">
            <a:off x="4928396" y="1072340"/>
            <a:ext cx="1588" cy="442915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1" name="CaixaDeTexto 40"/>
          <p:cNvSpPr txBox="1"/>
          <p:nvPr/>
        </p:nvSpPr>
        <p:spPr>
          <a:xfrm>
            <a:off x="4500562" y="2786058"/>
            <a:ext cx="57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rgbClr val="FF0000"/>
                </a:solidFill>
              </a:rPr>
              <a:t>300</a:t>
            </a:r>
            <a:endParaRPr lang="pt-BR" dirty="0">
              <a:solidFill>
                <a:srgbClr val="FF0000"/>
              </a:solidFill>
            </a:endParaRPr>
          </a:p>
        </p:txBody>
      </p:sp>
      <p:sp>
        <p:nvSpPr>
          <p:cNvPr id="42" name="CaixaDeTexto 41"/>
          <p:cNvSpPr txBox="1"/>
          <p:nvPr/>
        </p:nvSpPr>
        <p:spPr>
          <a:xfrm>
            <a:off x="2857488" y="3857628"/>
            <a:ext cx="57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rgbClr val="FF0000"/>
                </a:solidFill>
              </a:rPr>
              <a:t>100</a:t>
            </a:r>
            <a:endParaRPr lang="pt-BR" dirty="0">
              <a:solidFill>
                <a:srgbClr val="FF0000"/>
              </a:solidFill>
            </a:endParaRPr>
          </a:p>
        </p:txBody>
      </p:sp>
      <p:cxnSp>
        <p:nvCxnSpPr>
          <p:cNvPr id="48" name="Conector de seta reta 47"/>
          <p:cNvCxnSpPr/>
          <p:nvPr/>
        </p:nvCxnSpPr>
        <p:spPr>
          <a:xfrm rot="5400000">
            <a:off x="2000232" y="4071942"/>
            <a:ext cx="1571636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6" grpId="0"/>
      <p:bldP spid="17" grpId="0"/>
      <p:bldP spid="11" grpId="0"/>
      <p:bldP spid="21" grpId="0" animBg="1"/>
      <p:bldP spid="25" grpId="0" animBg="1"/>
      <p:bldP spid="41" grpId="0"/>
      <p:bldP spid="4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de cantos arredondados 5"/>
          <p:cNvSpPr/>
          <p:nvPr/>
        </p:nvSpPr>
        <p:spPr>
          <a:xfrm>
            <a:off x="1214414" y="214290"/>
            <a:ext cx="7715304" cy="642942"/>
          </a:xfrm>
          <a:prstGeom prst="roundRect">
            <a:avLst/>
          </a:prstGeom>
          <a:solidFill>
            <a:schemeClr val="tx1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dirty="0" err="1">
                <a:latin typeface="Times New Roman" pitchFamily="18" charset="0"/>
                <a:cs typeface="Times New Roman" pitchFamily="18" charset="0"/>
              </a:rPr>
              <a:t>Aplicações:ellipse</a:t>
            </a:r>
            <a:r>
              <a:rPr lang="pt-BR" sz="36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pt-BR" sz="3600" dirty="0" err="1">
                <a:latin typeface="Times New Roman" pitchFamily="18" charset="0"/>
                <a:cs typeface="Times New Roman" pitchFamily="18" charset="0"/>
              </a:rPr>
              <a:t>x,y,largura,altura</a:t>
            </a:r>
            <a:r>
              <a:rPr lang="pt-BR" sz="3600" dirty="0" smtClean="0">
                <a:latin typeface="Times New Roman" pitchFamily="18" charset="0"/>
                <a:cs typeface="Times New Roman" pitchFamily="18" charset="0"/>
              </a:rPr>
              <a:t>);</a:t>
            </a:r>
            <a:endParaRPr lang="pt-BR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50" name="AutoShape 2" descr="http://arduino.cc/en/uploads/Main/ArduinoUno_R3_Front_450px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 dirty="0"/>
          </a:p>
        </p:txBody>
      </p:sp>
      <p:pic>
        <p:nvPicPr>
          <p:cNvPr id="7" name="Picture 5" descr="C:\Users\prof.MiltonRocha\Desktop\2000px-Processing_Logo_Clipped.svg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4282" y="142852"/>
            <a:ext cx="857232" cy="857232"/>
          </a:xfrm>
          <a:prstGeom prst="rect">
            <a:avLst/>
          </a:prstGeom>
          <a:noFill/>
        </p:spPr>
      </p:pic>
      <p:sp>
        <p:nvSpPr>
          <p:cNvPr id="8" name="CaixaDeTexto 7"/>
          <p:cNvSpPr txBox="1"/>
          <p:nvPr/>
        </p:nvSpPr>
        <p:spPr>
          <a:xfrm>
            <a:off x="714348" y="1142984"/>
            <a:ext cx="1500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 smtClean="0"/>
              <a:t>size</a:t>
            </a:r>
            <a:r>
              <a:rPr lang="pt-BR" dirty="0" smtClean="0"/>
              <a:t>(400,200);</a:t>
            </a:r>
            <a:endParaRPr lang="pt-BR" dirty="0"/>
          </a:p>
        </p:txBody>
      </p:sp>
      <p:sp>
        <p:nvSpPr>
          <p:cNvPr id="10" name="Retângulo 9"/>
          <p:cNvSpPr/>
          <p:nvPr/>
        </p:nvSpPr>
        <p:spPr>
          <a:xfrm>
            <a:off x="1785918" y="2428868"/>
            <a:ext cx="6429420" cy="3214710"/>
          </a:xfrm>
          <a:prstGeom prst="rect">
            <a:avLst/>
          </a:prstGeom>
          <a:solidFill>
            <a:schemeClr val="bg1"/>
          </a:solidFill>
          <a:ln>
            <a:solidFill>
              <a:srgbClr val="090B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2" name="Conector de seta reta 11"/>
          <p:cNvCxnSpPr>
            <a:endCxn id="25" idx="0"/>
          </p:cNvCxnSpPr>
          <p:nvPr/>
        </p:nvCxnSpPr>
        <p:spPr>
          <a:xfrm rot="5400000">
            <a:off x="2929323" y="3214289"/>
            <a:ext cx="1571636" cy="79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endCxn id="25" idx="2"/>
          </p:cNvCxnSpPr>
          <p:nvPr/>
        </p:nvCxnSpPr>
        <p:spPr>
          <a:xfrm flipV="1">
            <a:off x="1785918" y="4071942"/>
            <a:ext cx="1857388" cy="2964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/>
          <p:cNvSpPr txBox="1"/>
          <p:nvPr/>
        </p:nvSpPr>
        <p:spPr>
          <a:xfrm>
            <a:off x="3786182" y="3000372"/>
            <a:ext cx="57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100</a:t>
            </a:r>
            <a:endParaRPr lang="pt-BR" dirty="0"/>
          </a:p>
        </p:txBody>
      </p:sp>
      <p:sp>
        <p:nvSpPr>
          <p:cNvPr id="17" name="CaixaDeTexto 16"/>
          <p:cNvSpPr txBox="1"/>
          <p:nvPr/>
        </p:nvSpPr>
        <p:spPr>
          <a:xfrm>
            <a:off x="2214546" y="3714752"/>
            <a:ext cx="57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100</a:t>
            </a:r>
            <a:endParaRPr lang="pt-BR" dirty="0"/>
          </a:p>
        </p:txBody>
      </p:sp>
      <p:sp>
        <p:nvSpPr>
          <p:cNvPr id="11" name="CaixaDeTexto 10"/>
          <p:cNvSpPr txBox="1"/>
          <p:nvPr/>
        </p:nvSpPr>
        <p:spPr>
          <a:xfrm>
            <a:off x="714348" y="1500174"/>
            <a:ext cx="3643338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dirty="0" err="1" smtClean="0"/>
              <a:t>ellipse</a:t>
            </a:r>
            <a:r>
              <a:rPr lang="pt-BR" dirty="0" smtClean="0"/>
              <a:t>(100,100,</a:t>
            </a:r>
            <a:r>
              <a:rPr lang="pt-BR" dirty="0" smtClean="0">
                <a:solidFill>
                  <a:srgbClr val="FF0000"/>
                </a:solidFill>
              </a:rPr>
              <a:t>175</a:t>
            </a:r>
            <a:r>
              <a:rPr lang="pt-BR" dirty="0" smtClean="0"/>
              <a:t>,</a:t>
            </a:r>
            <a:r>
              <a:rPr lang="pt-BR" dirty="0" smtClean="0">
                <a:solidFill>
                  <a:srgbClr val="FF0000"/>
                </a:solidFill>
              </a:rPr>
              <a:t>100</a:t>
            </a:r>
            <a:r>
              <a:rPr lang="pt-BR" dirty="0" smtClean="0"/>
              <a:t>);</a:t>
            </a:r>
            <a:endParaRPr lang="pt-BR" dirty="0"/>
          </a:p>
        </p:txBody>
      </p:sp>
      <p:sp>
        <p:nvSpPr>
          <p:cNvPr id="25" name="Elipse 24"/>
          <p:cNvSpPr/>
          <p:nvPr/>
        </p:nvSpPr>
        <p:spPr>
          <a:xfrm>
            <a:off x="3643306" y="4000504"/>
            <a:ext cx="142876" cy="14287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3" name="Conector de seta reta 32"/>
          <p:cNvCxnSpPr>
            <a:stCxn id="26" idx="2"/>
          </p:cNvCxnSpPr>
          <p:nvPr/>
        </p:nvCxnSpPr>
        <p:spPr>
          <a:xfrm rot="10800000" flipH="1">
            <a:off x="2214546" y="4002093"/>
            <a:ext cx="2928958" cy="3413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1" name="CaixaDeTexto 40"/>
          <p:cNvSpPr txBox="1"/>
          <p:nvPr/>
        </p:nvSpPr>
        <p:spPr>
          <a:xfrm>
            <a:off x="3000364" y="4429132"/>
            <a:ext cx="57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rgbClr val="FF0000"/>
                </a:solidFill>
              </a:rPr>
              <a:t>175</a:t>
            </a:r>
            <a:endParaRPr lang="pt-BR" dirty="0">
              <a:solidFill>
                <a:srgbClr val="FF0000"/>
              </a:solidFill>
            </a:endParaRPr>
          </a:p>
        </p:txBody>
      </p:sp>
      <p:sp>
        <p:nvSpPr>
          <p:cNvPr id="42" name="CaixaDeTexto 41"/>
          <p:cNvSpPr txBox="1"/>
          <p:nvPr/>
        </p:nvSpPr>
        <p:spPr>
          <a:xfrm>
            <a:off x="3857620" y="3643314"/>
            <a:ext cx="57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rgbClr val="FF0000"/>
                </a:solidFill>
              </a:rPr>
              <a:t>100</a:t>
            </a:r>
            <a:endParaRPr lang="pt-BR" dirty="0">
              <a:solidFill>
                <a:srgbClr val="FF0000"/>
              </a:solidFill>
            </a:endParaRPr>
          </a:p>
        </p:txBody>
      </p:sp>
      <p:cxnSp>
        <p:nvCxnSpPr>
          <p:cNvPr id="48" name="Conector de seta reta 47"/>
          <p:cNvCxnSpPr>
            <a:stCxn id="16" idx="1"/>
          </p:cNvCxnSpPr>
          <p:nvPr/>
        </p:nvCxnSpPr>
        <p:spPr>
          <a:xfrm rot="10800000" flipV="1">
            <a:off x="3786182" y="3185038"/>
            <a:ext cx="1588" cy="174416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6" name="Elipse 25"/>
          <p:cNvSpPr/>
          <p:nvPr/>
        </p:nvSpPr>
        <p:spPr>
          <a:xfrm>
            <a:off x="2214546" y="3143248"/>
            <a:ext cx="2928958" cy="1785950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6" grpId="0"/>
      <p:bldP spid="17" grpId="0"/>
      <p:bldP spid="11" grpId="0"/>
      <p:bldP spid="25" grpId="0" animBg="1"/>
      <p:bldP spid="41" grpId="0"/>
      <p:bldP spid="42" grpId="0"/>
      <p:bldP spid="2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de cantos arredondados 5"/>
          <p:cNvSpPr/>
          <p:nvPr/>
        </p:nvSpPr>
        <p:spPr>
          <a:xfrm>
            <a:off x="1214414" y="214290"/>
            <a:ext cx="7715304" cy="642942"/>
          </a:xfrm>
          <a:prstGeom prst="roundRect">
            <a:avLst/>
          </a:prstGeom>
          <a:solidFill>
            <a:schemeClr val="tx1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dirty="0" err="1">
                <a:latin typeface="Times New Roman" pitchFamily="18" charset="0"/>
                <a:cs typeface="Times New Roman" pitchFamily="18" charset="0"/>
              </a:rPr>
              <a:t>Aplicações:arc</a:t>
            </a:r>
            <a:r>
              <a:rPr lang="pt-BR" sz="32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pt-BR" sz="3200" dirty="0" err="1">
                <a:latin typeface="Times New Roman" pitchFamily="18" charset="0"/>
                <a:cs typeface="Times New Roman" pitchFamily="18" charset="0"/>
              </a:rPr>
              <a:t>x,y,largura,altura,início,fim</a:t>
            </a:r>
            <a:r>
              <a:rPr lang="pt-BR" sz="3200" dirty="0" smtClean="0">
                <a:latin typeface="Times New Roman" pitchFamily="18" charset="0"/>
                <a:cs typeface="Times New Roman" pitchFamily="18" charset="0"/>
              </a:rPr>
              <a:t>);</a:t>
            </a:r>
            <a:endParaRPr lang="pt-BR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50" name="AutoShape 2" descr="http://arduino.cc/en/uploads/Main/ArduinoUno_R3_Front_450px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 dirty="0"/>
          </a:p>
        </p:txBody>
      </p:sp>
      <p:pic>
        <p:nvPicPr>
          <p:cNvPr id="7" name="Picture 5" descr="C:\Users\prof.MiltonRocha\Desktop\2000px-Processing_Logo_Clipped.svg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4282" y="142852"/>
            <a:ext cx="857232" cy="857232"/>
          </a:xfrm>
          <a:prstGeom prst="rect">
            <a:avLst/>
          </a:prstGeom>
          <a:noFill/>
        </p:spPr>
      </p:pic>
      <p:sp>
        <p:nvSpPr>
          <p:cNvPr id="8" name="CaixaDeTexto 7"/>
          <p:cNvSpPr txBox="1"/>
          <p:nvPr/>
        </p:nvSpPr>
        <p:spPr>
          <a:xfrm>
            <a:off x="714348" y="1142984"/>
            <a:ext cx="1500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 smtClean="0"/>
              <a:t>size</a:t>
            </a:r>
            <a:r>
              <a:rPr lang="pt-BR" dirty="0" smtClean="0"/>
              <a:t>(400,200);</a:t>
            </a:r>
            <a:endParaRPr lang="pt-BR" dirty="0"/>
          </a:p>
        </p:txBody>
      </p:sp>
      <p:sp>
        <p:nvSpPr>
          <p:cNvPr id="10" name="Retângulo 9"/>
          <p:cNvSpPr/>
          <p:nvPr/>
        </p:nvSpPr>
        <p:spPr>
          <a:xfrm>
            <a:off x="1785918" y="2428868"/>
            <a:ext cx="6429420" cy="3214710"/>
          </a:xfrm>
          <a:prstGeom prst="rect">
            <a:avLst/>
          </a:prstGeom>
          <a:solidFill>
            <a:schemeClr val="bg1"/>
          </a:solidFill>
          <a:ln>
            <a:solidFill>
              <a:srgbClr val="090B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2" name="Conector de seta reta 11"/>
          <p:cNvCxnSpPr>
            <a:endCxn id="25" idx="0"/>
          </p:cNvCxnSpPr>
          <p:nvPr/>
        </p:nvCxnSpPr>
        <p:spPr>
          <a:xfrm rot="5400000">
            <a:off x="2429257" y="3214289"/>
            <a:ext cx="1571636" cy="79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/>
          <p:nvPr/>
        </p:nvCxnSpPr>
        <p:spPr>
          <a:xfrm flipV="1">
            <a:off x="1785918" y="4071942"/>
            <a:ext cx="1357322" cy="2964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/>
          <p:cNvSpPr txBox="1"/>
          <p:nvPr/>
        </p:nvSpPr>
        <p:spPr>
          <a:xfrm>
            <a:off x="3286116" y="2714620"/>
            <a:ext cx="57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100</a:t>
            </a:r>
            <a:endParaRPr lang="pt-BR" dirty="0"/>
          </a:p>
        </p:txBody>
      </p:sp>
      <p:sp>
        <p:nvSpPr>
          <p:cNvPr id="17" name="CaixaDeTexto 16"/>
          <p:cNvSpPr txBox="1"/>
          <p:nvPr/>
        </p:nvSpPr>
        <p:spPr>
          <a:xfrm>
            <a:off x="2214546" y="3714752"/>
            <a:ext cx="57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75</a:t>
            </a:r>
            <a:endParaRPr lang="pt-BR" dirty="0"/>
          </a:p>
        </p:txBody>
      </p:sp>
      <p:sp>
        <p:nvSpPr>
          <p:cNvPr id="11" name="CaixaDeTexto 10"/>
          <p:cNvSpPr txBox="1"/>
          <p:nvPr/>
        </p:nvSpPr>
        <p:spPr>
          <a:xfrm>
            <a:off x="714348" y="1500174"/>
            <a:ext cx="3643338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dirty="0" err="1" smtClean="0"/>
              <a:t>arc</a:t>
            </a:r>
            <a:r>
              <a:rPr lang="pt-BR" dirty="0" smtClean="0"/>
              <a:t>(75,100,</a:t>
            </a:r>
            <a:r>
              <a:rPr lang="pt-BR" dirty="0" smtClean="0">
                <a:solidFill>
                  <a:srgbClr val="FF0000"/>
                </a:solidFill>
              </a:rPr>
              <a:t>100</a:t>
            </a:r>
            <a:r>
              <a:rPr lang="pt-BR" dirty="0" smtClean="0"/>
              <a:t>,</a:t>
            </a:r>
            <a:r>
              <a:rPr lang="pt-BR" dirty="0" smtClean="0">
                <a:solidFill>
                  <a:srgbClr val="FF0000"/>
                </a:solidFill>
              </a:rPr>
              <a:t>100</a:t>
            </a:r>
            <a:r>
              <a:rPr lang="pt-BR" dirty="0" smtClean="0">
                <a:solidFill>
                  <a:sysClr val="windowText" lastClr="000000"/>
                </a:solidFill>
              </a:rPr>
              <a:t>,</a:t>
            </a:r>
            <a:r>
              <a:rPr lang="pt-BR" dirty="0" smtClean="0">
                <a:solidFill>
                  <a:srgbClr val="00B050"/>
                </a:solidFill>
              </a:rPr>
              <a:t>0</a:t>
            </a:r>
            <a:r>
              <a:rPr lang="pt-BR" dirty="0" smtClean="0">
                <a:solidFill>
                  <a:sysClr val="windowText" lastClr="000000"/>
                </a:solidFill>
              </a:rPr>
              <a:t>,</a:t>
            </a:r>
            <a:r>
              <a:rPr lang="pt-BR" dirty="0" smtClean="0">
                <a:solidFill>
                  <a:srgbClr val="00B050"/>
                </a:solidFill>
              </a:rPr>
              <a:t>PI</a:t>
            </a:r>
            <a:r>
              <a:rPr lang="pt-BR" dirty="0" smtClean="0"/>
              <a:t>);</a:t>
            </a:r>
            <a:endParaRPr lang="pt-BR" dirty="0"/>
          </a:p>
        </p:txBody>
      </p:sp>
      <p:sp>
        <p:nvSpPr>
          <p:cNvPr id="25" name="Elipse 24"/>
          <p:cNvSpPr/>
          <p:nvPr/>
        </p:nvSpPr>
        <p:spPr>
          <a:xfrm>
            <a:off x="3143240" y="4000504"/>
            <a:ext cx="142876" cy="14287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/>
          <p:cNvSpPr txBox="1"/>
          <p:nvPr/>
        </p:nvSpPr>
        <p:spPr>
          <a:xfrm>
            <a:off x="714348" y="1857364"/>
            <a:ext cx="3643338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dirty="0" err="1" smtClean="0"/>
              <a:t>arc</a:t>
            </a:r>
            <a:r>
              <a:rPr lang="pt-BR" dirty="0" smtClean="0"/>
              <a:t>(275,100,</a:t>
            </a:r>
            <a:r>
              <a:rPr lang="pt-BR" dirty="0" smtClean="0">
                <a:solidFill>
                  <a:srgbClr val="FF0000"/>
                </a:solidFill>
              </a:rPr>
              <a:t>100</a:t>
            </a:r>
            <a:r>
              <a:rPr lang="pt-BR" dirty="0" smtClean="0"/>
              <a:t>,</a:t>
            </a:r>
            <a:r>
              <a:rPr lang="pt-BR" dirty="0" smtClean="0">
                <a:solidFill>
                  <a:srgbClr val="FF0000"/>
                </a:solidFill>
              </a:rPr>
              <a:t>100</a:t>
            </a:r>
            <a:r>
              <a:rPr lang="pt-BR" dirty="0" smtClean="0">
                <a:solidFill>
                  <a:srgbClr val="090B19"/>
                </a:solidFill>
              </a:rPr>
              <a:t>,</a:t>
            </a:r>
            <a:r>
              <a:rPr lang="pt-BR" dirty="0" smtClean="0">
                <a:solidFill>
                  <a:srgbClr val="00B050"/>
                </a:solidFill>
              </a:rPr>
              <a:t>0</a:t>
            </a:r>
            <a:r>
              <a:rPr lang="pt-BR" dirty="0" smtClean="0">
                <a:solidFill>
                  <a:srgbClr val="090B19"/>
                </a:solidFill>
              </a:rPr>
              <a:t>,</a:t>
            </a:r>
            <a:r>
              <a:rPr lang="pt-BR" dirty="0" err="1" smtClean="0">
                <a:solidFill>
                  <a:srgbClr val="00B050"/>
                </a:solidFill>
              </a:rPr>
              <a:t>radians</a:t>
            </a:r>
            <a:r>
              <a:rPr lang="pt-BR" dirty="0" smtClean="0">
                <a:solidFill>
                  <a:srgbClr val="00B050"/>
                </a:solidFill>
              </a:rPr>
              <a:t>(180)</a:t>
            </a:r>
            <a:r>
              <a:rPr lang="pt-BR" dirty="0" smtClean="0"/>
              <a:t>);</a:t>
            </a:r>
            <a:endParaRPr lang="pt-BR" dirty="0"/>
          </a:p>
        </p:txBody>
      </p:sp>
      <p:sp>
        <p:nvSpPr>
          <p:cNvPr id="22" name="Arco 21"/>
          <p:cNvSpPr/>
          <p:nvPr/>
        </p:nvSpPr>
        <p:spPr>
          <a:xfrm rot="5400000">
            <a:off x="2321703" y="2964653"/>
            <a:ext cx="1928826" cy="2286016"/>
          </a:xfrm>
          <a:prstGeom prst="arc">
            <a:avLst>
              <a:gd name="adj1" fmla="val 16200000"/>
              <a:gd name="adj2" fmla="val 5434498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4" name="Conector de seta reta 23"/>
          <p:cNvCxnSpPr/>
          <p:nvPr/>
        </p:nvCxnSpPr>
        <p:spPr>
          <a:xfrm>
            <a:off x="2214546" y="4000504"/>
            <a:ext cx="2143140" cy="158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/>
          <p:cNvCxnSpPr/>
          <p:nvPr/>
        </p:nvCxnSpPr>
        <p:spPr>
          <a:xfrm rot="5400000">
            <a:off x="2428860" y="4143380"/>
            <a:ext cx="1857388" cy="158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aixaDeTexto 28"/>
          <p:cNvSpPr txBox="1"/>
          <p:nvPr/>
        </p:nvSpPr>
        <p:spPr>
          <a:xfrm>
            <a:off x="3428992" y="3429000"/>
            <a:ext cx="57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rgbClr val="FF0000"/>
                </a:solidFill>
              </a:rPr>
              <a:t>100</a:t>
            </a:r>
            <a:endParaRPr lang="pt-BR" dirty="0">
              <a:solidFill>
                <a:srgbClr val="FF0000"/>
              </a:solidFill>
            </a:endParaRPr>
          </a:p>
        </p:txBody>
      </p:sp>
      <p:sp>
        <p:nvSpPr>
          <p:cNvPr id="30" name="CaixaDeTexto 29"/>
          <p:cNvSpPr txBox="1"/>
          <p:nvPr/>
        </p:nvSpPr>
        <p:spPr>
          <a:xfrm>
            <a:off x="3428992" y="4429132"/>
            <a:ext cx="57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rgbClr val="FF0000"/>
                </a:solidFill>
              </a:rPr>
              <a:t>100</a:t>
            </a:r>
            <a:endParaRPr lang="pt-BR" dirty="0">
              <a:solidFill>
                <a:srgbClr val="FF0000"/>
              </a:solidFill>
            </a:endParaRPr>
          </a:p>
        </p:txBody>
      </p:sp>
      <p:sp>
        <p:nvSpPr>
          <p:cNvPr id="36" name="Seta em curva para a esquerda 35"/>
          <p:cNvSpPr/>
          <p:nvPr/>
        </p:nvSpPr>
        <p:spPr>
          <a:xfrm rot="5400000">
            <a:off x="2893207" y="3536157"/>
            <a:ext cx="857256" cy="2928958"/>
          </a:xfrm>
          <a:prstGeom prst="curvedLeft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37" name="CaixaDeTexto 36"/>
          <p:cNvSpPr txBox="1"/>
          <p:nvPr/>
        </p:nvSpPr>
        <p:spPr>
          <a:xfrm>
            <a:off x="4643438" y="4000504"/>
            <a:ext cx="357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rgbClr val="00B050"/>
                </a:solidFill>
              </a:rPr>
              <a:t>0</a:t>
            </a:r>
            <a:endParaRPr lang="pt-BR" dirty="0">
              <a:solidFill>
                <a:srgbClr val="00B050"/>
              </a:solidFill>
            </a:endParaRPr>
          </a:p>
        </p:txBody>
      </p:sp>
      <p:sp>
        <p:nvSpPr>
          <p:cNvPr id="38" name="CaixaDeTexto 37"/>
          <p:cNvSpPr txBox="1"/>
          <p:nvPr/>
        </p:nvSpPr>
        <p:spPr>
          <a:xfrm>
            <a:off x="1785918" y="4214818"/>
            <a:ext cx="500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rgbClr val="00B050"/>
                </a:solidFill>
              </a:rPr>
              <a:t>PI</a:t>
            </a:r>
            <a:endParaRPr lang="pt-BR" dirty="0">
              <a:solidFill>
                <a:srgbClr val="00B050"/>
              </a:solidFill>
            </a:endParaRPr>
          </a:p>
        </p:txBody>
      </p:sp>
      <p:sp>
        <p:nvSpPr>
          <p:cNvPr id="39" name="Elipse 38"/>
          <p:cNvSpPr/>
          <p:nvPr/>
        </p:nvSpPr>
        <p:spPr>
          <a:xfrm>
            <a:off x="6500826" y="3929066"/>
            <a:ext cx="142876" cy="14287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Arco 42"/>
          <p:cNvSpPr/>
          <p:nvPr/>
        </p:nvSpPr>
        <p:spPr>
          <a:xfrm rot="5400000">
            <a:off x="5607851" y="2893215"/>
            <a:ext cx="1928826" cy="2286016"/>
          </a:xfrm>
          <a:prstGeom prst="arc">
            <a:avLst>
              <a:gd name="adj1" fmla="val 16200000"/>
              <a:gd name="adj2" fmla="val 5434498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6" grpId="0"/>
      <p:bldP spid="17" grpId="0"/>
      <p:bldP spid="11" grpId="0"/>
      <p:bldP spid="25" grpId="0" animBg="1"/>
      <p:bldP spid="18" grpId="0"/>
      <p:bldP spid="22" grpId="0" animBg="1"/>
      <p:bldP spid="29" grpId="0"/>
      <p:bldP spid="30" grpId="0"/>
      <p:bldP spid="36" grpId="0" animBg="1"/>
      <p:bldP spid="37" grpId="0"/>
      <p:bldP spid="38" grpId="0"/>
      <p:bldP spid="39" grpId="0" animBg="1"/>
      <p:bldP spid="4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de cantos arredondados 5"/>
          <p:cNvSpPr/>
          <p:nvPr/>
        </p:nvSpPr>
        <p:spPr>
          <a:xfrm>
            <a:off x="2928926" y="214290"/>
            <a:ext cx="5357850" cy="642942"/>
          </a:xfrm>
          <a:prstGeom prst="roundRect">
            <a:avLst/>
          </a:prstGeom>
          <a:solidFill>
            <a:schemeClr val="tx1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 smtClean="0">
                <a:latin typeface="Times New Roman" pitchFamily="18" charset="0"/>
                <a:cs typeface="Times New Roman" pitchFamily="18" charset="0"/>
              </a:rPr>
              <a:t>OUTRAS FUNÇÕES</a:t>
            </a:r>
            <a:endParaRPr lang="pt-BR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50" name="AutoShape 2" descr="http://arduino.cc/en/uploads/Main/ArduinoUno_R3_Front_450px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 dirty="0"/>
          </a:p>
        </p:txBody>
      </p:sp>
      <p:pic>
        <p:nvPicPr>
          <p:cNvPr id="7" name="Picture 5" descr="C:\Users\prof.MiltonRocha\Desktop\2000px-Processing_Logo_Clipped.svg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28794" y="142852"/>
            <a:ext cx="857232" cy="857232"/>
          </a:xfrm>
          <a:prstGeom prst="rect">
            <a:avLst/>
          </a:prstGeom>
          <a:noFill/>
        </p:spPr>
      </p:pic>
      <p:sp>
        <p:nvSpPr>
          <p:cNvPr id="9" name="Retângulo de cantos arredondados 8"/>
          <p:cNvSpPr/>
          <p:nvPr/>
        </p:nvSpPr>
        <p:spPr>
          <a:xfrm>
            <a:off x="285720" y="1142984"/>
            <a:ext cx="8643998" cy="5214974"/>
          </a:xfrm>
          <a:prstGeom prst="roundRect">
            <a:avLst/>
          </a:prstGeom>
          <a:ln>
            <a:solidFill>
              <a:srgbClr val="090B19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457200" indent="-457200">
              <a:buAutoNum type="arabicPeriod"/>
            </a:pPr>
            <a:r>
              <a:rPr lang="pt-BR" sz="2400" dirty="0" err="1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smooth</a:t>
            </a:r>
            <a:r>
              <a:rPr lang="pt-BR" sz="24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()</a:t>
            </a:r>
          </a:p>
          <a:p>
            <a:pPr marL="457200" indent="-457200">
              <a:buAutoNum type="arabicPeriod"/>
            </a:pPr>
            <a:r>
              <a:rPr lang="pt-BR" sz="2400" dirty="0" err="1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strokeWeight</a:t>
            </a:r>
            <a:r>
              <a:rPr lang="pt-BR" sz="24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()</a:t>
            </a:r>
          </a:p>
          <a:p>
            <a:pPr marL="457200" indent="-457200">
              <a:buAutoNum type="arabicPeriod"/>
            </a:pPr>
            <a:r>
              <a:rPr lang="pt-BR" sz="2400" dirty="0" err="1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strokeJoin</a:t>
            </a:r>
            <a:r>
              <a:rPr lang="pt-BR" sz="24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()</a:t>
            </a:r>
          </a:p>
          <a:p>
            <a:pPr marL="457200" indent="-457200">
              <a:buFontTx/>
              <a:buAutoNum type="arabicPeriod"/>
            </a:pPr>
            <a:r>
              <a:rPr lang="pt-BR" sz="2400" dirty="0" err="1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strokeCap</a:t>
            </a:r>
            <a:r>
              <a:rPr lang="pt-BR" sz="24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()</a:t>
            </a:r>
          </a:p>
          <a:p>
            <a:pPr marL="457200" indent="-457200" algn="ctr">
              <a:buAutoNum type="arabicPeriod"/>
            </a:pPr>
            <a:endParaRPr lang="pt-BR" sz="2400" dirty="0" smtClean="0">
              <a:solidFill>
                <a:srgbClr val="090B19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de cantos arredondados 5"/>
          <p:cNvSpPr/>
          <p:nvPr/>
        </p:nvSpPr>
        <p:spPr>
          <a:xfrm>
            <a:off x="2928926" y="214290"/>
            <a:ext cx="5357850" cy="642942"/>
          </a:xfrm>
          <a:prstGeom prst="roundRect">
            <a:avLst/>
          </a:prstGeom>
          <a:solidFill>
            <a:schemeClr val="tx1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 err="1" smtClean="0">
                <a:latin typeface="Times New Roman" pitchFamily="18" charset="0"/>
                <a:cs typeface="Times New Roman" pitchFamily="18" charset="0"/>
              </a:rPr>
              <a:t>smooth</a:t>
            </a:r>
            <a:r>
              <a:rPr lang="pt-BR" sz="4000" dirty="0" smtClean="0">
                <a:latin typeface="Times New Roman" pitchFamily="18" charset="0"/>
                <a:cs typeface="Times New Roman" pitchFamily="18" charset="0"/>
              </a:rPr>
              <a:t>( )</a:t>
            </a:r>
            <a:endParaRPr lang="pt-BR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50" name="AutoShape 2" descr="http://arduino.cc/en/uploads/Main/ArduinoUno_R3_Front_450px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 dirty="0"/>
          </a:p>
        </p:txBody>
      </p:sp>
      <p:pic>
        <p:nvPicPr>
          <p:cNvPr id="7" name="Picture 5" descr="C:\Users\prof.MiltonRocha\Desktop\2000px-Processing_Logo_Clipped.svg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28794" y="142852"/>
            <a:ext cx="857232" cy="857232"/>
          </a:xfrm>
          <a:prstGeom prst="rect">
            <a:avLst/>
          </a:prstGeom>
          <a:noFill/>
        </p:spPr>
      </p:pic>
      <p:sp>
        <p:nvSpPr>
          <p:cNvPr id="9" name="Retângulo de cantos arredondados 8"/>
          <p:cNvSpPr/>
          <p:nvPr/>
        </p:nvSpPr>
        <p:spPr>
          <a:xfrm>
            <a:off x="285720" y="1142984"/>
            <a:ext cx="8643998" cy="785818"/>
          </a:xfrm>
          <a:prstGeom prst="roundRect">
            <a:avLst/>
          </a:prstGeom>
          <a:ln>
            <a:solidFill>
              <a:srgbClr val="090B19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457200" indent="-457200" algn="ctr"/>
            <a:r>
              <a:rPr lang="pt-BR" sz="24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Função para suavizar os contornos das figuras.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785918" y="2357430"/>
            <a:ext cx="6072230" cy="34569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de cantos arredondados 5"/>
          <p:cNvSpPr/>
          <p:nvPr/>
        </p:nvSpPr>
        <p:spPr>
          <a:xfrm>
            <a:off x="2928926" y="214290"/>
            <a:ext cx="5357850" cy="642942"/>
          </a:xfrm>
          <a:prstGeom prst="roundRect">
            <a:avLst/>
          </a:prstGeom>
          <a:solidFill>
            <a:schemeClr val="tx1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 err="1" smtClean="0">
                <a:latin typeface="Times New Roman" pitchFamily="18" charset="0"/>
                <a:cs typeface="Times New Roman" pitchFamily="18" charset="0"/>
              </a:rPr>
              <a:t>strokeWeight</a:t>
            </a:r>
            <a:r>
              <a:rPr lang="pt-BR" sz="4000" dirty="0" smtClean="0">
                <a:latin typeface="Times New Roman" pitchFamily="18" charset="0"/>
                <a:cs typeface="Times New Roman" pitchFamily="18" charset="0"/>
              </a:rPr>
              <a:t>( )</a:t>
            </a:r>
            <a:endParaRPr lang="pt-BR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50" name="AutoShape 2" descr="http://arduino.cc/en/uploads/Main/ArduinoUno_R3_Front_450px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 dirty="0"/>
          </a:p>
        </p:txBody>
      </p:sp>
      <p:pic>
        <p:nvPicPr>
          <p:cNvPr id="7" name="Picture 5" descr="C:\Users\prof.MiltonRocha\Desktop\2000px-Processing_Logo_Clipped.svg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28794" y="142852"/>
            <a:ext cx="857232" cy="857232"/>
          </a:xfrm>
          <a:prstGeom prst="rect">
            <a:avLst/>
          </a:prstGeom>
          <a:noFill/>
        </p:spPr>
      </p:pic>
      <p:sp>
        <p:nvSpPr>
          <p:cNvPr id="9" name="Retângulo de cantos arredondados 8"/>
          <p:cNvSpPr/>
          <p:nvPr/>
        </p:nvSpPr>
        <p:spPr>
          <a:xfrm>
            <a:off x="285720" y="1142984"/>
            <a:ext cx="8643998" cy="785818"/>
          </a:xfrm>
          <a:prstGeom prst="roundRect">
            <a:avLst/>
          </a:prstGeom>
          <a:ln>
            <a:solidFill>
              <a:srgbClr val="090B19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457200" indent="-457200" algn="ctr"/>
            <a:r>
              <a:rPr lang="pt-BR" sz="24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Define a espessura do traçado das figuras.</a:t>
            </a: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857356" y="2428868"/>
            <a:ext cx="6190773" cy="3500462"/>
          </a:xfrm>
          <a:prstGeom prst="rect">
            <a:avLst/>
          </a:prstGeom>
          <a:noFill/>
          <a:ln w="9525">
            <a:solidFill>
              <a:srgbClr val="090B19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de cantos arredondados 5"/>
          <p:cNvSpPr/>
          <p:nvPr/>
        </p:nvSpPr>
        <p:spPr>
          <a:xfrm>
            <a:off x="2928926" y="214290"/>
            <a:ext cx="5357850" cy="642942"/>
          </a:xfrm>
          <a:prstGeom prst="roundRect">
            <a:avLst/>
          </a:prstGeom>
          <a:solidFill>
            <a:schemeClr val="tx1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 err="1" smtClean="0">
                <a:latin typeface="Times New Roman" pitchFamily="18" charset="0"/>
                <a:cs typeface="Times New Roman" pitchFamily="18" charset="0"/>
              </a:rPr>
              <a:t>strokeJoin</a:t>
            </a:r>
            <a:r>
              <a:rPr lang="pt-BR" sz="4000" dirty="0" smtClean="0">
                <a:latin typeface="Times New Roman" pitchFamily="18" charset="0"/>
                <a:cs typeface="Times New Roman" pitchFamily="18" charset="0"/>
              </a:rPr>
              <a:t>( )</a:t>
            </a:r>
            <a:endParaRPr lang="pt-BR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50" name="AutoShape 2" descr="http://arduino.cc/en/uploads/Main/ArduinoUno_R3_Front_450px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 dirty="0"/>
          </a:p>
        </p:txBody>
      </p:sp>
      <p:pic>
        <p:nvPicPr>
          <p:cNvPr id="7" name="Picture 5" descr="C:\Users\prof.MiltonRocha\Desktop\2000px-Processing_Logo_Clipped.svg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28794" y="142852"/>
            <a:ext cx="857232" cy="857232"/>
          </a:xfrm>
          <a:prstGeom prst="rect">
            <a:avLst/>
          </a:prstGeom>
          <a:noFill/>
        </p:spPr>
      </p:pic>
      <p:sp>
        <p:nvSpPr>
          <p:cNvPr id="9" name="Retângulo de cantos arredondados 8"/>
          <p:cNvSpPr/>
          <p:nvPr/>
        </p:nvSpPr>
        <p:spPr>
          <a:xfrm>
            <a:off x="285720" y="1142984"/>
            <a:ext cx="8643998" cy="785818"/>
          </a:xfrm>
          <a:prstGeom prst="roundRect">
            <a:avLst/>
          </a:prstGeom>
          <a:ln>
            <a:solidFill>
              <a:srgbClr val="090B19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457200" indent="-457200" algn="ctr"/>
            <a:r>
              <a:rPr lang="pt-BR" sz="24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Liga os traços do desenhos de acordo com o parâmetro.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643042" y="2357430"/>
            <a:ext cx="6366474" cy="3590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de cantos arredondados 5"/>
          <p:cNvSpPr/>
          <p:nvPr/>
        </p:nvSpPr>
        <p:spPr>
          <a:xfrm>
            <a:off x="2928926" y="214290"/>
            <a:ext cx="5357850" cy="642942"/>
          </a:xfrm>
          <a:prstGeom prst="roundRect">
            <a:avLst/>
          </a:prstGeom>
          <a:solidFill>
            <a:schemeClr val="tx1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 err="1" smtClean="0">
                <a:latin typeface="Times New Roman" pitchFamily="18" charset="0"/>
                <a:cs typeface="Times New Roman" pitchFamily="18" charset="0"/>
              </a:rPr>
              <a:t>strokeCap</a:t>
            </a:r>
            <a:r>
              <a:rPr lang="pt-BR" sz="4000" dirty="0" smtClean="0">
                <a:latin typeface="Times New Roman" pitchFamily="18" charset="0"/>
                <a:cs typeface="Times New Roman" pitchFamily="18" charset="0"/>
              </a:rPr>
              <a:t>( )</a:t>
            </a:r>
            <a:endParaRPr lang="pt-BR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50" name="AutoShape 2" descr="http://arduino.cc/en/uploads/Main/ArduinoUno_R3_Front_450px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 dirty="0"/>
          </a:p>
        </p:txBody>
      </p:sp>
      <p:pic>
        <p:nvPicPr>
          <p:cNvPr id="7" name="Picture 5" descr="C:\Users\prof.MiltonRocha\Desktop\2000px-Processing_Logo_Clipped.svg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28794" y="142852"/>
            <a:ext cx="857232" cy="857232"/>
          </a:xfrm>
          <a:prstGeom prst="rect">
            <a:avLst/>
          </a:prstGeom>
          <a:noFill/>
        </p:spPr>
      </p:pic>
      <p:sp>
        <p:nvSpPr>
          <p:cNvPr id="9" name="Retângulo de cantos arredondados 8"/>
          <p:cNvSpPr/>
          <p:nvPr/>
        </p:nvSpPr>
        <p:spPr>
          <a:xfrm>
            <a:off x="285720" y="1142984"/>
            <a:ext cx="8643998" cy="785818"/>
          </a:xfrm>
          <a:prstGeom prst="roundRect">
            <a:avLst/>
          </a:prstGeom>
          <a:ln>
            <a:solidFill>
              <a:srgbClr val="090B19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457200" indent="-457200" algn="ctr"/>
            <a:r>
              <a:rPr lang="pt-BR" sz="24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Semelhante a função </a:t>
            </a:r>
            <a:r>
              <a:rPr lang="pt-BR" sz="2400" dirty="0" err="1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strokeJoin</a:t>
            </a:r>
            <a:r>
              <a:rPr lang="pt-BR" sz="24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( )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714480" y="2428868"/>
            <a:ext cx="6209378" cy="3571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de cantos arredondados 10"/>
          <p:cNvSpPr/>
          <p:nvPr/>
        </p:nvSpPr>
        <p:spPr>
          <a:xfrm>
            <a:off x="1187624" y="219158"/>
            <a:ext cx="7560840" cy="642942"/>
          </a:xfrm>
          <a:prstGeom prst="roundRect">
            <a:avLst/>
          </a:prstGeom>
          <a:solidFill>
            <a:schemeClr val="tx1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dirty="0" smtClean="0">
                <a:latin typeface="Times New Roman" pitchFamily="18" charset="0"/>
                <a:cs typeface="Times New Roman" pitchFamily="18" charset="0"/>
              </a:rPr>
              <a:t>EXPERIMENTO 1. </a:t>
            </a:r>
            <a:r>
              <a:rPr lang="pt-BR" sz="3600" dirty="0">
                <a:latin typeface="Times New Roman" pitchFamily="18" charset="0"/>
                <a:cs typeface="Times New Roman" pitchFamily="18" charset="0"/>
              </a:rPr>
              <a:t>Função senoidal</a:t>
            </a:r>
          </a:p>
        </p:txBody>
      </p:sp>
      <p:sp>
        <p:nvSpPr>
          <p:cNvPr id="12" name="Retângulo de cantos arredondados 11"/>
          <p:cNvSpPr/>
          <p:nvPr/>
        </p:nvSpPr>
        <p:spPr>
          <a:xfrm>
            <a:off x="285720" y="1142984"/>
            <a:ext cx="8643998" cy="5214974"/>
          </a:xfrm>
          <a:prstGeom prst="roundRect">
            <a:avLst/>
          </a:prstGeom>
          <a:ln>
            <a:solidFill>
              <a:srgbClr val="090B19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2400" dirty="0" err="1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Grafico</a:t>
            </a:r>
            <a:r>
              <a:rPr lang="pt-BR" sz="24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  de uma função</a:t>
            </a:r>
          </a:p>
          <a:p>
            <a:r>
              <a:rPr lang="pt-BR" sz="2400" dirty="0" err="1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size</a:t>
            </a:r>
            <a:r>
              <a:rPr lang="pt-BR" sz="24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(360,240);</a:t>
            </a:r>
          </a:p>
          <a:p>
            <a:r>
              <a:rPr lang="pt-BR" sz="2400" dirty="0" err="1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float</a:t>
            </a:r>
            <a:r>
              <a:rPr lang="pt-BR" sz="24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 angulo = 0.0;</a:t>
            </a:r>
          </a:p>
          <a:p>
            <a:r>
              <a:rPr lang="pt-BR" sz="2400" dirty="0" err="1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float</a:t>
            </a:r>
            <a:r>
              <a:rPr lang="pt-BR" sz="24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pt-BR" sz="2400" dirty="0" err="1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resGrafica</a:t>
            </a:r>
            <a:r>
              <a:rPr lang="pt-BR" sz="24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=360.0;</a:t>
            </a:r>
          </a:p>
          <a:p>
            <a:r>
              <a:rPr lang="pt-BR" sz="2400" dirty="0" err="1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pt-BR" sz="24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 amplitude=100;</a:t>
            </a:r>
          </a:p>
          <a:p>
            <a:r>
              <a:rPr lang="pt-BR" sz="24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for(</a:t>
            </a:r>
            <a:r>
              <a:rPr lang="pt-BR" sz="2400" dirty="0" err="1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pt-BR" sz="24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 i=0;i&lt;</a:t>
            </a:r>
            <a:r>
              <a:rPr lang="pt-BR" sz="2400" dirty="0" err="1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resGrafica</a:t>
            </a:r>
            <a:r>
              <a:rPr lang="pt-BR" sz="24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;i++){</a:t>
            </a:r>
          </a:p>
          <a:p>
            <a:r>
              <a:rPr lang="pt-BR" sz="24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pt-BR" sz="2400" dirty="0" err="1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strokeWeight</a:t>
            </a:r>
            <a:r>
              <a:rPr lang="pt-BR" sz="24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(2);</a:t>
            </a:r>
          </a:p>
          <a:p>
            <a:r>
              <a:rPr lang="pt-BR" sz="24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pt-BR" sz="2400" dirty="0" err="1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smooth</a:t>
            </a:r>
            <a:r>
              <a:rPr lang="pt-BR" sz="24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();</a:t>
            </a:r>
          </a:p>
          <a:p>
            <a:r>
              <a:rPr lang="pt-BR" sz="24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pt-BR" sz="2400" dirty="0" err="1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point</a:t>
            </a:r>
            <a:r>
              <a:rPr lang="pt-BR" sz="24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(i,120+amplitude*</a:t>
            </a:r>
            <a:r>
              <a:rPr lang="pt-BR" sz="2400" dirty="0" err="1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sin</a:t>
            </a:r>
            <a:r>
              <a:rPr lang="pt-BR" sz="24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(angulo));</a:t>
            </a:r>
          </a:p>
          <a:p>
            <a:r>
              <a:rPr lang="pt-BR" sz="24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  angulo += TWO_PI/</a:t>
            </a:r>
            <a:r>
              <a:rPr lang="pt-BR" sz="2400" dirty="0" err="1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resGrafica</a:t>
            </a:r>
            <a:r>
              <a:rPr lang="pt-BR" sz="24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r>
              <a:rPr lang="pt-BR" sz="24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}</a:t>
            </a:r>
          </a:p>
        </p:txBody>
      </p:sp>
      <p:pic>
        <p:nvPicPr>
          <p:cNvPr id="5" name="Picture 5" descr="C:\Users\prof.MiltonRocha\Desktop\2000px-Processing_Logo_Clipped.svg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504" y="219158"/>
            <a:ext cx="857232" cy="857232"/>
          </a:xfrm>
          <a:prstGeom prst="rect">
            <a:avLst/>
          </a:prstGeom>
          <a:noFill/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de cantos arredondados 10"/>
          <p:cNvSpPr/>
          <p:nvPr/>
        </p:nvSpPr>
        <p:spPr>
          <a:xfrm>
            <a:off x="1403648" y="214290"/>
            <a:ext cx="7488832" cy="642942"/>
          </a:xfrm>
          <a:prstGeom prst="roundRect">
            <a:avLst/>
          </a:prstGeom>
          <a:solidFill>
            <a:schemeClr val="tx1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dirty="0" smtClean="0">
                <a:latin typeface="Times New Roman" pitchFamily="18" charset="0"/>
                <a:cs typeface="Times New Roman" pitchFamily="18" charset="0"/>
              </a:rPr>
              <a:t>EXPERIMENTO 1. Função senoidal</a:t>
            </a:r>
            <a:endParaRPr lang="pt-BR" sz="3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5" descr="C:\Users\prof.MiltonRocha\Desktop\2000px-Processing_Logo_Clipped.svg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214290"/>
            <a:ext cx="857232" cy="857232"/>
          </a:xfrm>
          <a:prstGeom prst="rect">
            <a:avLst/>
          </a:prstGeom>
          <a:noFill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57422" y="1714488"/>
            <a:ext cx="4929222" cy="3589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>
                <a:latin typeface="Times New Roman" pitchFamily="18" charset="0"/>
                <a:cs typeface="Times New Roman" pitchFamily="18" charset="0"/>
              </a:rPr>
              <a:t>EXPERIMENTO 1</a:t>
            </a:r>
            <a:br>
              <a:rPr lang="pt-BR" dirty="0">
                <a:latin typeface="Times New Roman" pitchFamily="18" charset="0"/>
                <a:cs typeface="Times New Roman" pitchFamily="18" charset="0"/>
              </a:rPr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Exercício</a:t>
            </a:r>
          </a:p>
          <a:p>
            <a:endParaRPr lang="pt-BR" dirty="0"/>
          </a:p>
          <a:p>
            <a:pPr marL="0" indent="0">
              <a:buNone/>
            </a:pPr>
            <a:r>
              <a:rPr lang="pt-BR" dirty="0" smtClean="0"/>
              <a:t>Inverter a função seno!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341920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de cantos arredondados 10"/>
          <p:cNvSpPr/>
          <p:nvPr/>
        </p:nvSpPr>
        <p:spPr>
          <a:xfrm>
            <a:off x="971600" y="214290"/>
            <a:ext cx="8172400" cy="642942"/>
          </a:xfrm>
          <a:prstGeom prst="roundRect">
            <a:avLst/>
          </a:prstGeom>
          <a:solidFill>
            <a:schemeClr val="tx1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dirty="0" smtClean="0">
                <a:latin typeface="Times New Roman" pitchFamily="18" charset="0"/>
                <a:cs typeface="Times New Roman" pitchFamily="18" charset="0"/>
              </a:rPr>
              <a:t>EXP. 2. Sincronização </a:t>
            </a:r>
            <a:r>
              <a:rPr lang="pt-BR" sz="3200" dirty="0" err="1" smtClean="0">
                <a:latin typeface="Times New Roman" pitchFamily="18" charset="0"/>
                <a:cs typeface="Times New Roman" pitchFamily="18" charset="0"/>
              </a:rPr>
              <a:t>Arduino</a:t>
            </a:r>
            <a:r>
              <a:rPr lang="pt-BR" sz="3200" dirty="0" smtClean="0">
                <a:latin typeface="Times New Roman" pitchFamily="18" charset="0"/>
                <a:cs typeface="Times New Roman" pitchFamily="18" charset="0"/>
              </a:rPr>
              <a:t>-PC</a:t>
            </a:r>
            <a:endParaRPr lang="pt-BR" sz="3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5" descr="C:\Users\prof.MiltonRocha\Desktop\2000px-Processing_Logo_Clipped.svg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214290"/>
            <a:ext cx="857232" cy="857232"/>
          </a:xfrm>
          <a:prstGeom prst="rect">
            <a:avLst/>
          </a:prstGeom>
          <a:noFill/>
        </p:spPr>
      </p:pic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E0E0D0"/>
              </a:clrFrom>
              <a:clrTo>
                <a:srgbClr val="E0E0D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28596" y="1643050"/>
            <a:ext cx="8126073" cy="3500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de cantos arredondados 10"/>
          <p:cNvSpPr/>
          <p:nvPr/>
        </p:nvSpPr>
        <p:spPr>
          <a:xfrm>
            <a:off x="1259632" y="214290"/>
            <a:ext cx="7416824" cy="642942"/>
          </a:xfrm>
          <a:prstGeom prst="roundRect">
            <a:avLst/>
          </a:prstGeom>
          <a:solidFill>
            <a:schemeClr val="tx1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 smtClean="0">
                <a:latin typeface="Times New Roman" pitchFamily="18" charset="0"/>
                <a:cs typeface="Times New Roman" pitchFamily="18" charset="0"/>
              </a:rPr>
              <a:t>EXP. 2. Dados no Monitor Serial</a:t>
            </a:r>
            <a:endParaRPr lang="pt-BR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Retângulo de cantos arredondados 11"/>
          <p:cNvSpPr/>
          <p:nvPr/>
        </p:nvSpPr>
        <p:spPr>
          <a:xfrm>
            <a:off x="285720" y="1142984"/>
            <a:ext cx="8643998" cy="5214974"/>
          </a:xfrm>
          <a:prstGeom prst="roundRect">
            <a:avLst/>
          </a:prstGeom>
          <a:ln>
            <a:solidFill>
              <a:srgbClr val="090B19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2400" dirty="0" err="1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pt-BR" sz="24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pt-BR" sz="2400" dirty="0" err="1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led</a:t>
            </a:r>
            <a:r>
              <a:rPr lang="pt-BR" sz="24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 = 13;</a:t>
            </a:r>
          </a:p>
          <a:p>
            <a:r>
              <a:rPr lang="pt-BR" sz="2400" dirty="0" err="1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void</a:t>
            </a:r>
            <a:r>
              <a:rPr lang="pt-BR" sz="24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 setup() {                </a:t>
            </a:r>
          </a:p>
          <a:p>
            <a:r>
              <a:rPr lang="pt-BR" sz="24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pt-BR" sz="2400" dirty="0" err="1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pinMode</a:t>
            </a:r>
            <a:r>
              <a:rPr lang="pt-BR" sz="24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pt-BR" sz="2400" dirty="0" err="1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led</a:t>
            </a:r>
            <a:r>
              <a:rPr lang="pt-BR" sz="24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, OUTPUT);</a:t>
            </a:r>
          </a:p>
          <a:p>
            <a:r>
              <a:rPr lang="pt-BR" sz="24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  Serial.</a:t>
            </a:r>
            <a:r>
              <a:rPr lang="pt-BR" sz="2400" dirty="0" err="1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begin</a:t>
            </a:r>
            <a:r>
              <a:rPr lang="pt-BR" sz="24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(9600);  </a:t>
            </a:r>
          </a:p>
          <a:p>
            <a:r>
              <a:rPr lang="pt-BR" sz="24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r>
              <a:rPr lang="pt-BR" sz="2400" dirty="0" err="1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void</a:t>
            </a:r>
            <a:r>
              <a:rPr lang="pt-BR" sz="24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 loop() {</a:t>
            </a:r>
          </a:p>
          <a:p>
            <a:r>
              <a:rPr lang="pt-BR" sz="24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pt-BR" sz="2400" dirty="0" err="1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digitalWrite</a:t>
            </a:r>
            <a:r>
              <a:rPr lang="pt-BR" sz="24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pt-BR" sz="2400" dirty="0" err="1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led</a:t>
            </a:r>
            <a:r>
              <a:rPr lang="pt-BR" sz="24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, HIGH);  </a:t>
            </a:r>
          </a:p>
          <a:p>
            <a:r>
              <a:rPr lang="pt-BR" sz="24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  Serial.</a:t>
            </a:r>
            <a:r>
              <a:rPr lang="pt-BR" sz="2400" dirty="0" err="1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print</a:t>
            </a:r>
            <a:r>
              <a:rPr lang="pt-BR" sz="24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(1);</a:t>
            </a:r>
          </a:p>
          <a:p>
            <a:r>
              <a:rPr lang="pt-BR" sz="24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pt-BR" sz="2400" dirty="0" err="1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delay</a:t>
            </a:r>
            <a:r>
              <a:rPr lang="pt-BR" sz="24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(1000);              </a:t>
            </a:r>
          </a:p>
          <a:p>
            <a:r>
              <a:rPr lang="pt-BR" sz="24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pt-BR" sz="2400" dirty="0" err="1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digitalWrite</a:t>
            </a:r>
            <a:r>
              <a:rPr lang="pt-BR" sz="24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pt-BR" sz="2400" dirty="0" err="1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led</a:t>
            </a:r>
            <a:r>
              <a:rPr lang="pt-BR" sz="24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, LOW);    </a:t>
            </a:r>
          </a:p>
          <a:p>
            <a:r>
              <a:rPr lang="pt-BR" sz="24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  Serial.</a:t>
            </a:r>
            <a:r>
              <a:rPr lang="pt-BR" sz="2400" dirty="0" err="1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print</a:t>
            </a:r>
            <a:r>
              <a:rPr lang="pt-BR" sz="24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(0);</a:t>
            </a:r>
          </a:p>
          <a:p>
            <a:r>
              <a:rPr lang="pt-BR" sz="24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pt-BR" sz="2400" dirty="0" err="1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delay</a:t>
            </a:r>
            <a:r>
              <a:rPr lang="pt-BR" sz="24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(1000);             </a:t>
            </a:r>
          </a:p>
          <a:p>
            <a:r>
              <a:rPr lang="pt-BR" sz="24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}</a:t>
            </a:r>
          </a:p>
        </p:txBody>
      </p:sp>
      <p:pic>
        <p:nvPicPr>
          <p:cNvPr id="5" name="Picture 5" descr="C:\Users\prof.MiltonRocha\Desktop\2000px-Processing_Logo_Clipped.svg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20" y="142852"/>
            <a:ext cx="901904" cy="857232"/>
          </a:xfrm>
          <a:prstGeom prst="rect">
            <a:avLst/>
          </a:prstGeom>
          <a:noFill/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de cantos arredondados 10"/>
          <p:cNvSpPr/>
          <p:nvPr/>
        </p:nvSpPr>
        <p:spPr>
          <a:xfrm>
            <a:off x="1403648" y="214290"/>
            <a:ext cx="7344816" cy="642942"/>
          </a:xfrm>
          <a:prstGeom prst="roundRect">
            <a:avLst/>
          </a:prstGeom>
          <a:solidFill>
            <a:schemeClr val="tx1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>
                <a:latin typeface="Times New Roman" pitchFamily="18" charset="0"/>
                <a:cs typeface="Times New Roman" pitchFamily="18" charset="0"/>
              </a:rPr>
              <a:t>EXP. 2. Dados no Monitor Serial</a:t>
            </a:r>
          </a:p>
        </p:txBody>
      </p:sp>
      <p:pic>
        <p:nvPicPr>
          <p:cNvPr id="5" name="Picture 5" descr="C:\Users\prof.MiltonRocha\Desktop\2000px-Processing_Logo_Clipped.svg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214290"/>
            <a:ext cx="857232" cy="857232"/>
          </a:xfrm>
          <a:prstGeom prst="rect">
            <a:avLst/>
          </a:prstGeom>
          <a:noFill/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28794" y="2143116"/>
            <a:ext cx="5828494" cy="2838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de cantos arredondados 10"/>
          <p:cNvSpPr/>
          <p:nvPr/>
        </p:nvSpPr>
        <p:spPr>
          <a:xfrm>
            <a:off x="1259632" y="214290"/>
            <a:ext cx="7670086" cy="642942"/>
          </a:xfrm>
          <a:prstGeom prst="roundRect">
            <a:avLst/>
          </a:prstGeom>
          <a:solidFill>
            <a:schemeClr val="tx1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dirty="0" smtClean="0">
                <a:latin typeface="Times New Roman" pitchFamily="18" charset="0"/>
                <a:cs typeface="Times New Roman" pitchFamily="18" charset="0"/>
              </a:rPr>
              <a:t>EXPERIMENTO 2. Comunicação com o </a:t>
            </a:r>
            <a:r>
              <a:rPr lang="pt-BR" sz="2400" dirty="0" err="1" smtClean="0">
                <a:latin typeface="Times New Roman" pitchFamily="18" charset="0"/>
                <a:cs typeface="Times New Roman" pitchFamily="18" charset="0"/>
              </a:rPr>
              <a:t>Processing</a:t>
            </a:r>
            <a:endParaRPr lang="pt-B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Retângulo de cantos arredondados 11"/>
          <p:cNvSpPr/>
          <p:nvPr/>
        </p:nvSpPr>
        <p:spPr>
          <a:xfrm>
            <a:off x="285720" y="1142984"/>
            <a:ext cx="8643998" cy="5214974"/>
          </a:xfrm>
          <a:prstGeom prst="roundRect">
            <a:avLst/>
          </a:prstGeom>
          <a:ln>
            <a:solidFill>
              <a:srgbClr val="090B19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 err="1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import</a:t>
            </a:r>
            <a:r>
              <a:rPr lang="pt-BR" sz="16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pt-BR" sz="1600" dirty="0" err="1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processing</a:t>
            </a:r>
            <a:r>
              <a:rPr lang="pt-BR" sz="16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.serial.*;</a:t>
            </a:r>
          </a:p>
          <a:p>
            <a:r>
              <a:rPr lang="pt-BR" sz="16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Serial </a:t>
            </a:r>
            <a:r>
              <a:rPr lang="pt-BR" sz="1600" dirty="0" err="1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port</a:t>
            </a:r>
            <a:r>
              <a:rPr lang="pt-BR" sz="16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r>
              <a:rPr lang="pt-BR" sz="1600" dirty="0" err="1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void</a:t>
            </a:r>
            <a:r>
              <a:rPr lang="pt-BR" sz="16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 setup(){</a:t>
            </a:r>
          </a:p>
          <a:p>
            <a:r>
              <a:rPr lang="pt-BR" sz="16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pt-BR" sz="1600" dirty="0" err="1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size</a:t>
            </a:r>
            <a:r>
              <a:rPr lang="pt-BR" sz="16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(200,200);</a:t>
            </a:r>
          </a:p>
          <a:p>
            <a:r>
              <a:rPr lang="pt-BR" sz="16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pt-BR" sz="1600" dirty="0" err="1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port</a:t>
            </a:r>
            <a:r>
              <a:rPr lang="pt-BR" sz="16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=</a:t>
            </a:r>
            <a:r>
              <a:rPr lang="pt-BR" sz="1600" dirty="0" err="1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new</a:t>
            </a:r>
            <a:r>
              <a:rPr lang="pt-BR" sz="16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 Serial(</a:t>
            </a:r>
            <a:r>
              <a:rPr lang="pt-BR" sz="1600" dirty="0" err="1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this</a:t>
            </a:r>
            <a:r>
              <a:rPr lang="pt-BR" sz="16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pt-BR" sz="16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"COM3",</a:t>
            </a:r>
            <a:r>
              <a:rPr lang="pt-BR" sz="16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9600);</a:t>
            </a:r>
          </a:p>
          <a:p>
            <a:r>
              <a:rPr lang="pt-BR" sz="16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r>
              <a:rPr lang="pt-BR" sz="1600" dirty="0" err="1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void</a:t>
            </a:r>
            <a:r>
              <a:rPr lang="pt-BR" sz="16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pt-BR" sz="1600" dirty="0" err="1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draw</a:t>
            </a:r>
            <a:r>
              <a:rPr lang="pt-BR" sz="16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(){</a:t>
            </a:r>
          </a:p>
          <a:p>
            <a:r>
              <a:rPr lang="pt-BR" sz="16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pt-BR" sz="1600" dirty="0" err="1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while</a:t>
            </a:r>
            <a:r>
              <a:rPr lang="pt-BR" sz="16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pt-BR" sz="1600" dirty="0" err="1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port.available</a:t>
            </a:r>
            <a:r>
              <a:rPr lang="pt-BR" sz="16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()&gt;0){</a:t>
            </a:r>
          </a:p>
          <a:p>
            <a:r>
              <a:rPr lang="pt-BR" sz="16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    background(255);</a:t>
            </a:r>
          </a:p>
          <a:p>
            <a:r>
              <a:rPr lang="pt-BR" sz="16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pt-BR" sz="1600" dirty="0" err="1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if</a:t>
            </a:r>
            <a:r>
              <a:rPr lang="pt-BR" sz="16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pt-BR" sz="1600" dirty="0" err="1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port.read</a:t>
            </a:r>
            <a:r>
              <a:rPr lang="pt-BR" sz="16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()==49){</a:t>
            </a:r>
          </a:p>
          <a:p>
            <a:r>
              <a:rPr lang="pt-BR" sz="16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pt-BR" sz="1600" dirty="0" err="1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fill</a:t>
            </a:r>
            <a:r>
              <a:rPr lang="pt-BR" sz="16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(#00FF00);</a:t>
            </a:r>
          </a:p>
          <a:p>
            <a:r>
              <a:rPr lang="pt-BR" sz="16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pt-BR" sz="1600" dirty="0" err="1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ellipse</a:t>
            </a:r>
            <a:r>
              <a:rPr lang="pt-BR" sz="16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(100,100,100,100);</a:t>
            </a:r>
          </a:p>
          <a:p>
            <a:r>
              <a:rPr lang="pt-BR" sz="16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    }</a:t>
            </a:r>
          </a:p>
          <a:p>
            <a:r>
              <a:rPr lang="pt-BR" sz="16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pt-BR" sz="1600" dirty="0" err="1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else</a:t>
            </a:r>
            <a:r>
              <a:rPr lang="pt-BR" sz="16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r>
              <a:rPr lang="pt-BR" sz="16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pt-BR" sz="1600" dirty="0" err="1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fill</a:t>
            </a:r>
            <a:r>
              <a:rPr lang="pt-BR" sz="16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(255);</a:t>
            </a:r>
          </a:p>
          <a:p>
            <a:r>
              <a:rPr lang="pt-BR" sz="16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pt-BR" sz="1600" dirty="0" err="1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ellipse</a:t>
            </a:r>
            <a:r>
              <a:rPr lang="pt-BR" sz="16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(100,100,100,100);</a:t>
            </a:r>
          </a:p>
          <a:p>
            <a:r>
              <a:rPr lang="pt-BR" sz="16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    }</a:t>
            </a:r>
          </a:p>
          <a:p>
            <a:r>
              <a:rPr lang="pt-BR" sz="16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  }</a:t>
            </a:r>
          </a:p>
          <a:p>
            <a:r>
              <a:rPr lang="pt-BR" sz="16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}</a:t>
            </a:r>
          </a:p>
        </p:txBody>
      </p:sp>
      <p:pic>
        <p:nvPicPr>
          <p:cNvPr id="5" name="Picture 5" descr="C:\Users\prof.MiltonRocha\Desktop\2000px-Processing_Logo_Clipped.svg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0060" y="142876"/>
            <a:ext cx="857232" cy="857232"/>
          </a:xfrm>
          <a:prstGeom prst="rect">
            <a:avLst/>
          </a:prstGeom>
          <a:noFill/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de cantos arredondados 10"/>
          <p:cNvSpPr/>
          <p:nvPr/>
        </p:nvSpPr>
        <p:spPr>
          <a:xfrm>
            <a:off x="1187624" y="142852"/>
            <a:ext cx="7632848" cy="642942"/>
          </a:xfrm>
          <a:prstGeom prst="roundRect">
            <a:avLst/>
          </a:prstGeom>
          <a:solidFill>
            <a:schemeClr val="tx1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>
                <a:latin typeface="Times New Roman" pitchFamily="18" charset="0"/>
                <a:cs typeface="Times New Roman" pitchFamily="18" charset="0"/>
              </a:rPr>
              <a:t>EXP. 2. Dados no Monitor Serial</a:t>
            </a:r>
          </a:p>
        </p:txBody>
      </p:sp>
      <p:pic>
        <p:nvPicPr>
          <p:cNvPr id="5" name="Picture 5" descr="C:\Users\prof.MiltonRocha\Desktop\2000px-Processing_Logo_Clipped.svg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42852"/>
            <a:ext cx="857232" cy="857232"/>
          </a:xfrm>
          <a:prstGeom prst="rect">
            <a:avLst/>
          </a:prstGeom>
          <a:noFill/>
        </p:spPr>
      </p:pic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28926" y="1714488"/>
            <a:ext cx="3343291" cy="36663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Processing</a:t>
            </a:r>
            <a:r>
              <a:rPr lang="pt-BR" dirty="0" smtClean="0"/>
              <a:t>. Responda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 smtClean="0"/>
              <a:t>Descreva as funções:</a:t>
            </a:r>
          </a:p>
          <a:p>
            <a:pPr marL="0" indent="0">
              <a:buNone/>
            </a:pPr>
            <a:r>
              <a:rPr lang="pt-BR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1. </a:t>
            </a:r>
            <a:r>
              <a:rPr lang="pt-BR" dirty="0" err="1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void</a:t>
            </a:r>
            <a:r>
              <a:rPr lang="pt-BR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pt-BR" dirty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setup</a:t>
            </a:r>
            <a:r>
              <a:rPr lang="pt-BR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():</a:t>
            </a:r>
            <a:endParaRPr lang="pt-BR" dirty="0">
              <a:solidFill>
                <a:srgbClr val="090B19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pt-BR" dirty="0" smtClean="0"/>
          </a:p>
          <a:p>
            <a:endParaRPr lang="pt-BR" dirty="0"/>
          </a:p>
          <a:p>
            <a:pPr marL="0" indent="0">
              <a:buNone/>
            </a:pPr>
            <a:r>
              <a:rPr lang="pt-BR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2. </a:t>
            </a:r>
            <a:r>
              <a:rPr lang="pt-BR" dirty="0" err="1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void</a:t>
            </a:r>
            <a:r>
              <a:rPr lang="pt-BR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pt-BR" dirty="0" err="1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draw</a:t>
            </a:r>
            <a:r>
              <a:rPr lang="pt-BR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():</a:t>
            </a:r>
          </a:p>
          <a:p>
            <a:pPr marL="0" indent="0">
              <a:buNone/>
            </a:pPr>
            <a:endParaRPr lang="pt-BR" dirty="0">
              <a:solidFill>
                <a:srgbClr val="090B19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pt-BR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*Faça Analogia com o ambiente </a:t>
            </a:r>
            <a:r>
              <a:rPr lang="pt-BR" dirty="0" err="1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Arduino</a:t>
            </a:r>
            <a:r>
              <a:rPr lang="pt-BR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pt-BR" dirty="0">
              <a:solidFill>
                <a:srgbClr val="090B19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403495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Processing</a:t>
            </a:r>
            <a:r>
              <a:rPr lang="pt-BR" dirty="0"/>
              <a:t>. Responda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 smtClean="0"/>
              <a:t>2. Que </a:t>
            </a:r>
            <a:r>
              <a:rPr lang="pt-BR" dirty="0" smtClean="0"/>
              <a:t>função inicializa a </a:t>
            </a:r>
            <a:r>
              <a:rPr lang="pt-BR" dirty="0" smtClean="0"/>
              <a:t>comunicação </a:t>
            </a:r>
            <a:r>
              <a:rPr lang="pt-BR" dirty="0" smtClean="0"/>
              <a:t>com a porta serial. Descreva seus parâmetros.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397473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Processing</a:t>
            </a:r>
            <a:r>
              <a:rPr lang="pt-BR" dirty="0"/>
              <a:t>. Responda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 smtClean="0"/>
              <a:t>Como </a:t>
            </a:r>
            <a:r>
              <a:rPr lang="pt-BR" dirty="0" smtClean="0"/>
              <a:t>é feita a definição de cores em:</a:t>
            </a:r>
          </a:p>
          <a:p>
            <a:pPr marL="0" indent="0">
              <a:buNone/>
            </a:pPr>
            <a:r>
              <a:rPr lang="pt-BR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3. background(255</a:t>
            </a:r>
            <a:r>
              <a:rPr lang="pt-BR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):__________________</a:t>
            </a:r>
          </a:p>
          <a:p>
            <a:pPr marL="0" indent="0">
              <a:buNone/>
            </a:pPr>
            <a:endParaRPr lang="pt-BR" dirty="0" smtClean="0">
              <a:solidFill>
                <a:srgbClr val="090B19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pt-BR" dirty="0">
              <a:solidFill>
                <a:srgbClr val="090B19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pt-BR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4. </a:t>
            </a:r>
            <a:r>
              <a:rPr lang="pt-BR" dirty="0" err="1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fill</a:t>
            </a:r>
            <a:r>
              <a:rPr lang="pt-BR" dirty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(#00FF00</a:t>
            </a:r>
            <a:r>
              <a:rPr lang="pt-BR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): _____________________ </a:t>
            </a:r>
            <a:endParaRPr lang="pt-BR" dirty="0">
              <a:solidFill>
                <a:srgbClr val="090B19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pt-BR" dirty="0">
              <a:solidFill>
                <a:srgbClr val="090B19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700379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AutoShape 2" descr="http://arduino.cc/en/uploads/Main/ArduinoUno_R3_Front_450px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8" name="Retângulo de cantos arredondados 7"/>
          <p:cNvSpPr/>
          <p:nvPr/>
        </p:nvSpPr>
        <p:spPr>
          <a:xfrm>
            <a:off x="1259632" y="298311"/>
            <a:ext cx="7632848" cy="642942"/>
          </a:xfrm>
          <a:prstGeom prst="roundRect">
            <a:avLst/>
          </a:prstGeom>
          <a:solidFill>
            <a:srgbClr val="090B19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dirty="0" smtClean="0">
                <a:latin typeface="Times New Roman" pitchFamily="18" charset="0"/>
                <a:cs typeface="Times New Roman" pitchFamily="18" charset="0"/>
              </a:rPr>
              <a:t>EXP. 3. Apresentação de dados analógicos</a:t>
            </a:r>
            <a:endParaRPr lang="pt-BR" sz="3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E0E0D0"/>
              </a:clrFrom>
              <a:clrTo>
                <a:srgbClr val="E0E0D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85786" y="1214422"/>
            <a:ext cx="7893847" cy="4857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5" descr="C:\Users\prof.MiltonRocha\Desktop\2000px-Processing_Logo_Clipped.svg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07975" y="191166"/>
            <a:ext cx="857232" cy="857232"/>
          </a:xfrm>
          <a:prstGeom prst="rect">
            <a:avLst/>
          </a:prstGeom>
          <a:noFill/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35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de cantos arredondados 10"/>
          <p:cNvSpPr/>
          <p:nvPr/>
        </p:nvSpPr>
        <p:spPr>
          <a:xfrm>
            <a:off x="1259632" y="214290"/>
            <a:ext cx="7272808" cy="642942"/>
          </a:xfrm>
          <a:prstGeom prst="roundRect">
            <a:avLst/>
          </a:prstGeom>
          <a:solidFill>
            <a:schemeClr val="tx1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dirty="0">
                <a:latin typeface="Times New Roman" pitchFamily="18" charset="0"/>
                <a:cs typeface="Times New Roman" pitchFamily="18" charset="0"/>
              </a:rPr>
              <a:t>EXP. 3. Apresentação de dados analógicos</a:t>
            </a:r>
          </a:p>
        </p:txBody>
      </p:sp>
      <p:sp>
        <p:nvSpPr>
          <p:cNvPr id="12" name="Retângulo de cantos arredondados 11"/>
          <p:cNvSpPr/>
          <p:nvPr/>
        </p:nvSpPr>
        <p:spPr>
          <a:xfrm>
            <a:off x="285720" y="1142984"/>
            <a:ext cx="8643998" cy="5214974"/>
          </a:xfrm>
          <a:prstGeom prst="roundRect">
            <a:avLst/>
          </a:prstGeom>
          <a:ln>
            <a:solidFill>
              <a:srgbClr val="090B19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24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// Descreva e execute o </a:t>
            </a:r>
            <a:r>
              <a:rPr lang="pt-BR" sz="24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programa </a:t>
            </a:r>
            <a:r>
              <a:rPr lang="pt-BR" sz="4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no </a:t>
            </a:r>
            <a:r>
              <a:rPr lang="pt-BR" sz="4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Arduino</a:t>
            </a:r>
            <a:endParaRPr lang="pt-BR" sz="4000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pt-BR" sz="2400" dirty="0" err="1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void</a:t>
            </a:r>
            <a:r>
              <a:rPr lang="pt-BR" sz="24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 setup() {</a:t>
            </a:r>
          </a:p>
          <a:p>
            <a:r>
              <a:rPr lang="pt-BR" sz="24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Serial.</a:t>
            </a:r>
            <a:r>
              <a:rPr lang="pt-BR" sz="2400" dirty="0" err="1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begin</a:t>
            </a:r>
            <a:r>
              <a:rPr lang="pt-BR" sz="24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(9600);</a:t>
            </a:r>
          </a:p>
          <a:p>
            <a:r>
              <a:rPr lang="pt-BR" sz="24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endParaRPr lang="pt-BR" sz="2400" dirty="0" smtClean="0">
              <a:solidFill>
                <a:srgbClr val="090B19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pt-BR" sz="2400" dirty="0" err="1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void</a:t>
            </a:r>
            <a:r>
              <a:rPr lang="pt-BR" sz="24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 loop() {</a:t>
            </a:r>
          </a:p>
          <a:p>
            <a:r>
              <a:rPr lang="pt-BR" sz="24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Serial.</a:t>
            </a:r>
            <a:r>
              <a:rPr lang="pt-BR" sz="2400" dirty="0" err="1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println</a:t>
            </a:r>
            <a:r>
              <a:rPr lang="pt-BR" sz="24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pt-BR" sz="2400" dirty="0" err="1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analogRead</a:t>
            </a:r>
            <a:r>
              <a:rPr lang="pt-BR" sz="24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(A0));</a:t>
            </a:r>
          </a:p>
          <a:p>
            <a:r>
              <a:rPr lang="pt-BR" sz="2400" dirty="0" err="1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delay</a:t>
            </a:r>
            <a:r>
              <a:rPr lang="pt-BR" sz="24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(2);</a:t>
            </a:r>
          </a:p>
          <a:p>
            <a:r>
              <a:rPr lang="pt-BR" sz="24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r>
              <a:rPr lang="pt-BR" sz="24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/*</a:t>
            </a:r>
          </a:p>
          <a:p>
            <a:r>
              <a:rPr lang="pt-BR" sz="24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5. </a:t>
            </a:r>
            <a:r>
              <a:rPr lang="pt-BR" sz="24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O </a:t>
            </a:r>
            <a:r>
              <a:rPr lang="pt-BR" sz="24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que faz o programa acima? </a:t>
            </a:r>
            <a:r>
              <a:rPr lang="pt-BR" sz="24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______________     */</a:t>
            </a:r>
            <a:endParaRPr lang="pt-BR" sz="2400" dirty="0" smtClean="0">
              <a:solidFill>
                <a:srgbClr val="090B1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5" descr="C:\Users\prof.MiltonRocha\Desktop\2000px-Processing_Logo_Clipped.svg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20" y="142876"/>
            <a:ext cx="857232" cy="857232"/>
          </a:xfrm>
          <a:prstGeom prst="rect">
            <a:avLst/>
          </a:prstGeom>
          <a:noFill/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de cantos arredondados 10"/>
          <p:cNvSpPr/>
          <p:nvPr/>
        </p:nvSpPr>
        <p:spPr>
          <a:xfrm>
            <a:off x="1475656" y="214290"/>
            <a:ext cx="7416824" cy="642942"/>
          </a:xfrm>
          <a:prstGeom prst="roundRect">
            <a:avLst/>
          </a:prstGeom>
          <a:solidFill>
            <a:schemeClr val="tx1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 smtClean="0">
                <a:latin typeface="Times New Roman" pitchFamily="18" charset="0"/>
                <a:cs typeface="Times New Roman" pitchFamily="18" charset="0"/>
              </a:rPr>
              <a:t>EXP. 3. Resultado do experimento</a:t>
            </a:r>
            <a:endParaRPr lang="pt-BR" sz="4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5" descr="C:\Users\prof.MiltonRocha\Desktop\2000px-Processing_Logo_Clipped.svg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178607"/>
            <a:ext cx="857232" cy="857232"/>
          </a:xfrm>
          <a:prstGeom prst="rect">
            <a:avLst/>
          </a:prstGeom>
          <a:noFill/>
        </p:spPr>
      </p:pic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71600" y="1556792"/>
            <a:ext cx="6713804" cy="32861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CaixaDeTexto 1"/>
          <p:cNvSpPr txBox="1"/>
          <p:nvPr/>
        </p:nvSpPr>
        <p:spPr>
          <a:xfrm>
            <a:off x="539552" y="5157192"/>
            <a:ext cx="784887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smtClean="0"/>
              <a:t>6. O </a:t>
            </a:r>
            <a:r>
              <a:rPr lang="pt-BR" sz="2800" dirty="0" smtClean="0"/>
              <a:t>que representam os valores no monitor serial?</a:t>
            </a:r>
          </a:p>
          <a:p>
            <a:r>
              <a:rPr lang="pt-BR" sz="2800" dirty="0"/>
              <a:t>7</a:t>
            </a:r>
            <a:r>
              <a:rPr lang="pt-BR" sz="2800" dirty="0" smtClean="0"/>
              <a:t>. Qual </a:t>
            </a:r>
            <a:r>
              <a:rPr lang="pt-BR" sz="2800" dirty="0" smtClean="0"/>
              <a:t>o valor máximo de </a:t>
            </a:r>
            <a:r>
              <a:rPr lang="pt-BR" sz="2800" dirty="0" smtClean="0"/>
              <a:t>saída possível?</a:t>
            </a:r>
            <a:endParaRPr lang="pt-BR" sz="2800" dirty="0" smtClean="0"/>
          </a:p>
          <a:p>
            <a:r>
              <a:rPr lang="pt-BR" sz="2800" dirty="0" smtClean="0"/>
              <a:t>8. Qual </a:t>
            </a:r>
            <a:r>
              <a:rPr lang="pt-BR" sz="2800" dirty="0" smtClean="0"/>
              <a:t>o valor </a:t>
            </a:r>
            <a:r>
              <a:rPr lang="pt-BR" sz="2800" dirty="0" smtClean="0"/>
              <a:t>mínimo possível?</a:t>
            </a:r>
            <a:endParaRPr lang="pt-BR" sz="28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de cantos arredondados 5"/>
          <p:cNvSpPr/>
          <p:nvPr/>
        </p:nvSpPr>
        <p:spPr>
          <a:xfrm>
            <a:off x="2928926" y="214290"/>
            <a:ext cx="4643470" cy="642942"/>
          </a:xfrm>
          <a:prstGeom prst="roundRect">
            <a:avLst/>
          </a:prstGeom>
          <a:solidFill>
            <a:srgbClr val="090B19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 smtClean="0">
                <a:latin typeface="Times New Roman" pitchFamily="18" charset="0"/>
                <a:cs typeface="Times New Roman" pitchFamily="18" charset="0"/>
              </a:rPr>
              <a:t>BIBLIOGRAFIA</a:t>
            </a:r>
            <a:endParaRPr lang="pt-BR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tângulo de cantos arredondados 6"/>
          <p:cNvSpPr/>
          <p:nvPr/>
        </p:nvSpPr>
        <p:spPr>
          <a:xfrm>
            <a:off x="285720" y="1142984"/>
            <a:ext cx="8643998" cy="5214974"/>
          </a:xfrm>
          <a:prstGeom prst="roundRect">
            <a:avLst/>
          </a:prstGeom>
          <a:ln>
            <a:solidFill>
              <a:srgbClr val="090B19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Font typeface="Wingdings" pitchFamily="2" charset="2"/>
              <a:buChar char="ü"/>
            </a:pPr>
            <a:r>
              <a:rPr lang="pt-BR" sz="24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http://www.arduino.cc/</a:t>
            </a:r>
          </a:p>
          <a:p>
            <a:pPr>
              <a:buFont typeface="Wingdings" pitchFamily="2" charset="2"/>
              <a:buChar char="ü"/>
            </a:pPr>
            <a:endParaRPr lang="pt-BR" sz="2400" dirty="0" smtClean="0">
              <a:solidFill>
                <a:srgbClr val="090B19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ü"/>
            </a:pPr>
            <a:r>
              <a:rPr lang="pt-BR" sz="24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McRoberts, Michael. </a:t>
            </a:r>
            <a:r>
              <a:rPr lang="pt-BR" sz="2400" i="1" dirty="0" err="1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Arduino</a:t>
            </a:r>
            <a:r>
              <a:rPr lang="pt-BR" sz="2400" i="1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:básico</a:t>
            </a:r>
            <a:r>
              <a:rPr lang="pt-BR" sz="24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. Ed. 1. São Paulo: </a:t>
            </a:r>
            <a:r>
              <a:rPr lang="pt-BR" sz="2400" dirty="0" err="1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Novatec</a:t>
            </a:r>
            <a:r>
              <a:rPr lang="pt-BR" sz="2400" dirty="0" smtClean="0">
                <a:solidFill>
                  <a:srgbClr val="090B19"/>
                </a:solidFill>
                <a:latin typeface="Times New Roman" pitchFamily="18" charset="0"/>
                <a:cs typeface="Times New Roman" pitchFamily="18" charset="0"/>
              </a:rPr>
              <a:t>,2011.</a:t>
            </a:r>
          </a:p>
          <a:p>
            <a:endParaRPr lang="pt-BR" sz="2400" dirty="0" smtClean="0">
              <a:solidFill>
                <a:srgbClr val="090B19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ü"/>
            </a:pPr>
            <a:r>
              <a:rPr lang="pt-BR" sz="2400" dirty="0" smtClean="0">
                <a:solidFill>
                  <a:srgbClr val="090B19"/>
                </a:solidFill>
              </a:rPr>
              <a:t>www.realtimerendering.com</a:t>
            </a:r>
            <a:endParaRPr lang="pt-BR" sz="2400" dirty="0" smtClean="0">
              <a:solidFill>
                <a:srgbClr val="090B1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5" descr="C:\Users\prof.MiltonRocha\Desktop\2000px-Processing_Logo_Clipped.svg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28794" y="142852"/>
            <a:ext cx="857232" cy="857232"/>
          </a:xfrm>
          <a:prstGeom prst="rect">
            <a:avLst/>
          </a:prstGeom>
          <a:noFill/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3250</TotalTime>
  <Words>667</Words>
  <Application>Microsoft Office PowerPoint</Application>
  <PresentationFormat>Apresentação na tela (4:3)</PresentationFormat>
  <Paragraphs>225</Paragraphs>
  <Slides>34</Slides>
  <Notes>17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34</vt:i4>
      </vt:variant>
    </vt:vector>
  </HeadingPairs>
  <TitlesOfParts>
    <vt:vector size="39" baseType="lpstr">
      <vt:lpstr>Arial</vt:lpstr>
      <vt:lpstr>Calibri</vt:lpstr>
      <vt:lpstr>Times New Roman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EXPERIMENTO 1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Processing. Responda</vt:lpstr>
      <vt:lpstr>Processing. Responda</vt:lpstr>
      <vt:lpstr>Processing. Responda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prof.MiltonRocha</dc:creator>
  <cp:lastModifiedBy>professor</cp:lastModifiedBy>
  <cp:revision>139</cp:revision>
  <dcterms:created xsi:type="dcterms:W3CDTF">2015-02-05T15:47:21Z</dcterms:created>
  <dcterms:modified xsi:type="dcterms:W3CDTF">2019-05-02T16:03:42Z</dcterms:modified>
</cp:coreProperties>
</file>