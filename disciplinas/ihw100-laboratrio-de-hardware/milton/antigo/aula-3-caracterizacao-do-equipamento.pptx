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75" r:id="rId4"/>
    <p:sldId id="280" r:id="rId5"/>
    <p:sldId id="276" r:id="rId6"/>
    <p:sldId id="279" r:id="rId7"/>
    <p:sldId id="261" r:id="rId8"/>
    <p:sldId id="270" r:id="rId9"/>
    <p:sldId id="277" r:id="rId10"/>
    <p:sldId id="264" r:id="rId11"/>
    <p:sldId id="265" r:id="rId12"/>
    <p:sldId id="278" r:id="rId13"/>
    <p:sldId id="266" r:id="rId14"/>
    <p:sldId id="281" r:id="rId15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2" autoAdjust="0"/>
    <p:restoredTop sz="94660"/>
  </p:normalViewPr>
  <p:slideViewPr>
    <p:cSldViewPr>
      <p:cViewPr varScale="1">
        <p:scale>
          <a:sx n="102" d="100"/>
          <a:sy n="102" d="100"/>
        </p:scale>
        <p:origin x="27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Clique para editar o estilo do título mestre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u="sng"/>
            </a:lvl1pPr>
          </a:lstStyle>
          <a:p>
            <a:r>
              <a:rPr lang="pt-BR" dirty="0" smtClean="0"/>
              <a:t>Clique para editar o estilo do título mestre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F772E1-4F54-4A3E-ABB0-1FFBFD292982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A96FFB-8E3D-4183-B92F-22F79A79F1A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1551B8-AE7C-43EC-A56E-73D7F9644882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EAF312-5FF4-4714-A3FC-0089145E22C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66DE5-5DA7-43BE-83EE-7931F723695A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8E1648-75CF-4D37-9203-93CE107A139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72E5AE-E475-4FC1-8001-97BFE670E165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2AC61A-3452-4ADF-84D0-BFAAC1D174B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C489DD-45E1-408D-9397-7040D84C55A3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8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F8C632-3280-481D-9ABC-9681EF1D358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C05AF4-A960-48CD-A55B-F1EE873540FB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4826BF-ABD6-473A-AFCD-2C804EA2518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672D24-C48F-4B50-AEB9-A03CAF30E7ED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3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CBA294-59DE-4B60-A5C2-CA32877BD96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21E504-0D9D-4764-AB7A-168E1376E46F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A29ECA-D769-473F-A971-A8DBD62AB06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 smtClean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7B5F3C-8A7D-4987-A0BF-AEC5BCFC90B0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F63E70-E010-459F-A059-BEA1B1937C1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6A8300-612B-4C77-8EB9-EB8C178889DE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B8480-CB3F-43DC-809D-BC49F7B403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3C0BE5-A7AA-49F9-A334-CD984DF94F4D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2ABA6B-D35A-4769-BE52-C93510A4663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B80104-D9BE-470F-AF88-A7499807FC0E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D4C70D-4063-4C00-96D7-0FA3A90726E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 smtClean="0"/>
              <a:t>Clique para editar o estilo do título mestre</a:t>
            </a:r>
            <a:endParaRPr lang="pt-BR" dirty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smtClean="0"/>
              <a:t>Clique para editar o estilo do título mestre</a:t>
            </a:r>
          </a:p>
        </p:txBody>
      </p:sp>
      <p:sp>
        <p:nvSpPr>
          <p:cNvPr id="1027" name="Espaço Reservado para Texto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4520BB51-D4EC-4027-AB32-B86080BC6DD7}" type="datetimeFigureOut">
              <a:rPr lang="pt-BR"/>
              <a:pPr>
                <a:defRPr/>
              </a:pPr>
              <a:t>20/02/2019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fld id="{EC2477C8-A3ED-43C4-9E07-40B666FC78D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341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pt-BR" u="sng" dirty="0" smtClean="0">
                <a:solidFill>
                  <a:srgbClr val="FF0000"/>
                </a:solidFill>
              </a:rPr>
              <a:t>Caracterização do equipamento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95536" y="981075"/>
            <a:ext cx="8496943" cy="4895850"/>
          </a:xfrm>
        </p:spPr>
        <p:txBody>
          <a:bodyPr>
            <a:normAutofit fontScale="70000" lnSpcReduction="20000"/>
          </a:bodyPr>
          <a:lstStyle/>
          <a:p>
            <a:pPr marL="514350" indent="-514350" algn="just" eaLnBrk="1" hangingPunct="1">
              <a:buFont typeface="Arial" charset="0"/>
              <a:buNone/>
              <a:defRPr/>
            </a:pPr>
            <a:r>
              <a:rPr lang="pt-BR" b="1" i="1" u="sng" dirty="0" smtClean="0"/>
              <a:t>Objeto de estudo</a:t>
            </a:r>
          </a:p>
          <a:p>
            <a:pPr algn="just" eaLnBrk="1" hangingPunct="1">
              <a:defRPr/>
            </a:pPr>
            <a:r>
              <a:rPr lang="pt-BR" sz="3600" dirty="0" smtClean="0"/>
              <a:t>Sistema Operacional (características):</a:t>
            </a:r>
          </a:p>
          <a:p>
            <a:pPr algn="just" eaLnBrk="1" hangingPunct="1">
              <a:defRPr/>
            </a:pPr>
            <a:endParaRPr lang="pt-BR" sz="1200" dirty="0" smtClean="0"/>
          </a:p>
          <a:p>
            <a:pPr algn="just" eaLnBrk="1" hangingPunct="1">
              <a:defRPr/>
            </a:pPr>
            <a:r>
              <a:rPr lang="pt-BR" sz="3600" dirty="0" smtClean="0"/>
              <a:t>Processador: Modelo e “</a:t>
            </a:r>
            <a:r>
              <a:rPr lang="pt-BR" sz="3600" dirty="0" err="1" smtClean="0"/>
              <a:t>clock</a:t>
            </a:r>
            <a:r>
              <a:rPr lang="pt-BR" sz="3600" dirty="0" smtClean="0"/>
              <a:t>” (temporização):</a:t>
            </a:r>
          </a:p>
          <a:p>
            <a:pPr algn="just" eaLnBrk="1" hangingPunct="1">
              <a:defRPr/>
            </a:pPr>
            <a:endParaRPr lang="pt-BR" sz="1400" dirty="0" smtClean="0"/>
          </a:p>
          <a:p>
            <a:pPr algn="just" eaLnBrk="1" hangingPunct="1">
              <a:defRPr/>
            </a:pPr>
            <a:r>
              <a:rPr lang="pt-BR" sz="3600" dirty="0" smtClean="0"/>
              <a:t>Caches: Tipos e quantidade;</a:t>
            </a:r>
          </a:p>
          <a:p>
            <a:pPr algn="just">
              <a:defRPr/>
            </a:pPr>
            <a:r>
              <a:rPr lang="pt-BR" sz="3600" dirty="0" smtClean="0"/>
              <a:t>Memória:</a:t>
            </a:r>
          </a:p>
          <a:p>
            <a:pPr marL="0" indent="0" algn="just">
              <a:buNone/>
              <a:defRPr/>
            </a:pPr>
            <a:r>
              <a:rPr lang="pt-BR" sz="3600" dirty="0"/>
              <a:t> </a:t>
            </a:r>
            <a:r>
              <a:rPr lang="pt-BR" sz="3600" dirty="0" smtClean="0"/>
              <a:t>   Quantidade;Tecnologia</a:t>
            </a:r>
          </a:p>
          <a:p>
            <a:pPr algn="just">
              <a:defRPr/>
            </a:pPr>
            <a:r>
              <a:rPr lang="pt-BR" sz="3600" dirty="0" smtClean="0"/>
              <a:t>HD: capacidade; Tecnologia (IDE; SATA,SSD):</a:t>
            </a:r>
          </a:p>
          <a:p>
            <a:pPr algn="just">
              <a:defRPr/>
            </a:pPr>
            <a:r>
              <a:rPr lang="pt-BR" sz="3600" dirty="0" smtClean="0"/>
              <a:t>Sistema de arquivos (propriedades): NTFS, DOS, </a:t>
            </a:r>
            <a:r>
              <a:rPr lang="pt-BR" sz="3600" dirty="0" err="1" smtClean="0"/>
              <a:t>Extx</a:t>
            </a:r>
            <a:endParaRPr lang="pt-BR" sz="3600" dirty="0" smtClean="0"/>
          </a:p>
          <a:p>
            <a:pPr algn="just">
              <a:defRPr/>
            </a:pPr>
            <a:r>
              <a:rPr lang="pt-BR" sz="3600" dirty="0" smtClean="0"/>
              <a:t>Periféricos. Entrada e Saída.</a:t>
            </a:r>
          </a:p>
          <a:p>
            <a:pPr algn="just">
              <a:buNone/>
              <a:defRPr/>
            </a:pPr>
            <a:endParaRPr lang="pt-BR" sz="3600" dirty="0" smtClean="0"/>
          </a:p>
          <a:p>
            <a:pPr algn="just">
              <a:buNone/>
              <a:defRPr/>
            </a:pPr>
            <a:r>
              <a:rPr lang="pt-BR" sz="3600" dirty="0" smtClean="0"/>
              <a:t>Recursos: Painel de Controle;  programa: CPU-Z, etc...</a:t>
            </a:r>
          </a:p>
          <a:p>
            <a:pPr algn="just" eaLnBrk="1" hangingPunct="1">
              <a:defRPr/>
            </a:pPr>
            <a:endParaRPr lang="pt-BR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827584" y="0"/>
            <a:ext cx="7560840" cy="548680"/>
          </a:xfrm>
        </p:spPr>
        <p:txBody>
          <a:bodyPr>
            <a:normAutofit/>
          </a:bodyPr>
          <a:lstStyle/>
          <a:p>
            <a:pPr eaLnBrk="1" hangingPunct="1"/>
            <a:r>
              <a:rPr lang="pt-BR" sz="2800" u="sng" dirty="0" smtClean="0">
                <a:solidFill>
                  <a:srgbClr val="FF0000"/>
                </a:solidFill>
              </a:rPr>
              <a:t>Características obtidas via recursos do SO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95536" y="620688"/>
            <a:ext cx="8496943" cy="5472608"/>
          </a:xfrm>
        </p:spPr>
        <p:txBody>
          <a:bodyPr>
            <a:normAutofit fontScale="25000" lnSpcReduction="20000"/>
          </a:bodyPr>
          <a:lstStyle/>
          <a:p>
            <a:pPr algn="just" eaLnBrk="1" hangingPunct="1">
              <a:defRPr/>
            </a:pPr>
            <a:r>
              <a:rPr lang="pt-BR" sz="8000" dirty="0" smtClean="0"/>
              <a:t>Sistema Operacional.                      Processador:                 </a:t>
            </a:r>
            <a:r>
              <a:rPr lang="pt-BR" sz="8000" dirty="0" err="1" smtClean="0"/>
              <a:t>Clock</a:t>
            </a:r>
            <a:r>
              <a:rPr lang="pt-BR" sz="8000" dirty="0" smtClean="0"/>
              <a:t>:      (GHz)</a:t>
            </a:r>
          </a:p>
          <a:p>
            <a:pPr algn="just" eaLnBrk="1" hangingPunct="1">
              <a:defRPr/>
            </a:pPr>
            <a:r>
              <a:rPr lang="pt-BR" sz="8000" dirty="0" err="1" smtClean="0"/>
              <a:t>Caches</a:t>
            </a:r>
            <a:r>
              <a:rPr lang="pt-BR" sz="8000" dirty="0" smtClean="0"/>
              <a:t>.                   L1:        (KB)            L2:                 (MB)               L3</a:t>
            </a:r>
          </a:p>
          <a:p>
            <a:pPr algn="just" eaLnBrk="1" hangingPunct="1">
              <a:buNone/>
              <a:defRPr/>
            </a:pPr>
            <a:endParaRPr lang="pt-BR" sz="8000" dirty="0" smtClean="0"/>
          </a:p>
          <a:p>
            <a:pPr algn="just">
              <a:defRPr/>
            </a:pPr>
            <a:r>
              <a:rPr lang="pt-BR" sz="8000" dirty="0" smtClean="0">
                <a:solidFill>
                  <a:srgbClr val="FF0000"/>
                </a:solidFill>
              </a:rPr>
              <a:t>Tempo de acesso em torno de 5 </a:t>
            </a:r>
            <a:r>
              <a:rPr lang="pt-BR" sz="8000" dirty="0" err="1" smtClean="0">
                <a:solidFill>
                  <a:srgbClr val="FF0000"/>
                </a:solidFill>
              </a:rPr>
              <a:t>ns</a:t>
            </a:r>
            <a:endParaRPr lang="pt-BR" sz="8000" dirty="0" smtClean="0">
              <a:solidFill>
                <a:srgbClr val="FF0000"/>
              </a:solidFill>
            </a:endParaRPr>
          </a:p>
          <a:p>
            <a:pPr algn="just" eaLnBrk="1" hangingPunct="1">
              <a:buNone/>
              <a:defRPr/>
            </a:pPr>
            <a:r>
              <a:rPr lang="pt-BR" sz="8000" dirty="0" smtClean="0"/>
              <a:t>   </a:t>
            </a:r>
          </a:p>
          <a:p>
            <a:pPr algn="just" eaLnBrk="1" hangingPunct="1">
              <a:buNone/>
              <a:defRPr/>
            </a:pPr>
            <a:r>
              <a:rPr lang="pt-BR" sz="8000" dirty="0" smtClean="0"/>
              <a:t>As memórias </a:t>
            </a:r>
            <a:r>
              <a:rPr lang="pt-BR" sz="8000" dirty="0" err="1" smtClean="0"/>
              <a:t>cache</a:t>
            </a:r>
            <a:r>
              <a:rPr lang="pt-BR" sz="8000" dirty="0" smtClean="0"/>
              <a:t> L1 estão montadas dentro da CPU e devido a tecnologia de sua produção (Flip-Flop) ocupam em torno de 50% da CPU.</a:t>
            </a:r>
          </a:p>
          <a:p>
            <a:pPr algn="just" eaLnBrk="1" hangingPunct="1">
              <a:buNone/>
              <a:defRPr/>
            </a:pPr>
            <a:endParaRPr lang="pt-BR" sz="8000" dirty="0" smtClean="0"/>
          </a:p>
          <a:p>
            <a:pPr algn="just" eaLnBrk="1" hangingPunct="1">
              <a:buNone/>
              <a:defRPr/>
            </a:pPr>
            <a:r>
              <a:rPr lang="pt-BR" sz="8000" dirty="0" smtClean="0"/>
              <a:t>As memória </a:t>
            </a:r>
            <a:r>
              <a:rPr lang="pt-BR" sz="8000" dirty="0" err="1" smtClean="0"/>
              <a:t>cache</a:t>
            </a:r>
            <a:r>
              <a:rPr lang="pt-BR" sz="8000" dirty="0" smtClean="0"/>
              <a:t> L2 e L3 são externas à CPU e tem capacidade em torno de Megabytes.</a:t>
            </a:r>
          </a:p>
          <a:p>
            <a:pPr algn="just">
              <a:buNone/>
              <a:defRPr/>
            </a:pPr>
            <a:endParaRPr lang="pt-BR" sz="8000" dirty="0" smtClean="0"/>
          </a:p>
          <a:p>
            <a:pPr algn="just">
              <a:buNone/>
              <a:defRPr/>
            </a:pPr>
            <a:r>
              <a:rPr lang="pt-BR" sz="8000" dirty="0" smtClean="0"/>
              <a:t>Tecnologia SRAM </a:t>
            </a:r>
            <a:r>
              <a:rPr lang="pt-BR" sz="8000" dirty="0" err="1" smtClean="0"/>
              <a:t>Statica</a:t>
            </a:r>
            <a:r>
              <a:rPr lang="pt-BR" sz="8000" dirty="0" smtClean="0"/>
              <a:t> </a:t>
            </a:r>
            <a:r>
              <a:rPr lang="pt-BR" sz="8000" dirty="0" err="1" smtClean="0"/>
              <a:t>Dynamic</a:t>
            </a:r>
            <a:r>
              <a:rPr lang="pt-BR" sz="8000" dirty="0" smtClean="0"/>
              <a:t> </a:t>
            </a:r>
            <a:r>
              <a:rPr lang="pt-BR" sz="8000" dirty="0" err="1" smtClean="0">
                <a:solidFill>
                  <a:srgbClr val="FF0000"/>
                </a:solidFill>
              </a:rPr>
              <a:t>Random</a:t>
            </a:r>
            <a:r>
              <a:rPr lang="pt-BR" sz="8000" dirty="0" smtClean="0">
                <a:solidFill>
                  <a:srgbClr val="FF0000"/>
                </a:solidFill>
              </a:rPr>
              <a:t> </a:t>
            </a:r>
            <a:r>
              <a:rPr lang="pt-BR" sz="8000" dirty="0" err="1" smtClean="0">
                <a:solidFill>
                  <a:srgbClr val="FF0000"/>
                </a:solidFill>
              </a:rPr>
              <a:t>Acess</a:t>
            </a:r>
            <a:r>
              <a:rPr lang="pt-BR" sz="8000" dirty="0" smtClean="0">
                <a:solidFill>
                  <a:srgbClr val="FF0000"/>
                </a:solidFill>
              </a:rPr>
              <a:t> Memory. Tecnologia baseada em </a:t>
            </a:r>
            <a:r>
              <a:rPr lang="pt-BR" sz="8000" dirty="0" err="1" smtClean="0">
                <a:solidFill>
                  <a:srgbClr val="FF0000"/>
                </a:solidFill>
              </a:rPr>
              <a:t>Flip-Flops</a:t>
            </a:r>
            <a:r>
              <a:rPr lang="pt-BR" sz="8000" dirty="0" smtClean="0">
                <a:solidFill>
                  <a:srgbClr val="FF0000"/>
                </a:solidFill>
              </a:rPr>
              <a:t> (eletrônica, mais rápida).</a:t>
            </a:r>
            <a:endParaRPr lang="pt-BR" sz="8000" dirty="0" smtClean="0"/>
          </a:p>
          <a:p>
            <a:pPr algn="just">
              <a:buNone/>
              <a:defRPr/>
            </a:pPr>
            <a:r>
              <a:rPr lang="pt-BR" sz="8000" dirty="0" smtClean="0"/>
              <a:t> </a:t>
            </a:r>
          </a:p>
          <a:p>
            <a:pPr algn="just">
              <a:buNone/>
              <a:defRPr/>
            </a:pPr>
            <a:r>
              <a:rPr lang="pt-BR" sz="8000" dirty="0" smtClean="0"/>
              <a:t>Os processadores para </a:t>
            </a:r>
            <a:r>
              <a:rPr lang="pt-BR" sz="8000" dirty="0" smtClean="0">
                <a:solidFill>
                  <a:srgbClr val="FF0000"/>
                </a:solidFill>
              </a:rPr>
              <a:t>servidores </a:t>
            </a:r>
            <a:r>
              <a:rPr lang="pt-BR" sz="8000" dirty="0" smtClean="0"/>
              <a:t>possuem memórias </a:t>
            </a:r>
            <a:r>
              <a:rPr lang="pt-BR" sz="8000" dirty="0" err="1" smtClean="0"/>
              <a:t>cache</a:t>
            </a:r>
            <a:r>
              <a:rPr lang="pt-BR" sz="8000" dirty="0" smtClean="0"/>
              <a:t> de maior capacidade por necessidade de maior desempenho. Necessitam de maior capacidade de resfriamento e são mais caras. </a:t>
            </a:r>
          </a:p>
          <a:p>
            <a:pPr algn="just">
              <a:buNone/>
              <a:defRPr/>
            </a:pPr>
            <a:r>
              <a:rPr lang="pt-BR" sz="8000" dirty="0" smtClean="0"/>
              <a:t>               Exemplo: Processador </a:t>
            </a:r>
            <a:r>
              <a:rPr lang="pt-BR" sz="8000" dirty="0" smtClean="0">
                <a:solidFill>
                  <a:srgbClr val="FF0000"/>
                </a:solidFill>
              </a:rPr>
              <a:t>XEON (INTEL)</a:t>
            </a:r>
            <a:r>
              <a:rPr lang="pt-BR" sz="8000" dirty="0" smtClean="0"/>
              <a:t>. +-</a:t>
            </a:r>
            <a:r>
              <a:rPr lang="pt-BR" sz="8000" dirty="0" smtClean="0">
                <a:sym typeface="Wingdings" panose="05000000000000000000" pitchFamily="2" charset="2"/>
              </a:rPr>
              <a:t> R$10000,00.</a:t>
            </a:r>
            <a:endParaRPr lang="pt-BR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827584" y="0"/>
            <a:ext cx="7560840" cy="548680"/>
          </a:xfrm>
        </p:spPr>
        <p:txBody>
          <a:bodyPr>
            <a:normAutofit/>
          </a:bodyPr>
          <a:lstStyle/>
          <a:p>
            <a:pPr eaLnBrk="1" hangingPunct="1"/>
            <a:r>
              <a:rPr lang="pt-BR" sz="2800" u="sng" dirty="0" smtClean="0">
                <a:solidFill>
                  <a:srgbClr val="FF0000"/>
                </a:solidFill>
              </a:rPr>
              <a:t>Características obtidas via recursos do SO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95536" y="620688"/>
            <a:ext cx="8496943" cy="6192688"/>
          </a:xfrm>
        </p:spPr>
        <p:txBody>
          <a:bodyPr>
            <a:normAutofit fontScale="25000" lnSpcReduction="20000"/>
          </a:bodyPr>
          <a:lstStyle/>
          <a:p>
            <a:pPr algn="just" eaLnBrk="1" hangingPunct="1">
              <a:buNone/>
              <a:defRPr/>
            </a:pPr>
            <a:r>
              <a:rPr lang="pt-BR" sz="8000" dirty="0" smtClean="0"/>
              <a:t>Memória Principal/Memória Primária (pentes de memória).</a:t>
            </a:r>
          </a:p>
          <a:p>
            <a:pPr algn="just" eaLnBrk="1" hangingPunct="1">
              <a:buNone/>
              <a:defRPr/>
            </a:pPr>
            <a:endParaRPr lang="pt-BR" sz="8000" dirty="0" smtClean="0"/>
          </a:p>
          <a:p>
            <a:pPr algn="just">
              <a:defRPr/>
            </a:pPr>
            <a:r>
              <a:rPr lang="pt-BR" sz="8000" dirty="0" smtClean="0"/>
              <a:t>Tecnologia SDRAM (</a:t>
            </a:r>
            <a:r>
              <a:rPr lang="pt-BR" sz="8000" dirty="0" err="1" smtClean="0"/>
              <a:t>Syncronous</a:t>
            </a:r>
            <a:r>
              <a:rPr lang="pt-BR" sz="8000" dirty="0" smtClean="0"/>
              <a:t> </a:t>
            </a:r>
            <a:r>
              <a:rPr lang="pt-BR" sz="8000" dirty="0" err="1" smtClean="0"/>
              <a:t>Dynamic</a:t>
            </a:r>
            <a:r>
              <a:rPr lang="pt-BR" sz="8000" dirty="0" smtClean="0"/>
              <a:t> </a:t>
            </a:r>
            <a:r>
              <a:rPr lang="pt-BR" sz="8000" dirty="0" err="1" smtClean="0">
                <a:solidFill>
                  <a:srgbClr val="FF0000"/>
                </a:solidFill>
              </a:rPr>
              <a:t>Random</a:t>
            </a:r>
            <a:r>
              <a:rPr lang="pt-BR" sz="8000" dirty="0" smtClean="0">
                <a:solidFill>
                  <a:srgbClr val="FF0000"/>
                </a:solidFill>
              </a:rPr>
              <a:t> </a:t>
            </a:r>
            <a:r>
              <a:rPr lang="pt-BR" sz="8000" dirty="0" err="1" smtClean="0">
                <a:solidFill>
                  <a:srgbClr val="FF0000"/>
                </a:solidFill>
              </a:rPr>
              <a:t>Acess</a:t>
            </a:r>
            <a:r>
              <a:rPr lang="pt-BR" sz="8000" dirty="0" smtClean="0">
                <a:solidFill>
                  <a:srgbClr val="FF0000"/>
                </a:solidFill>
              </a:rPr>
              <a:t> Memory).</a:t>
            </a:r>
          </a:p>
          <a:p>
            <a:pPr algn="just">
              <a:buNone/>
              <a:defRPr/>
            </a:pPr>
            <a:r>
              <a:rPr lang="pt-BR" sz="8000" dirty="0" smtClean="0">
                <a:solidFill>
                  <a:srgbClr val="FF0000"/>
                </a:solidFill>
              </a:rPr>
              <a:t>       </a:t>
            </a:r>
            <a:r>
              <a:rPr lang="pt-BR" sz="8000" dirty="0" err="1" smtClean="0">
                <a:solidFill>
                  <a:srgbClr val="FF0000"/>
                </a:solidFill>
              </a:rPr>
              <a:t>Syncronous</a:t>
            </a:r>
            <a:r>
              <a:rPr lang="pt-BR" sz="8000" dirty="0" smtClean="0">
                <a:solidFill>
                  <a:srgbClr val="FF0000"/>
                </a:solidFill>
              </a:rPr>
              <a:t> </a:t>
            </a:r>
            <a:r>
              <a:rPr lang="pt-BR" sz="8000" dirty="0" smtClean="0">
                <a:solidFill>
                  <a:srgbClr val="FF0000"/>
                </a:solidFill>
                <a:sym typeface="Wingdings" pitchFamily="2" charset="2"/>
              </a:rPr>
              <a:t></a:t>
            </a:r>
            <a:r>
              <a:rPr lang="pt-BR" sz="8000" dirty="0" smtClean="0">
                <a:sym typeface="Wingdings" pitchFamily="2" charset="2"/>
              </a:rPr>
              <a:t> significa que tem sua operação controlada por </a:t>
            </a:r>
            <a:r>
              <a:rPr lang="pt-BR" sz="8000" dirty="0" err="1" smtClean="0">
                <a:sym typeface="Wingdings" pitchFamily="2" charset="2"/>
              </a:rPr>
              <a:t>clock</a:t>
            </a:r>
            <a:endParaRPr lang="pt-BR" sz="8000" dirty="0" smtClean="0"/>
          </a:p>
          <a:p>
            <a:pPr algn="just">
              <a:defRPr/>
            </a:pPr>
            <a:r>
              <a:rPr lang="pt-BR" sz="8000" dirty="0" smtClean="0">
                <a:solidFill>
                  <a:srgbClr val="FF0000"/>
                </a:solidFill>
              </a:rPr>
              <a:t> Tempo de acesso da ordem de 50ns:</a:t>
            </a:r>
            <a:endParaRPr lang="pt-BR" sz="8000" dirty="0" smtClean="0">
              <a:solidFill>
                <a:srgbClr val="00B0F0"/>
              </a:solidFill>
            </a:endParaRPr>
          </a:p>
          <a:p>
            <a:pPr algn="just">
              <a:defRPr/>
            </a:pPr>
            <a:endParaRPr lang="pt-BR" sz="8000" dirty="0" smtClean="0"/>
          </a:p>
          <a:p>
            <a:pPr algn="just">
              <a:defRPr/>
            </a:pPr>
            <a:r>
              <a:rPr lang="pt-BR" sz="8000" dirty="0" smtClean="0"/>
              <a:t>Memória: Tipo,frequência de operação?? : (DDR2) Double Data Rate 2</a:t>
            </a:r>
          </a:p>
          <a:p>
            <a:pPr algn="just">
              <a:defRPr/>
            </a:pPr>
            <a:r>
              <a:rPr lang="pt-BR" sz="8000" dirty="0" smtClean="0"/>
              <a:t>HD.  </a:t>
            </a:r>
          </a:p>
          <a:p>
            <a:pPr algn="just">
              <a:buNone/>
              <a:defRPr/>
            </a:pPr>
            <a:r>
              <a:rPr lang="pt-BR" sz="8000" dirty="0" smtClean="0"/>
              <a:t>    Capacidade: __311GB_____; tecnologia S</a:t>
            </a:r>
            <a:r>
              <a:rPr lang="pt-BR" sz="8000" dirty="0" smtClean="0">
                <a:solidFill>
                  <a:srgbClr val="FF0000"/>
                </a:solidFill>
              </a:rPr>
              <a:t>erial </a:t>
            </a:r>
            <a:r>
              <a:rPr lang="pt-BR" sz="8000" dirty="0" smtClean="0"/>
              <a:t>ATA (Serial ATA)/</a:t>
            </a:r>
          </a:p>
          <a:p>
            <a:pPr algn="just">
              <a:buNone/>
              <a:defRPr/>
            </a:pPr>
            <a:r>
              <a:rPr lang="pt-BR" sz="8000" dirty="0" smtClean="0">
                <a:solidFill>
                  <a:srgbClr val="FF0000"/>
                </a:solidFill>
              </a:rPr>
              <a:t>I</a:t>
            </a:r>
            <a:r>
              <a:rPr lang="pt-BR" sz="8000" dirty="0" smtClean="0"/>
              <a:t>NTEGRATED </a:t>
            </a:r>
            <a:r>
              <a:rPr lang="pt-BR" sz="8000" dirty="0" smtClean="0">
                <a:solidFill>
                  <a:srgbClr val="FF0000"/>
                </a:solidFill>
              </a:rPr>
              <a:t>D</a:t>
            </a:r>
            <a:r>
              <a:rPr lang="pt-BR" sz="8000" dirty="0" smtClean="0"/>
              <a:t>EVICE </a:t>
            </a:r>
            <a:r>
              <a:rPr lang="pt-BR" sz="8000" dirty="0" smtClean="0">
                <a:solidFill>
                  <a:srgbClr val="FF0000"/>
                </a:solidFill>
              </a:rPr>
              <a:t>E</a:t>
            </a:r>
            <a:r>
              <a:rPr lang="pt-BR" sz="8000" dirty="0" smtClean="0"/>
              <a:t>LETRONIC (IDE – </a:t>
            </a:r>
            <a:r>
              <a:rPr lang="pt-BR" sz="8000" dirty="0" err="1" smtClean="0"/>
              <a:t>P</a:t>
            </a:r>
            <a:r>
              <a:rPr lang="pt-BR" sz="8000" dirty="0" err="1" smtClean="0">
                <a:solidFill>
                  <a:srgbClr val="FF0000"/>
                </a:solidFill>
              </a:rPr>
              <a:t>aralell</a:t>
            </a:r>
            <a:r>
              <a:rPr lang="pt-BR" sz="8000" dirty="0" smtClean="0">
                <a:solidFill>
                  <a:srgbClr val="FF0000"/>
                </a:solidFill>
              </a:rPr>
              <a:t> </a:t>
            </a:r>
            <a:r>
              <a:rPr lang="pt-BR" sz="8000" dirty="0" smtClean="0"/>
              <a:t>ATA); </a:t>
            </a:r>
          </a:p>
          <a:p>
            <a:pPr algn="just">
              <a:buNone/>
              <a:defRPr/>
            </a:pPr>
            <a:r>
              <a:rPr lang="pt-BR" sz="8000" dirty="0" smtClean="0"/>
              <a:t>ELETROMECANICOS. 10 MICROSSEGUNDOS. 7200RPM</a:t>
            </a:r>
          </a:p>
          <a:p>
            <a:pPr algn="just">
              <a:buNone/>
              <a:defRPr/>
            </a:pPr>
            <a:r>
              <a:rPr lang="pt-BR" sz="8000" dirty="0" smtClean="0"/>
              <a:t>    SSD: </a:t>
            </a:r>
            <a:r>
              <a:rPr lang="pt-BR" sz="8000" dirty="0" err="1" smtClean="0"/>
              <a:t>Solid</a:t>
            </a:r>
            <a:r>
              <a:rPr lang="pt-BR" sz="8000" dirty="0" smtClean="0"/>
              <a:t> </a:t>
            </a:r>
            <a:r>
              <a:rPr lang="pt-BR" sz="8000" dirty="0" err="1" smtClean="0"/>
              <a:t>State</a:t>
            </a:r>
            <a:r>
              <a:rPr lang="pt-BR" sz="8000" dirty="0" smtClean="0"/>
              <a:t> </a:t>
            </a:r>
            <a:r>
              <a:rPr lang="pt-BR" sz="8000" dirty="0" err="1" smtClean="0"/>
              <a:t>Device</a:t>
            </a:r>
            <a:r>
              <a:rPr lang="pt-BR" sz="8000" dirty="0" smtClean="0"/>
              <a:t>: PENDRIVES</a:t>
            </a:r>
          </a:p>
          <a:p>
            <a:pPr algn="just">
              <a:defRPr/>
            </a:pPr>
            <a:r>
              <a:rPr lang="pt-BR" sz="8000" dirty="0" smtClean="0"/>
              <a:t>Sistema de arquivos (propriedades): </a:t>
            </a:r>
            <a:r>
              <a:rPr lang="pt-BR" sz="8000" dirty="0" smtClean="0">
                <a:solidFill>
                  <a:srgbClr val="FF0000"/>
                </a:solidFill>
              </a:rPr>
              <a:t>(NTFS)  </a:t>
            </a:r>
            <a:r>
              <a:rPr lang="pt-BR" sz="8000" dirty="0" err="1" smtClean="0">
                <a:solidFill>
                  <a:srgbClr val="FF0000"/>
                </a:solidFill>
              </a:rPr>
              <a:t>N</a:t>
            </a:r>
            <a:r>
              <a:rPr lang="pt-BR" sz="8000" dirty="0" err="1" smtClean="0"/>
              <a:t>ew</a:t>
            </a:r>
            <a:r>
              <a:rPr lang="pt-BR" sz="8000" dirty="0" err="1" smtClean="0">
                <a:solidFill>
                  <a:srgbClr val="FF0000"/>
                </a:solidFill>
              </a:rPr>
              <a:t>T</a:t>
            </a:r>
            <a:r>
              <a:rPr lang="pt-BR" sz="8000" dirty="0" err="1" smtClean="0"/>
              <a:t>echnology</a:t>
            </a:r>
            <a:r>
              <a:rPr lang="pt-BR" sz="8000" dirty="0" err="1" smtClean="0">
                <a:solidFill>
                  <a:srgbClr val="FF0000"/>
                </a:solidFill>
              </a:rPr>
              <a:t>F</a:t>
            </a:r>
            <a:r>
              <a:rPr lang="pt-BR" sz="8000" dirty="0" err="1" smtClean="0"/>
              <a:t>ile</a:t>
            </a:r>
            <a:r>
              <a:rPr lang="pt-BR" sz="8000" dirty="0" smtClean="0"/>
              <a:t> </a:t>
            </a:r>
            <a:r>
              <a:rPr lang="pt-BR" sz="8000" dirty="0" smtClean="0">
                <a:solidFill>
                  <a:srgbClr val="FF0000"/>
                </a:solidFill>
              </a:rPr>
              <a:t>S</a:t>
            </a:r>
            <a:r>
              <a:rPr lang="pt-BR" sz="8000" dirty="0" smtClean="0"/>
              <a:t>ystem</a:t>
            </a:r>
          </a:p>
          <a:p>
            <a:pPr algn="just">
              <a:defRPr/>
            </a:pPr>
            <a:r>
              <a:rPr lang="pt-BR" sz="8000" dirty="0" smtClean="0">
                <a:solidFill>
                  <a:srgbClr val="FF0000"/>
                </a:solidFill>
              </a:rPr>
              <a:t>F</a:t>
            </a:r>
            <a:r>
              <a:rPr lang="pt-BR" sz="8000" dirty="0" smtClean="0"/>
              <a:t>ile </a:t>
            </a:r>
            <a:r>
              <a:rPr lang="pt-BR" sz="8000" dirty="0" err="1" smtClean="0">
                <a:solidFill>
                  <a:srgbClr val="FF0000"/>
                </a:solidFill>
              </a:rPr>
              <a:t>A</a:t>
            </a:r>
            <a:r>
              <a:rPr lang="pt-BR" sz="8000" dirty="0" err="1" smtClean="0"/>
              <a:t>llocation</a:t>
            </a:r>
            <a:r>
              <a:rPr lang="pt-BR" sz="8000" dirty="0" smtClean="0"/>
              <a:t> </a:t>
            </a:r>
            <a:r>
              <a:rPr lang="pt-BR" sz="8000" dirty="0" err="1" smtClean="0">
                <a:solidFill>
                  <a:srgbClr val="FF0000"/>
                </a:solidFill>
              </a:rPr>
              <a:t>T</a:t>
            </a:r>
            <a:r>
              <a:rPr lang="pt-BR" sz="8000" dirty="0" err="1" smtClean="0"/>
              <a:t>able</a:t>
            </a:r>
            <a:r>
              <a:rPr lang="pt-BR" sz="8000" dirty="0" smtClean="0"/>
              <a:t>:    Fat 12; Fat 16; Fat 32.     PENDRIVE</a:t>
            </a:r>
          </a:p>
          <a:p>
            <a:pPr algn="just">
              <a:defRPr/>
            </a:pPr>
            <a:r>
              <a:rPr lang="pt-BR" sz="8000" dirty="0" err="1" smtClean="0"/>
              <a:t>exFat</a:t>
            </a:r>
            <a:r>
              <a:rPr lang="pt-BR" sz="8000" dirty="0" smtClean="0"/>
              <a:t>(</a:t>
            </a:r>
            <a:r>
              <a:rPr lang="pt-BR" sz="8000" dirty="0" err="1" smtClean="0"/>
              <a:t>extended</a:t>
            </a:r>
            <a:r>
              <a:rPr lang="pt-BR" sz="8000" dirty="0" smtClean="0"/>
              <a:t> Fat) </a:t>
            </a:r>
            <a:r>
              <a:rPr lang="pt-BR" sz="8000" dirty="0" smtClean="0">
                <a:sym typeface="Wingdings" panose="05000000000000000000" pitchFamily="2" charset="2"/>
              </a:rPr>
              <a:t> Permite gravar arquivos maiores que 4G</a:t>
            </a:r>
          </a:p>
          <a:p>
            <a:pPr marL="0" indent="0" algn="just">
              <a:buNone/>
              <a:defRPr/>
            </a:pPr>
            <a:r>
              <a:rPr lang="pt-BR" sz="8000" dirty="0">
                <a:sym typeface="Wingdings" panose="05000000000000000000" pitchFamily="2" charset="2"/>
              </a:rPr>
              <a:t> </a:t>
            </a:r>
            <a:r>
              <a:rPr lang="pt-BR" sz="8000" dirty="0" smtClean="0">
                <a:sym typeface="Wingdings" panose="05000000000000000000" pitchFamily="2" charset="2"/>
              </a:rPr>
              <a:t> LINUX:EXT3</a:t>
            </a:r>
            <a:endParaRPr lang="pt-BR" sz="8000" dirty="0" smtClean="0"/>
          </a:p>
          <a:p>
            <a:pPr algn="just">
              <a:buNone/>
              <a:defRPr/>
            </a:pPr>
            <a:endParaRPr lang="pt-BR" sz="3600" dirty="0" smtClean="0"/>
          </a:p>
          <a:p>
            <a:pPr algn="just" eaLnBrk="1" hangingPunct="1">
              <a:defRPr/>
            </a:pPr>
            <a:endParaRPr lang="pt-BR" sz="3600" dirty="0" smtClean="0"/>
          </a:p>
          <a:p>
            <a:pPr algn="just" eaLnBrk="1" hangingPunct="1">
              <a:defRPr/>
            </a:pPr>
            <a:endParaRPr lang="pt-BR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Periféricos</a:t>
            </a:r>
            <a:endParaRPr lang="pt-BR" dirty="0"/>
          </a:p>
        </p:txBody>
      </p:sp>
      <p:pic>
        <p:nvPicPr>
          <p:cNvPr id="4" name="Imagem 6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6948" y="1600200"/>
            <a:ext cx="4850104" cy="4525963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67544" y="274638"/>
            <a:ext cx="8219256" cy="994122"/>
          </a:xfrm>
        </p:spPr>
        <p:txBody>
          <a:bodyPr>
            <a:noAutofit/>
          </a:bodyPr>
          <a:lstStyle/>
          <a:p>
            <a:r>
              <a:rPr lang="pt-BR" sz="3600" dirty="0" smtClean="0"/>
              <a:t>Tempos de resposta. </a:t>
            </a:r>
            <a:br>
              <a:rPr lang="pt-BR" sz="3600" dirty="0" smtClean="0"/>
            </a:br>
            <a:r>
              <a:rPr lang="pt-BR" sz="3600" dirty="0" smtClean="0"/>
              <a:t>Ordem de grandeza</a:t>
            </a:r>
            <a:endParaRPr lang="pt-BR" sz="360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425355"/>
          </a:xfrm>
        </p:spPr>
        <p:txBody>
          <a:bodyPr/>
          <a:lstStyle/>
          <a:p>
            <a:r>
              <a:rPr lang="pt-BR" dirty="0" smtClean="0">
                <a:solidFill>
                  <a:srgbClr val="FF0000"/>
                </a:solidFill>
              </a:rPr>
              <a:t>CPU.  Tempo de resposta: +-1 </a:t>
            </a:r>
            <a:r>
              <a:rPr lang="pt-BR" dirty="0" err="1" smtClean="0">
                <a:solidFill>
                  <a:srgbClr val="FF0000"/>
                </a:solidFill>
              </a:rPr>
              <a:t>ns</a:t>
            </a:r>
            <a:r>
              <a:rPr lang="pt-BR" dirty="0" smtClean="0">
                <a:solidFill>
                  <a:srgbClr val="FF0000"/>
                </a:solidFill>
              </a:rPr>
              <a:t> </a:t>
            </a:r>
          </a:p>
          <a:p>
            <a:r>
              <a:rPr lang="pt-BR" dirty="0" smtClean="0">
                <a:solidFill>
                  <a:srgbClr val="FF0000"/>
                </a:solidFill>
              </a:rPr>
              <a:t>Memória cache: &lt;5ns   Volume; 50% do volume </a:t>
            </a:r>
            <a:endParaRPr lang="pt-BR" dirty="0">
              <a:solidFill>
                <a:srgbClr val="FF0000"/>
              </a:solidFill>
            </a:endParaRPr>
          </a:p>
          <a:p>
            <a:pPr marL="0" indent="0"/>
            <a:r>
              <a:rPr lang="pt-BR" dirty="0" smtClean="0"/>
              <a:t> RAM: </a:t>
            </a:r>
            <a:r>
              <a:rPr lang="pt-BR" dirty="0" smtClean="0">
                <a:solidFill>
                  <a:srgbClr val="FF0000"/>
                </a:solidFill>
              </a:rPr>
              <a:t>+- </a:t>
            </a:r>
            <a:r>
              <a:rPr lang="pt-BR" dirty="0" smtClean="0"/>
              <a:t>50ns </a:t>
            </a:r>
          </a:p>
          <a:p>
            <a:pPr marL="0" indent="0"/>
            <a:r>
              <a:rPr lang="pt-BR" dirty="0" err="1" smtClean="0"/>
              <a:t>HDs</a:t>
            </a:r>
            <a:r>
              <a:rPr lang="pt-BR" dirty="0" smtClean="0"/>
              <a:t>: </a:t>
            </a:r>
            <a:r>
              <a:rPr lang="pt-BR" dirty="0" smtClean="0">
                <a:solidFill>
                  <a:srgbClr val="FF0000"/>
                </a:solidFill>
              </a:rPr>
              <a:t>+-1 </a:t>
            </a:r>
            <a:r>
              <a:rPr lang="pt-BR" dirty="0" err="1" smtClean="0">
                <a:solidFill>
                  <a:srgbClr val="FF0000"/>
                </a:solidFill>
              </a:rPr>
              <a:t>ns</a:t>
            </a:r>
            <a:r>
              <a:rPr lang="pt-BR" dirty="0" smtClean="0"/>
              <a:t>    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41663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2051720" y="116632"/>
            <a:ext cx="4896544" cy="346050"/>
          </a:xfrm>
        </p:spPr>
        <p:txBody>
          <a:bodyPr>
            <a:noAutofit/>
          </a:bodyPr>
          <a:lstStyle/>
          <a:p>
            <a:r>
              <a:rPr lang="pt-BR" sz="2000" dirty="0" smtClean="0"/>
              <a:t>Gerenciador de dispositivos: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620688"/>
            <a:ext cx="9036496" cy="6048672"/>
          </a:xfrm>
        </p:spPr>
        <p:txBody>
          <a:bodyPr>
            <a:normAutofit fontScale="77500" lnSpcReduction="20000"/>
          </a:bodyPr>
          <a:lstStyle/>
          <a:p>
            <a:pPr algn="just">
              <a:buNone/>
            </a:pPr>
            <a:r>
              <a:rPr lang="pt-BR" dirty="0" smtClean="0"/>
              <a:t>Análise </a:t>
            </a:r>
            <a:r>
              <a:rPr lang="pt-BR" dirty="0" smtClean="0"/>
              <a:t>de </a:t>
            </a:r>
            <a:r>
              <a:rPr lang="pt-BR" dirty="0" smtClean="0"/>
              <a:t>periféricos do </a:t>
            </a:r>
            <a:r>
              <a:rPr lang="pt-BR" dirty="0" smtClean="0"/>
              <a:t>sistema.</a:t>
            </a:r>
            <a:endParaRPr lang="pt-BR" dirty="0" smtClean="0"/>
          </a:p>
          <a:p>
            <a:pPr algn="just">
              <a:buNone/>
            </a:pPr>
            <a:r>
              <a:rPr lang="pt-BR" dirty="0" smtClean="0"/>
              <a:t>Conflito </a:t>
            </a:r>
            <a:r>
              <a:rPr lang="pt-BR" dirty="0" smtClean="0"/>
              <a:t>em algum dispositivo? _____________</a:t>
            </a:r>
          </a:p>
          <a:p>
            <a:pPr algn="just">
              <a:buNone/>
            </a:pPr>
            <a:r>
              <a:rPr lang="pt-BR" dirty="0" smtClean="0"/>
              <a:t>Descreva os recursos utilizados pela </a:t>
            </a:r>
            <a:r>
              <a:rPr lang="pt-BR" dirty="0" smtClean="0">
                <a:solidFill>
                  <a:srgbClr val="FF0000"/>
                </a:solidFill>
              </a:rPr>
              <a:t>placa de rede</a:t>
            </a:r>
            <a:r>
              <a:rPr lang="pt-BR" dirty="0" smtClean="0"/>
              <a:t>:</a:t>
            </a:r>
          </a:p>
          <a:p>
            <a:pPr algn="just"/>
            <a:r>
              <a:rPr lang="pt-BR" dirty="0" smtClean="0">
                <a:solidFill>
                  <a:srgbClr val="00B0F0"/>
                </a:solidFill>
              </a:rPr>
              <a:t>IRQ (</a:t>
            </a:r>
            <a:r>
              <a:rPr lang="pt-BR" dirty="0" err="1" smtClean="0">
                <a:solidFill>
                  <a:srgbClr val="FF0000"/>
                </a:solidFill>
              </a:rPr>
              <a:t>I</a:t>
            </a:r>
            <a:r>
              <a:rPr lang="pt-BR" dirty="0" err="1" smtClean="0"/>
              <a:t>nterrupt</a:t>
            </a:r>
            <a:r>
              <a:rPr lang="pt-BR" dirty="0" smtClean="0"/>
              <a:t> </a:t>
            </a:r>
            <a:r>
              <a:rPr lang="pt-BR" dirty="0" err="1" smtClean="0">
                <a:solidFill>
                  <a:srgbClr val="FF0000"/>
                </a:solidFill>
              </a:rPr>
              <a:t>R</a:t>
            </a:r>
            <a:r>
              <a:rPr lang="pt-BR" dirty="0" err="1" smtClean="0"/>
              <a:t>e</a:t>
            </a:r>
            <a:r>
              <a:rPr lang="pt-BR" dirty="0" err="1" smtClean="0">
                <a:solidFill>
                  <a:srgbClr val="FF0000"/>
                </a:solidFill>
              </a:rPr>
              <a:t>Q</a:t>
            </a:r>
            <a:r>
              <a:rPr lang="pt-BR" dirty="0" err="1" smtClean="0"/>
              <a:t>uest</a:t>
            </a:r>
            <a:r>
              <a:rPr lang="pt-BR" dirty="0" smtClean="0"/>
              <a:t>): </a:t>
            </a:r>
            <a:r>
              <a:rPr lang="pt-BR" dirty="0" smtClean="0"/>
              <a:t>Solicitação de </a:t>
            </a:r>
            <a:r>
              <a:rPr lang="pt-BR" dirty="0" smtClean="0"/>
              <a:t>serviço do SO </a:t>
            </a:r>
            <a:r>
              <a:rPr lang="pt-BR" dirty="0" smtClean="0"/>
              <a:t>feito pelo HW (</a:t>
            </a:r>
            <a:r>
              <a:rPr lang="pt-BR" dirty="0" err="1" smtClean="0"/>
              <a:t>vetorado</a:t>
            </a:r>
            <a:r>
              <a:rPr lang="pt-BR" dirty="0" smtClean="0"/>
              <a:t>): </a:t>
            </a:r>
            <a:r>
              <a:rPr lang="pt-BR" sz="3300" dirty="0" smtClean="0"/>
              <a:t>0 1 2 ...</a:t>
            </a:r>
          </a:p>
          <a:p>
            <a:pPr algn="just">
              <a:buNone/>
            </a:pPr>
            <a:r>
              <a:rPr lang="pt-BR" sz="3300" dirty="0" smtClean="0">
                <a:sym typeface="Wingdings" panose="05000000000000000000" pitchFamily="2" charset="2"/>
              </a:rPr>
              <a:t>    </a:t>
            </a:r>
            <a:r>
              <a:rPr lang="pt-BR" sz="3300" dirty="0" smtClean="0">
                <a:sym typeface="Wingdings" panose="05000000000000000000" pitchFamily="2" charset="2"/>
              </a:rPr>
              <a:t>*</a:t>
            </a:r>
            <a:r>
              <a:rPr lang="pt-BR" sz="3600" dirty="0" smtClean="0">
                <a:sym typeface="Wingdings" panose="05000000000000000000" pitchFamily="2" charset="2"/>
              </a:rPr>
              <a:t>Dispositivo </a:t>
            </a:r>
            <a:r>
              <a:rPr lang="pt-BR" sz="3600" dirty="0" smtClean="0">
                <a:sym typeface="Wingdings" panose="05000000000000000000" pitchFamily="2" charset="2"/>
              </a:rPr>
              <a:t>lento: maior prioridade de </a:t>
            </a:r>
            <a:r>
              <a:rPr lang="pt-BR" sz="3600" dirty="0" smtClean="0">
                <a:sym typeface="Wingdings" panose="05000000000000000000" pitchFamily="2" charset="2"/>
              </a:rPr>
              <a:t>atendimento.</a:t>
            </a:r>
            <a:endParaRPr lang="pt-BR" sz="3600" dirty="0" smtClean="0"/>
          </a:p>
          <a:p>
            <a:pPr algn="just"/>
            <a:r>
              <a:rPr lang="pt-BR" dirty="0" smtClean="0">
                <a:solidFill>
                  <a:srgbClr val="FF0000"/>
                </a:solidFill>
              </a:rPr>
              <a:t>Intervalo de Memória</a:t>
            </a:r>
            <a:r>
              <a:rPr lang="pt-BR" dirty="0" smtClean="0"/>
              <a:t>: </a:t>
            </a:r>
            <a:r>
              <a:rPr lang="pt-BR" dirty="0" smtClean="0"/>
              <a:t>Local de memória onde estão instalados </a:t>
            </a:r>
            <a:r>
              <a:rPr lang="pt-BR" dirty="0" smtClean="0"/>
              <a:t>os </a:t>
            </a:r>
            <a:r>
              <a:rPr lang="pt-BR" dirty="0" smtClean="0">
                <a:solidFill>
                  <a:srgbClr val="00B0F0"/>
                </a:solidFill>
              </a:rPr>
              <a:t>drivers</a:t>
            </a:r>
            <a:r>
              <a:rPr lang="pt-BR" dirty="0" smtClean="0"/>
              <a:t> do dispositivo</a:t>
            </a:r>
          </a:p>
          <a:p>
            <a:pPr algn="just">
              <a:buNone/>
            </a:pPr>
            <a:r>
              <a:rPr lang="pt-BR" dirty="0" smtClean="0"/>
              <a:t>     </a:t>
            </a:r>
            <a:r>
              <a:rPr lang="pt-BR" dirty="0" smtClean="0"/>
              <a:t>Driver: </a:t>
            </a:r>
            <a:r>
              <a:rPr lang="pt-BR" dirty="0" smtClean="0">
                <a:solidFill>
                  <a:srgbClr val="00B0F0"/>
                </a:solidFill>
              </a:rPr>
              <a:t>programa </a:t>
            </a:r>
            <a:r>
              <a:rPr lang="pt-BR" dirty="0" smtClean="0">
                <a:solidFill>
                  <a:srgbClr val="00B0F0"/>
                </a:solidFill>
              </a:rPr>
              <a:t>que controla o </a:t>
            </a:r>
            <a:r>
              <a:rPr lang="pt-BR" dirty="0" smtClean="0">
                <a:solidFill>
                  <a:srgbClr val="00B0F0"/>
                </a:solidFill>
              </a:rPr>
              <a:t>periférico.</a:t>
            </a:r>
            <a:r>
              <a:rPr lang="pt-BR" dirty="0" smtClean="0"/>
              <a:t> </a:t>
            </a:r>
            <a:endParaRPr lang="pt-BR" dirty="0" smtClean="0"/>
          </a:p>
          <a:p>
            <a:pPr algn="just"/>
            <a:r>
              <a:rPr lang="pt-BR" dirty="0" smtClean="0">
                <a:solidFill>
                  <a:srgbClr val="00B050"/>
                </a:solidFill>
              </a:rPr>
              <a:t>Intervalo de </a:t>
            </a:r>
            <a:r>
              <a:rPr lang="pt-BR" dirty="0" smtClean="0">
                <a:solidFill>
                  <a:srgbClr val="00B050"/>
                </a:solidFill>
              </a:rPr>
              <a:t>E/S. Quantidade de *</a:t>
            </a:r>
            <a:r>
              <a:rPr lang="pt-BR" dirty="0" err="1" smtClean="0"/>
              <a:t>ports</a:t>
            </a:r>
            <a:r>
              <a:rPr lang="pt-BR" dirty="0" smtClean="0"/>
              <a:t> utilizados pela interface.</a:t>
            </a:r>
          </a:p>
          <a:p>
            <a:pPr marL="0" indent="0" algn="just">
              <a:buNone/>
            </a:pPr>
            <a:r>
              <a:rPr lang="pt-BR" dirty="0" smtClean="0"/>
              <a:t>Resposta:  </a:t>
            </a:r>
          </a:p>
          <a:p>
            <a:pPr marL="0" indent="0" algn="just">
              <a:buNone/>
            </a:pPr>
            <a:r>
              <a:rPr lang="pt-BR" dirty="0" smtClean="0"/>
              <a:t>IRQ:              Intervalo de memória:                Intervalo de E/S.</a:t>
            </a:r>
          </a:p>
          <a:p>
            <a:pPr algn="just"/>
            <a:endParaRPr lang="pt-BR" dirty="0" smtClean="0"/>
          </a:p>
          <a:p>
            <a:pPr algn="just"/>
            <a:r>
              <a:rPr lang="pt-BR" dirty="0" smtClean="0"/>
              <a:t>“</a:t>
            </a:r>
            <a:r>
              <a:rPr lang="pt-BR" dirty="0" err="1" smtClean="0"/>
              <a:t>Port</a:t>
            </a:r>
            <a:r>
              <a:rPr lang="pt-BR" dirty="0" smtClean="0"/>
              <a:t>”. Conjunto de hardware para comunicação com interfaces. Composto com barramento de 8 bits. </a:t>
            </a:r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Exemplo: placa de rede.</a:t>
            </a:r>
            <a:endParaRPr lang="pt-BR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38424" y="1274619"/>
            <a:ext cx="4453855" cy="4574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2051720" y="274638"/>
            <a:ext cx="4896544" cy="562074"/>
          </a:xfrm>
        </p:spPr>
        <p:txBody>
          <a:bodyPr>
            <a:normAutofit fontScale="90000"/>
          </a:bodyPr>
          <a:lstStyle/>
          <a:p>
            <a:r>
              <a:rPr lang="pt-BR" u="sng" dirty="0" smtClean="0"/>
              <a:t>Questões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45435"/>
          </a:xfrm>
        </p:spPr>
        <p:txBody>
          <a:bodyPr>
            <a:normAutofit/>
          </a:bodyPr>
          <a:lstStyle/>
          <a:p>
            <a:pPr algn="just">
              <a:buNone/>
            </a:pPr>
            <a:r>
              <a:rPr lang="pt-BR" dirty="0" smtClean="0"/>
              <a:t>    Caracterize (HW de dispositivo à sua escolha)</a:t>
            </a:r>
          </a:p>
          <a:p>
            <a:pPr algn="just">
              <a:buNone/>
            </a:pPr>
            <a:r>
              <a:rPr lang="pt-BR" dirty="0" smtClean="0"/>
              <a:t>  Dispositivo</a:t>
            </a:r>
            <a:r>
              <a:rPr lang="pt-BR" dirty="0" smtClean="0"/>
              <a:t>:_________________</a:t>
            </a:r>
            <a:endParaRPr lang="pt-BR" dirty="0" smtClean="0"/>
          </a:p>
          <a:p>
            <a:pPr algn="just"/>
            <a:r>
              <a:rPr lang="pt-BR" dirty="0" smtClean="0"/>
              <a:t> IRQ: ___________________________</a:t>
            </a:r>
          </a:p>
          <a:p>
            <a:pPr algn="just">
              <a:buNone/>
            </a:pPr>
            <a:endParaRPr lang="pt-BR" dirty="0" smtClean="0"/>
          </a:p>
          <a:p>
            <a:pPr algn="just"/>
            <a:r>
              <a:rPr lang="pt-BR" dirty="0" smtClean="0"/>
              <a:t>Intervalos de Memória:  _________________</a:t>
            </a:r>
          </a:p>
          <a:p>
            <a:pPr algn="just"/>
            <a:endParaRPr lang="pt-BR" dirty="0" smtClean="0"/>
          </a:p>
          <a:p>
            <a:pPr algn="just"/>
            <a:r>
              <a:rPr lang="pt-BR" dirty="0" smtClean="0"/>
              <a:t> Intervalo de E/S: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u="sng" dirty="0" smtClean="0"/>
              <a:t>Medida de taxa de transferência.</a:t>
            </a:r>
          </a:p>
        </p:txBody>
      </p:sp>
      <p:sp>
        <p:nvSpPr>
          <p:cNvPr id="21507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endParaRPr lang="pt-BR" dirty="0" smtClean="0"/>
          </a:p>
          <a:p>
            <a:r>
              <a:rPr lang="pt-BR" dirty="0" smtClean="0"/>
              <a:t>Transfira o conteúdo de um pen drive para o HD.  Meça a taxa de transferência de um </a:t>
            </a:r>
            <a:r>
              <a:rPr lang="pt-BR" dirty="0" err="1" smtClean="0"/>
              <a:t>pendrive</a:t>
            </a:r>
            <a:r>
              <a:rPr lang="pt-BR" dirty="0" smtClean="0"/>
              <a:t> para o desktop: _______________________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pt-BR" u="sng" dirty="0" smtClean="0"/>
              <a:t>Modelo para arquitetura AMD</a:t>
            </a:r>
          </a:p>
        </p:txBody>
      </p:sp>
      <p:sp>
        <p:nvSpPr>
          <p:cNvPr id="22531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259387"/>
          </a:xfrm>
        </p:spPr>
        <p:txBody>
          <a:bodyPr/>
          <a:lstStyle/>
          <a:p>
            <a:endParaRPr lang="pt-BR" smtClean="0"/>
          </a:p>
        </p:txBody>
      </p:sp>
      <p:pic>
        <p:nvPicPr>
          <p:cNvPr id="22532" name="Imagem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520" y="836712"/>
            <a:ext cx="8496944" cy="5624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u="sng" dirty="0" smtClean="0"/>
              <a:t>Modelo para arquitetura AMD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pt-BR" dirty="0" smtClean="0"/>
              <a:t>Calcule as taxas de transferência para:</a:t>
            </a:r>
          </a:p>
          <a:p>
            <a:r>
              <a:rPr lang="pt-BR" dirty="0" smtClean="0"/>
              <a:t>FSB: </a:t>
            </a:r>
          </a:p>
          <a:p>
            <a:pPr algn="r">
              <a:buNone/>
            </a:pPr>
            <a:r>
              <a:rPr lang="pt-BR" dirty="0" smtClean="0"/>
              <a:t>Resposta:200 *72 Mb/s</a:t>
            </a:r>
            <a:r>
              <a:rPr lang="pt-BR" dirty="0"/>
              <a:t>= 14400 </a:t>
            </a:r>
            <a:r>
              <a:rPr lang="pt-BR" dirty="0" smtClean="0"/>
              <a:t>M</a:t>
            </a:r>
            <a:r>
              <a:rPr lang="pt-BR" dirty="0" smtClean="0">
                <a:solidFill>
                  <a:srgbClr val="00B0F0"/>
                </a:solidFill>
              </a:rPr>
              <a:t>b</a:t>
            </a:r>
            <a:r>
              <a:rPr lang="pt-BR" dirty="0" smtClean="0"/>
              <a:t>/s</a:t>
            </a:r>
          </a:p>
          <a:p>
            <a:pPr algn="ctr">
              <a:buNone/>
            </a:pPr>
            <a:r>
              <a:rPr lang="pt-BR" dirty="0" smtClean="0"/>
              <a:t>OU também:</a:t>
            </a:r>
            <a:endParaRPr lang="pt-BR" dirty="0"/>
          </a:p>
          <a:p>
            <a:pPr marL="0" indent="0" algn="r">
              <a:buNone/>
            </a:pPr>
            <a:r>
              <a:rPr lang="pt-BR" dirty="0" smtClean="0"/>
              <a:t>       </a:t>
            </a:r>
            <a:r>
              <a:rPr lang="pt-BR" dirty="0" smtClean="0"/>
              <a:t>200*9M</a:t>
            </a:r>
            <a:r>
              <a:rPr lang="pt-BR" dirty="0" smtClean="0">
                <a:solidFill>
                  <a:srgbClr val="FF0000"/>
                </a:solidFill>
              </a:rPr>
              <a:t>B</a:t>
            </a:r>
            <a:r>
              <a:rPr lang="pt-BR" dirty="0" smtClean="0"/>
              <a:t>/s=1800M</a:t>
            </a:r>
            <a:r>
              <a:rPr lang="pt-BR" dirty="0" smtClean="0">
                <a:solidFill>
                  <a:srgbClr val="FF0000"/>
                </a:solidFill>
              </a:rPr>
              <a:t>B</a:t>
            </a:r>
            <a:r>
              <a:rPr lang="pt-BR" dirty="0" smtClean="0"/>
              <a:t>/s     =  1,8GB/s</a:t>
            </a:r>
          </a:p>
          <a:p>
            <a:pPr>
              <a:buNone/>
            </a:pPr>
            <a:r>
              <a:rPr lang="pt-BR" dirty="0" smtClean="0"/>
              <a:t>Nota: </a:t>
            </a:r>
            <a:r>
              <a:rPr lang="pt-BR" dirty="0" smtClean="0"/>
              <a:t>72b/8=9B</a:t>
            </a:r>
            <a:endParaRPr lang="pt-BR" dirty="0" smtClean="0"/>
          </a:p>
          <a:p>
            <a:pPr>
              <a:buNone/>
            </a:pPr>
            <a:endParaRPr lang="pt-BR" dirty="0" smtClean="0"/>
          </a:p>
          <a:p>
            <a:endParaRPr lang="pt-BR" dirty="0" smtClean="0"/>
          </a:p>
          <a:p>
            <a:endParaRPr lang="pt-BR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ítulo 1"/>
          <p:cNvSpPr>
            <a:spLocks noGrp="1"/>
          </p:cNvSpPr>
          <p:nvPr>
            <p:ph type="title"/>
          </p:nvPr>
        </p:nvSpPr>
        <p:spPr>
          <a:xfrm>
            <a:off x="179388" y="115888"/>
            <a:ext cx="8507412" cy="1009650"/>
          </a:xfrm>
        </p:spPr>
        <p:txBody>
          <a:bodyPr/>
          <a:lstStyle/>
          <a:p>
            <a:r>
              <a:rPr lang="pt-BR" u="sng" smtClean="0"/>
              <a:t>Modelo Athlon – 64 bits</a:t>
            </a:r>
          </a:p>
        </p:txBody>
      </p:sp>
      <p:sp>
        <p:nvSpPr>
          <p:cNvPr id="23555" name="Espaço Reservado para Conteúdo 2"/>
          <p:cNvSpPr>
            <a:spLocks noGrp="1"/>
          </p:cNvSpPr>
          <p:nvPr>
            <p:ph idx="1"/>
          </p:nvPr>
        </p:nvSpPr>
        <p:spPr>
          <a:xfrm>
            <a:off x="179388" y="1268413"/>
            <a:ext cx="8507412" cy="5473700"/>
          </a:xfrm>
        </p:spPr>
        <p:txBody>
          <a:bodyPr/>
          <a:lstStyle/>
          <a:p>
            <a:endParaRPr lang="pt-BR" smtClean="0"/>
          </a:p>
        </p:txBody>
      </p:sp>
      <p:pic>
        <p:nvPicPr>
          <p:cNvPr id="2355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388" y="1268413"/>
            <a:ext cx="8507412" cy="54737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07704" y="274638"/>
            <a:ext cx="5688632" cy="706090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Exercícios obrigatórios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 smtClean="0"/>
              <a:t>Qual o SO de sua máquina (Versão e bits):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 smtClean="0"/>
              <a:t>Versão e modelo do Processador: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 err="1" smtClean="0"/>
              <a:t>Clock</a:t>
            </a:r>
            <a:endParaRPr lang="pt-BR" sz="2400" dirty="0" smtClean="0"/>
          </a:p>
          <a:p>
            <a:pPr marL="457200" indent="-457200">
              <a:buFont typeface="+mj-lt"/>
              <a:buAutoNum type="arabicPeriod"/>
            </a:pPr>
            <a:r>
              <a:rPr lang="pt-BR" sz="2400" dirty="0" smtClean="0"/>
              <a:t>Quantidade de memória (total e livre)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 err="1" smtClean="0"/>
              <a:t>Caches</a:t>
            </a:r>
            <a:r>
              <a:rPr lang="pt-BR" sz="2400" dirty="0" smtClean="0"/>
              <a:t> (tipo e quantidade):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 smtClean="0"/>
              <a:t>HD. </a:t>
            </a:r>
            <a:r>
              <a:rPr lang="pt-BR" sz="2000" dirty="0" smtClean="0"/>
              <a:t>Capacidade:                  Tecnologia:            Sistema de arquivos: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000" dirty="0" smtClean="0"/>
              <a:t>Exemplos de dispositivos </a:t>
            </a:r>
            <a:r>
              <a:rPr lang="pt-BR" sz="2000" dirty="0" smtClean="0"/>
              <a:t>“</a:t>
            </a:r>
            <a:r>
              <a:rPr lang="pt-BR" sz="2000" dirty="0" err="1" smtClean="0"/>
              <a:t>on</a:t>
            </a:r>
            <a:r>
              <a:rPr lang="pt-BR" sz="2000" dirty="0" smtClean="0"/>
              <a:t> </a:t>
            </a:r>
            <a:r>
              <a:rPr lang="pt-BR" sz="2000" dirty="0" err="1" smtClean="0"/>
              <a:t>board</a:t>
            </a:r>
            <a:r>
              <a:rPr lang="pt-BR" sz="2000" dirty="0" smtClean="0"/>
              <a:t>”.</a:t>
            </a:r>
            <a:endParaRPr lang="pt-BR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pt-BR" sz="2000" dirty="0" smtClean="0"/>
              <a:t>Caracterização da </a:t>
            </a:r>
            <a:r>
              <a:rPr lang="pt-BR" sz="2000" dirty="0" smtClean="0"/>
              <a:t>comunicação </a:t>
            </a:r>
            <a:r>
              <a:rPr lang="pt-BR" sz="2000" dirty="0" smtClean="0"/>
              <a:t>serial.   COM1</a:t>
            </a:r>
            <a:r>
              <a:rPr lang="pt-BR" sz="2000" dirty="0" smtClean="0"/>
              <a:t>.    IRQ:                Intervalo de Memória:                             Intervalo de E/S. 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000" dirty="0" smtClean="0"/>
              <a:t>Taxa de transferência aproximada de um </a:t>
            </a:r>
            <a:r>
              <a:rPr lang="pt-BR" sz="2000" dirty="0" err="1" smtClean="0"/>
              <a:t>pendrive</a:t>
            </a:r>
            <a:r>
              <a:rPr lang="pt-BR" sz="2000" dirty="0" smtClean="0"/>
              <a:t> </a:t>
            </a:r>
            <a:r>
              <a:rPr lang="pt-BR" sz="2000" dirty="0" smtClean="0"/>
              <a:t>(e </a:t>
            </a:r>
            <a:r>
              <a:rPr lang="pt-BR" sz="2000" dirty="0" smtClean="0"/>
              <a:t>de um </a:t>
            </a:r>
            <a:r>
              <a:rPr lang="pt-BR" sz="2000" dirty="0" smtClean="0"/>
              <a:t>CD) </a:t>
            </a:r>
            <a:r>
              <a:rPr lang="pt-BR" sz="2000" dirty="0" smtClean="0"/>
              <a:t>para o desktop</a:t>
            </a:r>
            <a:r>
              <a:rPr lang="pt-BR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000" dirty="0" smtClean="0"/>
              <a:t> Quais os valores </a:t>
            </a:r>
            <a:r>
              <a:rPr lang="pt-BR" sz="2000" smtClean="0"/>
              <a:t>de IR: ____________; </a:t>
            </a:r>
            <a:r>
              <a:rPr lang="pt-BR" sz="2000" dirty="0" smtClean="0"/>
              <a:t>Intervalo </a:t>
            </a:r>
            <a:r>
              <a:rPr lang="pt-BR" sz="2000" smtClean="0"/>
              <a:t>de E/S: ____________              </a:t>
            </a:r>
            <a:r>
              <a:rPr lang="pt-BR" sz="2000" dirty="0" smtClean="0"/>
              <a:t>e Intervalo </a:t>
            </a:r>
            <a:r>
              <a:rPr lang="pt-BR" sz="2000" smtClean="0"/>
              <a:t>de memória: ___________para </a:t>
            </a:r>
            <a:r>
              <a:rPr lang="pt-BR" sz="2000" dirty="0" smtClean="0"/>
              <a:t>a </a:t>
            </a:r>
            <a:r>
              <a:rPr lang="pt-BR" sz="2000" smtClean="0"/>
              <a:t>porta de E/S COM1   </a:t>
            </a:r>
            <a:endParaRPr lang="pt-BR" sz="2000" dirty="0" smtClean="0"/>
          </a:p>
          <a:p>
            <a:pPr marL="457200" indent="-457200">
              <a:buFont typeface="+mj-lt"/>
              <a:buAutoNum type="arabicPeriod"/>
            </a:pPr>
            <a:endParaRPr lang="pt-BR" sz="2000" dirty="0" smtClean="0"/>
          </a:p>
          <a:p>
            <a:pPr marL="457200" indent="-457200">
              <a:buFont typeface="+mj-lt"/>
              <a:buAutoNum type="arabicPeriod"/>
            </a:pPr>
            <a:endParaRPr lang="pt-BR" sz="2000" dirty="0" smtClean="0"/>
          </a:p>
          <a:p>
            <a:pPr marL="457200" indent="-457200">
              <a:buNone/>
            </a:pPr>
            <a:endParaRPr lang="pt-BR" sz="2000" dirty="0" smtClean="0"/>
          </a:p>
          <a:p>
            <a:pPr marL="457200" indent="-457200">
              <a:buFont typeface="+mj-lt"/>
              <a:buAutoNum type="arabicPeriod"/>
            </a:pPr>
            <a:endParaRPr lang="pt-BR" sz="2000" dirty="0" smtClean="0"/>
          </a:p>
          <a:p>
            <a:pPr marL="457200" indent="-457200">
              <a:buFont typeface="+mj-lt"/>
              <a:buAutoNum type="arabicPeriod"/>
            </a:pPr>
            <a:endParaRPr lang="pt-BR" sz="2000" dirty="0" smtClean="0"/>
          </a:p>
          <a:p>
            <a:pPr marL="457200" indent="-457200">
              <a:buFont typeface="+mj-lt"/>
              <a:buAutoNum type="arabicPeriod"/>
            </a:pPr>
            <a:endParaRPr lang="pt-BR" sz="2400" dirty="0" smtClean="0"/>
          </a:p>
          <a:p>
            <a:pPr marL="457200" indent="-457200">
              <a:buFont typeface="+mj-lt"/>
              <a:buAutoNum type="arabicPeriod"/>
            </a:pPr>
            <a:endParaRPr lang="pt-BR" sz="2400" dirty="0" smtClean="0"/>
          </a:p>
          <a:p>
            <a:pPr marL="457200" indent="-457200">
              <a:buFont typeface="+mj-lt"/>
              <a:buAutoNum type="arabicPeriod"/>
            </a:pPr>
            <a:endParaRPr lang="pt-BR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Ápice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1874</TotalTime>
  <Words>711</Words>
  <Application>Microsoft Office PowerPoint</Application>
  <PresentationFormat>Apresentação na tela (4:3)</PresentationFormat>
  <Paragraphs>104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13</vt:i4>
      </vt:variant>
    </vt:vector>
  </HeadingPairs>
  <TitlesOfParts>
    <vt:vector size="18" baseType="lpstr">
      <vt:lpstr>Arial</vt:lpstr>
      <vt:lpstr>Calibri</vt:lpstr>
      <vt:lpstr>Wingdings</vt:lpstr>
      <vt:lpstr>Tema do Office</vt:lpstr>
      <vt:lpstr>1_Tema do Office</vt:lpstr>
      <vt:lpstr>Caracterização do equipamento</vt:lpstr>
      <vt:lpstr>Características obtidas via recursos do SO</vt:lpstr>
      <vt:lpstr>Características obtidas via recursos do SO</vt:lpstr>
      <vt:lpstr>Periféricos</vt:lpstr>
      <vt:lpstr>Tempos de resposta.  Ordem de grandeza</vt:lpstr>
      <vt:lpstr>Gerenciador de dispositivos: </vt:lpstr>
      <vt:lpstr>Exemplo: placa de rede.</vt:lpstr>
      <vt:lpstr>Questões</vt:lpstr>
      <vt:lpstr>Medida de taxa de transferência.</vt:lpstr>
      <vt:lpstr>Modelo para arquitetura AMD</vt:lpstr>
      <vt:lpstr>Modelo para arquitetura AMD</vt:lpstr>
      <vt:lpstr>Modelo Athlon – 64 bits</vt:lpstr>
      <vt:lpstr>Exercícios obrigatórios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em sala (2)</dc:title>
  <dc:creator>professor</dc:creator>
  <cp:lastModifiedBy>professor</cp:lastModifiedBy>
  <cp:revision>74</cp:revision>
  <dcterms:modified xsi:type="dcterms:W3CDTF">2019-02-20T13:46:35Z</dcterms:modified>
</cp:coreProperties>
</file>