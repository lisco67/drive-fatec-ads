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96" r:id="rId4"/>
    <p:sldId id="263" r:id="rId5"/>
    <p:sldId id="265" r:id="rId6"/>
    <p:sldId id="266" r:id="rId7"/>
    <p:sldId id="292" r:id="rId8"/>
    <p:sldId id="282" r:id="rId9"/>
    <p:sldId id="284" r:id="rId10"/>
    <p:sldId id="267" r:id="rId11"/>
    <p:sldId id="286" r:id="rId12"/>
    <p:sldId id="285" r:id="rId13"/>
    <p:sldId id="288" r:id="rId14"/>
    <p:sldId id="269" r:id="rId15"/>
    <p:sldId id="280" r:id="rId16"/>
    <p:sldId id="281" r:id="rId17"/>
    <p:sldId id="260" r:id="rId18"/>
    <p:sldId id="271" r:id="rId19"/>
    <p:sldId id="283" r:id="rId20"/>
    <p:sldId id="275" r:id="rId21"/>
    <p:sldId id="276" r:id="rId22"/>
    <p:sldId id="289" r:id="rId23"/>
    <p:sldId id="272" r:id="rId24"/>
    <p:sldId id="290" r:id="rId25"/>
    <p:sldId id="291" r:id="rId26"/>
    <p:sldId id="273" r:id="rId27"/>
    <p:sldId id="277" r:id="rId28"/>
    <p:sldId id="297" r:id="rId2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2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sz="3100" u="sng" dirty="0" smtClean="0">
                <a:solidFill>
                  <a:srgbClr val="FF0000"/>
                </a:solidFill>
              </a:rPr>
              <a:t>Atividades 3: Configuração de HW/SW</a:t>
            </a:r>
            <a:r>
              <a:rPr lang="pt-BR" u="sng" dirty="0" smtClean="0">
                <a:solidFill>
                  <a:srgbClr val="FF0000"/>
                </a:solidFill>
              </a:rPr>
              <a:t/>
            </a:r>
            <a:br>
              <a:rPr lang="pt-BR" u="sng" dirty="0" smtClean="0">
                <a:solidFill>
                  <a:srgbClr val="FF0000"/>
                </a:solidFill>
              </a:rPr>
            </a:br>
            <a:endParaRPr lang="pt-BR" sz="3200" dirty="0" smtClean="0"/>
          </a:p>
        </p:txBody>
      </p:sp>
      <p:sp>
        <p:nvSpPr>
          <p:cNvPr id="48131" name="Espaço Reservado para Conteúdo 2"/>
          <p:cNvSpPr>
            <a:spLocks noGrp="1"/>
          </p:cNvSpPr>
          <p:nvPr>
            <p:ph idx="1"/>
          </p:nvPr>
        </p:nvSpPr>
        <p:spPr>
          <a:xfrm>
            <a:off x="35496" y="836712"/>
            <a:ext cx="9001000" cy="561662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3000" b="1" dirty="0" smtClean="0"/>
              <a:t>Estudo do ambiente de desenvolvimento Arduino</a:t>
            </a:r>
          </a:p>
          <a:p>
            <a:pPr algn="just"/>
            <a:r>
              <a:rPr lang="pt-BR" dirty="0" smtClean="0"/>
              <a:t>   Recursos HW/SW</a:t>
            </a:r>
          </a:p>
          <a:p>
            <a:pPr algn="just"/>
            <a:r>
              <a:rPr lang="pt-BR" dirty="0" smtClean="0"/>
              <a:t>   Linguagem de programação: Dialeto “C”.</a:t>
            </a:r>
          </a:p>
          <a:p>
            <a:pPr algn="just"/>
            <a:r>
              <a:rPr lang="pt-BR" dirty="0"/>
              <a:t> </a:t>
            </a:r>
            <a:r>
              <a:rPr lang="pt-BR" dirty="0" smtClean="0"/>
              <a:t>  Funções principais: setup e loop;</a:t>
            </a:r>
          </a:p>
          <a:p>
            <a:pPr algn="just"/>
            <a:r>
              <a:rPr lang="pt-BR" dirty="0" smtClean="0"/>
              <a:t>   Recursos disponíveis:</a:t>
            </a:r>
          </a:p>
          <a:p>
            <a:pPr algn="just">
              <a:buFont typeface="Arial" charset="0"/>
              <a:buNone/>
            </a:pPr>
            <a:r>
              <a:rPr lang="pt-BR" dirty="0" smtClean="0"/>
              <a:t>	</a:t>
            </a:r>
            <a:r>
              <a:rPr lang="pt-BR" dirty="0"/>
              <a:t> </a:t>
            </a:r>
            <a:r>
              <a:rPr lang="pt-BR" dirty="0" smtClean="0"/>
              <a:t>    “</a:t>
            </a:r>
            <a:r>
              <a:rPr lang="pt-BR" dirty="0" err="1" smtClean="0"/>
              <a:t>Ports</a:t>
            </a:r>
            <a:r>
              <a:rPr lang="pt-BR" dirty="0" smtClean="0"/>
              <a:t>”. Entrada/saída analógica e digital;</a:t>
            </a:r>
          </a:p>
          <a:p>
            <a:pPr algn="just">
              <a:buFont typeface="Arial" charset="0"/>
              <a:buNone/>
            </a:pPr>
            <a:r>
              <a:rPr lang="pt-BR" dirty="0"/>
              <a:t> </a:t>
            </a:r>
            <a:r>
              <a:rPr lang="pt-BR" dirty="0" smtClean="0"/>
              <a:t>         Monitor serial. </a:t>
            </a:r>
          </a:p>
          <a:p>
            <a:pPr algn="just">
              <a:buFont typeface="Arial" charset="0"/>
              <a:buNone/>
            </a:pPr>
            <a:r>
              <a:rPr lang="pt-BR" dirty="0" smtClean="0"/>
              <a:t>	</a:t>
            </a:r>
            <a:r>
              <a:rPr lang="pt-BR" b="1" u="sng" dirty="0" smtClean="0"/>
              <a:t>Tarefa. </a:t>
            </a:r>
            <a:r>
              <a:rPr lang="pt-BR" u="sng" dirty="0" smtClean="0"/>
              <a:t>Programação de intervalos de tempo.</a:t>
            </a:r>
          </a:p>
          <a:p>
            <a:pPr algn="just">
              <a:buFont typeface="Arial" charset="0"/>
              <a:buNone/>
            </a:pPr>
            <a:r>
              <a:rPr lang="pt-BR" dirty="0" smtClean="0"/>
              <a:t> </a:t>
            </a:r>
          </a:p>
          <a:p>
            <a:pPr>
              <a:buFont typeface="Arial" charset="0"/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Características do microprocessador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544616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CPU: ARM (</a:t>
            </a:r>
            <a:r>
              <a:rPr lang="pt-BR" dirty="0" err="1" smtClean="0"/>
              <a:t>Advanced</a:t>
            </a:r>
            <a:r>
              <a:rPr lang="pt-BR" dirty="0" smtClean="0"/>
              <a:t> </a:t>
            </a:r>
            <a:r>
              <a:rPr lang="pt-BR" dirty="0" err="1" smtClean="0"/>
              <a:t>Risc</a:t>
            </a:r>
            <a:r>
              <a:rPr lang="pt-BR" dirty="0" smtClean="0"/>
              <a:t> Machine); </a:t>
            </a:r>
          </a:p>
          <a:p>
            <a:r>
              <a:rPr lang="pt-BR" dirty="0" smtClean="0"/>
              <a:t>Linguagem de programação: Dialeto C;</a:t>
            </a:r>
          </a:p>
          <a:p>
            <a:r>
              <a:rPr lang="pt-BR" dirty="0" smtClean="0"/>
              <a:t>Memória de Programa (Flash): 32KB</a:t>
            </a:r>
          </a:p>
          <a:p>
            <a:r>
              <a:rPr lang="pt-BR" dirty="0" smtClean="0"/>
              <a:t>14 pinos para E/S digital;</a:t>
            </a:r>
          </a:p>
          <a:p>
            <a:r>
              <a:rPr lang="pt-BR" dirty="0" smtClean="0"/>
              <a:t>6 “</a:t>
            </a:r>
            <a:r>
              <a:rPr lang="pt-BR" dirty="0" err="1" smtClean="0"/>
              <a:t>ports</a:t>
            </a:r>
            <a:r>
              <a:rPr lang="pt-BR" dirty="0" smtClean="0"/>
              <a:t>” para entrada analógica. Conversão A/D;</a:t>
            </a:r>
          </a:p>
          <a:p>
            <a:r>
              <a:rPr lang="pt-BR" dirty="0" smtClean="0"/>
              <a:t>Pinos para alimentação 5 volts e 3,3 volts;</a:t>
            </a:r>
          </a:p>
          <a:p>
            <a:pPr marL="0" indent="0"/>
            <a:r>
              <a:rPr lang="pt-BR" dirty="0" smtClean="0"/>
              <a:t>   Software:</a:t>
            </a:r>
          </a:p>
          <a:p>
            <a:pPr marL="0" indent="0">
              <a:buNone/>
            </a:pPr>
            <a:r>
              <a:rPr lang="pt-BR" dirty="0" smtClean="0"/>
              <a:t>Ambiente </a:t>
            </a:r>
            <a:r>
              <a:rPr lang="pt-BR" dirty="0"/>
              <a:t>de </a:t>
            </a:r>
            <a:r>
              <a:rPr lang="pt-BR" dirty="0" smtClean="0"/>
              <a:t>desenvolvimento integrado (HW/SW);</a:t>
            </a:r>
            <a:endParaRPr lang="pt-BR" dirty="0"/>
          </a:p>
          <a:p>
            <a:pPr marL="0" indent="0">
              <a:buNone/>
            </a:pPr>
            <a:r>
              <a:rPr lang="pt-BR" dirty="0" smtClean="0"/>
              <a:t>	</a:t>
            </a:r>
            <a:r>
              <a:rPr lang="pt-BR" dirty="0" err="1" smtClean="0"/>
              <a:t>Bootloader</a:t>
            </a:r>
            <a:r>
              <a:rPr lang="pt-BR" dirty="0" smtClean="0"/>
              <a:t> (CARREGAMENTO DE  PROGRAMAS);</a:t>
            </a:r>
          </a:p>
          <a:p>
            <a:pPr marL="0" indent="0">
              <a:buNone/>
            </a:pPr>
            <a:r>
              <a:rPr lang="pt-BR" dirty="0" smtClean="0"/>
              <a:t>	Interfaces com o SO;</a:t>
            </a:r>
          </a:p>
          <a:p>
            <a:pPr marL="0" indent="0">
              <a:buNone/>
            </a:pPr>
            <a:r>
              <a:rPr lang="pt-BR" dirty="0" smtClean="0"/>
              <a:t>	USB. Comunicação e carga de programas.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0593" y="116632"/>
            <a:ext cx="8640960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Microprocessador  X Microcomputador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544616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pt-BR" dirty="0" smtClean="0"/>
              <a:t>Microcomputador</a:t>
            </a:r>
          </a:p>
          <a:p>
            <a:pPr marL="0" indent="0">
              <a:buNone/>
            </a:pPr>
            <a:r>
              <a:rPr lang="pt-BR" dirty="0" smtClean="0"/>
              <a:t>Sistema de Processamento com chip de CPU, unidades de memória e periféricos de apoio.</a:t>
            </a:r>
          </a:p>
          <a:p>
            <a:pPr marL="0" indent="0">
              <a:buNone/>
            </a:pPr>
            <a:r>
              <a:rPr lang="pt-BR" dirty="0" smtClean="0"/>
              <a:t>Permite carga de um SO, instalação de linguagens de programação, utilitários diversos e múltiplos mecanismos de comunicação.</a:t>
            </a:r>
          </a:p>
          <a:p>
            <a:pPr algn="ctr"/>
            <a:r>
              <a:rPr lang="pt-BR" dirty="0"/>
              <a:t>Microprocessador</a:t>
            </a:r>
          </a:p>
          <a:p>
            <a:pPr marL="0" indent="0">
              <a:buNone/>
            </a:pPr>
            <a:r>
              <a:rPr lang="pt-BR" dirty="0" smtClean="0"/>
              <a:t>Sistema de processamento com Chip que integra CPU, memórias e diversos mecanismos para comunicação com unidades periféricas (sensores), além de periféricos específicos.</a:t>
            </a:r>
          </a:p>
          <a:p>
            <a:pPr marL="0" indent="0">
              <a:buNone/>
            </a:pPr>
            <a:r>
              <a:rPr lang="pt-BR" dirty="0" smtClean="0"/>
              <a:t>Poucos recursos para armazenamento de massa, e normalmente não instala SO. Programas são desenvolvidos em unidades de apoio ou em microcomputadores. Indicados para processos dedicados.</a:t>
            </a:r>
          </a:p>
        </p:txBody>
      </p:sp>
    </p:spTree>
    <p:extLst>
      <p:ext uri="{BB962C8B-B14F-4D97-AF65-F5344CB8AC3E}">
        <p14:creationId xmlns:p14="http://schemas.microsoft.com/office/powerpoint/2010/main" val="125243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dirty="0" err="1" smtClean="0"/>
              <a:t>microcomputadorXmicrocontrolador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908720"/>
            <a:ext cx="8856984" cy="521744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pt-BR" sz="3600" b="1" dirty="0"/>
              <a:t>Microcomputador. </a:t>
            </a:r>
            <a:r>
              <a:rPr lang="pt-BR" sz="3600" dirty="0"/>
              <a:t>CPU + unidades de memória e armazenamento secundário + interfaces e periféricos.  </a:t>
            </a:r>
          </a:p>
          <a:p>
            <a:pPr>
              <a:buNone/>
            </a:pPr>
            <a:r>
              <a:rPr lang="pt-BR" sz="3500" b="1" dirty="0" smtClean="0"/>
              <a:t>Microcontrolador. </a:t>
            </a:r>
            <a:r>
              <a:rPr lang="pt-BR" dirty="0">
                <a:solidFill>
                  <a:srgbClr val="FF0000"/>
                </a:solidFill>
              </a:rPr>
              <a:t>Um único ch</a:t>
            </a:r>
            <a:r>
              <a:rPr lang="pt-BR" dirty="0" smtClean="0">
                <a:solidFill>
                  <a:srgbClr val="FF0000"/>
                </a:solidFill>
              </a:rPr>
              <a:t>ip </a:t>
            </a:r>
            <a:r>
              <a:rPr lang="pt-BR" dirty="0" smtClean="0"/>
              <a:t>incorpora CPU, </a:t>
            </a:r>
            <a:r>
              <a:rPr lang="pt-BR" dirty="0"/>
              <a:t>memórias, </a:t>
            </a:r>
            <a:r>
              <a:rPr lang="pt-BR" dirty="0" smtClean="0"/>
              <a:t>unidades de apoio, comunicação e dispositivos de entrada e saída.</a:t>
            </a:r>
          </a:p>
          <a:p>
            <a:r>
              <a:rPr lang="pt-BR" dirty="0" smtClean="0"/>
              <a:t>Memórias: RAM, EPROM, flash.</a:t>
            </a:r>
          </a:p>
          <a:p>
            <a:r>
              <a:rPr lang="pt-BR" dirty="0" smtClean="0"/>
              <a:t>Interfaces serial (USB);</a:t>
            </a:r>
          </a:p>
          <a:p>
            <a:r>
              <a:rPr lang="pt-BR" dirty="0" smtClean="0"/>
              <a:t>E/S analógica e digital;</a:t>
            </a:r>
          </a:p>
          <a:p>
            <a:r>
              <a:rPr lang="pt-BR" dirty="0" smtClean="0"/>
              <a:t>Dispositivos de apoio: Temporizadores, Contadores (</a:t>
            </a:r>
            <a:r>
              <a:rPr lang="pt-BR" dirty="0" err="1" smtClean="0"/>
              <a:t>clock</a:t>
            </a:r>
            <a:r>
              <a:rPr lang="pt-BR" dirty="0" smtClean="0"/>
              <a:t>), etc.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RISC X CISC (Ambiente Arduino)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073427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pt-BR" u="sng" dirty="0" smtClean="0"/>
              <a:t>Computador RISC</a:t>
            </a:r>
            <a:r>
              <a:rPr lang="pt-BR" dirty="0" smtClean="0"/>
              <a:t>. </a:t>
            </a:r>
            <a:r>
              <a:rPr lang="pt-BR" sz="2800" dirty="0" err="1" smtClean="0"/>
              <a:t>Reduced</a:t>
            </a:r>
            <a:r>
              <a:rPr lang="pt-BR" sz="2800" dirty="0" smtClean="0"/>
              <a:t> </a:t>
            </a:r>
            <a:r>
              <a:rPr lang="pt-BR" sz="2800" dirty="0" err="1" smtClean="0"/>
              <a:t>Instruction</a:t>
            </a:r>
            <a:r>
              <a:rPr lang="pt-BR" sz="2800" dirty="0" smtClean="0"/>
              <a:t> Set Computer. </a:t>
            </a:r>
            <a:endParaRPr lang="pt-BR" sz="2800" dirty="0" smtClean="0">
              <a:solidFill>
                <a:srgbClr val="FF0000"/>
              </a:solidFill>
            </a:endParaRPr>
          </a:p>
          <a:p>
            <a:pPr marL="514350" indent="-514350">
              <a:buNone/>
            </a:pPr>
            <a:r>
              <a:rPr lang="pt-BR" sz="2800" dirty="0" smtClean="0"/>
              <a:t>(Computador com um conjunto reduzido de instruções)</a:t>
            </a:r>
          </a:p>
          <a:p>
            <a:pPr marL="514350" indent="-514350">
              <a:buNone/>
            </a:pPr>
            <a:r>
              <a:rPr lang="pt-BR" sz="2400" dirty="0"/>
              <a:t>Dados e instruções em memórias independentes</a:t>
            </a:r>
          </a:p>
          <a:p>
            <a:pPr marL="514350" indent="-514350">
              <a:buNone/>
            </a:pPr>
            <a:r>
              <a:rPr lang="pt-BR" sz="2400" dirty="0"/>
              <a:t>       		-</a:t>
            </a:r>
            <a:r>
              <a:rPr lang="pt-BR" sz="2800" i="1" dirty="0"/>
              <a:t>Memória de dados (RAM)</a:t>
            </a:r>
          </a:p>
          <a:p>
            <a:pPr marL="514350" indent="-514350">
              <a:buNone/>
            </a:pPr>
            <a:r>
              <a:rPr lang="pt-BR" sz="2800" i="1" dirty="0"/>
              <a:t>     		</a:t>
            </a:r>
            <a:r>
              <a:rPr lang="pt-BR" sz="2800" i="1" dirty="0" smtClean="0"/>
              <a:t>-</a:t>
            </a:r>
            <a:r>
              <a:rPr lang="pt-BR" sz="2800" i="1" dirty="0"/>
              <a:t>Memória </a:t>
            </a:r>
            <a:r>
              <a:rPr lang="pt-BR" sz="2800" dirty="0"/>
              <a:t>de instruções (flash)</a:t>
            </a:r>
          </a:p>
          <a:p>
            <a:pPr marL="0" indent="0">
              <a:buNone/>
            </a:pPr>
            <a:r>
              <a:rPr lang="pt-BR" sz="2800" dirty="0" smtClean="0"/>
              <a:t>             -Instruções </a:t>
            </a:r>
            <a:r>
              <a:rPr lang="pt-BR" sz="2800" dirty="0"/>
              <a:t>de tamanho </a:t>
            </a:r>
            <a:r>
              <a:rPr lang="pt-BR" sz="2800" dirty="0" smtClean="0"/>
              <a:t>fixo</a:t>
            </a:r>
          </a:p>
          <a:p>
            <a:pPr marL="0" indent="0">
              <a:buNone/>
            </a:pPr>
            <a:r>
              <a:rPr lang="pt-BR" sz="2800" dirty="0" smtClean="0"/>
              <a:t>             - Conjunto reduzido de instruções.</a:t>
            </a:r>
            <a:endParaRPr lang="pt-BR" sz="2800" dirty="0"/>
          </a:p>
          <a:p>
            <a:pPr marL="514350" indent="-514350">
              <a:buNone/>
            </a:pPr>
            <a:endParaRPr lang="pt-BR" sz="2800" dirty="0" smtClean="0"/>
          </a:p>
          <a:p>
            <a:pPr>
              <a:buNone/>
            </a:pPr>
            <a:r>
              <a:rPr lang="pt-BR" u="sng" dirty="0"/>
              <a:t>Computador CISC</a:t>
            </a:r>
            <a:r>
              <a:rPr lang="pt-BR" sz="2800" dirty="0"/>
              <a:t>. </a:t>
            </a:r>
            <a:r>
              <a:rPr lang="pt-BR" sz="2800" dirty="0" err="1" smtClean="0"/>
              <a:t>Complex</a:t>
            </a:r>
            <a:r>
              <a:rPr lang="pt-BR" sz="2800" dirty="0" smtClean="0"/>
              <a:t> </a:t>
            </a:r>
            <a:r>
              <a:rPr lang="pt-BR" sz="2800" dirty="0" err="1"/>
              <a:t>Instruction</a:t>
            </a:r>
            <a:r>
              <a:rPr lang="pt-BR" sz="2800" dirty="0"/>
              <a:t> Set </a:t>
            </a:r>
            <a:r>
              <a:rPr lang="pt-BR" sz="2800" dirty="0" smtClean="0"/>
              <a:t>Computer. </a:t>
            </a:r>
            <a:endParaRPr lang="pt-BR" sz="2800" dirty="0">
              <a:solidFill>
                <a:srgbClr val="FF0000"/>
              </a:solidFill>
            </a:endParaRPr>
          </a:p>
          <a:p>
            <a:pPr marL="514350" indent="-514350">
              <a:buNone/>
            </a:pPr>
            <a:r>
              <a:rPr lang="pt-BR" sz="2800" dirty="0"/>
              <a:t>(Computador com um conjunto </a:t>
            </a:r>
            <a:r>
              <a:rPr lang="pt-BR" sz="2800" dirty="0" smtClean="0"/>
              <a:t>complexo </a:t>
            </a:r>
            <a:r>
              <a:rPr lang="pt-BR" sz="2800" dirty="0"/>
              <a:t>de instruções)</a:t>
            </a:r>
          </a:p>
          <a:p>
            <a:pPr marL="514350" indent="-514350">
              <a:buNone/>
            </a:pPr>
            <a:r>
              <a:rPr lang="pt-BR" sz="2800" dirty="0"/>
              <a:t>Dados e instruções </a:t>
            </a:r>
            <a:r>
              <a:rPr lang="pt-BR" sz="2800" dirty="0" smtClean="0"/>
              <a:t>compartilham memória RAM.</a:t>
            </a:r>
            <a:endParaRPr lang="pt-BR" sz="2800" dirty="0"/>
          </a:p>
          <a:p>
            <a:pPr marL="514350" indent="-514350">
              <a:buNone/>
            </a:pPr>
            <a:r>
              <a:rPr lang="pt-BR" sz="2800" dirty="0"/>
              <a:t> </a:t>
            </a:r>
            <a:r>
              <a:rPr lang="pt-BR" sz="2800" dirty="0" smtClean="0"/>
              <a:t>		- Instruções </a:t>
            </a:r>
            <a:r>
              <a:rPr lang="pt-BR" sz="2800" dirty="0"/>
              <a:t>de tamanho </a:t>
            </a:r>
            <a:r>
              <a:rPr lang="pt-BR" sz="2800" dirty="0" smtClean="0"/>
              <a:t>variável</a:t>
            </a:r>
          </a:p>
          <a:p>
            <a:pPr marL="514350" indent="-514350">
              <a:buNone/>
            </a:pPr>
            <a:r>
              <a:rPr lang="pt-BR" sz="2800" dirty="0" smtClean="0"/>
              <a:t>		- Conjunto de instruções mais completo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IDE Arduino: Componentes de HW/SW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980728"/>
            <a:ext cx="8856984" cy="5688632"/>
          </a:xfrm>
        </p:spPr>
        <p:txBody>
          <a:bodyPr>
            <a:noAutofit/>
          </a:bodyPr>
          <a:lstStyle/>
          <a:p>
            <a:pPr marL="0">
              <a:buNone/>
            </a:pPr>
            <a:r>
              <a:rPr lang="en-US" sz="2400" dirty="0" smtClean="0"/>
              <a:t>Integrated Development Environment. </a:t>
            </a:r>
          </a:p>
          <a:p>
            <a:pPr marL="0">
              <a:buNone/>
            </a:pPr>
            <a:r>
              <a:rPr lang="pt-BR" sz="2400" dirty="0" smtClean="0"/>
              <a:t>(Ambiente de Desenvolvimento Integrado)</a:t>
            </a:r>
          </a:p>
          <a:p>
            <a:pPr algn="ctr">
              <a:buNone/>
            </a:pPr>
            <a:r>
              <a:rPr lang="pt-BR" sz="2400" dirty="0" smtClean="0">
                <a:solidFill>
                  <a:srgbClr val="FF0000"/>
                </a:solidFill>
              </a:rPr>
              <a:t>Hardware</a:t>
            </a:r>
          </a:p>
          <a:p>
            <a:r>
              <a:rPr lang="pt-BR" sz="2400" dirty="0" smtClean="0"/>
              <a:t>Placa com microprocessador e circuitos de apoio</a:t>
            </a:r>
          </a:p>
          <a:p>
            <a:r>
              <a:rPr lang="pt-BR" sz="2400" dirty="0" smtClean="0"/>
              <a:t>Recursos para conexão serial (USB);</a:t>
            </a:r>
          </a:p>
          <a:p>
            <a:r>
              <a:rPr lang="pt-BR" sz="2400" dirty="0" smtClean="0"/>
              <a:t>Pinos de alimentação:  5/3,3volts. 40 </a:t>
            </a:r>
            <a:r>
              <a:rPr lang="pt-BR" sz="2400" dirty="0" err="1" smtClean="0"/>
              <a:t>mA</a:t>
            </a:r>
            <a:r>
              <a:rPr lang="pt-BR" sz="2400" dirty="0" smtClean="0"/>
              <a:t> de corrente elétrica.</a:t>
            </a:r>
          </a:p>
          <a:p>
            <a:r>
              <a:rPr lang="pt-BR" sz="2400" dirty="0"/>
              <a:t>Placas de apoio (Shields) para extensão de </a:t>
            </a:r>
            <a:r>
              <a:rPr lang="pt-BR" sz="2400" dirty="0" smtClean="0"/>
              <a:t>funções (rede, WIFI,..).</a:t>
            </a:r>
            <a:endParaRPr lang="pt-BR" sz="2400" dirty="0"/>
          </a:p>
          <a:p>
            <a:pPr algn="ctr">
              <a:buNone/>
            </a:pPr>
            <a:r>
              <a:rPr lang="pt-BR" sz="2400" dirty="0" smtClean="0">
                <a:solidFill>
                  <a:srgbClr val="FF0000"/>
                </a:solidFill>
              </a:rPr>
              <a:t>Software</a:t>
            </a:r>
            <a:endParaRPr lang="pt-BR" sz="2400" dirty="0">
              <a:solidFill>
                <a:srgbClr val="FF0000"/>
              </a:solidFill>
            </a:endParaRPr>
          </a:p>
          <a:p>
            <a:r>
              <a:rPr lang="pt-BR" sz="2400" dirty="0" smtClean="0"/>
              <a:t>Dialeto da linguagem C.</a:t>
            </a:r>
          </a:p>
          <a:p>
            <a:r>
              <a:rPr lang="pt-BR" sz="2400" dirty="0" smtClean="0"/>
              <a:t>Domínio público (open source)</a:t>
            </a:r>
          </a:p>
          <a:p>
            <a:r>
              <a:rPr lang="pt-BR" sz="2400" dirty="0" smtClean="0"/>
              <a:t>Bibliotecas de apoio</a:t>
            </a:r>
          </a:p>
          <a:p>
            <a:r>
              <a:rPr lang="pt-BR" sz="2400" dirty="0" smtClean="0"/>
              <a:t>Programas exemplo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2455" y="344202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IDE Arduino: </a:t>
            </a:r>
            <a:r>
              <a:rPr lang="en-US" dirty="0" err="1" smtClean="0"/>
              <a:t>Recursos</a:t>
            </a:r>
            <a:r>
              <a:rPr lang="en-US" dirty="0" smtClean="0"/>
              <a:t> de Programação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091877"/>
            <a:ext cx="8568952" cy="5145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smtClean="0"/>
              <a:t>Microcontrolador </a:t>
            </a:r>
            <a:r>
              <a:rPr lang="pt-BR" sz="2000" dirty="0"/>
              <a:t>AVR ATmega8 (</a:t>
            </a:r>
            <a:r>
              <a:rPr lang="pt-BR" sz="2000" dirty="0" err="1"/>
              <a:t>Atmel</a:t>
            </a:r>
            <a:r>
              <a:rPr lang="pt-BR" sz="2000" dirty="0"/>
              <a:t> Corporation</a:t>
            </a:r>
            <a:r>
              <a:rPr lang="pt-BR" sz="2000" dirty="0" smtClean="0"/>
              <a:t>). </a:t>
            </a:r>
            <a:r>
              <a:rPr lang="en-US" sz="2000" dirty="0" err="1"/>
              <a:t>Arquitetura</a:t>
            </a:r>
            <a:r>
              <a:rPr lang="en-US" sz="2000" dirty="0"/>
              <a:t> </a:t>
            </a:r>
            <a:r>
              <a:rPr lang="en-US" sz="2000" dirty="0" smtClean="0"/>
              <a:t>RISC.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pt-BR" sz="2000" dirty="0" smtClean="0"/>
              <a:t>Figura 1. Modelo </a:t>
            </a:r>
            <a:r>
              <a:rPr lang="pt-BR" sz="2000" dirty="0"/>
              <a:t>de Arquitetura do Microcontrolador ATMEGA328</a:t>
            </a:r>
          </a:p>
          <a:p>
            <a:pPr marL="0" indent="0">
              <a:buNone/>
            </a:pPr>
            <a:endParaRPr lang="en-US" sz="2000" dirty="0" smtClean="0"/>
          </a:p>
        </p:txBody>
      </p: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1403648" y="2037406"/>
            <a:ext cx="4832350" cy="3254375"/>
            <a:chOff x="2455" y="7791"/>
            <a:chExt cx="7610" cy="5125"/>
          </a:xfrm>
        </p:grpSpPr>
        <p:grpSp>
          <p:nvGrpSpPr>
            <p:cNvPr id="16" name="Group 15"/>
            <p:cNvGrpSpPr>
              <a:grpSpLocks/>
            </p:cNvGrpSpPr>
            <p:nvPr/>
          </p:nvGrpSpPr>
          <p:grpSpPr bwMode="auto">
            <a:xfrm>
              <a:off x="2455" y="7959"/>
              <a:ext cx="4750" cy="4354"/>
              <a:chOff x="2964" y="4965"/>
              <a:chExt cx="4750" cy="4354"/>
            </a:xfrm>
          </p:grpSpPr>
          <p:sp>
            <p:nvSpPr>
              <p:cNvPr id="19" name="Text Box 16"/>
              <p:cNvSpPr txBox="1">
                <a:spLocks noChangeArrowheads="1"/>
              </p:cNvSpPr>
              <p:nvPr/>
            </p:nvSpPr>
            <p:spPr bwMode="auto">
              <a:xfrm>
                <a:off x="3862" y="4965"/>
                <a:ext cx="2562" cy="10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altLang="pt-BR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CPU (ULA, Registradores, Barramentos, UC,..</a:t>
                </a:r>
                <a:endParaRPr kumimoji="0" lang="pt-BR" altLang="pt-BR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AutoShape 17"/>
              <p:cNvSpPr>
                <a:spLocks noChangeArrowheads="1"/>
              </p:cNvSpPr>
              <p:nvPr/>
            </p:nvSpPr>
            <p:spPr bwMode="auto">
              <a:xfrm>
                <a:off x="2964" y="7032"/>
                <a:ext cx="4750" cy="458"/>
              </a:xfrm>
              <a:prstGeom prst="leftRightArrow">
                <a:avLst>
                  <a:gd name="adj1" fmla="val 50000"/>
                  <a:gd name="adj2" fmla="val 207424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21" name="AutoShape 18"/>
              <p:cNvSpPr>
                <a:spLocks noChangeArrowheads="1"/>
              </p:cNvSpPr>
              <p:nvPr/>
            </p:nvSpPr>
            <p:spPr bwMode="auto">
              <a:xfrm>
                <a:off x="5019" y="6022"/>
                <a:ext cx="143" cy="1131"/>
              </a:xfrm>
              <a:prstGeom prst="downArrow">
                <a:avLst>
                  <a:gd name="adj1" fmla="val 50000"/>
                  <a:gd name="adj2" fmla="val 19772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22" name="AutoShape 19"/>
              <p:cNvSpPr>
                <a:spLocks noChangeArrowheads="1"/>
              </p:cNvSpPr>
              <p:nvPr/>
            </p:nvSpPr>
            <p:spPr bwMode="auto">
              <a:xfrm>
                <a:off x="4314" y="7369"/>
                <a:ext cx="143" cy="1131"/>
              </a:xfrm>
              <a:prstGeom prst="downArrow">
                <a:avLst>
                  <a:gd name="adj1" fmla="val 50000"/>
                  <a:gd name="adj2" fmla="val 19772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23" name="AutoShape 20"/>
              <p:cNvSpPr>
                <a:spLocks noChangeArrowheads="1"/>
              </p:cNvSpPr>
              <p:nvPr/>
            </p:nvSpPr>
            <p:spPr bwMode="auto">
              <a:xfrm>
                <a:off x="5781" y="7369"/>
                <a:ext cx="143" cy="1131"/>
              </a:xfrm>
              <a:prstGeom prst="downArrow">
                <a:avLst>
                  <a:gd name="adj1" fmla="val 50000"/>
                  <a:gd name="adj2" fmla="val 19772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24" name="Text Box 21"/>
              <p:cNvSpPr txBox="1">
                <a:spLocks noChangeArrowheads="1"/>
              </p:cNvSpPr>
              <p:nvPr/>
            </p:nvSpPr>
            <p:spPr bwMode="auto">
              <a:xfrm>
                <a:off x="3301" y="8500"/>
                <a:ext cx="1309" cy="81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altLang="pt-BR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Memória de dados</a:t>
                </a:r>
                <a:endParaRPr kumimoji="0" lang="pt-BR" altLang="pt-BR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" name="Text Box 22"/>
              <p:cNvSpPr txBox="1">
                <a:spLocks noChangeArrowheads="1"/>
              </p:cNvSpPr>
              <p:nvPr/>
            </p:nvSpPr>
            <p:spPr bwMode="auto">
              <a:xfrm>
                <a:off x="5188" y="8506"/>
                <a:ext cx="1544" cy="81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altLang="pt-BR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</a:rPr>
                  <a:t>Memória de programas</a:t>
                </a:r>
                <a:endParaRPr kumimoji="0" lang="pt-BR" altLang="pt-BR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1047" name="AutoShape 23"/>
            <p:cNvCxnSpPr>
              <a:cxnSpLocks noChangeShapeType="1"/>
            </p:cNvCxnSpPr>
            <p:nvPr/>
          </p:nvCxnSpPr>
          <p:spPr bwMode="auto">
            <a:xfrm>
              <a:off x="7849" y="7791"/>
              <a:ext cx="9" cy="51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 Box 24"/>
            <p:cNvSpPr txBox="1">
              <a:spLocks noChangeArrowheads="1"/>
            </p:cNvSpPr>
            <p:nvPr/>
          </p:nvSpPr>
          <p:spPr bwMode="auto">
            <a:xfrm>
              <a:off x="8569" y="7884"/>
              <a:ext cx="1496" cy="18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pt-BR" altLang="pt-BR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</a:rPr>
                <a:t>Alimentação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pt-BR" altLang="pt-BR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</a:rPr>
                <a:t>Clock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pt-BR" altLang="pt-BR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</a:rPr>
                <a:t>Reset</a:t>
              </a:r>
              <a:endPara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Text Box 25"/>
            <p:cNvSpPr txBox="1">
              <a:spLocks noChangeArrowheads="1"/>
            </p:cNvSpPr>
            <p:nvPr/>
          </p:nvSpPr>
          <p:spPr bwMode="auto">
            <a:xfrm>
              <a:off x="8569" y="11102"/>
              <a:ext cx="1496" cy="18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pt-BR" altLang="pt-BR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</a:rPr>
                <a:t>Ports</a:t>
              </a:r>
              <a:endPara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632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IDE Arduino: </a:t>
            </a:r>
            <a:r>
              <a:rPr lang="en-US" dirty="0" err="1" smtClean="0"/>
              <a:t>Recursos</a:t>
            </a:r>
            <a:r>
              <a:rPr lang="en-US" dirty="0" smtClean="0"/>
              <a:t> de Programação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980728"/>
            <a:ext cx="8568952" cy="5145435"/>
          </a:xfrm>
        </p:spPr>
        <p:txBody>
          <a:bodyPr>
            <a:normAutofit/>
          </a:bodyPr>
          <a:lstStyle/>
          <a:p>
            <a:pPr marL="114300" indent="-457200" algn="ctr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Linhas</a:t>
            </a:r>
            <a:r>
              <a:rPr lang="en-US" dirty="0" smtClean="0"/>
              <a:t> de </a:t>
            </a:r>
            <a:r>
              <a:rPr lang="en-US" dirty="0" err="1" smtClean="0"/>
              <a:t>comentários</a:t>
            </a:r>
            <a:r>
              <a:rPr lang="en-US" dirty="0" smtClean="0"/>
              <a:t>:</a:t>
            </a:r>
          </a:p>
          <a:p>
            <a:pPr marL="114300" indent="-457200"/>
            <a:r>
              <a:rPr lang="en-US" dirty="0" err="1" smtClean="0"/>
              <a:t>Pinos</a:t>
            </a:r>
            <a:r>
              <a:rPr lang="en-US" dirty="0" smtClean="0"/>
              <a:t> para entrada e </a:t>
            </a:r>
            <a:r>
              <a:rPr lang="en-US" dirty="0" err="1" smtClean="0"/>
              <a:t>saída</a:t>
            </a:r>
            <a:r>
              <a:rPr lang="en-US" dirty="0" smtClean="0"/>
              <a:t> de dados </a:t>
            </a:r>
            <a:r>
              <a:rPr lang="en-US" dirty="0" err="1" smtClean="0"/>
              <a:t>analógicos</a:t>
            </a:r>
            <a:r>
              <a:rPr lang="en-US" dirty="0" smtClean="0"/>
              <a:t> e </a:t>
            </a:r>
            <a:r>
              <a:rPr lang="en-US" dirty="0" err="1" smtClean="0"/>
              <a:t>digitais</a:t>
            </a:r>
            <a:r>
              <a:rPr lang="en-US" dirty="0" smtClean="0"/>
              <a:t>. </a:t>
            </a:r>
            <a:r>
              <a:rPr lang="en-US" dirty="0" err="1" smtClean="0"/>
              <a:t>Instruções</a:t>
            </a:r>
            <a:r>
              <a:rPr lang="en-US" dirty="0" smtClean="0"/>
              <a:t> de entrada e </a:t>
            </a:r>
            <a:r>
              <a:rPr lang="en-US" dirty="0" err="1" smtClean="0"/>
              <a:t>saída</a:t>
            </a:r>
            <a:r>
              <a:rPr lang="en-US" dirty="0" smtClean="0"/>
              <a:t>.</a:t>
            </a:r>
          </a:p>
          <a:p>
            <a:pPr marL="114300" indent="-457200"/>
            <a:r>
              <a:rPr lang="en-US" dirty="0" err="1" smtClean="0"/>
              <a:t>Funções</a:t>
            </a:r>
            <a:r>
              <a:rPr lang="en-US" dirty="0" smtClean="0"/>
              <a:t> para </a:t>
            </a:r>
            <a:r>
              <a:rPr lang="en-US" dirty="0" err="1" smtClean="0"/>
              <a:t>programação</a:t>
            </a:r>
            <a:r>
              <a:rPr lang="en-US" dirty="0" smtClean="0"/>
              <a:t>. </a:t>
            </a:r>
          </a:p>
          <a:p>
            <a:pPr marL="114300" indent="-457200"/>
            <a:r>
              <a:rPr lang="en-US" dirty="0" err="1" smtClean="0"/>
              <a:t>Funções</a:t>
            </a:r>
            <a:r>
              <a:rPr lang="en-US" dirty="0" smtClean="0"/>
              <a:t> para </a:t>
            </a:r>
            <a:r>
              <a:rPr lang="en-US" dirty="0" err="1" smtClean="0"/>
              <a:t>comunicação</a:t>
            </a:r>
            <a:r>
              <a:rPr lang="en-US" dirty="0" smtClean="0"/>
              <a:t> serial</a:t>
            </a:r>
          </a:p>
          <a:p>
            <a:pPr marL="114300" indent="-457200"/>
            <a:r>
              <a:rPr lang="en-US" dirty="0" err="1" smtClean="0"/>
              <a:t>Programas</a:t>
            </a:r>
            <a:r>
              <a:rPr lang="en-US" dirty="0" smtClean="0"/>
              <a:t> </a:t>
            </a:r>
            <a:r>
              <a:rPr lang="en-US" dirty="0" err="1" smtClean="0"/>
              <a:t>exemplo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264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Programa </a:t>
            </a:r>
            <a:r>
              <a:rPr lang="pt-BR" dirty="0" err="1" smtClean="0"/>
              <a:t>Blink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75656" y="1628800"/>
            <a:ext cx="6120680" cy="505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0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Programa exemplo. Intervalo de tempo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54461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// </a:t>
            </a:r>
            <a:r>
              <a:rPr lang="en-US" dirty="0" err="1" smtClean="0"/>
              <a:t>Pino</a:t>
            </a:r>
            <a:r>
              <a:rPr lang="en-US" dirty="0" smtClean="0"/>
              <a:t> 13 tem um LED. </a:t>
            </a:r>
            <a:r>
              <a:rPr lang="pt-BR" dirty="0" smtClean="0"/>
              <a:t>Variável </a:t>
            </a:r>
            <a:r>
              <a:rPr lang="pt-BR" dirty="0" err="1" smtClean="0"/>
              <a:t>led</a:t>
            </a:r>
            <a:r>
              <a:rPr lang="pt-BR" dirty="0" smtClean="0"/>
              <a:t> identifica o pino 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led = 13;</a:t>
            </a:r>
            <a:endParaRPr lang="pt-BR" dirty="0" smtClean="0"/>
          </a:p>
          <a:p>
            <a:pPr>
              <a:buNone/>
            </a:pPr>
            <a:r>
              <a:rPr lang="en-US" sz="2800" dirty="0" smtClean="0"/>
              <a:t>/*</a:t>
            </a:r>
            <a:r>
              <a:rPr lang="en-US" sz="2800" dirty="0" err="1" smtClean="0"/>
              <a:t>Função</a:t>
            </a:r>
            <a:r>
              <a:rPr lang="en-US" sz="2800" dirty="0" smtClean="0"/>
              <a:t> setup. </a:t>
            </a:r>
            <a:r>
              <a:rPr lang="en-US" sz="2800" dirty="0" err="1" smtClean="0"/>
              <a:t>Configuração</a:t>
            </a:r>
            <a:r>
              <a:rPr lang="en-US" sz="2800" dirty="0" smtClean="0"/>
              <a:t> do HW.  </a:t>
            </a:r>
          </a:p>
          <a:p>
            <a:pPr>
              <a:buNone/>
            </a:pPr>
            <a:r>
              <a:rPr lang="en-US" sz="2800" dirty="0"/>
              <a:t> </a:t>
            </a:r>
            <a:r>
              <a:rPr lang="en-US" sz="2800" dirty="0" smtClean="0"/>
              <a:t>   </a:t>
            </a:r>
            <a:r>
              <a:rPr lang="en-US" sz="2800" dirty="0" err="1" smtClean="0"/>
              <a:t>Função</a:t>
            </a:r>
            <a:r>
              <a:rPr lang="en-US" sz="2800" dirty="0" smtClean="0"/>
              <a:t> </a:t>
            </a:r>
            <a:r>
              <a:rPr lang="en-US" sz="2800" dirty="0" err="1" smtClean="0"/>
              <a:t>pinMode</a:t>
            </a:r>
            <a:r>
              <a:rPr lang="en-US" sz="2800" dirty="0" smtClean="0"/>
              <a:t> </a:t>
            </a:r>
            <a:r>
              <a:rPr lang="en-US" sz="2800" dirty="0" err="1" smtClean="0"/>
              <a:t>inicializa</a:t>
            </a:r>
            <a:r>
              <a:rPr lang="en-US" sz="2800" dirty="0" smtClean="0"/>
              <a:t> o </a:t>
            </a:r>
            <a:r>
              <a:rPr lang="en-US" sz="2800" dirty="0" err="1" smtClean="0"/>
              <a:t>pino</a:t>
            </a:r>
            <a:r>
              <a:rPr lang="en-US" sz="2800" dirty="0" smtClean="0"/>
              <a:t> 13 </a:t>
            </a:r>
            <a:r>
              <a:rPr lang="en-US" sz="2800" dirty="0" err="1" smtClean="0"/>
              <a:t>como</a:t>
            </a:r>
            <a:r>
              <a:rPr lang="en-US" sz="2800" dirty="0" smtClean="0"/>
              <a:t> </a:t>
            </a:r>
            <a:r>
              <a:rPr lang="en-US" sz="2800" dirty="0" err="1" smtClean="0"/>
              <a:t>saída</a:t>
            </a:r>
            <a:r>
              <a:rPr lang="en-US" sz="2800" dirty="0" smtClean="0"/>
              <a:t> digital. */</a:t>
            </a:r>
            <a:endParaRPr lang="pt-BR" sz="2800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r>
              <a:rPr lang="en-US" dirty="0" smtClean="0"/>
              <a:t>void setup() {       </a:t>
            </a:r>
            <a:r>
              <a:rPr lang="en-US" dirty="0" err="1" smtClean="0"/>
              <a:t>pinMode</a:t>
            </a:r>
            <a:r>
              <a:rPr lang="en-US" dirty="0" smtClean="0"/>
              <a:t>(led, OUTPUT);     }</a:t>
            </a:r>
            <a:endParaRPr lang="pt-BR" dirty="0" smtClean="0"/>
          </a:p>
          <a:p>
            <a:pPr>
              <a:buNone/>
            </a:pPr>
            <a:r>
              <a:rPr lang="pt-BR" dirty="0" smtClean="0"/>
              <a:t>// Função loop. Executada em loop infinito.</a:t>
            </a:r>
          </a:p>
          <a:p>
            <a:pPr>
              <a:buNone/>
            </a:pPr>
            <a:r>
              <a:rPr lang="en-US" dirty="0" smtClean="0"/>
              <a:t>void loop()    </a:t>
            </a:r>
            <a:r>
              <a:rPr lang="en-US" sz="3500" dirty="0" smtClean="0">
                <a:solidFill>
                  <a:srgbClr val="FF0000"/>
                </a:solidFill>
              </a:rPr>
              <a:t>{</a:t>
            </a:r>
            <a:endParaRPr lang="pt-BR" sz="35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digitalWrite</a:t>
            </a:r>
            <a:r>
              <a:rPr lang="en-US" dirty="0" smtClean="0"/>
              <a:t>(led, HIGH);   // </a:t>
            </a:r>
            <a:r>
              <a:rPr lang="en-US" dirty="0" err="1" smtClean="0"/>
              <a:t>Liga</a:t>
            </a:r>
            <a:r>
              <a:rPr lang="en-US" dirty="0" smtClean="0"/>
              <a:t> o </a:t>
            </a:r>
            <a:r>
              <a:rPr lang="en-US" dirty="0" err="1" smtClean="0"/>
              <a:t>pino</a:t>
            </a:r>
            <a:r>
              <a:rPr lang="en-US" dirty="0" smtClean="0"/>
              <a:t> 13 (HIGH)</a:t>
            </a:r>
            <a:endParaRPr lang="pt-BR" dirty="0" smtClean="0"/>
          </a:p>
          <a:p>
            <a:pPr>
              <a:buNone/>
            </a:pPr>
            <a:r>
              <a:rPr lang="en-US" dirty="0" smtClean="0"/>
              <a:t>  delay(1000);                       // </a:t>
            </a:r>
            <a:r>
              <a:rPr lang="en-US" dirty="0" err="1" smtClean="0"/>
              <a:t>Pára</a:t>
            </a:r>
            <a:r>
              <a:rPr lang="en-US" dirty="0" smtClean="0"/>
              <a:t> a CPU </a:t>
            </a:r>
            <a:r>
              <a:rPr lang="en-US" dirty="0" err="1" smtClean="0"/>
              <a:t>por</a:t>
            </a:r>
            <a:r>
              <a:rPr lang="en-US" dirty="0" smtClean="0"/>
              <a:t> um </a:t>
            </a:r>
            <a:r>
              <a:rPr lang="en-US" dirty="0" err="1" smtClean="0"/>
              <a:t>segundo</a:t>
            </a:r>
            <a:endParaRPr lang="pt-BR" dirty="0" smtClean="0"/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digitalWrite</a:t>
            </a:r>
            <a:r>
              <a:rPr lang="en-US" dirty="0" smtClean="0"/>
              <a:t>(led, LOW);    // </a:t>
            </a:r>
            <a:r>
              <a:rPr lang="en-US" dirty="0" err="1" smtClean="0"/>
              <a:t>Desliga</a:t>
            </a:r>
            <a:r>
              <a:rPr lang="en-US" dirty="0" smtClean="0"/>
              <a:t> o LED  (LOW)</a:t>
            </a:r>
            <a:endParaRPr lang="pt-BR" dirty="0" smtClean="0"/>
          </a:p>
          <a:p>
            <a:pPr>
              <a:buNone/>
            </a:pPr>
            <a:r>
              <a:rPr lang="en-US" dirty="0" smtClean="0"/>
              <a:t>  delay(1000);                       // </a:t>
            </a:r>
            <a:r>
              <a:rPr lang="en-US" dirty="0" err="1"/>
              <a:t>Pára</a:t>
            </a:r>
            <a:r>
              <a:rPr lang="en-US" dirty="0"/>
              <a:t> a CPU </a:t>
            </a:r>
            <a:r>
              <a:rPr lang="en-US" dirty="0" err="1"/>
              <a:t>por</a:t>
            </a:r>
            <a:r>
              <a:rPr lang="en-US" dirty="0"/>
              <a:t> um </a:t>
            </a:r>
            <a:r>
              <a:rPr lang="en-US" dirty="0" err="1"/>
              <a:t>segundo</a:t>
            </a:r>
            <a:endParaRPr lang="en-US" dirty="0" smtClean="0"/>
          </a:p>
          <a:p>
            <a:pPr>
              <a:buNone/>
            </a:pPr>
            <a:r>
              <a:rPr lang="pt-BR" sz="3500" dirty="0" smtClean="0">
                <a:solidFill>
                  <a:srgbClr val="FF0000"/>
                </a:solidFill>
              </a:rPr>
              <a:t>                       }                   // Retorna ao início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Operação do </a:t>
            </a:r>
            <a:r>
              <a:rPr lang="pt-BR" dirty="0" err="1" smtClean="0"/>
              <a:t>Arduino</a:t>
            </a:r>
            <a:r>
              <a:rPr lang="pt-BR" dirty="0" smtClean="0"/>
              <a:t>. Programa BLINK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5256584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Ative o programa Arduino.exe, conforme orientações em sala.</a:t>
            </a:r>
          </a:p>
          <a:p>
            <a:r>
              <a:rPr lang="pt-BR" dirty="0" smtClean="0"/>
              <a:t>Carregue o programa </a:t>
            </a:r>
            <a:r>
              <a:rPr lang="pt-BR" dirty="0" err="1" smtClean="0"/>
              <a:t>Blink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     File</a:t>
            </a:r>
            <a:r>
              <a:rPr lang="pt-BR" dirty="0" smtClean="0">
                <a:sym typeface="Wingdings" pitchFamily="2" charset="2"/>
              </a:rPr>
              <a:t> </a:t>
            </a:r>
            <a:r>
              <a:rPr lang="pt-BR" dirty="0" err="1" smtClean="0">
                <a:sym typeface="Wingdings" pitchFamily="2" charset="2"/>
              </a:rPr>
              <a:t>Examples</a:t>
            </a:r>
            <a:r>
              <a:rPr lang="pt-BR" dirty="0" smtClean="0">
                <a:sym typeface="Wingdings" pitchFamily="2" charset="2"/>
              </a:rPr>
              <a:t>  Basic   </a:t>
            </a:r>
            <a:r>
              <a:rPr lang="pt-BR" dirty="0" err="1" smtClean="0">
                <a:sym typeface="Wingdings" pitchFamily="2" charset="2"/>
              </a:rPr>
              <a:t>Blink</a:t>
            </a:r>
            <a:endParaRPr lang="pt-BR" dirty="0" smtClean="0">
              <a:sym typeface="Wingdings" pitchFamily="2" charset="2"/>
            </a:endParaRPr>
          </a:p>
          <a:p>
            <a:r>
              <a:rPr lang="pt-BR" dirty="0" smtClean="0">
                <a:sym typeface="Wingdings" pitchFamily="2" charset="2"/>
              </a:rPr>
              <a:t>Compile o programa</a:t>
            </a:r>
          </a:p>
          <a:p>
            <a:pPr marL="0" indent="0">
              <a:buNone/>
            </a:pPr>
            <a:r>
              <a:rPr lang="pt-BR" dirty="0">
                <a:sym typeface="Wingdings" pitchFamily="2" charset="2"/>
              </a:rPr>
              <a:t> </a:t>
            </a:r>
            <a:r>
              <a:rPr lang="pt-BR" dirty="0" smtClean="0">
                <a:sym typeface="Wingdings" pitchFamily="2" charset="2"/>
              </a:rPr>
              <a:t>    </a:t>
            </a:r>
            <a:r>
              <a:rPr lang="pt-BR" dirty="0" err="1" smtClean="0">
                <a:sym typeface="Wingdings" pitchFamily="2" charset="2"/>
              </a:rPr>
              <a:t>Verify</a:t>
            </a:r>
            <a:r>
              <a:rPr lang="pt-BR" dirty="0" smtClean="0">
                <a:sym typeface="Wingdings" pitchFamily="2" charset="2"/>
              </a:rPr>
              <a:t> (barra de opções);</a:t>
            </a:r>
          </a:p>
          <a:p>
            <a:r>
              <a:rPr lang="pt-BR" dirty="0" smtClean="0">
                <a:sym typeface="Wingdings" pitchFamily="2" charset="2"/>
              </a:rPr>
              <a:t>Transfira o programa </a:t>
            </a:r>
            <a:r>
              <a:rPr lang="pt-BR" dirty="0" err="1" smtClean="0">
                <a:sym typeface="Wingdings" pitchFamily="2" charset="2"/>
              </a:rPr>
              <a:t>Blink</a:t>
            </a:r>
            <a:r>
              <a:rPr lang="pt-BR" dirty="0" smtClean="0">
                <a:sym typeface="Wingdings" pitchFamily="2" charset="2"/>
              </a:rPr>
              <a:t> para a placa ARDUINO.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     *A placa Arduino DEVE estar conectada ao PC para esta comunicação e alimentação. A transferência do programa é feita pelo cabo USB.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   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A placa deve estar configurada para Arduino UNO;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A porta de comunicação deve ser configurada pelo Arduino</a:t>
            </a:r>
            <a:r>
              <a:rPr lang="pt-BR" dirty="0" smtClean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pt-BR" dirty="0" smtClean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endParaRPr lang="pt-BR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2831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Ajuda. Referencia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33562" y="1910556"/>
            <a:ext cx="54768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6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Compilação (</a:t>
            </a:r>
            <a:r>
              <a:rPr lang="pt-BR" dirty="0" err="1" smtClean="0"/>
              <a:t>Verify</a:t>
            </a:r>
            <a:r>
              <a:rPr lang="pt-BR" dirty="0" smtClean="0"/>
              <a:t>)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09762" y="2153444"/>
            <a:ext cx="53244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894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sz="3200" dirty="0" smtClean="0"/>
              <a:t>Sintaxe par configuração dos </a:t>
            </a:r>
            <a:r>
              <a:rPr lang="pt-BR" sz="3200" dirty="0" err="1" smtClean="0"/>
              <a:t>ports</a:t>
            </a:r>
            <a:r>
              <a:rPr lang="pt-BR" sz="3200" dirty="0" smtClean="0"/>
              <a:t> (pinos)</a:t>
            </a: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688632"/>
          </a:xfrm>
        </p:spPr>
        <p:txBody>
          <a:bodyPr>
            <a:normAutofit/>
          </a:bodyPr>
          <a:lstStyle/>
          <a:p>
            <a:r>
              <a:rPr lang="en-US" dirty="0" err="1" smtClean="0"/>
              <a:t>pinMode</a:t>
            </a:r>
            <a:r>
              <a:rPr lang="en-US" dirty="0" smtClean="0"/>
              <a:t>(</a:t>
            </a:r>
            <a:r>
              <a:rPr lang="en-US" dirty="0" err="1" smtClean="0"/>
              <a:t>pino</a:t>
            </a:r>
            <a:r>
              <a:rPr lang="en-US" dirty="0" smtClean="0"/>
              <a:t>, </a:t>
            </a:r>
            <a:r>
              <a:rPr lang="en-US" dirty="0" err="1" smtClean="0"/>
              <a:t>modo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Parâmetros</a:t>
            </a:r>
            <a:r>
              <a:rPr lang="en-US" dirty="0" smtClean="0"/>
              <a:t>		</a:t>
            </a:r>
            <a:r>
              <a:rPr lang="en-US" dirty="0" err="1" smtClean="0"/>
              <a:t>pino</a:t>
            </a:r>
            <a:r>
              <a:rPr lang="en-US" dirty="0" smtClean="0"/>
              <a:t>: (0 a 13);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				</a:t>
            </a:r>
            <a:r>
              <a:rPr lang="en-US" dirty="0" err="1" smtClean="0"/>
              <a:t>modo</a:t>
            </a:r>
            <a:r>
              <a:rPr lang="en-US" dirty="0" smtClean="0"/>
              <a:t>: OUTPUT/INPUT</a:t>
            </a:r>
          </a:p>
          <a:p>
            <a:pPr>
              <a:buNone/>
            </a:pPr>
            <a:r>
              <a:rPr lang="en-US" dirty="0" err="1" smtClean="0"/>
              <a:t>Exemplos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pinMode</a:t>
            </a:r>
            <a:r>
              <a:rPr lang="en-US" dirty="0" smtClean="0"/>
              <a:t>(11,OUTPUT); </a:t>
            </a:r>
          </a:p>
          <a:p>
            <a:pPr>
              <a:buNone/>
            </a:pPr>
            <a:r>
              <a:rPr lang="en-US" dirty="0" smtClean="0"/>
              <a:t>// </a:t>
            </a:r>
            <a:r>
              <a:rPr lang="en-US" dirty="0" err="1" smtClean="0"/>
              <a:t>Pino</a:t>
            </a:r>
            <a:r>
              <a:rPr lang="en-US" dirty="0" smtClean="0"/>
              <a:t> 11 </a:t>
            </a:r>
            <a:r>
              <a:rPr lang="en-US" dirty="0" err="1" smtClean="0"/>
              <a:t>está</a:t>
            </a:r>
            <a:r>
              <a:rPr lang="en-US" dirty="0" smtClean="0"/>
              <a:t> </a:t>
            </a:r>
            <a:r>
              <a:rPr lang="en-US" dirty="0" err="1" smtClean="0"/>
              <a:t>configurado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saída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pinMode</a:t>
            </a:r>
            <a:r>
              <a:rPr lang="en-US" dirty="0" smtClean="0"/>
              <a:t>(10,INPUT</a:t>
            </a:r>
            <a:r>
              <a:rPr lang="en-US" dirty="0"/>
              <a:t>); </a:t>
            </a:r>
          </a:p>
          <a:p>
            <a:pPr>
              <a:buNone/>
            </a:pPr>
            <a:r>
              <a:rPr lang="en-US" dirty="0"/>
              <a:t>// </a:t>
            </a:r>
            <a:r>
              <a:rPr lang="en-US" dirty="0" err="1" smtClean="0"/>
              <a:t>Pino</a:t>
            </a:r>
            <a:r>
              <a:rPr lang="en-US" dirty="0" smtClean="0"/>
              <a:t> 10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configurado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smtClean="0"/>
              <a:t>entrada.</a:t>
            </a:r>
            <a:endParaRPr lang="en-US" dirty="0"/>
          </a:p>
          <a:p>
            <a:pPr>
              <a:buNone/>
            </a:pPr>
            <a:endParaRPr lang="en-US" sz="1400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Programação do </a:t>
            </a:r>
            <a:r>
              <a:rPr lang="pt-BR" dirty="0" err="1" smtClean="0"/>
              <a:t>Arduino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4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4000" dirty="0" smtClean="0">
                <a:sym typeface="Wingdings" pitchFamily="2" charset="2"/>
              </a:rPr>
              <a:t>Função </a:t>
            </a:r>
            <a:r>
              <a:rPr lang="pt-BR" sz="4000" dirty="0" err="1" smtClean="0">
                <a:sym typeface="Wingdings" pitchFamily="2" charset="2"/>
              </a:rPr>
              <a:t>delay</a:t>
            </a:r>
            <a:r>
              <a:rPr lang="pt-BR" sz="4000" dirty="0" smtClean="0">
                <a:sym typeface="Wingdings" pitchFamily="2" charset="2"/>
              </a:rPr>
              <a:t> (valor). valor em milissegundos.</a:t>
            </a:r>
          </a:p>
          <a:p>
            <a:pPr>
              <a:buNone/>
            </a:pPr>
            <a:r>
              <a:rPr lang="pt-BR" sz="4000" dirty="0" err="1" smtClean="0">
                <a:sym typeface="Wingdings" pitchFamily="2" charset="2"/>
              </a:rPr>
              <a:t>Pára</a:t>
            </a:r>
            <a:r>
              <a:rPr lang="pt-BR" sz="4000" dirty="0" smtClean="0">
                <a:sym typeface="Wingdings" pitchFamily="2" charset="2"/>
              </a:rPr>
              <a:t> o processamento em intervalos de MILISSEGUNDOS</a:t>
            </a:r>
            <a:r>
              <a:rPr lang="pt-BR" dirty="0" smtClean="0">
                <a:sym typeface="Wingdings" pitchFamily="2" charset="2"/>
              </a:rPr>
              <a:t>.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     </a:t>
            </a:r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pt-BR" dirty="0" smtClean="0"/>
              <a:t>Testes do programa </a:t>
            </a:r>
            <a:r>
              <a:rPr lang="pt-BR" dirty="0" err="1" smtClean="0"/>
              <a:t>blink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Altere o programa </a:t>
            </a:r>
            <a:r>
              <a:rPr lang="pt-BR" dirty="0" err="1" smtClean="0"/>
              <a:t>blink</a:t>
            </a:r>
            <a:r>
              <a:rPr lang="pt-BR" dirty="0" smtClean="0"/>
              <a:t> para piscar com os seguintes intervalos:</a:t>
            </a:r>
          </a:p>
          <a:p>
            <a:r>
              <a:rPr lang="pt-BR" dirty="0" smtClean="0"/>
              <a:t>10 segundos</a:t>
            </a:r>
          </a:p>
          <a:p>
            <a:r>
              <a:rPr lang="pt-BR" dirty="0" smtClean="0"/>
              <a:t>100 milissegundos:</a:t>
            </a:r>
          </a:p>
          <a:p>
            <a:r>
              <a:rPr lang="pt-BR" dirty="0" smtClean="0"/>
              <a:t>10 milissegundos ligado e 2  segundos desligados;</a:t>
            </a:r>
          </a:p>
          <a:p>
            <a:pPr marL="0" indent="0">
              <a:buNone/>
            </a:pPr>
            <a:r>
              <a:rPr lang="pt-BR" dirty="0" smtClean="0"/>
              <a:t>Qual o intervalo de tempo que você consegue perceber o LED piscando.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719137"/>
          </a:xfrm>
        </p:spPr>
        <p:txBody>
          <a:bodyPr/>
          <a:lstStyle/>
          <a:p>
            <a:r>
              <a:rPr lang="pt-BR" sz="3200" b="1" u="sng" dirty="0" smtClean="0"/>
              <a:t>Programa: </a:t>
            </a:r>
            <a:r>
              <a:rPr lang="pt-BR" sz="3200" b="1" u="sng" dirty="0" err="1" smtClean="0"/>
              <a:t>Blinkwithoutdelay</a:t>
            </a:r>
            <a:r>
              <a:rPr lang="pt-BR" sz="3200" b="1" u="sng" dirty="0" smtClean="0"/>
              <a:t> </a:t>
            </a:r>
          </a:p>
        </p:txBody>
      </p:sp>
      <p:sp>
        <p:nvSpPr>
          <p:cNvPr id="50179" name="Espaço Reservado para Conteúdo 2"/>
          <p:cNvSpPr>
            <a:spLocks noGrp="1"/>
          </p:cNvSpPr>
          <p:nvPr>
            <p:ph idx="1"/>
          </p:nvPr>
        </p:nvSpPr>
        <p:spPr>
          <a:xfrm>
            <a:off x="250825" y="908050"/>
            <a:ext cx="8435975" cy="521811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/>
              <a:t> </a:t>
            </a:r>
            <a:r>
              <a:rPr lang="pt-BR" sz="2800" b="1" i="1" u="sng" dirty="0" smtClean="0">
                <a:solidFill>
                  <a:srgbClr val="FF0000"/>
                </a:solidFill>
              </a:rPr>
              <a:t>Coloque em operação o arquivo </a:t>
            </a:r>
            <a:r>
              <a:rPr lang="pt-BR" sz="2800" dirty="0" err="1"/>
              <a:t>b</a:t>
            </a:r>
            <a:r>
              <a:rPr lang="pt-BR" sz="2800" dirty="0" err="1" smtClean="0">
                <a:sym typeface="Wingdings" pitchFamily="2" charset="2"/>
              </a:rPr>
              <a:t>linkwithoutdelay</a:t>
            </a:r>
            <a:endParaRPr lang="pt-BR" sz="2800" dirty="0" smtClean="0"/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 smtClean="0"/>
              <a:t> </a:t>
            </a:r>
            <a:r>
              <a:rPr lang="pt-BR" sz="2800" dirty="0" err="1" smtClean="0"/>
              <a:t>Examples</a:t>
            </a:r>
            <a:r>
              <a:rPr lang="pt-BR" sz="2800" dirty="0" smtClean="0"/>
              <a:t> </a:t>
            </a:r>
            <a:r>
              <a:rPr lang="pt-BR" sz="2800" dirty="0" smtClean="0">
                <a:sym typeface="Wingdings" pitchFamily="2" charset="2"/>
              </a:rPr>
              <a:t> digital  </a:t>
            </a:r>
            <a:r>
              <a:rPr lang="pt-BR" sz="2800" dirty="0" err="1" smtClean="0">
                <a:sym typeface="Wingdings" pitchFamily="2" charset="2"/>
              </a:rPr>
              <a:t>BlinkWithoutDelay</a:t>
            </a:r>
            <a:r>
              <a:rPr lang="pt-BR" sz="2800" dirty="0" smtClean="0">
                <a:sym typeface="Wingdings" pitchFamily="2" charset="2"/>
              </a:rPr>
              <a:t>.</a:t>
            </a:r>
          </a:p>
          <a:p>
            <a:pPr>
              <a:buNone/>
            </a:pPr>
            <a:endParaRPr lang="pt-BR" sz="2800" dirty="0" smtClean="0">
              <a:sym typeface="Wingdings" pitchFamily="2" charset="2"/>
            </a:endParaRPr>
          </a:p>
          <a:p>
            <a:pPr>
              <a:buNone/>
            </a:pPr>
            <a:r>
              <a:rPr lang="pt-BR" sz="2800" b="1" i="1" u="sng" dirty="0" smtClean="0">
                <a:solidFill>
                  <a:srgbClr val="FF0000"/>
                </a:solidFill>
                <a:sym typeface="Wingdings" pitchFamily="2" charset="2"/>
              </a:rPr>
              <a:t>Estude </a:t>
            </a:r>
            <a:r>
              <a:rPr lang="pt-BR" sz="2800" b="1" i="1" u="sng" dirty="0">
                <a:solidFill>
                  <a:srgbClr val="FF0000"/>
                </a:solidFill>
                <a:sym typeface="Wingdings" pitchFamily="2" charset="2"/>
              </a:rPr>
              <a:t>o programa</a:t>
            </a:r>
            <a:r>
              <a:rPr lang="pt-BR" sz="2800" b="1" i="1" u="sng" dirty="0" smtClean="0">
                <a:solidFill>
                  <a:srgbClr val="FF0000"/>
                </a:solidFill>
                <a:sym typeface="Wingdings" pitchFamily="2" charset="2"/>
              </a:rPr>
              <a:t>. </a:t>
            </a:r>
            <a:r>
              <a:rPr lang="pt-BR" sz="2800" dirty="0" smtClean="0">
                <a:sym typeface="Wingdings" pitchFamily="2" charset="2"/>
              </a:rPr>
              <a:t>Altere a função para operar 5 segundos em nível HIGH   e 5 segundos em nível LOW; </a:t>
            </a:r>
            <a:endParaRPr lang="pt-BR" sz="2800" b="1" i="1" u="sng" dirty="0" smtClean="0">
              <a:solidFill>
                <a:srgbClr val="FF0000"/>
              </a:solidFill>
              <a:sym typeface="Wingdings" pitchFamily="2" charset="2"/>
            </a:endParaRPr>
          </a:p>
          <a:p>
            <a:pPr>
              <a:buNone/>
            </a:pPr>
            <a:r>
              <a:rPr lang="pt-BR" sz="2800" b="1" i="1" u="sng" dirty="0" smtClean="0">
                <a:solidFill>
                  <a:srgbClr val="FF0000"/>
                </a:solidFill>
                <a:sym typeface="Wingdings" pitchFamily="2" charset="2"/>
              </a:rPr>
              <a:t>Explique a diferença de operação dos programas </a:t>
            </a:r>
            <a:r>
              <a:rPr lang="pt-BR" sz="2800" b="1" i="1" u="sng" dirty="0" err="1" smtClean="0">
                <a:solidFill>
                  <a:srgbClr val="00B050"/>
                </a:solidFill>
                <a:sym typeface="Wingdings" pitchFamily="2" charset="2"/>
              </a:rPr>
              <a:t>Blink</a:t>
            </a:r>
            <a:r>
              <a:rPr lang="pt-BR" sz="2800" b="1" i="1" u="sng" dirty="0" smtClean="0">
                <a:solidFill>
                  <a:srgbClr val="FF0000"/>
                </a:solidFill>
                <a:sym typeface="Wingdings" pitchFamily="2" charset="2"/>
              </a:rPr>
              <a:t> e </a:t>
            </a:r>
            <a:r>
              <a:rPr lang="pt-BR" sz="2800" i="1" dirty="0" err="1" smtClean="0">
                <a:solidFill>
                  <a:srgbClr val="00B0F0"/>
                </a:solidFill>
                <a:sym typeface="Wingdings" pitchFamily="2" charset="2"/>
              </a:rPr>
              <a:t>BlinkWwithoutDelay</a:t>
            </a:r>
            <a:r>
              <a:rPr lang="pt-BR" sz="2800" dirty="0" smtClean="0">
                <a:sym typeface="Wingdings" pitchFamily="2" charset="2"/>
              </a:rPr>
              <a:t>.</a:t>
            </a:r>
            <a:r>
              <a:rPr lang="pt-BR" sz="2800" dirty="0" smtClean="0"/>
              <a:t>       </a:t>
            </a:r>
          </a:p>
          <a:p>
            <a:endParaRPr lang="pt-BR" dirty="0" smtClean="0"/>
          </a:p>
          <a:p>
            <a:pPr>
              <a:buFont typeface="Arial" charset="0"/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Estudo: </a:t>
            </a:r>
            <a:r>
              <a:rPr lang="pt-BR" dirty="0" err="1" smtClean="0"/>
              <a:t>BlinkWithoutDelay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4360" y="908720"/>
            <a:ext cx="8538120" cy="576064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ledState</a:t>
            </a:r>
            <a:r>
              <a:rPr lang="en-US" dirty="0" smtClean="0"/>
              <a:t> = LOW;     long </a:t>
            </a:r>
            <a:r>
              <a:rPr lang="en-US" dirty="0" err="1" smtClean="0"/>
              <a:t>previousMillis</a:t>
            </a:r>
            <a:r>
              <a:rPr lang="en-US" dirty="0" smtClean="0"/>
              <a:t> = 0;</a:t>
            </a:r>
          </a:p>
          <a:p>
            <a:pPr>
              <a:buNone/>
            </a:pPr>
            <a:r>
              <a:rPr lang="en-US" dirty="0" smtClean="0"/>
              <a:t> // </a:t>
            </a:r>
            <a:r>
              <a:rPr lang="en-US" dirty="0" err="1" smtClean="0"/>
              <a:t>ledState</a:t>
            </a:r>
            <a:r>
              <a:rPr lang="en-US" dirty="0" smtClean="0"/>
              <a:t> store last time LED was updated</a:t>
            </a:r>
          </a:p>
          <a:p>
            <a:pPr>
              <a:buNone/>
            </a:pPr>
            <a:r>
              <a:rPr lang="en-US" dirty="0" smtClean="0"/>
              <a:t>long interval = 100;           // interval at which to blink (milliseconds). </a:t>
            </a:r>
          </a:p>
          <a:p>
            <a:pPr>
              <a:buNone/>
            </a:pPr>
            <a:r>
              <a:rPr lang="en-US" dirty="0" smtClean="0"/>
              <a:t>void setup() {        </a:t>
            </a:r>
            <a:r>
              <a:rPr lang="en-US" dirty="0" err="1" smtClean="0"/>
              <a:t>pinMode</a:t>
            </a:r>
            <a:r>
              <a:rPr lang="en-US" dirty="0" smtClean="0"/>
              <a:t>(13, OUTPUT);     }</a:t>
            </a:r>
          </a:p>
          <a:p>
            <a:pPr>
              <a:buNone/>
            </a:pPr>
            <a:r>
              <a:rPr lang="en-US" dirty="0" smtClean="0"/>
              <a:t>void loop()  {</a:t>
            </a:r>
          </a:p>
          <a:p>
            <a:pPr>
              <a:buNone/>
            </a:pPr>
            <a:r>
              <a:rPr lang="en-US" dirty="0" smtClean="0"/>
              <a:t>/*check to see if it's time to blink the LED; that is, if the difference between</a:t>
            </a:r>
          </a:p>
          <a:p>
            <a:pPr>
              <a:buNone/>
            </a:pPr>
            <a:r>
              <a:rPr lang="en-US" dirty="0" smtClean="0"/>
              <a:t>  the current time and last time you blinked the LED is bigger than the interval at which you want to blink the LED. */</a:t>
            </a:r>
          </a:p>
          <a:p>
            <a:pPr>
              <a:buNone/>
            </a:pPr>
            <a:r>
              <a:rPr lang="en-US" dirty="0" smtClean="0"/>
              <a:t>  unsigned long </a:t>
            </a:r>
            <a:r>
              <a:rPr lang="en-US" dirty="0" err="1" smtClean="0"/>
              <a:t>currentMillis</a:t>
            </a:r>
            <a:r>
              <a:rPr lang="en-US" dirty="0" smtClean="0"/>
              <a:t> = </a:t>
            </a:r>
            <a:r>
              <a:rPr lang="en-US" dirty="0" err="1" smtClean="0"/>
              <a:t>millis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  if(</a:t>
            </a:r>
            <a:r>
              <a:rPr lang="en-US" dirty="0" err="1" smtClean="0"/>
              <a:t>currentMillis</a:t>
            </a:r>
            <a:r>
              <a:rPr lang="en-US" dirty="0" smtClean="0"/>
              <a:t> - </a:t>
            </a:r>
            <a:r>
              <a:rPr lang="en-US" dirty="0" err="1" smtClean="0"/>
              <a:t>previousMillis</a:t>
            </a:r>
            <a:r>
              <a:rPr lang="en-US" dirty="0" smtClean="0"/>
              <a:t> &gt; interval) { </a:t>
            </a:r>
          </a:p>
          <a:p>
            <a:pPr>
              <a:buNone/>
            </a:pPr>
            <a:r>
              <a:rPr lang="en-US" dirty="0" smtClean="0"/>
              <a:t>                 </a:t>
            </a:r>
            <a:r>
              <a:rPr lang="en-US" dirty="0" err="1" smtClean="0"/>
              <a:t>previousMillis</a:t>
            </a:r>
            <a:r>
              <a:rPr lang="en-US" dirty="0" smtClean="0"/>
              <a:t> = </a:t>
            </a:r>
            <a:r>
              <a:rPr lang="en-US" dirty="0" err="1" smtClean="0"/>
              <a:t>currentMillis</a:t>
            </a:r>
            <a:r>
              <a:rPr lang="en-US" dirty="0" smtClean="0"/>
              <a:t>;   </a:t>
            </a:r>
          </a:p>
          <a:p>
            <a:pPr>
              <a:buNone/>
            </a:pPr>
            <a:r>
              <a:rPr lang="en-US" dirty="0" smtClean="0"/>
              <a:t>                     if (</a:t>
            </a:r>
            <a:r>
              <a:rPr lang="en-US" dirty="0" err="1" smtClean="0"/>
              <a:t>ledState</a:t>
            </a:r>
            <a:r>
              <a:rPr lang="en-US" dirty="0" smtClean="0"/>
              <a:t> == LOW)   { </a:t>
            </a:r>
            <a:r>
              <a:rPr lang="en-US" dirty="0" err="1" smtClean="0"/>
              <a:t>ledState</a:t>
            </a:r>
            <a:r>
              <a:rPr lang="en-US" dirty="0" smtClean="0"/>
              <a:t> = HIGH;}</a:t>
            </a:r>
          </a:p>
          <a:p>
            <a:pPr>
              <a:buNone/>
            </a:pPr>
            <a:r>
              <a:rPr lang="en-US" dirty="0" smtClean="0"/>
              <a:t>                     else  </a:t>
            </a:r>
            <a:r>
              <a:rPr lang="en-US" dirty="0" err="1" smtClean="0"/>
              <a:t>ledState</a:t>
            </a:r>
            <a:r>
              <a:rPr lang="en-US" dirty="0" smtClean="0"/>
              <a:t> = LOW;</a:t>
            </a:r>
          </a:p>
          <a:p>
            <a:pPr>
              <a:buNone/>
            </a:pPr>
            <a:r>
              <a:rPr lang="en-US" dirty="0" smtClean="0"/>
              <a:t>                 // set the LED with the </a:t>
            </a:r>
            <a:r>
              <a:rPr lang="en-US" dirty="0" err="1" smtClean="0"/>
              <a:t>ledState</a:t>
            </a:r>
            <a:r>
              <a:rPr lang="en-US" dirty="0" smtClean="0"/>
              <a:t> of the variable:</a:t>
            </a:r>
          </a:p>
          <a:p>
            <a:pPr>
              <a:buNone/>
            </a:pPr>
            <a:r>
              <a:rPr lang="en-US" dirty="0" smtClean="0"/>
              <a:t>                 </a:t>
            </a:r>
            <a:r>
              <a:rPr lang="en-US" dirty="0" err="1" smtClean="0"/>
              <a:t>digitalWrite</a:t>
            </a:r>
            <a:r>
              <a:rPr lang="en-US" dirty="0" smtClean="0"/>
              <a:t>(13, </a:t>
            </a:r>
            <a:r>
              <a:rPr lang="en-US" dirty="0" err="1" smtClean="0"/>
              <a:t>ledState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                                          }</a:t>
            </a:r>
          </a:p>
          <a:p>
            <a:pPr>
              <a:buNone/>
            </a:pPr>
            <a:r>
              <a:rPr lang="en-US" dirty="0" smtClean="0"/>
              <a:t>          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Atenção para a sintaxe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908720"/>
            <a:ext cx="8928992" cy="521744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ledState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LOW;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dirty="0" smtClean="0"/>
              <a:t>tate: o 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dirty="0" smtClean="0"/>
              <a:t> </a:t>
            </a:r>
            <a:r>
              <a:rPr lang="en-US" dirty="0" err="1" smtClean="0"/>
              <a:t>está</a:t>
            </a:r>
            <a:r>
              <a:rPr lang="en-US" dirty="0" smtClean="0"/>
              <a:t> </a:t>
            </a:r>
            <a:r>
              <a:rPr lang="en-US" dirty="0" err="1" smtClean="0"/>
              <a:t>maiúsculas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LOW</a:t>
            </a:r>
            <a:r>
              <a:rPr lang="en-US" dirty="0" smtClean="0"/>
              <a:t> </a:t>
            </a:r>
            <a:r>
              <a:rPr lang="en-US" dirty="0" err="1" smtClean="0"/>
              <a:t>está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maiúsculas</a:t>
            </a:r>
            <a:endParaRPr lang="en-US" dirty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err="1" smtClean="0"/>
              <a:t>Análise</a:t>
            </a:r>
            <a:r>
              <a:rPr lang="en-US" dirty="0" smtClean="0"/>
              <a:t> e </a:t>
            </a:r>
            <a:r>
              <a:rPr lang="en-US" dirty="0" err="1" smtClean="0"/>
              <a:t>sintaxe</a:t>
            </a:r>
            <a:r>
              <a:rPr lang="en-US" dirty="0" smtClean="0"/>
              <a:t> das </a:t>
            </a:r>
            <a:r>
              <a:rPr lang="en-US" dirty="0" err="1" smtClean="0"/>
              <a:t>instruções</a:t>
            </a:r>
            <a:r>
              <a:rPr lang="en-US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err="1" smtClean="0"/>
              <a:t>pinMode</a:t>
            </a:r>
            <a:r>
              <a:rPr lang="en-US" dirty="0" smtClean="0"/>
              <a:t>(13</a:t>
            </a:r>
            <a:r>
              <a:rPr lang="en-US" dirty="0"/>
              <a:t>, OUTPUT</a:t>
            </a:r>
            <a:r>
              <a:rPr lang="en-US" dirty="0" smtClean="0"/>
              <a:t>);</a:t>
            </a:r>
          </a:p>
          <a:p>
            <a:r>
              <a:rPr lang="en-US" dirty="0" err="1"/>
              <a:t>digitalWrite</a:t>
            </a:r>
            <a:r>
              <a:rPr lang="en-US" dirty="0"/>
              <a:t>(13, </a:t>
            </a:r>
            <a:r>
              <a:rPr lang="en-US" dirty="0" err="1"/>
              <a:t>ledState</a:t>
            </a:r>
            <a:r>
              <a:rPr lang="en-US" dirty="0" smtClean="0"/>
              <a:t>);</a:t>
            </a:r>
          </a:p>
          <a:p>
            <a:r>
              <a:rPr lang="en-US" dirty="0"/>
              <a:t> if (</a:t>
            </a:r>
            <a:r>
              <a:rPr lang="en-US" dirty="0" err="1"/>
              <a:t>ledState</a:t>
            </a:r>
            <a:r>
              <a:rPr lang="en-US" dirty="0"/>
              <a:t> == LOW)   { </a:t>
            </a:r>
            <a:r>
              <a:rPr lang="en-US" dirty="0" err="1"/>
              <a:t>ledState</a:t>
            </a:r>
            <a:r>
              <a:rPr lang="en-US" dirty="0"/>
              <a:t> = HIGH;}</a:t>
            </a:r>
          </a:p>
          <a:p>
            <a:pPr>
              <a:buNone/>
            </a:pPr>
            <a:r>
              <a:rPr lang="en-US" dirty="0"/>
              <a:t>                     else  </a:t>
            </a:r>
            <a:r>
              <a:rPr lang="en-US" dirty="0" err="1"/>
              <a:t>ledState</a:t>
            </a:r>
            <a:r>
              <a:rPr lang="en-US" dirty="0"/>
              <a:t> = LOW;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872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</a:t>
            </a:r>
            <a:r>
              <a:rPr lang="pt-BR" dirty="0" err="1" smtClean="0"/>
              <a:t>mills</a:t>
            </a:r>
            <a:r>
              <a:rPr lang="pt-BR" dirty="0" smtClean="0"/>
              <a:t>()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millis</a:t>
            </a:r>
            <a:r>
              <a:rPr lang="en-US" b="1" dirty="0" smtClean="0"/>
              <a:t>()</a:t>
            </a:r>
          </a:p>
          <a:p>
            <a:r>
              <a:rPr lang="en-US" dirty="0" smtClean="0"/>
              <a:t>Description</a:t>
            </a:r>
          </a:p>
          <a:p>
            <a:r>
              <a:rPr lang="en-US" dirty="0" smtClean="0"/>
              <a:t>Returns the number of milliseconds since the Arduino board began running the current program. This number will overflow (go back to zero), after approximately 50 days.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pt-BR" dirty="0" smtClean="0"/>
              <a:t>Monitor serial. Saída serial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pt-BR" dirty="0" err="1" smtClean="0"/>
              <a:t>unsigned</a:t>
            </a:r>
            <a:r>
              <a:rPr lang="pt-BR" dirty="0" smtClean="0"/>
              <a:t> </a:t>
            </a:r>
            <a:r>
              <a:rPr lang="pt-BR" dirty="0" err="1" smtClean="0"/>
              <a:t>long</a:t>
            </a:r>
            <a:r>
              <a:rPr lang="pt-BR" dirty="0" smtClean="0"/>
              <a:t> time; </a:t>
            </a:r>
          </a:p>
          <a:p>
            <a:pPr>
              <a:buNone/>
            </a:pPr>
            <a:r>
              <a:rPr lang="pt-BR" dirty="0" err="1" smtClean="0"/>
              <a:t>void</a:t>
            </a:r>
            <a:r>
              <a:rPr lang="pt-BR" dirty="0" smtClean="0"/>
              <a:t> setup(){ Serial.</a:t>
            </a:r>
            <a:r>
              <a:rPr lang="pt-BR" dirty="0" err="1" smtClean="0"/>
              <a:t>begin</a:t>
            </a:r>
            <a:r>
              <a:rPr lang="pt-BR" dirty="0" smtClean="0"/>
              <a:t>(9600); }</a:t>
            </a:r>
          </a:p>
          <a:p>
            <a:pPr>
              <a:buNone/>
            </a:pPr>
            <a:r>
              <a:rPr lang="pt-BR" dirty="0" smtClean="0"/>
              <a:t> </a:t>
            </a:r>
            <a:r>
              <a:rPr lang="pt-BR" dirty="0" err="1" smtClean="0"/>
              <a:t>void</a:t>
            </a:r>
            <a:r>
              <a:rPr lang="pt-BR" dirty="0" smtClean="0"/>
              <a:t> loop(){ Serial.</a:t>
            </a:r>
            <a:r>
              <a:rPr lang="pt-BR" dirty="0" err="1" smtClean="0"/>
              <a:t>print</a:t>
            </a:r>
            <a:r>
              <a:rPr lang="pt-BR" dirty="0" smtClean="0"/>
              <a:t>("Time: ");       time = </a:t>
            </a:r>
            <a:r>
              <a:rPr lang="pt-BR" dirty="0" err="1" smtClean="0"/>
              <a:t>millis</a:t>
            </a:r>
            <a:r>
              <a:rPr lang="pt-BR" dirty="0" smtClean="0"/>
              <a:t>(); </a:t>
            </a:r>
          </a:p>
          <a:p>
            <a:pPr>
              <a:buNone/>
            </a:pPr>
            <a:r>
              <a:rPr lang="pt-BR" dirty="0" smtClean="0"/>
              <a:t>  //</a:t>
            </a:r>
            <a:r>
              <a:rPr lang="pt-BR" dirty="0" err="1" smtClean="0"/>
              <a:t>prints</a:t>
            </a:r>
            <a:r>
              <a:rPr lang="pt-BR" dirty="0" smtClean="0"/>
              <a:t> time </a:t>
            </a:r>
            <a:r>
              <a:rPr lang="pt-BR" dirty="0" err="1" smtClean="0"/>
              <a:t>since</a:t>
            </a:r>
            <a:r>
              <a:rPr lang="pt-BR" dirty="0" smtClean="0"/>
              <a:t> </a:t>
            </a:r>
            <a:r>
              <a:rPr lang="pt-BR" dirty="0" err="1" smtClean="0"/>
              <a:t>program</a:t>
            </a:r>
            <a:r>
              <a:rPr lang="pt-BR" dirty="0" smtClean="0"/>
              <a:t> </a:t>
            </a:r>
            <a:r>
              <a:rPr lang="pt-BR" dirty="0" err="1" smtClean="0"/>
              <a:t>started</a:t>
            </a:r>
            <a:endParaRPr lang="pt-BR" dirty="0" smtClean="0"/>
          </a:p>
          <a:p>
            <a:pPr>
              <a:buNone/>
            </a:pPr>
            <a:r>
              <a:rPr lang="pt-BR" dirty="0" smtClean="0"/>
              <a:t>        Serial.</a:t>
            </a:r>
            <a:r>
              <a:rPr lang="pt-BR" dirty="0" err="1" smtClean="0"/>
              <a:t>println</a:t>
            </a:r>
            <a:r>
              <a:rPr lang="pt-BR" dirty="0" smtClean="0"/>
              <a:t>(time);</a:t>
            </a:r>
          </a:p>
          <a:p>
            <a:pPr>
              <a:buNone/>
            </a:pPr>
            <a:r>
              <a:rPr lang="pt-BR" dirty="0" smtClean="0"/>
              <a:t> </a:t>
            </a:r>
            <a:r>
              <a:rPr lang="pt-BR" sz="2600" b="1" dirty="0" smtClean="0"/>
              <a:t>// </a:t>
            </a:r>
            <a:r>
              <a:rPr lang="pt-BR" sz="2600" b="1" dirty="0" err="1" smtClean="0"/>
              <a:t>wait</a:t>
            </a:r>
            <a:r>
              <a:rPr lang="pt-BR" sz="2600" b="1" dirty="0" smtClean="0"/>
              <a:t> a </a:t>
            </a:r>
            <a:r>
              <a:rPr lang="pt-BR" sz="2600" b="1" dirty="0" err="1" smtClean="0"/>
              <a:t>second</a:t>
            </a:r>
            <a:r>
              <a:rPr lang="pt-BR" sz="2600" b="1" dirty="0" smtClean="0"/>
              <a:t> </a:t>
            </a:r>
            <a:r>
              <a:rPr lang="pt-BR" sz="2600" b="1" dirty="0" err="1" smtClean="0"/>
              <a:t>so</a:t>
            </a:r>
            <a:r>
              <a:rPr lang="pt-BR" sz="2600" b="1" dirty="0" smtClean="0"/>
              <a:t> as </a:t>
            </a:r>
            <a:r>
              <a:rPr lang="pt-BR" sz="2600" b="1" dirty="0" err="1" smtClean="0"/>
              <a:t>not</a:t>
            </a:r>
            <a:r>
              <a:rPr lang="pt-BR" sz="2600" b="1" dirty="0" smtClean="0"/>
              <a:t> to </a:t>
            </a:r>
            <a:r>
              <a:rPr lang="pt-BR" sz="2600" b="1" dirty="0" err="1" smtClean="0"/>
              <a:t>send</a:t>
            </a:r>
            <a:r>
              <a:rPr lang="pt-BR" sz="2600" b="1" dirty="0" smtClean="0"/>
              <a:t> </a:t>
            </a:r>
            <a:r>
              <a:rPr lang="pt-BR" sz="2600" b="1" dirty="0" err="1" smtClean="0"/>
              <a:t>massive</a:t>
            </a:r>
            <a:r>
              <a:rPr lang="pt-BR" sz="2600" b="1" dirty="0" smtClean="0"/>
              <a:t> </a:t>
            </a:r>
            <a:r>
              <a:rPr lang="pt-BR" sz="2600" b="1" dirty="0" err="1" smtClean="0"/>
              <a:t>amounts</a:t>
            </a:r>
            <a:r>
              <a:rPr lang="pt-BR" sz="2600" b="1" dirty="0" smtClean="0"/>
              <a:t> </a:t>
            </a:r>
            <a:r>
              <a:rPr lang="pt-BR" sz="2600" b="1" dirty="0" err="1" smtClean="0"/>
              <a:t>of</a:t>
            </a:r>
            <a:r>
              <a:rPr lang="pt-BR" sz="2600" b="1" dirty="0" smtClean="0"/>
              <a:t> data</a:t>
            </a:r>
          </a:p>
          <a:p>
            <a:pPr>
              <a:buNone/>
            </a:pPr>
            <a:r>
              <a:rPr lang="pt-BR" dirty="0" smtClean="0"/>
              <a:t>        </a:t>
            </a:r>
            <a:r>
              <a:rPr lang="pt-BR" dirty="0" err="1" smtClean="0"/>
              <a:t>delay</a:t>
            </a:r>
            <a:r>
              <a:rPr lang="pt-BR" dirty="0" smtClean="0"/>
              <a:t>(1000); </a:t>
            </a:r>
          </a:p>
          <a:p>
            <a:pPr>
              <a:buNone/>
            </a:pPr>
            <a:r>
              <a:rPr lang="pt-BR" dirty="0" smtClean="0"/>
              <a:t>                       }</a:t>
            </a:r>
          </a:p>
          <a:p>
            <a:pPr>
              <a:buNone/>
            </a:pPr>
            <a:r>
              <a:rPr lang="pt-BR" dirty="0" smtClean="0"/>
              <a:t>//Altere o programa para imprimir minutos e segundos.</a:t>
            </a:r>
          </a:p>
          <a:p>
            <a:pPr>
              <a:buNone/>
            </a:pPr>
            <a:r>
              <a:rPr lang="pt-BR" dirty="0" smtClean="0"/>
              <a:t>Use divisão por inteiro ( / )  e resto de divisão ( % )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Monitor Serial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05000" y="2743994"/>
            <a:ext cx="5334000" cy="2238375"/>
          </a:xfrm>
          <a:prstGeom prst="rect">
            <a:avLst/>
          </a:prstGeom>
        </p:spPr>
      </p:pic>
      <p:sp>
        <p:nvSpPr>
          <p:cNvPr id="6" name="Seta para Baixo 5"/>
          <p:cNvSpPr/>
          <p:nvPr/>
        </p:nvSpPr>
        <p:spPr>
          <a:xfrm>
            <a:off x="5076056" y="980728"/>
            <a:ext cx="3528392" cy="20162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8002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9036496" cy="1143000"/>
          </a:xfrm>
        </p:spPr>
        <p:txBody>
          <a:bodyPr>
            <a:normAutofit/>
          </a:bodyPr>
          <a:lstStyle/>
          <a:p>
            <a:r>
              <a:rPr lang="pt-BR" sz="3600" dirty="0" smtClean="0"/>
              <a:t>Monitor serial: Recurso para saída de dados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 smtClean="0"/>
              <a:t>// Comunicação via USB.</a:t>
            </a:r>
          </a:p>
          <a:p>
            <a:pPr marL="0" indent="0">
              <a:buNone/>
            </a:pPr>
            <a:r>
              <a:rPr lang="pt-BR" dirty="0" smtClean="0"/>
              <a:t>// Ícone no canto superior esquerdo. Exemplo</a:t>
            </a:r>
          </a:p>
          <a:p>
            <a:pPr marL="0" indent="0">
              <a:buNone/>
            </a:pPr>
            <a:r>
              <a:rPr lang="pt-BR" dirty="0" err="1" smtClean="0"/>
              <a:t>int</a:t>
            </a:r>
            <a:r>
              <a:rPr lang="pt-BR" dirty="0" smtClean="0"/>
              <a:t> n = 1;  // variável global</a:t>
            </a:r>
          </a:p>
          <a:p>
            <a:pPr marL="0" indent="0">
              <a:buNone/>
            </a:pPr>
            <a:r>
              <a:rPr lang="pt-BR" dirty="0" err="1" smtClean="0"/>
              <a:t>void</a:t>
            </a:r>
            <a:r>
              <a:rPr lang="pt-BR" dirty="0" smtClean="0"/>
              <a:t> setup ( )     {     Serial.</a:t>
            </a:r>
            <a:r>
              <a:rPr lang="pt-BR" dirty="0" err="1" smtClean="0"/>
              <a:t>begin</a:t>
            </a:r>
            <a:r>
              <a:rPr lang="pt-BR" dirty="0" smtClean="0"/>
              <a:t>(9600);   }</a:t>
            </a:r>
          </a:p>
          <a:p>
            <a:pPr marL="0" indent="0">
              <a:buNone/>
            </a:pPr>
            <a:r>
              <a:rPr lang="pt-BR" dirty="0" smtClean="0"/>
              <a:t>// Inicializa a comunicação serial com 9600 </a:t>
            </a:r>
            <a:r>
              <a:rPr lang="pt-BR" dirty="0" err="1" smtClean="0"/>
              <a:t>bauds</a:t>
            </a:r>
            <a:r>
              <a:rPr lang="pt-BR" dirty="0" smtClean="0"/>
              <a:t> </a:t>
            </a:r>
          </a:p>
          <a:p>
            <a:pPr marL="0" indent="0">
              <a:buNone/>
            </a:pPr>
            <a:r>
              <a:rPr lang="pt-BR" dirty="0" err="1" smtClean="0"/>
              <a:t>void</a:t>
            </a:r>
            <a:r>
              <a:rPr lang="pt-BR" dirty="0" smtClean="0"/>
              <a:t> loop()        {</a:t>
            </a:r>
          </a:p>
          <a:p>
            <a:pPr marL="0" indent="0">
              <a:buNone/>
            </a:pPr>
            <a:r>
              <a:rPr lang="pt-BR" dirty="0" smtClean="0"/>
              <a:t>//A saída pela interface serial é recebida no monitor serial         </a:t>
            </a:r>
          </a:p>
          <a:p>
            <a:pPr marL="0" indent="0">
              <a:buNone/>
            </a:pPr>
            <a:r>
              <a:rPr lang="pt-BR" dirty="0" smtClean="0"/>
              <a:t>         Serial.</a:t>
            </a:r>
            <a:r>
              <a:rPr lang="pt-BR" dirty="0" err="1" smtClean="0"/>
              <a:t>print</a:t>
            </a:r>
            <a:r>
              <a:rPr lang="pt-BR" dirty="0" smtClean="0"/>
              <a:t>(n); n=n+1; </a:t>
            </a:r>
          </a:p>
          <a:p>
            <a:pPr marL="0" indent="0">
              <a:buNone/>
            </a:pPr>
            <a:r>
              <a:rPr lang="pt-BR" dirty="0" smtClean="0"/>
              <a:t>         Serial.</a:t>
            </a:r>
            <a:r>
              <a:rPr lang="pt-BR" dirty="0" err="1" smtClean="0"/>
              <a:t>println</a:t>
            </a:r>
            <a:r>
              <a:rPr lang="pt-BR" dirty="0" smtClean="0"/>
              <a:t>(": Alo Mundo!");</a:t>
            </a:r>
          </a:p>
          <a:p>
            <a:pPr marL="0" indent="0">
              <a:buNone/>
            </a:pPr>
            <a:r>
              <a:rPr lang="pt-BR" dirty="0" smtClean="0"/>
              <a:t>         </a:t>
            </a:r>
            <a:r>
              <a:rPr lang="pt-BR" dirty="0" err="1" smtClean="0"/>
              <a:t>delay</a:t>
            </a:r>
            <a:r>
              <a:rPr lang="pt-BR" dirty="0" smtClean="0"/>
              <a:t>(2000);</a:t>
            </a:r>
          </a:p>
          <a:p>
            <a:pPr marL="0" indent="0">
              <a:buNone/>
            </a:pPr>
            <a:r>
              <a:rPr lang="pt-BR" dirty="0" smtClean="0"/>
              <a:t>                             </a:t>
            </a:r>
            <a:r>
              <a:rPr lang="en-US" dirty="0" smtClean="0"/>
              <a:t>}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exto Explicativo em Elipse 3"/>
          <p:cNvSpPr/>
          <p:nvPr/>
        </p:nvSpPr>
        <p:spPr>
          <a:xfrm>
            <a:off x="6300192" y="1484784"/>
            <a:ext cx="1728192" cy="144016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732240" y="18448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</a:t>
            </a:r>
            <a:r>
              <a:rPr lang="pt-BR" dirty="0" smtClean="0"/>
              <a:t>its/s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Responda no relatório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Como operam as funções:</a:t>
            </a:r>
          </a:p>
          <a:p>
            <a:r>
              <a:rPr lang="pt-BR" dirty="0" err="1"/>
              <a:t>Serial.begin</a:t>
            </a:r>
            <a:r>
              <a:rPr lang="pt-BR" dirty="0"/>
              <a:t>(9600</a:t>
            </a:r>
            <a:r>
              <a:rPr lang="pt-BR" dirty="0" smtClean="0"/>
              <a:t>);</a:t>
            </a:r>
          </a:p>
          <a:p>
            <a:pPr marL="0" indent="0">
              <a:buNone/>
            </a:pPr>
            <a:r>
              <a:rPr lang="pt-BR" dirty="0" smtClean="0"/>
              <a:t>____________________________________</a:t>
            </a:r>
            <a:endParaRPr lang="pt-BR" dirty="0"/>
          </a:p>
          <a:p>
            <a:r>
              <a:rPr lang="pt-BR" dirty="0" err="1"/>
              <a:t>Serial.print</a:t>
            </a:r>
            <a:r>
              <a:rPr lang="pt-BR" dirty="0"/>
              <a:t>(n</a:t>
            </a:r>
            <a:r>
              <a:rPr lang="pt-BR" dirty="0" smtClean="0"/>
              <a:t>)</a:t>
            </a:r>
          </a:p>
          <a:p>
            <a:pPr marL="0" indent="0">
              <a:buNone/>
            </a:pPr>
            <a:r>
              <a:rPr lang="pt-BR" dirty="0"/>
              <a:t>____________________________________</a:t>
            </a:r>
          </a:p>
          <a:p>
            <a:r>
              <a:rPr lang="pt-BR" dirty="0" err="1"/>
              <a:t>Serial.println</a:t>
            </a:r>
            <a:r>
              <a:rPr lang="pt-BR" dirty="0"/>
              <a:t>(": Alo Mundo</a:t>
            </a:r>
            <a:r>
              <a:rPr lang="pt-BR" dirty="0" smtClean="0"/>
              <a:t>!");</a:t>
            </a:r>
          </a:p>
          <a:p>
            <a:pPr marL="0" indent="0">
              <a:buNone/>
            </a:pPr>
            <a:r>
              <a:rPr lang="pt-BR" dirty="0"/>
              <a:t>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174672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 smtClean="0"/>
              <a:t>Exercício: Um contador de tempo simplificado</a:t>
            </a: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Programe um contador de tempo que mostre a segundos e minutos.</a:t>
            </a:r>
          </a:p>
          <a:p>
            <a:r>
              <a:rPr lang="pt-BR" dirty="0" smtClean="0"/>
              <a:t>Pode usar a função </a:t>
            </a:r>
            <a:r>
              <a:rPr lang="pt-BR" dirty="0" err="1" smtClean="0"/>
              <a:t>millis</a:t>
            </a:r>
            <a:r>
              <a:rPr lang="pt-BR" dirty="0" smtClean="0"/>
              <a:t>() e </a:t>
            </a:r>
            <a:r>
              <a:rPr lang="pt-BR" dirty="0" err="1" smtClean="0"/>
              <a:t>delay</a:t>
            </a:r>
            <a:r>
              <a:rPr lang="pt-BR" dirty="0" smtClean="0"/>
              <a:t>(intervalo)</a:t>
            </a:r>
          </a:p>
          <a:p>
            <a:endParaRPr lang="pt-BR" dirty="0"/>
          </a:p>
          <a:p>
            <a:r>
              <a:rPr lang="pt-BR" dirty="0" smtClean="0"/>
              <a:t>Solução no próximo slide. Critique a solução apresentada.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9115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 ao problema proposto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err="1" smtClean="0"/>
              <a:t>unsigned</a:t>
            </a:r>
            <a:r>
              <a:rPr lang="pt-BR" dirty="0" smtClean="0"/>
              <a:t> </a:t>
            </a:r>
            <a:r>
              <a:rPr lang="pt-BR" dirty="0" err="1" smtClean="0"/>
              <a:t>long</a:t>
            </a:r>
            <a:r>
              <a:rPr lang="pt-BR" dirty="0" smtClean="0"/>
              <a:t> time;</a:t>
            </a:r>
          </a:p>
          <a:p>
            <a:r>
              <a:rPr lang="pt-BR" dirty="0" err="1" smtClean="0"/>
              <a:t>unsigned</a:t>
            </a:r>
            <a:r>
              <a:rPr lang="pt-BR" dirty="0" smtClean="0"/>
              <a:t> </a:t>
            </a:r>
            <a:r>
              <a:rPr lang="pt-BR" dirty="0" err="1" smtClean="0"/>
              <a:t>long</a:t>
            </a:r>
            <a:r>
              <a:rPr lang="pt-BR" dirty="0" smtClean="0"/>
              <a:t> segundo; </a:t>
            </a:r>
            <a:r>
              <a:rPr lang="pt-BR" dirty="0" err="1" smtClean="0"/>
              <a:t>unsigned</a:t>
            </a:r>
            <a:r>
              <a:rPr lang="pt-BR" dirty="0" smtClean="0"/>
              <a:t> </a:t>
            </a:r>
            <a:r>
              <a:rPr lang="pt-BR" dirty="0" err="1" smtClean="0"/>
              <a:t>long</a:t>
            </a:r>
            <a:r>
              <a:rPr lang="pt-BR" dirty="0" smtClean="0"/>
              <a:t> minuto; </a:t>
            </a:r>
          </a:p>
          <a:p>
            <a:r>
              <a:rPr lang="pt-BR" dirty="0" err="1" smtClean="0"/>
              <a:t>void</a:t>
            </a:r>
            <a:r>
              <a:rPr lang="pt-BR" dirty="0" smtClean="0"/>
              <a:t> setup(){    Serial.</a:t>
            </a:r>
            <a:r>
              <a:rPr lang="pt-BR" dirty="0" err="1" smtClean="0"/>
              <a:t>begin</a:t>
            </a:r>
            <a:r>
              <a:rPr lang="pt-BR" dirty="0" smtClean="0"/>
              <a:t>(9600);   }</a:t>
            </a:r>
          </a:p>
          <a:p>
            <a:r>
              <a:rPr lang="pt-BR" dirty="0" err="1" smtClean="0"/>
              <a:t>void</a:t>
            </a:r>
            <a:r>
              <a:rPr lang="pt-BR" dirty="0" smtClean="0"/>
              <a:t> loop(){</a:t>
            </a:r>
          </a:p>
          <a:p>
            <a:r>
              <a:rPr lang="pt-BR" dirty="0" smtClean="0"/>
              <a:t>  time = </a:t>
            </a:r>
            <a:r>
              <a:rPr lang="pt-BR" dirty="0" err="1" smtClean="0"/>
              <a:t>millis</a:t>
            </a:r>
            <a:r>
              <a:rPr lang="pt-BR" dirty="0" smtClean="0"/>
              <a:t>()/1000; segundo = time%60; minuto = time/60;</a:t>
            </a:r>
          </a:p>
          <a:p>
            <a:r>
              <a:rPr lang="pt-BR" dirty="0" smtClean="0"/>
              <a:t>   //</a:t>
            </a:r>
            <a:r>
              <a:rPr lang="pt-BR" dirty="0" err="1" smtClean="0"/>
              <a:t>prints</a:t>
            </a:r>
            <a:r>
              <a:rPr lang="pt-BR" dirty="0" smtClean="0"/>
              <a:t> time </a:t>
            </a:r>
            <a:r>
              <a:rPr lang="pt-BR" dirty="0" err="1" smtClean="0"/>
              <a:t>since</a:t>
            </a:r>
            <a:r>
              <a:rPr lang="pt-BR" dirty="0" smtClean="0"/>
              <a:t> </a:t>
            </a:r>
            <a:r>
              <a:rPr lang="pt-BR" dirty="0" err="1" smtClean="0"/>
              <a:t>program</a:t>
            </a:r>
            <a:r>
              <a:rPr lang="pt-BR" dirty="0" smtClean="0"/>
              <a:t> </a:t>
            </a:r>
            <a:r>
              <a:rPr lang="pt-BR" dirty="0" err="1" smtClean="0"/>
              <a:t>started</a:t>
            </a:r>
            <a:endParaRPr lang="pt-BR" dirty="0" smtClean="0"/>
          </a:p>
          <a:p>
            <a:r>
              <a:rPr lang="pt-BR" dirty="0" smtClean="0"/>
              <a:t>   Serial.</a:t>
            </a:r>
            <a:r>
              <a:rPr lang="pt-BR" dirty="0" err="1" smtClean="0"/>
              <a:t>print</a:t>
            </a:r>
            <a:r>
              <a:rPr lang="pt-BR" dirty="0" smtClean="0"/>
              <a:t>("     Minuto: "); Serial.</a:t>
            </a:r>
            <a:r>
              <a:rPr lang="pt-BR" dirty="0" err="1" smtClean="0"/>
              <a:t>print</a:t>
            </a:r>
            <a:r>
              <a:rPr lang="pt-BR" dirty="0" smtClean="0"/>
              <a:t>(minuto);</a:t>
            </a:r>
          </a:p>
          <a:p>
            <a:r>
              <a:rPr lang="pt-BR" dirty="0" smtClean="0"/>
              <a:t>   Serial.</a:t>
            </a:r>
            <a:r>
              <a:rPr lang="pt-BR" dirty="0" err="1" smtClean="0"/>
              <a:t>print</a:t>
            </a:r>
            <a:r>
              <a:rPr lang="pt-BR" dirty="0" smtClean="0"/>
              <a:t>("     Segundo: "); Serial.</a:t>
            </a:r>
            <a:r>
              <a:rPr lang="pt-BR" dirty="0" err="1" smtClean="0"/>
              <a:t>println</a:t>
            </a:r>
            <a:r>
              <a:rPr lang="pt-BR" dirty="0" smtClean="0"/>
              <a:t>(segundo);</a:t>
            </a:r>
          </a:p>
          <a:p>
            <a:r>
              <a:rPr lang="pt-BR" dirty="0" smtClean="0"/>
              <a:t>  // </a:t>
            </a:r>
            <a:r>
              <a:rPr lang="pt-BR" dirty="0" err="1" smtClean="0"/>
              <a:t>wait</a:t>
            </a:r>
            <a:r>
              <a:rPr lang="pt-BR" dirty="0" smtClean="0"/>
              <a:t> a </a:t>
            </a:r>
            <a:r>
              <a:rPr lang="pt-BR" dirty="0" err="1" smtClean="0"/>
              <a:t>second</a:t>
            </a:r>
            <a:r>
              <a:rPr lang="pt-BR" dirty="0" smtClean="0"/>
              <a:t> </a:t>
            </a:r>
            <a:r>
              <a:rPr lang="pt-BR" dirty="0" err="1" smtClean="0"/>
              <a:t>so</a:t>
            </a:r>
            <a:r>
              <a:rPr lang="pt-BR" dirty="0" smtClean="0"/>
              <a:t> as </a:t>
            </a:r>
            <a:r>
              <a:rPr lang="pt-BR" dirty="0" err="1" smtClean="0"/>
              <a:t>not</a:t>
            </a:r>
            <a:r>
              <a:rPr lang="pt-BR" dirty="0" smtClean="0"/>
              <a:t> to </a:t>
            </a:r>
            <a:r>
              <a:rPr lang="pt-BR" dirty="0" err="1" smtClean="0"/>
              <a:t>send</a:t>
            </a:r>
            <a:r>
              <a:rPr lang="pt-BR" dirty="0" smtClean="0"/>
              <a:t> </a:t>
            </a:r>
            <a:r>
              <a:rPr lang="pt-BR" dirty="0" err="1" smtClean="0"/>
              <a:t>massive</a:t>
            </a:r>
            <a:r>
              <a:rPr lang="pt-BR" dirty="0" smtClean="0"/>
              <a:t> </a:t>
            </a:r>
            <a:r>
              <a:rPr lang="pt-BR" dirty="0" err="1" smtClean="0"/>
              <a:t>amounts</a:t>
            </a:r>
            <a:r>
              <a:rPr lang="pt-BR" dirty="0" smtClean="0"/>
              <a:t> </a:t>
            </a:r>
            <a:r>
              <a:rPr lang="pt-BR" dirty="0" err="1" smtClean="0"/>
              <a:t>of</a:t>
            </a:r>
            <a:r>
              <a:rPr lang="pt-BR" dirty="0" smtClean="0"/>
              <a:t> data</a:t>
            </a:r>
          </a:p>
          <a:p>
            <a:r>
              <a:rPr lang="pt-BR" dirty="0" smtClean="0"/>
              <a:t>  </a:t>
            </a:r>
            <a:r>
              <a:rPr lang="pt-BR" dirty="0" err="1" smtClean="0"/>
              <a:t>delay</a:t>
            </a:r>
            <a:r>
              <a:rPr lang="pt-BR" dirty="0" smtClean="0"/>
              <a:t>(1000);</a:t>
            </a:r>
          </a:p>
          <a:p>
            <a:r>
              <a:rPr lang="pt-BR" dirty="0" smtClean="0"/>
              <a:t>}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 Anote no relatório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72608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pt-BR" sz="2800" b="1" i="1" u="sng" dirty="0" smtClean="0">
                <a:solidFill>
                  <a:srgbClr val="FF0000"/>
                </a:solidFill>
              </a:rPr>
              <a:t>1. Cite uma característica da função </a:t>
            </a:r>
            <a:r>
              <a:rPr lang="pt-BR" sz="2800" dirty="0" err="1" smtClean="0"/>
              <a:t>void</a:t>
            </a:r>
            <a:r>
              <a:rPr lang="pt-BR" sz="2800" dirty="0" smtClean="0"/>
              <a:t> </a:t>
            </a:r>
            <a:r>
              <a:rPr lang="pt-BR" sz="2800" dirty="0"/>
              <a:t>setup()  </a:t>
            </a:r>
            <a:r>
              <a:rPr lang="pt-BR" sz="2800" dirty="0" smtClean="0"/>
              <a:t>{} ___________________________________________</a:t>
            </a:r>
            <a:endParaRPr lang="pt-BR" sz="2800" dirty="0"/>
          </a:p>
          <a:p>
            <a:pPr>
              <a:buNone/>
            </a:pPr>
            <a:r>
              <a:rPr lang="pt-BR" sz="2800" b="1" i="1" u="sng" dirty="0" smtClean="0">
                <a:solidFill>
                  <a:srgbClr val="FF0000"/>
                </a:solidFill>
              </a:rPr>
              <a:t>2. Cite </a:t>
            </a:r>
            <a:r>
              <a:rPr lang="pt-BR" sz="2800" b="1" i="1" u="sng" dirty="0">
                <a:solidFill>
                  <a:srgbClr val="FF0000"/>
                </a:solidFill>
              </a:rPr>
              <a:t>uma característica da função </a:t>
            </a:r>
            <a:r>
              <a:rPr lang="pt-BR" sz="2800" dirty="0" err="1" smtClean="0"/>
              <a:t>void</a:t>
            </a:r>
            <a:r>
              <a:rPr lang="pt-BR" sz="2800" dirty="0" smtClean="0"/>
              <a:t> loop ()  { } ___________________________________________</a:t>
            </a:r>
          </a:p>
          <a:p>
            <a:pPr algn="ctr">
              <a:buNone/>
            </a:pPr>
            <a:r>
              <a:rPr lang="pt-BR" sz="2800" b="1" i="1" u="sng" dirty="0" smtClean="0">
                <a:solidFill>
                  <a:srgbClr val="FF0000"/>
                </a:solidFill>
              </a:rPr>
              <a:t>3. Mostre como</a:t>
            </a:r>
            <a:r>
              <a:rPr lang="pt-BR" sz="2800" dirty="0"/>
              <a:t> </a:t>
            </a:r>
            <a:r>
              <a:rPr lang="pt-BR" sz="2800" dirty="0" smtClean="0"/>
              <a:t>configurar  pino 12 como saída:</a:t>
            </a:r>
          </a:p>
          <a:p>
            <a:pPr>
              <a:buNone/>
            </a:pPr>
            <a:r>
              <a:rPr lang="pt-BR" sz="2800" dirty="0" smtClean="0"/>
              <a:t>_______________________________________________</a:t>
            </a:r>
          </a:p>
          <a:p>
            <a:pPr>
              <a:buNone/>
            </a:pPr>
            <a:r>
              <a:rPr lang="pt-BR" sz="2800" b="1" i="1" u="sng" dirty="0" smtClean="0">
                <a:solidFill>
                  <a:srgbClr val="FF0000"/>
                </a:solidFill>
              </a:rPr>
              <a:t>4. </a:t>
            </a:r>
            <a:r>
              <a:rPr lang="pt-BR" sz="2800" b="1" i="1" u="sng" dirty="0">
                <a:solidFill>
                  <a:srgbClr val="FF0000"/>
                </a:solidFill>
              </a:rPr>
              <a:t>Mostre </a:t>
            </a:r>
            <a:r>
              <a:rPr lang="pt-BR" sz="2800" b="1" i="1" u="sng" dirty="0" smtClean="0">
                <a:solidFill>
                  <a:srgbClr val="FF0000"/>
                </a:solidFill>
              </a:rPr>
              <a:t>como c</a:t>
            </a:r>
            <a:r>
              <a:rPr lang="pt-BR" sz="2800" dirty="0" smtClean="0"/>
              <a:t>onfigurar  </a:t>
            </a:r>
            <a:r>
              <a:rPr lang="pt-BR" sz="2800" dirty="0"/>
              <a:t>pino </a:t>
            </a:r>
            <a:r>
              <a:rPr lang="pt-BR" sz="2800" dirty="0" smtClean="0"/>
              <a:t>11 </a:t>
            </a:r>
            <a:r>
              <a:rPr lang="pt-BR" sz="2800" dirty="0"/>
              <a:t>como </a:t>
            </a:r>
            <a:r>
              <a:rPr lang="pt-BR" sz="2800" dirty="0" smtClean="0"/>
              <a:t>entrada:</a:t>
            </a:r>
          </a:p>
          <a:p>
            <a:pPr>
              <a:buNone/>
            </a:pPr>
            <a:r>
              <a:rPr lang="pt-BR" sz="2800" dirty="0" smtClean="0"/>
              <a:t>_______________________________________</a:t>
            </a:r>
          </a:p>
          <a:p>
            <a:pPr>
              <a:buNone/>
            </a:pPr>
            <a:r>
              <a:rPr lang="pt-BR" sz="2800" dirty="0"/>
              <a:t>5</a:t>
            </a:r>
            <a:r>
              <a:rPr lang="pt-BR" sz="2800" dirty="0" smtClean="0"/>
              <a:t>. Cite duas diferenças entre as arquiteturas microprocessador X microcomputador:</a:t>
            </a:r>
          </a:p>
          <a:p>
            <a:pPr>
              <a:buNone/>
            </a:pPr>
            <a:r>
              <a:rPr lang="pt-BR" sz="2800" dirty="0" smtClean="0"/>
              <a:t>_______________________________________________</a:t>
            </a:r>
          </a:p>
          <a:p>
            <a:pPr>
              <a:buNone/>
            </a:pPr>
            <a:r>
              <a:rPr lang="pt-BR" sz="2800" dirty="0" smtClean="0"/>
              <a:t>_______________________________________________</a:t>
            </a:r>
            <a:endParaRPr lang="pt-BR" sz="2800" dirty="0"/>
          </a:p>
          <a:p>
            <a:pPr>
              <a:buNone/>
            </a:pPr>
            <a:endParaRPr lang="pt-BR" sz="2800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 Anote no relatório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72608"/>
          </a:xfrm>
        </p:spPr>
        <p:txBody>
          <a:bodyPr>
            <a:normAutofit fontScale="55000" lnSpcReduction="20000"/>
          </a:bodyPr>
          <a:lstStyle/>
          <a:p>
            <a:pPr algn="ctr">
              <a:buNone/>
            </a:pPr>
            <a:r>
              <a:rPr lang="pt-BR" sz="2800" b="1" i="1" u="sng" dirty="0" smtClean="0">
                <a:solidFill>
                  <a:srgbClr val="FF0000"/>
                </a:solidFill>
              </a:rPr>
              <a:t>6. Faça um programa no Arduino para ligar o pino 13 por 5 segundos, desligar por 1 minuto, ligar 10 segundos  e desligar</a:t>
            </a:r>
          </a:p>
          <a:p>
            <a:pPr algn="ctr">
              <a:buNone/>
            </a:pPr>
            <a:r>
              <a:rPr lang="pt-BR" sz="2800" dirty="0"/>
              <a:t>______________________________________________________________________</a:t>
            </a:r>
          </a:p>
          <a:p>
            <a:pPr algn="ctr">
              <a:buNone/>
            </a:pPr>
            <a:r>
              <a:rPr lang="pt-BR" sz="2800" dirty="0" smtClean="0"/>
              <a:t>______________________________________________________________________</a:t>
            </a:r>
            <a:endParaRPr lang="pt-BR" sz="2800" dirty="0"/>
          </a:p>
          <a:p>
            <a:pPr algn="ctr">
              <a:buNone/>
            </a:pPr>
            <a:r>
              <a:rPr lang="pt-BR" sz="2800" dirty="0"/>
              <a:t>______________________________________________________________________</a:t>
            </a:r>
          </a:p>
          <a:p>
            <a:pPr algn="ctr">
              <a:buNone/>
            </a:pPr>
            <a:r>
              <a:rPr lang="pt-BR" sz="2800" dirty="0"/>
              <a:t>______________________________________________________________________</a:t>
            </a:r>
          </a:p>
          <a:p>
            <a:pPr algn="ctr">
              <a:buNone/>
            </a:pPr>
            <a:r>
              <a:rPr lang="pt-BR" sz="2800" dirty="0"/>
              <a:t>______________________________________________________________________</a:t>
            </a:r>
          </a:p>
          <a:p>
            <a:pPr algn="ctr">
              <a:buNone/>
            </a:pPr>
            <a:endParaRPr lang="pt-BR" sz="2800" dirty="0"/>
          </a:p>
          <a:p>
            <a:pPr>
              <a:buNone/>
            </a:pPr>
            <a:r>
              <a:rPr lang="pt-BR" sz="2800" b="1" i="1" u="sng" dirty="0" smtClean="0">
                <a:solidFill>
                  <a:srgbClr val="FF0000"/>
                </a:solidFill>
              </a:rPr>
              <a:t>7. </a:t>
            </a:r>
            <a:r>
              <a:rPr lang="pt-BR" sz="2800" dirty="0"/>
              <a:t>Defina </a:t>
            </a:r>
            <a:r>
              <a:rPr lang="pt-BR" sz="2800" dirty="0" smtClean="0"/>
              <a:t>variáveis Global e local. </a:t>
            </a:r>
            <a:r>
              <a:rPr lang="pt-BR" sz="2800" smtClean="0"/>
              <a:t>Dê </a:t>
            </a:r>
            <a:r>
              <a:rPr lang="pt-BR" sz="2800" dirty="0" smtClean="0"/>
              <a:t>exemplo em programa Arduino.: </a:t>
            </a:r>
          </a:p>
          <a:p>
            <a:pPr>
              <a:buNone/>
            </a:pPr>
            <a:r>
              <a:rPr lang="pt-BR" sz="2800" dirty="0" smtClean="0"/>
              <a:t>______________________________________________________________________</a:t>
            </a:r>
            <a:endParaRPr lang="pt-BR" sz="2800" dirty="0"/>
          </a:p>
          <a:p>
            <a:pPr algn="ctr">
              <a:buNone/>
            </a:pPr>
            <a:r>
              <a:rPr lang="pt-BR" sz="2800" dirty="0"/>
              <a:t>______________________________________________________________________</a:t>
            </a:r>
          </a:p>
          <a:p>
            <a:pPr algn="ctr">
              <a:buNone/>
            </a:pPr>
            <a:endParaRPr lang="pt-BR" sz="2800" b="1" i="1" u="sng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pt-BR" sz="2800" b="1" i="1" u="sng" dirty="0" smtClean="0">
                <a:solidFill>
                  <a:srgbClr val="FF0000"/>
                </a:solidFill>
              </a:rPr>
              <a:t>8. </a:t>
            </a:r>
            <a:r>
              <a:rPr lang="en-US" sz="2800" dirty="0" err="1" smtClean="0"/>
              <a:t>Qual</a:t>
            </a:r>
            <a:r>
              <a:rPr lang="en-US" sz="2800" dirty="0" smtClean="0"/>
              <a:t> </a:t>
            </a:r>
            <a:r>
              <a:rPr lang="en-US" sz="2800" dirty="0"/>
              <a:t>o valor </a:t>
            </a:r>
            <a:r>
              <a:rPr lang="en-US" sz="2800" dirty="0" err="1"/>
              <a:t>máximo</a:t>
            </a:r>
            <a:r>
              <a:rPr lang="en-US" sz="2800" dirty="0"/>
              <a:t> da </a:t>
            </a:r>
            <a:r>
              <a:rPr lang="en-US" sz="2800" dirty="0" err="1"/>
              <a:t>variável</a:t>
            </a:r>
            <a:r>
              <a:rPr lang="en-US" sz="2800" dirty="0"/>
              <a:t> </a:t>
            </a:r>
            <a:r>
              <a:rPr lang="en-US" dirty="0"/>
              <a:t>unsigned </a:t>
            </a:r>
            <a:r>
              <a:rPr lang="en-US" dirty="0" smtClean="0"/>
              <a:t>long </a:t>
            </a:r>
            <a:r>
              <a:rPr lang="en-US" sz="2600" dirty="0" smtClean="0"/>
              <a:t>(unsigned </a:t>
            </a:r>
            <a:r>
              <a:rPr lang="en-US" sz="2600" dirty="0"/>
              <a:t>long </a:t>
            </a:r>
            <a:r>
              <a:rPr lang="en-US" sz="2600" dirty="0" err="1" smtClean="0"/>
              <a:t>currentMillis</a:t>
            </a:r>
            <a:r>
              <a:rPr lang="en-US" sz="2600" dirty="0" smtClean="0"/>
              <a:t> - 32 </a:t>
            </a:r>
            <a:r>
              <a:rPr lang="en-US" sz="2600" dirty="0"/>
              <a:t>bits)</a:t>
            </a:r>
          </a:p>
          <a:p>
            <a:pPr algn="just">
              <a:buNone/>
            </a:pPr>
            <a:r>
              <a:rPr lang="pt-BR" sz="2800" dirty="0" smtClean="0"/>
              <a:t> __________________________________________________________________</a:t>
            </a:r>
          </a:p>
          <a:p>
            <a:pPr algn="just">
              <a:buNone/>
            </a:pPr>
            <a:r>
              <a:rPr lang="pt-BR" sz="2800" b="1" i="1" u="sng" dirty="0" smtClean="0">
                <a:solidFill>
                  <a:srgbClr val="FF0000"/>
                </a:solidFill>
              </a:rPr>
              <a:t>9. </a:t>
            </a:r>
            <a:r>
              <a:rPr lang="pt-BR" sz="2900" dirty="0"/>
              <a:t>Como configurar o monitor </a:t>
            </a:r>
            <a:r>
              <a:rPr lang="pt-BR" sz="2900" dirty="0" smtClean="0"/>
              <a:t>serial? Mostre num programa como imprimir seu nome</a:t>
            </a:r>
          </a:p>
          <a:p>
            <a:pPr algn="ctr">
              <a:buNone/>
            </a:pPr>
            <a:r>
              <a:rPr lang="pt-BR" dirty="0"/>
              <a:t>______________________________________________________________________</a:t>
            </a:r>
          </a:p>
          <a:p>
            <a:pPr algn="ctr">
              <a:buNone/>
            </a:pPr>
            <a:r>
              <a:rPr lang="pt-BR" dirty="0"/>
              <a:t>______________________________________________________________________</a:t>
            </a:r>
          </a:p>
          <a:p>
            <a:pPr algn="ctr">
              <a:buNone/>
            </a:pPr>
            <a:r>
              <a:rPr lang="pt-BR" dirty="0"/>
              <a:t>______________________________________________________________________</a:t>
            </a:r>
          </a:p>
          <a:p>
            <a:pPr algn="just">
              <a:buNone/>
            </a:pPr>
            <a:r>
              <a:rPr lang="pt-BR" dirty="0" smtClean="0"/>
              <a:t>______________________________________________________________________</a:t>
            </a:r>
            <a:r>
              <a:rPr lang="pt-BR" sz="2700" b="1" i="1" u="sng" dirty="0" smtClean="0">
                <a:solidFill>
                  <a:srgbClr val="FF0000"/>
                </a:solidFill>
              </a:rPr>
              <a:t>10</a:t>
            </a:r>
            <a:r>
              <a:rPr lang="pt-BR" sz="2700" b="1" i="1" u="sng" dirty="0">
                <a:solidFill>
                  <a:srgbClr val="FF0000"/>
                </a:solidFill>
              </a:rPr>
              <a:t>. </a:t>
            </a:r>
            <a:r>
              <a:rPr lang="pt-BR" dirty="0" smtClean="0"/>
              <a:t>Diferencie as funções </a:t>
            </a:r>
            <a:r>
              <a:rPr lang="pt-BR" dirty="0" err="1" smtClean="0"/>
              <a:t>Serial.print</a:t>
            </a:r>
            <a:r>
              <a:rPr lang="pt-BR" dirty="0" smtClean="0"/>
              <a:t>(n) e </a:t>
            </a:r>
            <a:r>
              <a:rPr lang="pt-BR" dirty="0" err="1" smtClean="0"/>
              <a:t>Serial.println</a:t>
            </a:r>
            <a:r>
              <a:rPr lang="pt-BR" dirty="0"/>
              <a:t>(": Alo Mundo</a:t>
            </a:r>
            <a:r>
              <a:rPr lang="pt-BR" dirty="0" smtClean="0"/>
              <a:t>!");</a:t>
            </a:r>
          </a:p>
          <a:p>
            <a:pPr algn="ctr">
              <a:buNone/>
            </a:pPr>
            <a:r>
              <a:rPr lang="pt-BR" dirty="0"/>
              <a:t>______________________________________________________________________</a:t>
            </a:r>
          </a:p>
          <a:p>
            <a:pPr algn="ctr">
              <a:buNone/>
            </a:pPr>
            <a:r>
              <a:rPr lang="pt-BR" dirty="0"/>
              <a:t>______________________________________________________________________</a:t>
            </a:r>
          </a:p>
          <a:p>
            <a:pPr algn="ctr">
              <a:buNone/>
            </a:pPr>
            <a:endParaRPr lang="pt-BR" dirty="0" smtClean="0"/>
          </a:p>
          <a:p>
            <a:pPr algn="ctr">
              <a:buNone/>
            </a:pPr>
            <a:endParaRPr lang="pt-BR" dirty="0"/>
          </a:p>
          <a:p>
            <a:pPr algn="just">
              <a:buNone/>
            </a:pPr>
            <a:endParaRPr lang="pt-BR" sz="2900" dirty="0"/>
          </a:p>
          <a:p>
            <a:pPr algn="just">
              <a:buNone/>
            </a:pPr>
            <a:endParaRPr lang="pt-BR" sz="2900" dirty="0"/>
          </a:p>
          <a:p>
            <a:pPr algn="just">
              <a:buNone/>
            </a:pPr>
            <a:endParaRPr lang="pt-BR" sz="2800" dirty="0"/>
          </a:p>
          <a:p>
            <a:pPr>
              <a:buNone/>
            </a:pPr>
            <a:endParaRPr lang="pt-BR" sz="2800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418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7332</TotalTime>
  <Words>1475</Words>
  <Application>Microsoft Office PowerPoint</Application>
  <PresentationFormat>Apresentação na tela (4:3)</PresentationFormat>
  <Paragraphs>271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Tema do Office</vt:lpstr>
      <vt:lpstr>Atividades 3: Configuração de HW/SW </vt:lpstr>
      <vt:lpstr>Características do microprocessador</vt:lpstr>
      <vt:lpstr>Microprocessador  X Microcomputador</vt:lpstr>
      <vt:lpstr>microcomputadorXmicrocontrolador</vt:lpstr>
      <vt:lpstr>RISC X CISC (Ambiente Arduino)</vt:lpstr>
      <vt:lpstr>IDE Arduino: Componentes de HW/SW</vt:lpstr>
      <vt:lpstr>IDE Arduino: Recursos de Programação</vt:lpstr>
      <vt:lpstr>IDE Arduino: Recursos de Programação</vt:lpstr>
      <vt:lpstr>Programa Blink</vt:lpstr>
      <vt:lpstr>Programa exemplo. Intervalo de tempo</vt:lpstr>
      <vt:lpstr>Operação do Arduino. Programa BLINK</vt:lpstr>
      <vt:lpstr>Ajuda. Referencia</vt:lpstr>
      <vt:lpstr>Compilação (Verify)</vt:lpstr>
      <vt:lpstr>Sintaxe par configuração dos ports (pinos)</vt:lpstr>
      <vt:lpstr>Programação do Arduino</vt:lpstr>
      <vt:lpstr>Testes do programa blink</vt:lpstr>
      <vt:lpstr>Programa: Blinkwithoutdelay </vt:lpstr>
      <vt:lpstr>Estudo: BlinkWithoutDelay</vt:lpstr>
      <vt:lpstr>Atenção para a sintaxe</vt:lpstr>
      <vt:lpstr>Função mills()</vt:lpstr>
      <vt:lpstr>Monitor serial. Saída serial</vt:lpstr>
      <vt:lpstr>Monitor Serial</vt:lpstr>
      <vt:lpstr>Monitor serial: Recurso para saída de dados</vt:lpstr>
      <vt:lpstr>Responda no relatório</vt:lpstr>
      <vt:lpstr>Exercício: Um contador de tempo simplificado</vt:lpstr>
      <vt:lpstr>Solução ao problema proposto</vt:lpstr>
      <vt:lpstr> Anote no relatório</vt:lpstr>
      <vt:lpstr> Anote no relatório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em sala (5)</dc:title>
  <dc:creator>milton</dc:creator>
  <cp:lastModifiedBy>professor</cp:lastModifiedBy>
  <cp:revision>168</cp:revision>
  <dcterms:modified xsi:type="dcterms:W3CDTF">2019-02-27T13:25:26Z</dcterms:modified>
</cp:coreProperties>
</file>