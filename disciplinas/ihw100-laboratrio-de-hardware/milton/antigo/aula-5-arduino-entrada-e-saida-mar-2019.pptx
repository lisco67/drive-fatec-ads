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64" r:id="rId5"/>
    <p:sldId id="269" r:id="rId6"/>
    <p:sldId id="258" r:id="rId7"/>
    <p:sldId id="265" r:id="rId8"/>
    <p:sldId id="259" r:id="rId9"/>
    <p:sldId id="273" r:id="rId10"/>
    <p:sldId id="270" r:id="rId11"/>
    <p:sldId id="260" r:id="rId12"/>
    <p:sldId id="271" r:id="rId13"/>
    <p:sldId id="272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08" y="5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BCCE85-6898-48FD-8A41-8EE833C56B50}" type="datetimeFigureOut">
              <a:rPr lang="pt-BR" smtClean="0"/>
              <a:pPr/>
              <a:t>07/03/2019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0334F-C8CD-44D0-84D5-E5840EFBB7C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875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0334F-C8CD-44D0-84D5-E5840EFBB7C7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7578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07/03/2019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07/03/2019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07/03/2019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07/03/2019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07/03/2019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07/03/2019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07/03/2019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07/03/2019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07/03/2019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07/03/2019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07/03/2019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07/03/2019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568952" cy="692697"/>
          </a:xfrm>
        </p:spPr>
        <p:txBody>
          <a:bodyPr>
            <a:normAutofit/>
          </a:bodyPr>
          <a:lstStyle/>
          <a:p>
            <a:r>
              <a:rPr lang="pt-BR" sz="3600" dirty="0" smtClean="0"/>
              <a:t>Atividade 4 - entrada e saída pelo </a:t>
            </a:r>
            <a:r>
              <a:rPr lang="pt-BR" sz="3600" dirty="0" err="1" smtClean="0"/>
              <a:t>Arduino</a:t>
            </a:r>
            <a:endParaRPr lang="pt-BR" sz="36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11560" y="908720"/>
            <a:ext cx="7920880" cy="525658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b="1" u="sng" dirty="0" smtClean="0">
                <a:solidFill>
                  <a:srgbClr val="00B0F0"/>
                </a:solidFill>
              </a:rPr>
              <a:t>Antes de começar.</a:t>
            </a:r>
          </a:p>
          <a:p>
            <a:pPr algn="just"/>
            <a:r>
              <a:rPr lang="pt-BR" b="1" u="sng" dirty="0" smtClean="0">
                <a:solidFill>
                  <a:srgbClr val="00B0F0"/>
                </a:solidFill>
              </a:rPr>
              <a:t>Teste se o </a:t>
            </a:r>
            <a:r>
              <a:rPr lang="pt-BR" b="1" u="sng" dirty="0" err="1" smtClean="0">
                <a:solidFill>
                  <a:srgbClr val="00B0F0"/>
                </a:solidFill>
              </a:rPr>
              <a:t>Arduino</a:t>
            </a:r>
            <a:r>
              <a:rPr lang="pt-BR" b="1" u="sng" dirty="0">
                <a:solidFill>
                  <a:srgbClr val="00B0F0"/>
                </a:solidFill>
              </a:rPr>
              <a:t> </a:t>
            </a:r>
            <a:r>
              <a:rPr lang="pt-BR" b="1" u="sng" dirty="0" smtClean="0">
                <a:solidFill>
                  <a:srgbClr val="00B0F0"/>
                </a:solidFill>
              </a:rPr>
              <a:t>está operacional</a:t>
            </a:r>
          </a:p>
          <a:p>
            <a:pPr algn="just"/>
            <a:endParaRPr lang="pt-BR" b="1" u="sng" dirty="0" smtClean="0">
              <a:solidFill>
                <a:srgbClr val="00B0F0"/>
              </a:solidFill>
            </a:endParaRPr>
          </a:p>
          <a:p>
            <a:pPr algn="just"/>
            <a:r>
              <a:rPr lang="pt-BR" dirty="0" smtClean="0">
                <a:solidFill>
                  <a:srgbClr val="00B0F0"/>
                </a:solidFill>
              </a:rPr>
              <a:t>Carregue e execute o programa </a:t>
            </a:r>
            <a:r>
              <a:rPr lang="pt-BR" dirty="0" err="1" smtClean="0">
                <a:solidFill>
                  <a:srgbClr val="00B0F0"/>
                </a:solidFill>
              </a:rPr>
              <a:t>Blink</a:t>
            </a:r>
            <a:r>
              <a:rPr lang="pt-BR" dirty="0" smtClean="0">
                <a:solidFill>
                  <a:srgbClr val="00B0F0"/>
                </a:solidFill>
              </a:rPr>
              <a:t>.</a:t>
            </a:r>
          </a:p>
          <a:p>
            <a:pPr algn="just"/>
            <a:r>
              <a:rPr lang="pt-BR" dirty="0" smtClean="0">
                <a:solidFill>
                  <a:srgbClr val="00B0F0"/>
                </a:solidFill>
              </a:rPr>
              <a:t>Duas utilidades para o programa </a:t>
            </a:r>
            <a:r>
              <a:rPr lang="pt-BR" dirty="0" err="1" smtClean="0">
                <a:solidFill>
                  <a:srgbClr val="00B0F0"/>
                </a:solidFill>
              </a:rPr>
              <a:t>Blink</a:t>
            </a:r>
            <a:r>
              <a:rPr lang="pt-BR" dirty="0" smtClean="0">
                <a:solidFill>
                  <a:srgbClr val="00B0F0"/>
                </a:solidFill>
              </a:rPr>
              <a:t>.</a:t>
            </a:r>
          </a:p>
          <a:p>
            <a:pPr algn="just"/>
            <a:r>
              <a:rPr lang="pt-BR" b="1" u="sng" dirty="0" smtClean="0">
                <a:solidFill>
                  <a:srgbClr val="00B0F0"/>
                </a:solidFill>
              </a:rPr>
              <a:t>1. Verificar o funcionamento do </a:t>
            </a:r>
            <a:r>
              <a:rPr lang="pt-BR" b="1" u="sng" dirty="0" err="1" smtClean="0">
                <a:solidFill>
                  <a:srgbClr val="00B0F0"/>
                </a:solidFill>
              </a:rPr>
              <a:t>Arduino</a:t>
            </a:r>
            <a:r>
              <a:rPr lang="pt-BR" b="1" u="sng" dirty="0" smtClean="0">
                <a:solidFill>
                  <a:srgbClr val="00B0F0"/>
                </a:solidFill>
              </a:rPr>
              <a:t>.</a:t>
            </a:r>
          </a:p>
          <a:p>
            <a:pPr algn="just"/>
            <a:r>
              <a:rPr lang="pt-BR" b="1" u="sng" dirty="0" smtClean="0">
                <a:solidFill>
                  <a:srgbClr val="00B0F0"/>
                </a:solidFill>
              </a:rPr>
              <a:t>2. Lazer, ...</a:t>
            </a:r>
          </a:p>
          <a:p>
            <a:pPr algn="just"/>
            <a:r>
              <a:rPr lang="pt-BR" b="1" u="sng" dirty="0" smtClean="0">
                <a:solidFill>
                  <a:srgbClr val="00B0F0"/>
                </a:solidFill>
              </a:rPr>
              <a:t>3. Estudo de sistemas microprocessados</a:t>
            </a:r>
          </a:p>
          <a:p>
            <a:pPr algn="just"/>
            <a:r>
              <a:rPr lang="pt-BR" b="1" u="sng" dirty="0" smtClean="0">
                <a:solidFill>
                  <a:srgbClr val="00B0F0"/>
                </a:solidFill>
              </a:rPr>
              <a:t>4. ????</a:t>
            </a:r>
          </a:p>
          <a:p>
            <a:pPr algn="just"/>
            <a:endParaRPr lang="pt-BR" u="sng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Teste da Comunicação Serial (Monitor serial)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 smtClean="0"/>
              <a:t>// Execute o código. Comunicação via USB. Monitor serial</a:t>
            </a:r>
          </a:p>
          <a:p>
            <a:pPr marL="0" indent="0">
              <a:buNone/>
            </a:pPr>
            <a:r>
              <a:rPr lang="pt-BR" dirty="0" err="1" smtClean="0"/>
              <a:t>int</a:t>
            </a:r>
            <a:r>
              <a:rPr lang="pt-BR" dirty="0" smtClean="0"/>
              <a:t> n = 1;</a:t>
            </a:r>
          </a:p>
          <a:p>
            <a:pPr marL="0" indent="0">
              <a:buNone/>
            </a:pPr>
            <a:r>
              <a:rPr lang="pt-BR" dirty="0" err="1" smtClean="0"/>
              <a:t>void</a:t>
            </a:r>
            <a:r>
              <a:rPr lang="pt-BR" dirty="0" smtClean="0"/>
              <a:t> setup ( )     {     Serial.</a:t>
            </a:r>
            <a:r>
              <a:rPr lang="pt-BR" dirty="0" err="1" smtClean="0"/>
              <a:t>begin</a:t>
            </a:r>
            <a:r>
              <a:rPr lang="pt-BR" dirty="0" smtClean="0"/>
              <a:t>(9600);   }</a:t>
            </a:r>
          </a:p>
          <a:p>
            <a:pPr marL="0" indent="0">
              <a:buNone/>
            </a:pPr>
            <a:r>
              <a:rPr lang="pt-BR" dirty="0" smtClean="0"/>
              <a:t>// Inicializa a comunicação serial com 9600 </a:t>
            </a:r>
            <a:r>
              <a:rPr lang="pt-BR" dirty="0" err="1" smtClean="0"/>
              <a:t>bauds</a:t>
            </a:r>
            <a:r>
              <a:rPr lang="pt-BR" dirty="0" smtClean="0"/>
              <a:t> (b/s)</a:t>
            </a:r>
          </a:p>
          <a:p>
            <a:pPr marL="0" indent="0">
              <a:buNone/>
            </a:pPr>
            <a:r>
              <a:rPr lang="pt-BR" dirty="0" err="1" smtClean="0"/>
              <a:t>void</a:t>
            </a:r>
            <a:r>
              <a:rPr lang="pt-BR" dirty="0" smtClean="0"/>
              <a:t> loop()        {</a:t>
            </a:r>
          </a:p>
          <a:p>
            <a:pPr marL="0" indent="0">
              <a:buNone/>
            </a:pPr>
            <a:r>
              <a:rPr lang="pt-BR" dirty="0" smtClean="0"/>
              <a:t>//impressão pela serial. Receber no monitor serial         </a:t>
            </a:r>
          </a:p>
          <a:p>
            <a:pPr marL="0" indent="0">
              <a:buNone/>
            </a:pPr>
            <a:r>
              <a:rPr lang="pt-BR" dirty="0" smtClean="0"/>
              <a:t>         Serial.</a:t>
            </a:r>
            <a:r>
              <a:rPr lang="pt-BR" dirty="0" err="1" smtClean="0"/>
              <a:t>print</a:t>
            </a:r>
            <a:r>
              <a:rPr lang="pt-BR" dirty="0" smtClean="0"/>
              <a:t>(n); n=n+1; </a:t>
            </a:r>
          </a:p>
          <a:p>
            <a:pPr marL="0" indent="0">
              <a:buNone/>
            </a:pPr>
            <a:r>
              <a:rPr lang="pt-BR" dirty="0" smtClean="0"/>
              <a:t>         Serial.</a:t>
            </a:r>
            <a:r>
              <a:rPr lang="pt-BR" dirty="0" err="1" smtClean="0"/>
              <a:t>println</a:t>
            </a:r>
            <a:r>
              <a:rPr lang="pt-BR" dirty="0" smtClean="0"/>
              <a:t>(": Alo Mundo!");</a:t>
            </a:r>
          </a:p>
          <a:p>
            <a:pPr marL="0" indent="0">
              <a:buNone/>
            </a:pPr>
            <a:r>
              <a:rPr lang="pt-BR" dirty="0" smtClean="0"/>
              <a:t>         </a:t>
            </a:r>
            <a:r>
              <a:rPr lang="pt-BR" dirty="0" err="1" smtClean="0"/>
              <a:t>delay</a:t>
            </a:r>
            <a:r>
              <a:rPr lang="pt-BR" dirty="0" smtClean="0"/>
              <a:t>(200);                              </a:t>
            </a:r>
            <a:r>
              <a:rPr lang="en-US" dirty="0" smtClean="0"/>
              <a:t>}</a:t>
            </a:r>
          </a:p>
          <a:p>
            <a:r>
              <a:rPr lang="en-US" dirty="0" smtClean="0"/>
              <a:t>O que acontece se for </a:t>
            </a:r>
            <a:r>
              <a:rPr lang="en-US" dirty="0" err="1" smtClean="0"/>
              <a:t>alterado</a:t>
            </a:r>
            <a:r>
              <a:rPr lang="en-US" dirty="0" smtClean="0"/>
              <a:t> o valor 9600 bauds?</a:t>
            </a:r>
          </a:p>
          <a:p>
            <a:r>
              <a:rPr lang="en-US" dirty="0" smtClean="0"/>
              <a:t>Teste outros </a:t>
            </a:r>
            <a:r>
              <a:rPr lang="en-US" dirty="0" err="1" smtClean="0"/>
              <a:t>valores</a:t>
            </a:r>
            <a:r>
              <a:rPr lang="en-US" dirty="0" smtClean="0"/>
              <a:t> para </a:t>
            </a:r>
            <a:r>
              <a:rPr lang="en-US" dirty="0" err="1" smtClean="0"/>
              <a:t>transferência</a:t>
            </a:r>
            <a:r>
              <a:rPr lang="en-US" dirty="0" smtClean="0"/>
              <a:t> de dados.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23528" y="188640"/>
            <a:ext cx="8424936" cy="692697"/>
          </a:xfrm>
        </p:spPr>
        <p:txBody>
          <a:bodyPr>
            <a:noAutofit/>
          </a:bodyPr>
          <a:lstStyle/>
          <a:p>
            <a:r>
              <a:rPr lang="pt-BR" sz="2800" dirty="0" smtClean="0"/>
              <a:t>Arduino – Resistor </a:t>
            </a:r>
            <a:r>
              <a:rPr lang="pt-BR" sz="2800" dirty="0"/>
              <a:t>série para acender o LED.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7544" y="908720"/>
            <a:ext cx="8136904" cy="5328592"/>
          </a:xfrm>
        </p:spPr>
        <p:txBody>
          <a:bodyPr>
            <a:normAutofit fontScale="77500" lnSpcReduction="20000"/>
          </a:bodyPr>
          <a:lstStyle/>
          <a:p>
            <a:r>
              <a:rPr lang="pt-BR" dirty="0" smtClean="0">
                <a:solidFill>
                  <a:schemeClr val="tx1"/>
                </a:solidFill>
              </a:rPr>
              <a:t>Dispositivo LED (Light Emissor </a:t>
            </a:r>
            <a:r>
              <a:rPr lang="pt-BR" dirty="0" err="1" smtClean="0">
                <a:solidFill>
                  <a:schemeClr val="tx1"/>
                </a:solidFill>
              </a:rPr>
              <a:t>Diode</a:t>
            </a:r>
            <a:r>
              <a:rPr lang="pt-BR" dirty="0" smtClean="0">
                <a:solidFill>
                  <a:schemeClr val="tx1"/>
                </a:solidFill>
              </a:rPr>
              <a:t>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1"/>
                </a:solidFill>
              </a:rPr>
              <a:t>Opera com tensão aproximadamente fixa cujo valor depende da cor emitida e está em torno de 1 a 4 volts.</a:t>
            </a:r>
          </a:p>
          <a:p>
            <a:pPr algn="just"/>
            <a:endParaRPr lang="pt-BR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1"/>
                </a:solidFill>
              </a:rPr>
              <a:t>Corrente de operação: em torno de 5 a 20 </a:t>
            </a:r>
            <a:r>
              <a:rPr lang="pt-BR" dirty="0" err="1" smtClean="0">
                <a:solidFill>
                  <a:schemeClr val="tx1"/>
                </a:solidFill>
              </a:rPr>
              <a:t>miliAmpères</a:t>
            </a:r>
            <a:r>
              <a:rPr lang="pt-BR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endParaRPr lang="pt-BR" dirty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1"/>
                </a:solidFill>
              </a:rPr>
              <a:t>O valor da corrente define a intensidade do brilho.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1"/>
                </a:solidFill>
              </a:rPr>
              <a:t>5mA</a:t>
            </a:r>
            <a:r>
              <a:rPr lang="pt-BR" dirty="0" smtClean="0">
                <a:solidFill>
                  <a:schemeClr val="tx1"/>
                </a:solidFill>
                <a:sym typeface="Wingdings" pitchFamily="2" charset="2"/>
              </a:rPr>
              <a:t> fraco;    10mA  normal;   20 mA  forte</a:t>
            </a:r>
            <a:endParaRPr lang="pt-BR" dirty="0" smtClean="0">
              <a:solidFill>
                <a:schemeClr val="tx1"/>
              </a:solidFill>
            </a:endParaRPr>
          </a:p>
          <a:p>
            <a:endParaRPr lang="pt-BR" dirty="0" smtClean="0">
              <a:solidFill>
                <a:schemeClr val="tx1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Cor </a:t>
            </a:r>
            <a:r>
              <a:rPr lang="pt-BR" dirty="0" smtClean="0">
                <a:solidFill>
                  <a:schemeClr val="tx1"/>
                </a:solidFill>
                <a:sym typeface="Wingdings" pitchFamily="2" charset="2"/>
              </a:rPr>
              <a:t> Tensão de operação;</a:t>
            </a:r>
          </a:p>
          <a:p>
            <a:r>
              <a:rPr lang="pt-BR" dirty="0" smtClean="0">
                <a:solidFill>
                  <a:schemeClr val="tx1"/>
                </a:solidFill>
                <a:sym typeface="Wingdings" pitchFamily="2" charset="2"/>
              </a:rPr>
              <a:t>Corrente   Intensidade do brilho.</a:t>
            </a: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Um resistor ligado em série com o limita o valor da corrente que percorre o LED e por conseguinte o brilho.</a:t>
            </a:r>
          </a:p>
          <a:p>
            <a:pPr algn="just"/>
            <a:endParaRPr lang="pt-BR" dirty="0" smtClean="0">
              <a:solidFill>
                <a:schemeClr val="tx1"/>
              </a:solidFill>
            </a:endParaRPr>
          </a:p>
          <a:p>
            <a:pPr algn="just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7772400" cy="692697"/>
          </a:xfrm>
        </p:spPr>
        <p:txBody>
          <a:bodyPr>
            <a:normAutofit/>
          </a:bodyPr>
          <a:lstStyle/>
          <a:p>
            <a:r>
              <a:rPr lang="pt-BR" sz="3600" dirty="0" smtClean="0"/>
              <a:t>Cálculo </a:t>
            </a:r>
            <a:r>
              <a:rPr lang="pt-BR" sz="3600" dirty="0"/>
              <a:t>de resistor </a:t>
            </a:r>
            <a:r>
              <a:rPr lang="pt-BR" sz="3600" dirty="0" smtClean="0"/>
              <a:t>para o </a:t>
            </a:r>
            <a:r>
              <a:rPr lang="pt-BR" sz="3600" dirty="0"/>
              <a:t>LED</a:t>
            </a:r>
          </a:p>
        </p:txBody>
      </p:sp>
      <p:sp useBgFill="1"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836712"/>
            <a:ext cx="9144000" cy="583264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dirty="0" smtClean="0">
                <a:solidFill>
                  <a:schemeClr val="tx1"/>
                </a:solidFill>
              </a:rPr>
              <a:t>Exemplo</a:t>
            </a:r>
            <a:r>
              <a:rPr lang="pt-BR" dirty="0" smtClean="0">
                <a:solidFill>
                  <a:schemeClr val="tx1"/>
                </a:solidFill>
              </a:rPr>
              <a:t>.  </a:t>
            </a:r>
            <a:r>
              <a:rPr lang="pt-BR" sz="5200" dirty="0" smtClean="0">
                <a:solidFill>
                  <a:srgbClr val="FF0000"/>
                </a:solidFill>
              </a:rPr>
              <a:t>Atenção: Anote o desenho</a:t>
            </a:r>
            <a:endParaRPr lang="pt-BR" sz="5200" dirty="0" smtClean="0">
              <a:solidFill>
                <a:srgbClr val="FF0000"/>
              </a:solidFill>
            </a:endParaRP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LED azul</a:t>
            </a: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Tensão de operação: 4V;</a:t>
            </a: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Corrente de operação:10 mA. </a:t>
            </a: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Tensão de alimentação de uma bateria de 12 volts.</a:t>
            </a: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OBS. O resistor deverá dissipar 8 volts (12V–4V).</a:t>
            </a: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           (conservação de energia).</a:t>
            </a:r>
          </a:p>
          <a:p>
            <a:pPr algn="just"/>
            <a:r>
              <a:rPr lang="pt-BR" u="sng" dirty="0" smtClean="0">
                <a:solidFill>
                  <a:schemeClr val="tx1"/>
                </a:solidFill>
              </a:rPr>
              <a:t>Valor de R = (V </a:t>
            </a:r>
            <a:r>
              <a:rPr lang="pt-BR" u="sng" dirty="0" err="1" smtClean="0">
                <a:solidFill>
                  <a:schemeClr val="tx1"/>
                </a:solidFill>
              </a:rPr>
              <a:t>bat</a:t>
            </a:r>
            <a:r>
              <a:rPr lang="pt-BR" u="sng" dirty="0" smtClean="0">
                <a:solidFill>
                  <a:schemeClr val="tx1"/>
                </a:solidFill>
              </a:rPr>
              <a:t>  - </a:t>
            </a:r>
            <a:r>
              <a:rPr lang="pt-BR" u="sng" dirty="0" err="1" smtClean="0">
                <a:solidFill>
                  <a:schemeClr val="tx1"/>
                </a:solidFill>
              </a:rPr>
              <a:t>Vled</a:t>
            </a:r>
            <a:r>
              <a:rPr lang="pt-BR" u="sng" dirty="0" smtClean="0">
                <a:solidFill>
                  <a:schemeClr val="tx1"/>
                </a:solidFill>
              </a:rPr>
              <a:t>)/(corrente)= (12-8)/10mA:  </a:t>
            </a: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R=V/I = 8V / 0,010A = 800 </a:t>
            </a:r>
            <a:r>
              <a:rPr lang="pt-BR" dirty="0" smtClean="0">
                <a:solidFill>
                  <a:schemeClr val="tx1"/>
                </a:solidFill>
                <a:sym typeface="Symbol"/>
              </a:rPr>
              <a:t> (</a:t>
            </a:r>
            <a:r>
              <a:rPr lang="pt-BR" dirty="0" smtClean="0">
                <a:solidFill>
                  <a:schemeClr val="tx1"/>
                </a:solidFill>
              </a:rPr>
              <a:t>Ohms).</a:t>
            </a:r>
          </a:p>
          <a:p>
            <a:pPr algn="just"/>
            <a:r>
              <a:rPr lang="pt-BR" u="sng" dirty="0" smtClean="0">
                <a:solidFill>
                  <a:schemeClr val="tx1"/>
                </a:solidFill>
              </a:rPr>
              <a:t>Diagrama:</a:t>
            </a:r>
          </a:p>
          <a:p>
            <a:pPr algn="just"/>
            <a:r>
              <a:rPr lang="pt-BR" u="sng" dirty="0" smtClean="0">
                <a:solidFill>
                  <a:schemeClr val="tx1"/>
                </a:solidFill>
              </a:rPr>
              <a:t>(complete a figura)</a:t>
            </a:r>
          </a:p>
          <a:p>
            <a:pPr algn="just"/>
            <a:endParaRPr lang="pt-BR" dirty="0" smtClean="0">
              <a:solidFill>
                <a:schemeClr val="tx1"/>
              </a:solidFill>
            </a:endParaRPr>
          </a:p>
          <a:p>
            <a:pPr algn="just"/>
            <a:r>
              <a:rPr lang="pt-BR" sz="2400" dirty="0" smtClean="0">
                <a:solidFill>
                  <a:schemeClr val="tx1"/>
                </a:solidFill>
              </a:rPr>
              <a:t>   -  (Bateria) +</a:t>
            </a:r>
          </a:p>
          <a:p>
            <a:pPr algn="just"/>
            <a:endParaRPr lang="pt-BR" sz="1400" dirty="0" smtClean="0">
              <a:solidFill>
                <a:schemeClr val="tx1"/>
              </a:solidFill>
            </a:endParaRP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        12V         =                    8V                 +                  4V</a:t>
            </a:r>
            <a:endParaRPr lang="pt-BR" dirty="0">
              <a:solidFill>
                <a:schemeClr val="tx1"/>
              </a:solidFill>
            </a:endParaRPr>
          </a:p>
        </p:txBody>
      </p:sp>
      <p:grpSp>
        <p:nvGrpSpPr>
          <p:cNvPr id="6" name="Agrupar 5"/>
          <p:cNvGrpSpPr/>
          <p:nvPr/>
        </p:nvGrpSpPr>
        <p:grpSpPr>
          <a:xfrm>
            <a:off x="1691680" y="5445224"/>
            <a:ext cx="5832648" cy="461665"/>
            <a:chOff x="395536" y="5013176"/>
            <a:chExt cx="5832648" cy="461665"/>
          </a:xfrm>
        </p:grpSpPr>
        <p:cxnSp>
          <p:nvCxnSpPr>
            <p:cNvPr id="7" name="Conector reto 6"/>
            <p:cNvCxnSpPr/>
            <p:nvPr/>
          </p:nvCxnSpPr>
          <p:spPr>
            <a:xfrm>
              <a:off x="395536" y="5229200"/>
              <a:ext cx="7200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ixaDeTexto 7"/>
            <p:cNvSpPr txBox="1"/>
            <p:nvPr/>
          </p:nvSpPr>
          <p:spPr>
            <a:xfrm>
              <a:off x="3347864" y="5013176"/>
              <a:ext cx="1584176" cy="461665"/>
            </a:xfrm>
            <a:prstGeom prst="rect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 err="1" smtClean="0"/>
                <a:t>Led</a:t>
              </a:r>
              <a:endParaRPr lang="pt-BR" sz="2400" dirty="0"/>
            </a:p>
          </p:txBody>
        </p:sp>
        <p:cxnSp>
          <p:nvCxnSpPr>
            <p:cNvPr id="10" name="Conector reto 9"/>
            <p:cNvCxnSpPr/>
            <p:nvPr/>
          </p:nvCxnSpPr>
          <p:spPr>
            <a:xfrm>
              <a:off x="2051720" y="5229200"/>
              <a:ext cx="129614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CaixaDeTexto 3"/>
            <p:cNvSpPr txBox="1"/>
            <p:nvPr/>
          </p:nvSpPr>
          <p:spPr>
            <a:xfrm>
              <a:off x="1115616" y="5105509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Resistor</a:t>
              </a:r>
              <a:endParaRPr lang="pt-BR" dirty="0"/>
            </a:p>
          </p:txBody>
        </p:sp>
        <p:cxnSp>
          <p:nvCxnSpPr>
            <p:cNvPr id="9" name="Conector reto 8"/>
            <p:cNvCxnSpPr/>
            <p:nvPr/>
          </p:nvCxnSpPr>
          <p:spPr>
            <a:xfrm>
              <a:off x="4932040" y="5229200"/>
              <a:ext cx="129614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Conector reto 11"/>
          <p:cNvCxnSpPr/>
          <p:nvPr/>
        </p:nvCxnSpPr>
        <p:spPr>
          <a:xfrm>
            <a:off x="323528" y="5661248"/>
            <a:ext cx="0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 flipV="1">
            <a:off x="323528" y="6525344"/>
            <a:ext cx="7200800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>
            <a:off x="7524328" y="5661248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/>
          <p:nvPr/>
        </p:nvCxnSpPr>
        <p:spPr>
          <a:xfrm>
            <a:off x="7812360" y="5661248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795637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I</a:t>
            </a:r>
            <a:endParaRPr lang="pt-BR" dirty="0"/>
          </a:p>
        </p:txBody>
      </p:sp>
      <p:cxnSp>
        <p:nvCxnSpPr>
          <p:cNvPr id="11" name="Conector de Seta Reta 10"/>
          <p:cNvCxnSpPr/>
          <p:nvPr/>
        </p:nvCxnSpPr>
        <p:spPr>
          <a:xfrm flipH="1">
            <a:off x="4213240" y="1244906"/>
            <a:ext cx="1800200" cy="4268797"/>
          </a:xfrm>
          <a:prstGeom prst="straightConnector1">
            <a:avLst/>
          </a:prstGeom>
          <a:ln w="34925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/>
          <p:cNvSpPr/>
          <p:nvPr/>
        </p:nvSpPr>
        <p:spPr>
          <a:xfrm>
            <a:off x="395536" y="5445224"/>
            <a:ext cx="1224136" cy="504056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gradFill>
              <a:gsLst>
                <a:gs pos="20369">
                  <a:srgbClr val="E3EBF5"/>
                </a:gs>
                <a:gs pos="32747">
                  <a:srgbClr val="D7E3F0"/>
                </a:gs>
                <a:gs pos="46916">
                  <a:srgbClr val="CAD9EB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Calculo de resistor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4525963"/>
          </a:xfrm>
        </p:spPr>
        <p:txBody>
          <a:bodyPr/>
          <a:lstStyle/>
          <a:p>
            <a:r>
              <a:rPr lang="pt-BR" dirty="0" smtClean="0"/>
              <a:t>Calcule o resistor acender um Led com  tensão de 3,5 Volts e </a:t>
            </a:r>
            <a:r>
              <a:rPr lang="pt-BR" dirty="0"/>
              <a:t>corrente de 20 </a:t>
            </a:r>
            <a:r>
              <a:rPr lang="pt-BR" dirty="0" err="1" smtClean="0"/>
              <a:t>miliAmpéres</a:t>
            </a:r>
            <a:r>
              <a:rPr lang="pt-BR" dirty="0" smtClean="0"/>
              <a:t>.  Usando uma bateria de 9 Volts:</a:t>
            </a:r>
            <a:endParaRPr lang="pt-BR" dirty="0"/>
          </a:p>
          <a:p>
            <a:pPr marL="0" indent="0">
              <a:buNone/>
            </a:pPr>
            <a:r>
              <a:rPr lang="pt-BR" dirty="0" smtClean="0"/>
              <a:t>O LED sendo alimentado por uma bateria de 9 volts</a:t>
            </a:r>
          </a:p>
          <a:p>
            <a:pPr>
              <a:buNone/>
            </a:pPr>
            <a:r>
              <a:rPr lang="pt-BR" dirty="0" smtClean="0"/>
              <a:t>     </a:t>
            </a:r>
          </a:p>
          <a:p>
            <a:pPr>
              <a:buNone/>
            </a:pPr>
            <a:r>
              <a:rPr lang="pt-BR" dirty="0" smtClean="0"/>
              <a:t>Solução: R= (9-3,5)/0,020=275 </a:t>
            </a:r>
            <a:r>
              <a:rPr lang="pt-BR" dirty="0" err="1" smtClean="0"/>
              <a:t>OHMs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7772400" cy="692697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Arduino – entrada e saída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836712"/>
            <a:ext cx="8964488" cy="4730080"/>
          </a:xfrm>
        </p:spPr>
        <p:txBody>
          <a:bodyPr>
            <a:normAutofit fontScale="92500" lnSpcReduction="20000"/>
          </a:bodyPr>
          <a:lstStyle/>
          <a:p>
            <a:r>
              <a:rPr lang="pt-BR" dirty="0" smtClean="0"/>
              <a:t>Responda.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Exemplo: Instruções necessárias para acender um Led no pino 13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smtClean="0">
                <a:solidFill>
                  <a:schemeClr val="tx1"/>
                </a:solidFill>
              </a:rPr>
              <a:t>apenas uma vez e deixá-lo aceso? 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Solução:</a:t>
            </a:r>
          </a:p>
          <a:p>
            <a:pPr algn="just"/>
            <a:endParaRPr lang="pt-BR" dirty="0" smtClean="0">
              <a:solidFill>
                <a:schemeClr val="tx1"/>
              </a:solidFill>
            </a:endParaRPr>
          </a:p>
          <a:p>
            <a:pPr algn="just"/>
            <a:r>
              <a:rPr lang="pt-BR" dirty="0" err="1" smtClean="0">
                <a:solidFill>
                  <a:schemeClr val="tx1"/>
                </a:solidFill>
              </a:rPr>
              <a:t>void</a:t>
            </a:r>
            <a:r>
              <a:rPr lang="pt-BR" dirty="0" smtClean="0">
                <a:solidFill>
                  <a:schemeClr val="tx1"/>
                </a:solidFill>
              </a:rPr>
              <a:t> setup()   // opera somente ao ligar</a:t>
            </a: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 {</a:t>
            </a:r>
            <a:r>
              <a:rPr lang="pt-BR" dirty="0" err="1" smtClean="0">
                <a:solidFill>
                  <a:schemeClr val="tx1"/>
                </a:solidFill>
              </a:rPr>
              <a:t>pinMode</a:t>
            </a:r>
            <a:r>
              <a:rPr lang="pt-BR" dirty="0" smtClean="0">
                <a:solidFill>
                  <a:schemeClr val="tx1"/>
                </a:solidFill>
              </a:rPr>
              <a:t>(13,OUTPUT); </a:t>
            </a:r>
          </a:p>
          <a:p>
            <a:pPr algn="just"/>
            <a:r>
              <a:rPr lang="pt-BR" dirty="0" err="1" smtClean="0">
                <a:solidFill>
                  <a:schemeClr val="tx1"/>
                </a:solidFill>
              </a:rPr>
              <a:t>digitalWrite</a:t>
            </a:r>
            <a:r>
              <a:rPr lang="pt-BR" dirty="0" smtClean="0">
                <a:solidFill>
                  <a:schemeClr val="tx1"/>
                </a:solidFill>
              </a:rPr>
              <a:t>(13,HIGH);}</a:t>
            </a:r>
          </a:p>
          <a:p>
            <a:pPr algn="just"/>
            <a:r>
              <a:rPr lang="pt-BR" dirty="0" err="1" smtClean="0">
                <a:solidFill>
                  <a:schemeClr val="tx1"/>
                </a:solidFill>
              </a:rPr>
              <a:t>void</a:t>
            </a:r>
            <a:r>
              <a:rPr lang="pt-BR" dirty="0" smtClean="0">
                <a:solidFill>
                  <a:schemeClr val="tx1"/>
                </a:solidFill>
              </a:rPr>
              <a:t> loop()   </a:t>
            </a: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 {} // opera repetitivamente.</a:t>
            </a:r>
            <a:endParaRPr lang="pt-B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79712" y="1"/>
            <a:ext cx="5040560" cy="548679"/>
          </a:xfrm>
        </p:spPr>
        <p:txBody>
          <a:bodyPr>
            <a:normAutofit/>
          </a:bodyPr>
          <a:lstStyle/>
          <a:p>
            <a:r>
              <a:rPr lang="pt-BR" sz="2400" dirty="0" smtClean="0"/>
              <a:t>Arduino – entrada e saída digital</a:t>
            </a:r>
            <a:endParaRPr lang="pt-BR" sz="2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620688"/>
            <a:ext cx="8964488" cy="561662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b="1" u="sng" dirty="0" smtClean="0"/>
              <a:t>Atividade entrada de dados Digital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/* </a:t>
            </a:r>
            <a:r>
              <a:rPr lang="en-US" dirty="0" err="1" smtClean="0"/>
              <a:t>leitura</a:t>
            </a:r>
            <a:r>
              <a:rPr lang="en-US" dirty="0" smtClean="0"/>
              <a:t> digital no pino2. </a:t>
            </a:r>
            <a:r>
              <a:rPr lang="en-US" dirty="0" err="1" smtClean="0"/>
              <a:t>Impressão</a:t>
            </a:r>
            <a:r>
              <a:rPr lang="en-US" dirty="0" smtClean="0"/>
              <a:t> no monitor serial  */</a:t>
            </a:r>
          </a:p>
          <a:p>
            <a:pPr algn="just"/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pushButton</a:t>
            </a:r>
            <a:r>
              <a:rPr lang="en-US" dirty="0" smtClean="0"/>
              <a:t> = 2; // </a:t>
            </a:r>
            <a:r>
              <a:rPr lang="en-US" dirty="0" err="1" smtClean="0"/>
              <a:t>pino</a:t>
            </a:r>
            <a:r>
              <a:rPr lang="en-US" dirty="0" smtClean="0"/>
              <a:t> digital 2 tem um </a:t>
            </a:r>
            <a:r>
              <a:rPr lang="en-US" b="1" i="1" dirty="0" smtClean="0"/>
              <a:t>“pushbutton”</a:t>
            </a:r>
          </a:p>
          <a:p>
            <a:pPr algn="just"/>
            <a:r>
              <a:rPr lang="en-US" dirty="0" smtClean="0"/>
              <a:t>void setup() </a:t>
            </a:r>
            <a:r>
              <a:rPr lang="en-US" dirty="0" smtClean="0">
                <a:solidFill>
                  <a:srgbClr val="FF0000"/>
                </a:solidFill>
              </a:rPr>
              <a:t>{</a:t>
            </a:r>
            <a:r>
              <a:rPr lang="en-US" dirty="0" smtClean="0"/>
              <a:t> </a:t>
            </a:r>
            <a:r>
              <a:rPr lang="en-US" dirty="0" err="1" smtClean="0"/>
              <a:t>Serial.begin</a:t>
            </a:r>
            <a:r>
              <a:rPr lang="en-US" dirty="0" smtClean="0"/>
              <a:t>(9600);</a:t>
            </a:r>
          </a:p>
          <a:p>
            <a:pPr algn="just"/>
            <a:r>
              <a:rPr lang="en-US" dirty="0" smtClean="0"/>
              <a:t>                       </a:t>
            </a:r>
            <a:r>
              <a:rPr lang="en-US" dirty="0" err="1" smtClean="0"/>
              <a:t>pinMode</a:t>
            </a:r>
            <a:r>
              <a:rPr lang="en-US" dirty="0" smtClean="0"/>
              <a:t>(</a:t>
            </a:r>
            <a:r>
              <a:rPr lang="en-US" dirty="0" err="1" smtClean="0"/>
              <a:t>pushButton</a:t>
            </a:r>
            <a:r>
              <a:rPr lang="en-US" dirty="0" smtClean="0"/>
              <a:t>, INPUT);</a:t>
            </a:r>
          </a:p>
          <a:p>
            <a:pPr algn="just"/>
            <a:r>
              <a:rPr lang="en-US" dirty="0" smtClean="0"/>
              <a:t>                       // make the pushbutton's pin an input: </a:t>
            </a:r>
          </a:p>
          <a:p>
            <a:pPr algn="just"/>
            <a:r>
              <a:rPr lang="en-US" dirty="0" smtClean="0"/>
              <a:t>                       </a:t>
            </a:r>
            <a:r>
              <a:rPr lang="en-US" dirty="0" smtClean="0">
                <a:solidFill>
                  <a:srgbClr val="FF0000"/>
                </a:solidFill>
              </a:rPr>
              <a:t>}</a:t>
            </a:r>
          </a:p>
          <a:p>
            <a:pPr algn="just"/>
            <a:r>
              <a:rPr lang="en-US" dirty="0" smtClean="0"/>
              <a:t>void loop() {</a:t>
            </a:r>
          </a:p>
          <a:p>
            <a:pPr algn="just"/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buttonState</a:t>
            </a:r>
            <a:r>
              <a:rPr lang="en-US" dirty="0" smtClean="0"/>
              <a:t> = </a:t>
            </a:r>
            <a:r>
              <a:rPr lang="en-US" dirty="0" err="1" smtClean="0"/>
              <a:t>digitalRead</a:t>
            </a:r>
            <a:r>
              <a:rPr lang="en-US" dirty="0" smtClean="0"/>
              <a:t>(</a:t>
            </a:r>
            <a:r>
              <a:rPr lang="en-US" dirty="0" err="1" smtClean="0"/>
              <a:t>pushButton</a:t>
            </a:r>
            <a:r>
              <a:rPr lang="en-US" dirty="0" smtClean="0"/>
              <a:t>); // </a:t>
            </a:r>
            <a:r>
              <a:rPr lang="en-US" dirty="0" err="1" smtClean="0"/>
              <a:t>leitura</a:t>
            </a:r>
            <a:r>
              <a:rPr lang="en-US" dirty="0" smtClean="0"/>
              <a:t> no </a:t>
            </a:r>
            <a:r>
              <a:rPr lang="en-US" dirty="0" err="1" smtClean="0"/>
              <a:t>pino</a:t>
            </a:r>
            <a:r>
              <a:rPr lang="en-US" dirty="0" smtClean="0"/>
              <a:t> digital.</a:t>
            </a:r>
          </a:p>
          <a:p>
            <a:pPr algn="just"/>
            <a:r>
              <a:rPr lang="en-US" dirty="0" smtClean="0"/>
              <a:t> //  O valor da </a:t>
            </a:r>
            <a:r>
              <a:rPr lang="en-US" dirty="0" err="1" smtClean="0"/>
              <a:t>leitura</a:t>
            </a:r>
            <a:r>
              <a:rPr lang="en-US" dirty="0" smtClean="0"/>
              <a:t> digital </a:t>
            </a:r>
            <a:r>
              <a:rPr lang="en-US" dirty="0" err="1" smtClean="0"/>
              <a:t>somente</a:t>
            </a:r>
            <a:r>
              <a:rPr lang="en-US" dirty="0" smtClean="0"/>
              <a:t> </a:t>
            </a:r>
            <a:r>
              <a:rPr lang="en-US" dirty="0" err="1" smtClean="0"/>
              <a:t>poderá</a:t>
            </a:r>
            <a:r>
              <a:rPr lang="en-US" dirty="0" smtClean="0"/>
              <a:t> </a:t>
            </a:r>
            <a:r>
              <a:rPr lang="en-US" dirty="0" err="1" smtClean="0"/>
              <a:t>ser</a:t>
            </a:r>
            <a:r>
              <a:rPr lang="en-US" dirty="0" smtClean="0"/>
              <a:t> 0 </a:t>
            </a:r>
            <a:r>
              <a:rPr lang="en-US" dirty="0" err="1" smtClean="0"/>
              <a:t>ou</a:t>
            </a:r>
            <a:r>
              <a:rPr lang="en-US" dirty="0" smtClean="0"/>
              <a:t> 1.</a:t>
            </a:r>
          </a:p>
          <a:p>
            <a:pPr algn="just"/>
            <a:r>
              <a:rPr lang="en-US" dirty="0" smtClean="0"/>
              <a:t> </a:t>
            </a:r>
            <a:r>
              <a:rPr lang="en-US" dirty="0" err="1" smtClean="0"/>
              <a:t>Serial.println</a:t>
            </a:r>
            <a:r>
              <a:rPr lang="en-US" dirty="0" smtClean="0"/>
              <a:t>(</a:t>
            </a:r>
            <a:r>
              <a:rPr lang="en-US" dirty="0" err="1" smtClean="0"/>
              <a:t>buttonState</a:t>
            </a:r>
            <a:r>
              <a:rPr lang="en-US" dirty="0" smtClean="0"/>
              <a:t>);   // print the state of the button:</a:t>
            </a:r>
          </a:p>
          <a:p>
            <a:pPr algn="just"/>
            <a:r>
              <a:rPr lang="en-US" dirty="0" smtClean="0"/>
              <a:t>    delay(1000);    }</a:t>
            </a:r>
          </a:p>
          <a:p>
            <a:pPr algn="just"/>
            <a:r>
              <a:rPr lang="en-US" dirty="0" smtClean="0"/>
              <a:t>// </a:t>
            </a:r>
            <a:r>
              <a:rPr lang="en-US" dirty="0" err="1" smtClean="0"/>
              <a:t>Explique</a:t>
            </a:r>
            <a:r>
              <a:rPr lang="en-US" dirty="0" smtClean="0"/>
              <a:t> o </a:t>
            </a:r>
            <a:r>
              <a:rPr lang="en-US" dirty="0" err="1" smtClean="0"/>
              <a:t>resultado</a:t>
            </a:r>
            <a:r>
              <a:rPr lang="en-US" dirty="0" smtClean="0"/>
              <a:t> </a:t>
            </a:r>
            <a:r>
              <a:rPr lang="en-US" dirty="0" err="1" smtClean="0"/>
              <a:t>obtido</a:t>
            </a:r>
            <a:r>
              <a:rPr lang="en-US" dirty="0" smtClean="0"/>
              <a:t> para a </a:t>
            </a:r>
            <a:r>
              <a:rPr lang="en-US" dirty="0" err="1" smtClean="0"/>
              <a:t>leitura</a:t>
            </a:r>
            <a:r>
              <a:rPr lang="en-US" dirty="0" smtClean="0"/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7772400" cy="692697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Arduino – entrada e saída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7504" y="836712"/>
            <a:ext cx="9036496" cy="5306144"/>
          </a:xfrm>
        </p:spPr>
        <p:txBody>
          <a:bodyPr>
            <a:normAutofit/>
          </a:bodyPr>
          <a:lstStyle/>
          <a:p>
            <a:pPr algn="just"/>
            <a:r>
              <a:rPr lang="pt-BR" b="1" u="sng" dirty="0" smtClean="0">
                <a:solidFill>
                  <a:schemeClr val="tx1"/>
                </a:solidFill>
              </a:rPr>
              <a:t>Atividade entrada de dados. </a:t>
            </a: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Carregue e execute o programa  Files </a:t>
            </a:r>
            <a:r>
              <a:rPr lang="pt-BR" dirty="0" smtClean="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lang="pt-BR" dirty="0" err="1" smtClean="0">
                <a:solidFill>
                  <a:schemeClr val="tx1"/>
                </a:solidFill>
                <a:sym typeface="Wingdings" pitchFamily="2" charset="2"/>
              </a:rPr>
              <a:t>Examples</a:t>
            </a:r>
            <a:r>
              <a:rPr lang="pt-BR" dirty="0" smtClean="0">
                <a:solidFill>
                  <a:schemeClr val="tx1"/>
                </a:solidFill>
                <a:sym typeface="Wingdings" pitchFamily="2" charset="2"/>
              </a:rPr>
              <a:t>  Basic  </a:t>
            </a:r>
            <a:r>
              <a:rPr lang="pt-BR" dirty="0" err="1" smtClean="0">
                <a:solidFill>
                  <a:schemeClr val="tx1"/>
                </a:solidFill>
                <a:sym typeface="Wingdings" pitchFamily="2" charset="2"/>
              </a:rPr>
              <a:t>DigitalReadSerial</a:t>
            </a:r>
            <a:r>
              <a:rPr lang="pt-BR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endParaRPr lang="pt-BR" dirty="0" smtClean="0">
              <a:solidFill>
                <a:schemeClr val="tx1"/>
              </a:solidFill>
            </a:endParaRPr>
          </a:p>
          <a:p>
            <a:pPr algn="just"/>
            <a:r>
              <a:rPr lang="pt-BR" u="sng" dirty="0" smtClean="0">
                <a:solidFill>
                  <a:schemeClr val="tx1"/>
                </a:solidFill>
              </a:rPr>
              <a:t>Como um pino é configurado como entrada  digital?</a:t>
            </a:r>
          </a:p>
          <a:p>
            <a:pPr algn="just"/>
            <a:r>
              <a:rPr lang="pt-BR" dirty="0" err="1" smtClean="0">
                <a:solidFill>
                  <a:schemeClr val="tx1"/>
                </a:solidFill>
              </a:rPr>
              <a:t>Resp</a:t>
            </a:r>
            <a:r>
              <a:rPr lang="pt-BR" dirty="0" smtClean="0">
                <a:solidFill>
                  <a:schemeClr val="tx1"/>
                </a:solidFill>
              </a:rPr>
              <a:t>. Pinos 0 a 13 podem ser configurados: </a:t>
            </a:r>
            <a:r>
              <a:rPr lang="en-US" dirty="0" err="1" smtClean="0">
                <a:solidFill>
                  <a:schemeClr val="tx1"/>
                </a:solidFill>
              </a:rPr>
              <a:t>pinMode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pino</a:t>
            </a:r>
            <a:r>
              <a:rPr lang="en-US" dirty="0" smtClean="0">
                <a:solidFill>
                  <a:schemeClr val="tx1"/>
                </a:solidFill>
              </a:rPr>
              <a:t>, INPUT);</a:t>
            </a:r>
          </a:p>
          <a:p>
            <a:pPr algn="just"/>
            <a:r>
              <a:rPr lang="pt-BR" u="sng" dirty="0" smtClean="0">
                <a:solidFill>
                  <a:schemeClr val="tx1"/>
                </a:solidFill>
              </a:rPr>
              <a:t>Como é feita a leitura de dados digital?</a:t>
            </a:r>
          </a:p>
          <a:p>
            <a:pPr algn="just"/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buttonState</a:t>
            </a:r>
            <a:r>
              <a:rPr lang="en-US" dirty="0" smtClean="0"/>
              <a:t> = </a:t>
            </a:r>
            <a:r>
              <a:rPr lang="en-US" dirty="0" err="1" smtClean="0"/>
              <a:t>digitalRead</a:t>
            </a:r>
            <a:r>
              <a:rPr lang="en-US" dirty="0" smtClean="0"/>
              <a:t>(1);</a:t>
            </a:r>
            <a:endParaRPr lang="pt-BR" u="sng" dirty="0" smtClean="0">
              <a:solidFill>
                <a:schemeClr val="tx1"/>
              </a:solidFill>
            </a:endParaRPr>
          </a:p>
          <a:p>
            <a:pPr algn="just"/>
            <a:endParaRPr lang="pt-BR" dirty="0" smtClean="0">
              <a:solidFill>
                <a:schemeClr val="tx1"/>
              </a:solidFill>
            </a:endParaRPr>
          </a:p>
          <a:p>
            <a:pPr algn="just"/>
            <a:endParaRPr lang="pt-BR" u="sng" dirty="0" smtClean="0">
              <a:solidFill>
                <a:schemeClr val="tx1"/>
              </a:solidFill>
            </a:endParaRPr>
          </a:p>
          <a:p>
            <a:pPr algn="just"/>
            <a:endParaRPr lang="pt-BR" u="sng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7772400" cy="692697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Arduino – entrada e saída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836712"/>
            <a:ext cx="8208912" cy="5306144"/>
          </a:xfrm>
        </p:spPr>
        <p:txBody>
          <a:bodyPr>
            <a:normAutofit/>
          </a:bodyPr>
          <a:lstStyle/>
          <a:p>
            <a:pPr algn="just"/>
            <a:r>
              <a:rPr lang="pt-BR" u="sng" dirty="0" smtClean="0">
                <a:solidFill>
                  <a:schemeClr val="tx1"/>
                </a:solidFill>
              </a:rPr>
              <a:t>Programação da  comunicação serial (USB)</a:t>
            </a:r>
          </a:p>
          <a:p>
            <a:pPr algn="just"/>
            <a:endParaRPr lang="pt-BR" dirty="0" smtClean="0">
              <a:solidFill>
                <a:schemeClr val="tx1"/>
              </a:solidFill>
            </a:endParaRP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Monitor serial: Enviar dados pela USB.</a:t>
            </a:r>
          </a:p>
          <a:p>
            <a:pPr algn="just"/>
            <a:endParaRPr lang="pt-BR" dirty="0" smtClean="0">
              <a:solidFill>
                <a:schemeClr val="tx1"/>
              </a:solidFill>
            </a:endParaRPr>
          </a:p>
          <a:p>
            <a:pPr algn="just"/>
            <a:endParaRPr lang="pt-BR" u="sng" dirty="0" smtClean="0">
              <a:solidFill>
                <a:schemeClr val="tx1"/>
              </a:solidFill>
            </a:endParaRPr>
          </a:p>
          <a:p>
            <a:pPr algn="just"/>
            <a:endParaRPr lang="pt-BR" u="sng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Responda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Que faz a função: </a:t>
            </a:r>
            <a:r>
              <a:rPr lang="en-US" dirty="0" err="1" smtClean="0"/>
              <a:t>digitalRead</a:t>
            </a:r>
            <a:r>
              <a:rPr lang="en-US" dirty="0" smtClean="0"/>
              <a:t>(</a:t>
            </a:r>
            <a:r>
              <a:rPr lang="en-US" dirty="0" err="1" smtClean="0"/>
              <a:t>pushButton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err="1" smtClean="0"/>
              <a:t>Leitura</a:t>
            </a:r>
            <a:r>
              <a:rPr lang="en-US" dirty="0" smtClean="0"/>
              <a:t> do </a:t>
            </a:r>
            <a:r>
              <a:rPr lang="en-US" dirty="0" err="1" smtClean="0"/>
              <a:t>botão</a:t>
            </a:r>
            <a:r>
              <a:rPr lang="en-US" dirty="0" smtClean="0"/>
              <a:t> </a:t>
            </a:r>
            <a:r>
              <a:rPr lang="en-US" dirty="0" err="1" smtClean="0"/>
              <a:t>definido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pushButton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LEITURA : 0 </a:t>
            </a:r>
            <a:r>
              <a:rPr lang="en-US" dirty="0" err="1" smtClean="0"/>
              <a:t>ou</a:t>
            </a:r>
            <a:r>
              <a:rPr lang="en-US" dirty="0" smtClean="0"/>
              <a:t> 1</a:t>
            </a:r>
          </a:p>
          <a:p>
            <a:endParaRPr lang="en-US" dirty="0"/>
          </a:p>
          <a:p>
            <a:r>
              <a:rPr lang="en-US" dirty="0" err="1" smtClean="0"/>
              <a:t>Coloque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“</a:t>
            </a:r>
            <a:r>
              <a:rPr lang="en-US" dirty="0" err="1" smtClean="0"/>
              <a:t>antena</a:t>
            </a:r>
            <a:r>
              <a:rPr lang="en-US" dirty="0" smtClean="0"/>
              <a:t>” no </a:t>
            </a:r>
            <a:r>
              <a:rPr lang="en-US" dirty="0" err="1" smtClean="0"/>
              <a:t>pino</a:t>
            </a:r>
            <a:r>
              <a:rPr lang="en-US" dirty="0" smtClean="0"/>
              <a:t> 2. O que acontece?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7272808" cy="504056"/>
          </a:xfrm>
        </p:spPr>
        <p:txBody>
          <a:bodyPr>
            <a:normAutofit fontScale="90000"/>
          </a:bodyPr>
          <a:lstStyle/>
          <a:p>
            <a:r>
              <a:rPr lang="pt-BR" sz="2800" dirty="0" smtClean="0"/>
              <a:t>Leitura de dados analógicos</a:t>
            </a:r>
            <a:endParaRPr lang="pt-BR" sz="2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836712"/>
            <a:ext cx="8424936" cy="60212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void setup()  {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 err="1"/>
              <a:t>Serial.begin</a:t>
            </a:r>
            <a:r>
              <a:rPr lang="en-US" dirty="0"/>
              <a:t>(9600</a:t>
            </a:r>
            <a:r>
              <a:rPr lang="en-US" dirty="0" smtClean="0"/>
              <a:t>);    }</a:t>
            </a:r>
          </a:p>
          <a:p>
            <a:pPr>
              <a:buNone/>
            </a:pPr>
            <a:r>
              <a:rPr lang="en-US" dirty="0" smtClean="0"/>
              <a:t>      void loop() { 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sensorValue</a:t>
            </a:r>
            <a:r>
              <a:rPr lang="en-US" dirty="0" smtClean="0"/>
              <a:t> = </a:t>
            </a:r>
            <a:r>
              <a:rPr lang="en-US" dirty="0" err="1" smtClean="0"/>
              <a:t>analogRead</a:t>
            </a:r>
            <a:r>
              <a:rPr lang="en-US" dirty="0" smtClean="0"/>
              <a:t>(A0);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/* A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cada</a:t>
            </a:r>
            <a:r>
              <a:rPr lang="en-US" dirty="0" smtClean="0"/>
              <a:t> </a:t>
            </a:r>
            <a:r>
              <a:rPr lang="en-US" dirty="0" err="1" smtClean="0"/>
              <a:t>leitura</a:t>
            </a:r>
            <a:r>
              <a:rPr lang="en-US" dirty="0" smtClean="0"/>
              <a:t> entrada </a:t>
            </a:r>
            <a:r>
              <a:rPr lang="en-US" dirty="0" err="1" smtClean="0"/>
              <a:t>analógica</a:t>
            </a:r>
            <a:r>
              <a:rPr lang="en-US" dirty="0" smtClean="0"/>
              <a:t> </a:t>
            </a:r>
            <a:r>
              <a:rPr lang="en-US" dirty="0" err="1" smtClean="0"/>
              <a:t>fornece</a:t>
            </a:r>
            <a:r>
              <a:rPr lang="en-US" dirty="0" smtClean="0"/>
              <a:t> </a:t>
            </a:r>
            <a:r>
              <a:rPr lang="en-US" dirty="0" err="1" smtClean="0"/>
              <a:t>valores</a:t>
            </a:r>
            <a:r>
              <a:rPr lang="en-US" dirty="0" smtClean="0"/>
              <a:t> </a:t>
            </a:r>
            <a:r>
              <a:rPr lang="en-US" dirty="0" err="1" smtClean="0"/>
              <a:t>inteiros</a:t>
            </a:r>
            <a:r>
              <a:rPr lang="en-US" dirty="0" smtClean="0"/>
              <a:t> que </a:t>
            </a:r>
            <a:r>
              <a:rPr lang="en-US" dirty="0" err="1" smtClean="0"/>
              <a:t>variam</a:t>
            </a:r>
            <a:r>
              <a:rPr lang="en-US" dirty="0" smtClean="0"/>
              <a:t> de </a:t>
            </a:r>
            <a:r>
              <a:rPr lang="en-US" sz="2600" dirty="0" smtClean="0">
                <a:solidFill>
                  <a:srgbClr val="FF0000"/>
                </a:solidFill>
              </a:rPr>
              <a:t>0 – 1023  </a:t>
            </a:r>
            <a:r>
              <a:rPr lang="en-US" sz="2600" dirty="0" smtClean="0"/>
              <a:t>a </a:t>
            </a:r>
            <a:r>
              <a:rPr lang="en-US" sz="2600" dirty="0" err="1" smtClean="0"/>
              <a:t>partir</a:t>
            </a:r>
            <a:r>
              <a:rPr lang="en-US" sz="2600" dirty="0" smtClean="0"/>
              <a:t> de </a:t>
            </a:r>
            <a:r>
              <a:rPr lang="en-US" sz="2600" dirty="0" err="1" smtClean="0"/>
              <a:t>voltagens</a:t>
            </a:r>
            <a:r>
              <a:rPr lang="en-US" sz="2600" dirty="0" smtClean="0"/>
              <a:t> que </a:t>
            </a:r>
            <a:r>
              <a:rPr lang="en-US" sz="2600" dirty="0" err="1" smtClean="0"/>
              <a:t>variam</a:t>
            </a:r>
            <a:r>
              <a:rPr lang="en-US" sz="2600" dirty="0" smtClean="0"/>
              <a:t> de</a:t>
            </a:r>
            <a:r>
              <a:rPr lang="en-US" sz="2600" dirty="0" smtClean="0">
                <a:solidFill>
                  <a:srgbClr val="FF0000"/>
                </a:solidFill>
              </a:rPr>
              <a:t> 0 - 5V. ?*/</a:t>
            </a:r>
          </a:p>
          <a:p>
            <a:pPr marL="0" indent="0">
              <a:buNone/>
            </a:pPr>
            <a:r>
              <a:rPr lang="en-US" sz="2600" dirty="0" smtClean="0">
                <a:solidFill>
                  <a:srgbClr val="FF0000"/>
                </a:solidFill>
              </a:rPr>
              <a:t>/*Nota. O Arduino opera com um </a:t>
            </a:r>
            <a:r>
              <a:rPr lang="en-US" sz="2600" dirty="0" err="1" smtClean="0">
                <a:solidFill>
                  <a:srgbClr val="FF0000"/>
                </a:solidFill>
              </a:rPr>
              <a:t>conversor</a:t>
            </a:r>
            <a:r>
              <a:rPr lang="en-US" sz="2600" dirty="0" smtClean="0">
                <a:solidFill>
                  <a:srgbClr val="FF0000"/>
                </a:solidFill>
              </a:rPr>
              <a:t> de 10 bits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fornecendo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valores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desde</a:t>
            </a:r>
            <a:r>
              <a:rPr lang="en-US" sz="2600" dirty="0" smtClean="0">
                <a:solidFill>
                  <a:srgbClr val="FF0000"/>
                </a:solidFill>
              </a:rPr>
              <a:t>  0 </a:t>
            </a:r>
            <a:r>
              <a:rPr lang="en-US" sz="2600" dirty="0" err="1" smtClean="0">
                <a:solidFill>
                  <a:srgbClr val="FF0000"/>
                </a:solidFill>
                <a:sym typeface="Wingdings" pitchFamily="2" charset="2"/>
              </a:rPr>
              <a:t>até</a:t>
            </a:r>
            <a:r>
              <a:rPr lang="en-US" sz="2600" dirty="0" smtClean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sz="2600" dirty="0" smtClean="0">
                <a:solidFill>
                  <a:srgbClr val="FF0000"/>
                </a:solidFill>
              </a:rPr>
              <a:t>1023   (2^10 = 1024).  Para n bits </a:t>
            </a:r>
            <a:r>
              <a:rPr lang="en-US" sz="2600" dirty="0" err="1" smtClean="0">
                <a:solidFill>
                  <a:srgbClr val="FF0000"/>
                </a:solidFill>
              </a:rPr>
              <a:t>existem</a:t>
            </a:r>
            <a:r>
              <a:rPr lang="en-US" sz="2600" dirty="0" smtClean="0">
                <a:solidFill>
                  <a:srgbClr val="FF0000"/>
                </a:solidFill>
              </a:rPr>
              <a:t> 2^n  </a:t>
            </a:r>
            <a:r>
              <a:rPr lang="en-US" sz="2600" dirty="0" err="1" smtClean="0">
                <a:solidFill>
                  <a:srgbClr val="FF0000"/>
                </a:solidFill>
              </a:rPr>
              <a:t>valores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distintos</a:t>
            </a:r>
            <a:r>
              <a:rPr lang="en-US" sz="2600" dirty="0" smtClean="0">
                <a:solidFill>
                  <a:srgbClr val="FF0000"/>
                </a:solidFill>
              </a:rPr>
              <a:t>.</a:t>
            </a:r>
            <a:r>
              <a:rPr lang="en-US" sz="2600" dirty="0" smtClean="0">
                <a:solidFill>
                  <a:srgbClr val="FF0000"/>
                </a:solidFill>
                <a:sym typeface="Wingdings" pitchFamily="2" charset="2"/>
              </a:rPr>
              <a:t> */</a:t>
            </a:r>
            <a:endParaRPr lang="en-US" sz="26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600" dirty="0" smtClean="0">
                <a:solidFill>
                  <a:srgbClr val="FF0000"/>
                </a:solidFill>
              </a:rPr>
              <a:t>// A </a:t>
            </a:r>
            <a:r>
              <a:rPr lang="en-US" sz="2600" dirty="0" err="1" smtClean="0">
                <a:solidFill>
                  <a:srgbClr val="FF0000"/>
                </a:solidFill>
              </a:rPr>
              <a:t>expressão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u="sng" dirty="0" smtClean="0"/>
              <a:t>float voltage </a:t>
            </a:r>
            <a:r>
              <a:rPr lang="en-US" sz="2600" dirty="0" smtClean="0">
                <a:solidFill>
                  <a:srgbClr val="FF0000"/>
                </a:solidFill>
              </a:rPr>
              <a:t>devolve o valor lido para a </a:t>
            </a:r>
            <a:r>
              <a:rPr lang="en-US" sz="2600" dirty="0" err="1" smtClean="0">
                <a:solidFill>
                  <a:srgbClr val="FF0000"/>
                </a:solidFill>
              </a:rPr>
              <a:t>escala</a:t>
            </a:r>
            <a:r>
              <a:rPr lang="en-US" sz="2600" dirty="0" smtClean="0">
                <a:solidFill>
                  <a:srgbClr val="FF0000"/>
                </a:solidFill>
              </a:rPr>
              <a:t> real</a:t>
            </a:r>
          </a:p>
          <a:p>
            <a:pPr marL="0" indent="0">
              <a:buNone/>
            </a:pPr>
            <a:r>
              <a:rPr lang="en-US" dirty="0" smtClean="0"/>
              <a:t>  float voltage = </a:t>
            </a:r>
            <a:r>
              <a:rPr lang="en-US" dirty="0" err="1" smtClean="0"/>
              <a:t>sensorValue</a:t>
            </a:r>
            <a:r>
              <a:rPr lang="en-US" dirty="0" smtClean="0"/>
              <a:t> * (5.0 / 1023.0);</a:t>
            </a:r>
          </a:p>
          <a:p>
            <a:pPr marL="0" indent="0">
              <a:buNone/>
            </a:pPr>
            <a:r>
              <a:rPr lang="en-US" dirty="0" smtClean="0"/>
              <a:t>  // print out the value you read: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Serial.println</a:t>
            </a:r>
            <a:r>
              <a:rPr lang="en-US" dirty="0" smtClean="0"/>
              <a:t>(</a:t>
            </a:r>
            <a:r>
              <a:rPr lang="en-US" dirty="0" err="1" smtClean="0"/>
              <a:t>sensorValue</a:t>
            </a:r>
            <a:r>
              <a:rPr lang="en-US" dirty="0" smtClean="0"/>
              <a:t>); // </a:t>
            </a:r>
            <a:r>
              <a:rPr lang="en-US" dirty="0" err="1" smtClean="0"/>
              <a:t>mostra</a:t>
            </a:r>
            <a:r>
              <a:rPr lang="en-US" dirty="0" smtClean="0"/>
              <a:t> o valor lido no sensor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Serial.println</a:t>
            </a:r>
            <a:r>
              <a:rPr lang="en-US" dirty="0" smtClean="0"/>
              <a:t>(voltage);          // </a:t>
            </a:r>
            <a:r>
              <a:rPr lang="en-US" dirty="0" err="1" smtClean="0"/>
              <a:t>mostra</a:t>
            </a:r>
            <a:r>
              <a:rPr lang="en-US" dirty="0" smtClean="0"/>
              <a:t> o valor </a:t>
            </a:r>
            <a:r>
              <a:rPr lang="en-US" dirty="0" err="1" smtClean="0"/>
              <a:t>convertido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229600" cy="65293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Questões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AutoNum type="arabicPeriod"/>
            </a:pPr>
            <a:r>
              <a:rPr lang="en-US" dirty="0" smtClean="0"/>
              <a:t>O </a:t>
            </a:r>
            <a:r>
              <a:rPr lang="en-US" dirty="0" err="1" smtClean="0"/>
              <a:t>que</a:t>
            </a:r>
            <a:r>
              <a:rPr lang="en-US" dirty="0" smtClean="0"/>
              <a:t> acontece se for </a:t>
            </a:r>
            <a:r>
              <a:rPr lang="en-US" dirty="0" err="1" smtClean="0"/>
              <a:t>alterado</a:t>
            </a:r>
            <a:r>
              <a:rPr lang="en-US" dirty="0" smtClean="0"/>
              <a:t> a </a:t>
            </a:r>
            <a:r>
              <a:rPr lang="en-US" dirty="0" err="1" smtClean="0"/>
              <a:t>taxa</a:t>
            </a:r>
            <a:r>
              <a:rPr lang="en-US" dirty="0" smtClean="0"/>
              <a:t> de </a:t>
            </a:r>
            <a:r>
              <a:rPr lang="en-US" dirty="0" err="1" smtClean="0"/>
              <a:t>transferência</a:t>
            </a:r>
            <a:r>
              <a:rPr lang="en-US" dirty="0" smtClean="0"/>
              <a:t>  9600 no monitor serial? Como </a:t>
            </a:r>
            <a:r>
              <a:rPr lang="en-US" dirty="0" err="1" smtClean="0"/>
              <a:t>corrigir</a:t>
            </a:r>
            <a:r>
              <a:rPr lang="en-US" dirty="0" smtClean="0"/>
              <a:t> o </a:t>
            </a:r>
            <a:r>
              <a:rPr lang="en-US" dirty="0" err="1" smtClean="0"/>
              <a:t>problema</a:t>
            </a:r>
            <a:r>
              <a:rPr lang="en-US" dirty="0" smtClean="0"/>
              <a:t>?</a:t>
            </a:r>
          </a:p>
          <a:p>
            <a:pPr marL="514350" indent="-514350">
              <a:buNone/>
            </a:pPr>
            <a:r>
              <a:rPr lang="en-US" dirty="0" smtClean="0"/>
              <a:t>______________________________________________________________</a:t>
            </a:r>
          </a:p>
          <a:p>
            <a:pPr marL="514350" indent="-514350">
              <a:buAutoNum type="arabicPeriod"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2. </a:t>
            </a:r>
            <a:r>
              <a:rPr lang="en-US" dirty="0" err="1" smtClean="0"/>
              <a:t>Descreva</a:t>
            </a:r>
            <a:r>
              <a:rPr lang="en-US" dirty="0" smtClean="0"/>
              <a:t> a </a:t>
            </a:r>
            <a:r>
              <a:rPr lang="en-US" dirty="0" err="1" smtClean="0"/>
              <a:t>função</a:t>
            </a:r>
            <a:r>
              <a:rPr lang="en-US" dirty="0" smtClean="0"/>
              <a:t> </a:t>
            </a:r>
            <a:r>
              <a:rPr lang="en-US" dirty="0" err="1" smtClean="0"/>
              <a:t>analogRead</a:t>
            </a:r>
            <a:r>
              <a:rPr lang="en-US" dirty="0" smtClean="0"/>
              <a:t>(A0); </a:t>
            </a:r>
            <a:r>
              <a:rPr lang="en-US" dirty="0" err="1" smtClean="0"/>
              <a:t>Caracterize</a:t>
            </a:r>
            <a:r>
              <a:rPr lang="en-US" dirty="0" smtClean="0"/>
              <a:t> o </a:t>
            </a:r>
            <a:r>
              <a:rPr lang="en-US" dirty="0" err="1" smtClean="0"/>
              <a:t>parâmetro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função</a:t>
            </a:r>
            <a:r>
              <a:rPr lang="en-US" dirty="0" smtClean="0"/>
              <a:t> ____________________________________________________________</a:t>
            </a:r>
          </a:p>
          <a:p>
            <a:pPr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3. Explique os valores lidos pela entrada analógica</a:t>
            </a:r>
          </a:p>
          <a:p>
            <a:pPr marL="0" indent="0">
              <a:buNone/>
            </a:pPr>
            <a:r>
              <a:rPr lang="en-US" dirty="0" smtClean="0"/>
              <a:t>    ____________________________________________________________</a:t>
            </a:r>
          </a:p>
          <a:p>
            <a:pPr marL="0" indent="0"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4. O que faz a função Serial.</a:t>
            </a:r>
            <a:r>
              <a:rPr lang="pt-BR" dirty="0" err="1" smtClean="0"/>
              <a:t>begin</a:t>
            </a:r>
            <a:r>
              <a:rPr lang="pt-BR" dirty="0" smtClean="0"/>
              <a:t>(9600)? </a:t>
            </a:r>
          </a:p>
          <a:p>
            <a:pPr marL="0" indent="0">
              <a:buNone/>
            </a:pPr>
            <a:r>
              <a:rPr lang="en-US" dirty="0" smtClean="0"/>
              <a:t>______________________________________________________________</a:t>
            </a:r>
          </a:p>
          <a:p>
            <a:pPr marL="0" indent="0"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5. O que faz a função  Serial.</a:t>
            </a:r>
            <a:r>
              <a:rPr lang="pt-BR" dirty="0" err="1" smtClean="0"/>
              <a:t>print</a:t>
            </a:r>
            <a:r>
              <a:rPr lang="pt-BR" dirty="0" smtClean="0"/>
              <a:t>(n)? Caracterize o parâmetro da função.</a:t>
            </a:r>
          </a:p>
          <a:p>
            <a:pPr marL="0" indent="0">
              <a:buNone/>
            </a:pPr>
            <a:r>
              <a:rPr lang="en-US" dirty="0" smtClean="0"/>
              <a:t>______________________________________________________________</a:t>
            </a:r>
          </a:p>
          <a:p>
            <a:pPr marL="0" indent="0">
              <a:buNone/>
            </a:pPr>
            <a:r>
              <a:rPr lang="en-US" dirty="0" smtClean="0"/>
              <a:t>*</a:t>
            </a:r>
            <a:r>
              <a:rPr lang="pt-BR" dirty="0" smtClean="0"/>
              <a:t>Nota: Qualquer sistema que receba dados pela porta serial pode receber dados do Arduino (C, Excel,..)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pt-BR" sz="2800" dirty="0" smtClean="0"/>
              <a:t>Questões</a:t>
            </a:r>
            <a:endParaRPr lang="pt-BR" sz="2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832648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sz="1600" dirty="0" smtClean="0"/>
              <a:t>6. </a:t>
            </a:r>
            <a:r>
              <a:rPr lang="en-US" sz="1600" dirty="0" err="1" smtClean="0"/>
              <a:t>Calcule</a:t>
            </a:r>
            <a:r>
              <a:rPr lang="en-US" sz="1600" dirty="0" smtClean="0"/>
              <a:t> o valor </a:t>
            </a:r>
            <a:r>
              <a:rPr lang="en-US" sz="1600" dirty="0" err="1" smtClean="0"/>
              <a:t>da</a:t>
            </a:r>
            <a:r>
              <a:rPr lang="en-US" sz="1600" dirty="0" smtClean="0"/>
              <a:t> </a:t>
            </a:r>
            <a:r>
              <a:rPr lang="en-US" sz="1600" dirty="0" err="1" smtClean="0"/>
              <a:t>resistencia</a:t>
            </a:r>
            <a:r>
              <a:rPr lang="en-US" sz="1600" dirty="0" smtClean="0"/>
              <a:t> </a:t>
            </a:r>
            <a:r>
              <a:rPr lang="en-US" sz="1600" dirty="0" err="1" smtClean="0"/>
              <a:t>elétrica</a:t>
            </a:r>
            <a:r>
              <a:rPr lang="en-US" sz="1600" dirty="0" smtClean="0"/>
              <a:t> </a:t>
            </a:r>
            <a:r>
              <a:rPr lang="en-US" sz="1600" dirty="0" err="1" smtClean="0"/>
              <a:t>para</a:t>
            </a:r>
            <a:r>
              <a:rPr lang="en-US" sz="1600" dirty="0" smtClean="0"/>
              <a:t> </a:t>
            </a:r>
            <a:r>
              <a:rPr lang="en-US" sz="1600" dirty="0" err="1" smtClean="0"/>
              <a:t>acender</a:t>
            </a:r>
            <a:r>
              <a:rPr lang="en-US" sz="1600" dirty="0" smtClean="0"/>
              <a:t> um LED </a:t>
            </a:r>
            <a:r>
              <a:rPr lang="en-US" sz="1600" dirty="0" err="1" smtClean="0"/>
              <a:t>vermelho</a:t>
            </a:r>
            <a:r>
              <a:rPr lang="en-US" sz="1600" dirty="0" smtClean="0"/>
              <a:t> (1,5V) com </a:t>
            </a:r>
            <a:r>
              <a:rPr lang="en-US" sz="1600" dirty="0" err="1" smtClean="0"/>
              <a:t>uma</a:t>
            </a:r>
            <a:r>
              <a:rPr lang="en-US" sz="1600" dirty="0" smtClean="0"/>
              <a:t> </a:t>
            </a:r>
            <a:r>
              <a:rPr lang="en-US" sz="1600" dirty="0" err="1" smtClean="0"/>
              <a:t>bateria</a:t>
            </a:r>
            <a:r>
              <a:rPr lang="en-US" sz="1600" dirty="0" smtClean="0"/>
              <a:t> de 9 volts com </a:t>
            </a:r>
            <a:r>
              <a:rPr lang="en-US" sz="1600" dirty="0" err="1" smtClean="0"/>
              <a:t>luminosidade</a:t>
            </a:r>
            <a:r>
              <a:rPr lang="en-US" sz="1600" dirty="0" smtClean="0"/>
              <a:t> forte. </a:t>
            </a:r>
            <a:r>
              <a:rPr lang="en-US" sz="1600" dirty="0" err="1" smtClean="0"/>
              <a:t>Faça</a:t>
            </a:r>
            <a:r>
              <a:rPr lang="en-US" sz="1600" dirty="0" smtClean="0"/>
              <a:t> o </a:t>
            </a:r>
            <a:r>
              <a:rPr lang="en-US" sz="1600" dirty="0" err="1" smtClean="0"/>
              <a:t>diagrama</a:t>
            </a:r>
            <a:r>
              <a:rPr lang="en-US" sz="1600" dirty="0" smtClean="0"/>
              <a:t> do </a:t>
            </a:r>
            <a:r>
              <a:rPr lang="en-US" sz="1600" dirty="0" err="1" smtClean="0"/>
              <a:t>sistema</a:t>
            </a:r>
            <a:r>
              <a:rPr lang="en-US" sz="1600" dirty="0" smtClean="0"/>
              <a:t>:</a:t>
            </a:r>
          </a:p>
          <a:p>
            <a:pPr marL="514350" indent="-514350">
              <a:buNone/>
            </a:pPr>
            <a:r>
              <a:rPr lang="en-US" sz="1600" dirty="0" smtClean="0"/>
              <a:t>_______________________________________________________________________________</a:t>
            </a:r>
          </a:p>
          <a:p>
            <a:pPr marL="514350" indent="-514350">
              <a:buNone/>
            </a:pPr>
            <a:endParaRPr lang="en-US" sz="1600" dirty="0" smtClean="0"/>
          </a:p>
          <a:p>
            <a:pPr>
              <a:buNone/>
            </a:pPr>
            <a:r>
              <a:rPr lang="en-US" sz="1600" dirty="0" smtClean="0"/>
              <a:t>7. </a:t>
            </a:r>
            <a:r>
              <a:rPr lang="en-US" sz="1600" dirty="0" err="1" smtClean="0"/>
              <a:t>Descreva</a:t>
            </a:r>
            <a:r>
              <a:rPr lang="en-US" sz="1600" dirty="0" smtClean="0"/>
              <a:t> a </a:t>
            </a:r>
            <a:r>
              <a:rPr lang="en-US" sz="1600" dirty="0" err="1" smtClean="0"/>
              <a:t>função</a:t>
            </a:r>
            <a:r>
              <a:rPr lang="en-US" sz="1600" dirty="0" smtClean="0"/>
              <a:t> </a:t>
            </a:r>
            <a:r>
              <a:rPr lang="en-US" sz="1600" dirty="0" err="1" smtClean="0"/>
              <a:t>analogRead</a:t>
            </a:r>
            <a:r>
              <a:rPr lang="en-US" sz="1600" dirty="0" smtClean="0"/>
              <a:t>(A0); </a:t>
            </a:r>
            <a:r>
              <a:rPr lang="en-US" sz="1600" dirty="0" err="1" smtClean="0"/>
              <a:t>Caracterize</a:t>
            </a:r>
            <a:r>
              <a:rPr lang="en-US" sz="1600" dirty="0" smtClean="0"/>
              <a:t> o </a:t>
            </a:r>
            <a:r>
              <a:rPr lang="en-US" sz="1600" dirty="0" err="1" smtClean="0"/>
              <a:t>parâmetro</a:t>
            </a:r>
            <a:r>
              <a:rPr lang="en-US" sz="1600" dirty="0" smtClean="0"/>
              <a:t> </a:t>
            </a:r>
            <a:r>
              <a:rPr lang="en-US" sz="1600" dirty="0" err="1" smtClean="0"/>
              <a:t>da</a:t>
            </a:r>
            <a:r>
              <a:rPr lang="en-US" sz="1600" dirty="0" smtClean="0"/>
              <a:t> </a:t>
            </a:r>
            <a:r>
              <a:rPr lang="en-US" sz="1600" dirty="0" err="1" smtClean="0"/>
              <a:t>função</a:t>
            </a:r>
            <a:endParaRPr lang="en-US" sz="1600" dirty="0" smtClean="0"/>
          </a:p>
          <a:p>
            <a:pPr>
              <a:buNone/>
            </a:pPr>
            <a:r>
              <a:rPr lang="en-US" sz="1600" dirty="0" smtClean="0"/>
              <a:t>_______________________________________________________________________________</a:t>
            </a:r>
          </a:p>
          <a:p>
            <a:pPr>
              <a:buNone/>
            </a:pPr>
            <a:r>
              <a:rPr lang="en-US" sz="1600" dirty="0" smtClean="0"/>
              <a:t>_______________________________________________________________________________</a:t>
            </a:r>
          </a:p>
          <a:p>
            <a:pPr>
              <a:buNone/>
            </a:pPr>
            <a:endParaRPr lang="pt-BR" sz="1600" dirty="0" smtClean="0"/>
          </a:p>
          <a:p>
            <a:pPr marL="0" indent="0">
              <a:buNone/>
            </a:pPr>
            <a:r>
              <a:rPr lang="pt-BR" sz="1600" dirty="0" smtClean="0"/>
              <a:t>8. Explique os valores lidos pela entrada analógica</a:t>
            </a:r>
          </a:p>
          <a:p>
            <a:pPr marL="0" indent="0">
              <a:buNone/>
            </a:pPr>
            <a:r>
              <a:rPr lang="en-US" sz="1600" dirty="0" smtClean="0"/>
              <a:t> _______________________________________________________________________________</a:t>
            </a:r>
          </a:p>
          <a:p>
            <a:pPr marL="0" indent="0">
              <a:buNone/>
            </a:pPr>
            <a:r>
              <a:rPr lang="en-US" sz="1600" dirty="0" smtClean="0"/>
              <a:t>_______________________________________________________________________________</a:t>
            </a:r>
          </a:p>
          <a:p>
            <a:pPr>
              <a:buNone/>
            </a:pPr>
            <a:r>
              <a:rPr lang="pt-BR" sz="1600" dirty="0" smtClean="0"/>
              <a:t>9. Que faz a função: </a:t>
            </a:r>
            <a:r>
              <a:rPr lang="en-US" sz="1600" dirty="0" err="1" smtClean="0"/>
              <a:t>digitalRead</a:t>
            </a:r>
            <a:r>
              <a:rPr lang="en-US" sz="1600" dirty="0" smtClean="0"/>
              <a:t>(</a:t>
            </a:r>
            <a:r>
              <a:rPr lang="en-US" sz="1600" dirty="0" err="1" smtClean="0"/>
              <a:t>pushButton</a:t>
            </a:r>
            <a:r>
              <a:rPr lang="en-US" sz="1600" dirty="0" smtClean="0"/>
              <a:t>).</a:t>
            </a:r>
            <a:r>
              <a:rPr lang="pt-BR" sz="1600" dirty="0" smtClean="0"/>
              <a:t> </a:t>
            </a:r>
          </a:p>
          <a:p>
            <a:pPr marL="0" indent="0">
              <a:buNone/>
            </a:pPr>
            <a:r>
              <a:rPr lang="en-US" sz="1600" dirty="0" smtClean="0"/>
              <a:t>_______________________________________________________________________________</a:t>
            </a:r>
          </a:p>
          <a:p>
            <a:pPr marL="0" indent="0">
              <a:buNone/>
            </a:pPr>
            <a:endParaRPr lang="pt-BR" sz="1600" dirty="0" smtClean="0"/>
          </a:p>
          <a:p>
            <a:pPr>
              <a:buNone/>
            </a:pPr>
            <a:r>
              <a:rPr lang="pt-BR" sz="1600" dirty="0" smtClean="0"/>
              <a:t>10.Faça um programa para ler o pino 2 como entrada digital.</a:t>
            </a:r>
          </a:p>
          <a:p>
            <a:pPr marL="0" indent="0">
              <a:buNone/>
            </a:pPr>
            <a:r>
              <a:rPr lang="en-US" sz="1600" dirty="0" smtClean="0"/>
              <a:t>___________________________________________________________________</a:t>
            </a:r>
          </a:p>
          <a:p>
            <a:pPr marL="0" indent="0">
              <a:buNone/>
            </a:pPr>
            <a:r>
              <a:rPr lang="en-US" sz="1600" dirty="0" smtClean="0"/>
              <a:t>___________________________________________________________________</a:t>
            </a:r>
          </a:p>
          <a:p>
            <a:pPr marL="0" indent="0">
              <a:buNone/>
            </a:pPr>
            <a:r>
              <a:rPr lang="en-US" sz="1600" dirty="0" smtClean="0"/>
              <a:t>___________________________________________________________________</a:t>
            </a:r>
          </a:p>
          <a:p>
            <a:pPr marL="0" indent="0">
              <a:buNone/>
            </a:pP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938</Words>
  <Application>Microsoft Office PowerPoint</Application>
  <PresentationFormat>Apresentação na tela (4:3)</PresentationFormat>
  <Paragraphs>151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Symbol</vt:lpstr>
      <vt:lpstr>Wingdings</vt:lpstr>
      <vt:lpstr>Tema do Office</vt:lpstr>
      <vt:lpstr>Atividade 4 - entrada e saída pelo Arduino</vt:lpstr>
      <vt:lpstr>Teste da Comunicação Serial (Monitor serial)</vt:lpstr>
      <vt:lpstr>Arduino – Resistor série para acender o LED.</vt:lpstr>
      <vt:lpstr>Cálculo de resistor para o LED</vt:lpstr>
      <vt:lpstr>Calculo de resistor</vt:lpstr>
      <vt:lpstr>Arduino – entrada e saída</vt:lpstr>
      <vt:lpstr>Arduino – entrada e saída digital</vt:lpstr>
      <vt:lpstr>Arduino – entrada e saída</vt:lpstr>
      <vt:lpstr>Arduino – entrada e saída</vt:lpstr>
      <vt:lpstr>Responda </vt:lpstr>
      <vt:lpstr>Leitura de dados analógicos</vt:lpstr>
      <vt:lpstr>Questões</vt:lpstr>
      <vt:lpstr>Questões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– entrada e saída</dc:title>
  <dc:creator>Rafael</dc:creator>
  <cp:lastModifiedBy>professor</cp:lastModifiedBy>
  <cp:revision>45</cp:revision>
  <dcterms:created xsi:type="dcterms:W3CDTF">2014-08-20T18:03:42Z</dcterms:created>
  <dcterms:modified xsi:type="dcterms:W3CDTF">2019-03-07T17:24:37Z</dcterms:modified>
</cp:coreProperties>
</file>