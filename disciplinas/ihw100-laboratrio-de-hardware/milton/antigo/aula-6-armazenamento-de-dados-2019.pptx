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9" r:id="rId4"/>
    <p:sldId id="270" r:id="rId5"/>
    <p:sldId id="274" r:id="rId6"/>
    <p:sldId id="271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8" r:id="rId15"/>
    <p:sldId id="265" r:id="rId16"/>
    <p:sldId id="266" r:id="rId17"/>
    <p:sldId id="272" r:id="rId18"/>
    <p:sldId id="277" r:id="rId19"/>
    <p:sldId id="278" r:id="rId20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23" autoAdjust="0"/>
    <p:restoredTop sz="94660"/>
  </p:normalViewPr>
  <p:slideViewPr>
    <p:cSldViewPr>
      <p:cViewPr varScale="1">
        <p:scale>
          <a:sx n="69" d="100"/>
          <a:sy n="69" d="100"/>
        </p:scale>
        <p:origin x="570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03/04/2019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03/04/2019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7" name="Retângulo 6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noFill/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03/04/2019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03/04/2019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03/04/2019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03/04/2019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03/04/2019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03/04/2019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03/04/2019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03/04/2019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03/04/2019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700DB3-DBF0-4086-B675-117E7A9610B8}" type="datetimeFigureOut">
              <a:rPr lang="pt-BR" smtClean="0"/>
              <a:pPr/>
              <a:t>03/04/2019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6197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pt-BR" u="sng" dirty="0" smtClean="0">
                <a:solidFill>
                  <a:srgbClr val="FF0000"/>
                </a:solidFill>
              </a:rPr>
              <a:t>Atividades em sala (6)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07504" y="908720"/>
            <a:ext cx="9036496" cy="5688631"/>
          </a:xfrm>
        </p:spPr>
        <p:txBody>
          <a:bodyPr>
            <a:normAutofit fontScale="70000" lnSpcReduction="20000"/>
          </a:bodyPr>
          <a:lstStyle/>
          <a:p>
            <a:pPr marL="514350" indent="-514350" algn="just" eaLnBrk="1" hangingPunct="1">
              <a:buFont typeface="Arial" charset="0"/>
              <a:buNone/>
              <a:defRPr/>
            </a:pPr>
            <a:r>
              <a:rPr lang="pt-BR" b="1" i="1" u="sng" dirty="0" smtClean="0"/>
              <a:t>Componentes de armazenamento</a:t>
            </a:r>
          </a:p>
          <a:p>
            <a:pPr algn="just" eaLnBrk="1" hangingPunct="1">
              <a:buFont typeface="Arial" charset="0"/>
              <a:buNone/>
              <a:defRPr/>
            </a:pPr>
            <a:r>
              <a:rPr lang="pt-BR" dirty="0" smtClean="0"/>
              <a:t>Caracterize </a:t>
            </a:r>
          </a:p>
          <a:p>
            <a:pPr algn="just">
              <a:defRPr/>
            </a:pPr>
            <a:r>
              <a:rPr lang="pt-BR" b="1" i="1" u="sng" dirty="0" err="1" smtClean="0"/>
              <a:t>Particionamento</a:t>
            </a:r>
            <a:r>
              <a:rPr lang="pt-BR" dirty="0" smtClean="0"/>
              <a:t> (O que é?):</a:t>
            </a:r>
          </a:p>
          <a:p>
            <a:pPr marL="0" indent="0" algn="just">
              <a:buNone/>
              <a:defRPr/>
            </a:pPr>
            <a:r>
              <a:rPr lang="pt-BR" dirty="0"/>
              <a:t> </a:t>
            </a:r>
            <a:r>
              <a:rPr lang="pt-BR" dirty="0" smtClean="0"/>
              <a:t>                      Divisão do HD em unidades independentes: (C,D, ..)</a:t>
            </a:r>
          </a:p>
          <a:p>
            <a:pPr algn="just" eaLnBrk="1" hangingPunct="1">
              <a:defRPr/>
            </a:pPr>
            <a:r>
              <a:rPr lang="pt-BR" sz="3100" b="1" i="1" u="sng" dirty="0"/>
              <a:t>Formatação do </a:t>
            </a:r>
            <a:r>
              <a:rPr lang="pt-BR" sz="3100" b="1" i="1" u="sng" dirty="0" smtClean="0"/>
              <a:t>HD: Física e lógica</a:t>
            </a:r>
            <a:endParaRPr lang="pt-BR" dirty="0" smtClean="0"/>
          </a:p>
          <a:p>
            <a:pPr marL="0" indent="0" algn="just" eaLnBrk="1" hangingPunct="1">
              <a:buNone/>
              <a:defRPr/>
            </a:pPr>
            <a:r>
              <a:rPr lang="pt-BR" dirty="0"/>
              <a:t> </a:t>
            </a:r>
            <a:r>
              <a:rPr lang="pt-BR" dirty="0" smtClean="0"/>
              <a:t>     Fisicamente uma superfície recoberta por elementos magnéticos (imãs), que gira em velocidade da ordem de 7200rpm (rotações por minuto).</a:t>
            </a:r>
          </a:p>
          <a:p>
            <a:pPr algn="just" eaLnBrk="1" hangingPunct="1">
              <a:defRPr/>
            </a:pPr>
            <a:r>
              <a:rPr lang="pt-BR" sz="3100" b="1" i="1" u="sng" dirty="0"/>
              <a:t>Formatação Física</a:t>
            </a:r>
          </a:p>
          <a:p>
            <a:pPr marL="0" indent="0" algn="just" eaLnBrk="1" hangingPunct="1">
              <a:buNone/>
              <a:defRPr/>
            </a:pPr>
            <a:r>
              <a:rPr lang="pt-BR" dirty="0"/>
              <a:t> </a:t>
            </a:r>
            <a:r>
              <a:rPr lang="pt-BR" dirty="0" smtClean="0"/>
              <a:t>    Feita pelo fabricante. Divisão do HD em regiões (trilhas e setores) onde serão armazenados e recuperado os dados </a:t>
            </a:r>
          </a:p>
          <a:p>
            <a:pPr algn="just" eaLnBrk="1" hangingPunct="1">
              <a:defRPr/>
            </a:pPr>
            <a:r>
              <a:rPr lang="pt-BR" sz="3100" b="1" i="1" u="sng" dirty="0"/>
              <a:t>Formatação Lógica</a:t>
            </a:r>
            <a:r>
              <a:rPr lang="pt-BR" dirty="0" smtClean="0"/>
              <a:t>: Feita sob controle do SO (Sistema Operacional).</a:t>
            </a:r>
          </a:p>
          <a:p>
            <a:pPr marL="0" indent="0" algn="just" eaLnBrk="1" hangingPunct="1">
              <a:buNone/>
              <a:defRPr/>
            </a:pPr>
            <a:r>
              <a:rPr lang="pt-BR" dirty="0"/>
              <a:t> </a:t>
            </a:r>
            <a:r>
              <a:rPr lang="pt-BR" dirty="0" smtClean="0"/>
              <a:t>    Criação de Método de Acesso. Mecanismos para gravação e gerencia dos dados.</a:t>
            </a:r>
            <a:endParaRPr lang="pt-BR" dirty="0"/>
          </a:p>
          <a:p>
            <a:pPr marL="0" indent="0" algn="r" eaLnBrk="1" hangingPunct="1">
              <a:buNone/>
              <a:defRPr/>
            </a:pPr>
            <a:r>
              <a:rPr lang="pt-BR" dirty="0" smtClean="0">
                <a:solidFill>
                  <a:srgbClr val="FF0000"/>
                </a:solidFill>
              </a:rPr>
              <a:t>Programa de particionamento : FDISK </a:t>
            </a:r>
          </a:p>
          <a:p>
            <a:pPr marL="0" indent="0" algn="r" eaLnBrk="1" hangingPunct="1">
              <a:buNone/>
              <a:defRPr/>
            </a:pPr>
            <a:r>
              <a:rPr lang="pt-BR" dirty="0" smtClean="0">
                <a:solidFill>
                  <a:srgbClr val="FF0000"/>
                </a:solidFill>
              </a:rPr>
              <a:t>Programa de formatação: FORMAT</a:t>
            </a:r>
          </a:p>
          <a:p>
            <a:pPr algn="just" eaLnBrk="1" hangingPunct="1">
              <a:buFont typeface="Arial" charset="0"/>
              <a:buNone/>
              <a:defRPr/>
            </a:pPr>
            <a:endParaRPr lang="pt-BR" sz="1800" dirty="0" smtClean="0"/>
          </a:p>
          <a:p>
            <a:pPr algn="just" eaLnBrk="1" hangingPunct="1">
              <a:buFont typeface="Arial" charset="0"/>
              <a:buNone/>
              <a:defRPr/>
            </a:pPr>
            <a:r>
              <a:rPr lang="pt-BR" dirty="0" smtClean="0"/>
              <a:t>    *</a:t>
            </a:r>
            <a:r>
              <a:rPr lang="pt-BR" dirty="0" err="1" smtClean="0"/>
              <a:t>Grub</a:t>
            </a:r>
            <a:r>
              <a:rPr lang="pt-BR" dirty="0" smtClean="0"/>
              <a:t>: </a:t>
            </a:r>
            <a:r>
              <a:rPr lang="pt-BR" dirty="0"/>
              <a:t>G</a:t>
            </a:r>
            <a:r>
              <a:rPr lang="pt-BR" dirty="0" smtClean="0"/>
              <a:t>erenciador de boot. Permite a escolha de um SO para carga do SO.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u="sng" dirty="0" smtClean="0"/>
              <a:t>ESTUDO DA FORMATAÇÃO</a:t>
            </a:r>
          </a:p>
        </p:txBody>
      </p:sp>
      <p:sp>
        <p:nvSpPr>
          <p:cNvPr id="25603" name="Espaço Reservado para Conteúdo 2"/>
          <p:cNvSpPr>
            <a:spLocks noGrp="1"/>
          </p:cNvSpPr>
          <p:nvPr>
            <p:ph idx="1"/>
          </p:nvPr>
        </p:nvSpPr>
        <p:spPr>
          <a:xfrm>
            <a:off x="251520" y="1340768"/>
            <a:ext cx="8784976" cy="4785395"/>
          </a:xfrm>
        </p:spPr>
        <p:txBody>
          <a:bodyPr/>
          <a:lstStyle/>
          <a:p>
            <a:pPr algn="just">
              <a:buFont typeface="Arial" charset="0"/>
              <a:buNone/>
            </a:pPr>
            <a:r>
              <a:rPr lang="pt-BR" b="1" dirty="0" smtClean="0"/>
              <a:t>Objetivos.</a:t>
            </a:r>
          </a:p>
          <a:p>
            <a:pPr algn="just"/>
            <a:r>
              <a:rPr lang="pt-BR" dirty="0" smtClean="0"/>
              <a:t>Informar alguns tipos de formatação.</a:t>
            </a:r>
          </a:p>
          <a:p>
            <a:pPr marL="0" indent="0" algn="just">
              <a:buNone/>
            </a:pPr>
            <a:endParaRPr lang="pt-BR" dirty="0" smtClean="0"/>
          </a:p>
          <a:p>
            <a:pPr algn="just"/>
            <a:r>
              <a:rPr lang="pt-BR" dirty="0" smtClean="0"/>
              <a:t>Como obter, apresentar e informar a formatação usada em sistemas operacionais e dispositivos.</a:t>
            </a:r>
          </a:p>
          <a:p>
            <a:pPr marL="0" indent="0" algn="just">
              <a:buNone/>
            </a:pPr>
            <a:endParaRPr lang="pt-BR" dirty="0" smtClean="0"/>
          </a:p>
          <a:p>
            <a:pPr algn="just"/>
            <a:r>
              <a:rPr lang="pt-BR" dirty="0" smtClean="0"/>
              <a:t>Calcular a quantidade de dados nas unidades: </a:t>
            </a:r>
          </a:p>
          <a:p>
            <a:endParaRPr lang="pt-BR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87624" y="274638"/>
            <a:ext cx="6480720" cy="706090"/>
          </a:xfrm>
        </p:spPr>
        <p:txBody>
          <a:bodyPr>
            <a:normAutofit fontScale="90000"/>
          </a:bodyPr>
          <a:lstStyle/>
          <a:p>
            <a:r>
              <a:rPr lang="pt-BR" u="sng" dirty="0" smtClean="0"/>
              <a:t>FORMATAÇÃO</a:t>
            </a:r>
            <a:r>
              <a:rPr lang="pt-BR" dirty="0" smtClean="0"/>
              <a:t>(Relembrando)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07504" y="1052736"/>
            <a:ext cx="9036496" cy="5688632"/>
          </a:xfrm>
        </p:spPr>
        <p:txBody>
          <a:bodyPr>
            <a:normAutofit fontScale="85000" lnSpcReduction="20000"/>
          </a:bodyPr>
          <a:lstStyle/>
          <a:p>
            <a:r>
              <a:rPr lang="pt-BR" dirty="0" smtClean="0"/>
              <a:t>Um HD original é fomatado </a:t>
            </a:r>
            <a:r>
              <a:rPr lang="pt-BR" dirty="0" smtClean="0">
                <a:solidFill>
                  <a:srgbClr val="FF0000"/>
                </a:solidFill>
              </a:rPr>
              <a:t>fisica</a:t>
            </a:r>
            <a:r>
              <a:rPr lang="pt-BR" dirty="0" smtClean="0"/>
              <a:t>mente pelo </a:t>
            </a:r>
            <a:r>
              <a:rPr lang="pt-BR" dirty="0" smtClean="0">
                <a:solidFill>
                  <a:srgbClr val="FF0000"/>
                </a:solidFill>
              </a:rPr>
              <a:t>fabricante</a:t>
            </a:r>
            <a:r>
              <a:rPr lang="pt-BR" dirty="0" smtClean="0"/>
              <a:t>: A superfície é dividida em trilhas (círculos) e setores (radiais) que determinam os </a:t>
            </a:r>
            <a:r>
              <a:rPr lang="pt-BR" sz="3600" b="1" i="1" u="sng" dirty="0" smtClean="0">
                <a:solidFill>
                  <a:srgbClr val="92D050"/>
                </a:solidFill>
              </a:rPr>
              <a:t>blocos</a:t>
            </a:r>
            <a:r>
              <a:rPr lang="pt-BR" dirty="0" smtClean="0"/>
              <a:t> contendo </a:t>
            </a:r>
            <a:r>
              <a:rPr lang="pt-BR" sz="3600" b="1" i="1" u="sng" dirty="0">
                <a:solidFill>
                  <a:srgbClr val="92D050"/>
                </a:solidFill>
              </a:rPr>
              <a:t>512 Bytes</a:t>
            </a:r>
            <a:r>
              <a:rPr lang="pt-BR" dirty="0" smtClean="0"/>
              <a:t>, cada.</a:t>
            </a:r>
          </a:p>
          <a:p>
            <a:pPr marL="0" indent="0">
              <a:buNone/>
            </a:pPr>
            <a:endParaRPr lang="pt-BR" sz="1200" dirty="0" smtClean="0"/>
          </a:p>
          <a:p>
            <a:r>
              <a:rPr lang="pt-BR" dirty="0" smtClean="0"/>
              <a:t>SO controla </a:t>
            </a:r>
            <a:r>
              <a:rPr lang="pt-BR" dirty="0" err="1" smtClean="0"/>
              <a:t>CLUSTERs</a:t>
            </a:r>
            <a:r>
              <a:rPr lang="pt-BR" dirty="0" smtClean="0"/>
              <a:t> (aglomerados):</a:t>
            </a:r>
          </a:p>
          <a:p>
            <a:pPr marL="0" indent="0" algn="r">
              <a:buNone/>
            </a:pPr>
            <a:r>
              <a:rPr lang="pt-BR" dirty="0" smtClean="0"/>
              <a:t> 1 bloco, 2blocos, 4blocos, 64blocos</a:t>
            </a:r>
          </a:p>
          <a:p>
            <a:pPr marL="0" indent="0">
              <a:buNone/>
            </a:pPr>
            <a:r>
              <a:rPr lang="pt-BR" dirty="0" smtClean="0"/>
              <a:t>    A formatação determina a capacidade do HD.</a:t>
            </a:r>
          </a:p>
          <a:p>
            <a:pPr marL="0" indent="0">
              <a:buNone/>
            </a:pPr>
            <a:r>
              <a:rPr lang="pt-BR" dirty="0" smtClean="0"/>
              <a:t>*A  formatação realizada pelo </a:t>
            </a:r>
            <a:r>
              <a:rPr lang="pt-BR" sz="3800" dirty="0" smtClean="0">
                <a:solidFill>
                  <a:srgbClr val="00B0F0"/>
                </a:solidFill>
              </a:rPr>
              <a:t>SO</a:t>
            </a:r>
            <a:r>
              <a:rPr lang="pt-BR" dirty="0" smtClean="0"/>
              <a:t> é </a:t>
            </a:r>
            <a:r>
              <a:rPr lang="pt-BR" dirty="0" smtClean="0">
                <a:solidFill>
                  <a:srgbClr val="FF0000"/>
                </a:solidFill>
              </a:rPr>
              <a:t>LÓGICA</a:t>
            </a:r>
            <a:r>
              <a:rPr lang="pt-BR" dirty="0" smtClean="0"/>
              <a:t>.</a:t>
            </a:r>
          </a:p>
          <a:p>
            <a:pPr marL="0" indent="0">
              <a:buNone/>
            </a:pPr>
            <a:r>
              <a:rPr lang="pt-BR" dirty="0" smtClean="0"/>
              <a:t>** Antes de formatar pelo SO(lógica) </a:t>
            </a:r>
            <a:r>
              <a:rPr lang="pt-BR" dirty="0" smtClean="0">
                <a:sym typeface="Wingdings" panose="05000000000000000000" pitchFamily="2" charset="2"/>
              </a:rPr>
              <a:t> É necessário    </a:t>
            </a:r>
          </a:p>
          <a:p>
            <a:pPr marL="0" indent="0">
              <a:buNone/>
            </a:pPr>
            <a:r>
              <a:rPr lang="pt-BR" dirty="0">
                <a:solidFill>
                  <a:srgbClr val="00B050"/>
                </a:solidFill>
                <a:sym typeface="Wingdings" panose="05000000000000000000" pitchFamily="2" charset="2"/>
              </a:rPr>
              <a:t> </a:t>
            </a:r>
            <a:r>
              <a:rPr lang="pt-BR" dirty="0" smtClean="0">
                <a:solidFill>
                  <a:srgbClr val="00B050"/>
                </a:solidFill>
                <a:sym typeface="Wingdings" panose="05000000000000000000" pitchFamily="2" charset="2"/>
              </a:rPr>
              <a:t>    PARTICIONAR</a:t>
            </a:r>
            <a:r>
              <a:rPr lang="pt-BR" dirty="0" smtClean="0">
                <a:sym typeface="Wingdings" panose="05000000000000000000" pitchFamily="2" charset="2"/>
              </a:rPr>
              <a:t>. </a:t>
            </a:r>
            <a:endParaRPr lang="pt-BR" dirty="0" smtClean="0"/>
          </a:p>
          <a:p>
            <a:r>
              <a:rPr lang="pt-BR" dirty="0" smtClean="0"/>
              <a:t>Para fins operacionais o HD deve ser </a:t>
            </a:r>
            <a:r>
              <a:rPr lang="pt-BR" dirty="0" smtClean="0">
                <a:solidFill>
                  <a:srgbClr val="00B0F0"/>
                </a:solidFill>
              </a:rPr>
              <a:t>particionado</a:t>
            </a:r>
            <a:r>
              <a:rPr lang="pt-BR" dirty="0" smtClean="0"/>
              <a:t>, isto é, dividido (ou não) em unidades individuais que podem ter instalado um sistema operacional.</a:t>
            </a:r>
          </a:p>
          <a:p>
            <a:pPr marL="0" indent="0">
              <a:buNone/>
            </a:pPr>
            <a:r>
              <a:rPr lang="pt-BR" dirty="0" smtClean="0"/>
              <a:t>Instalação do SO: Criar as partições</a:t>
            </a:r>
            <a:r>
              <a:rPr lang="pt-BR" dirty="0" smtClean="0">
                <a:sym typeface="Wingdings" panose="05000000000000000000" pitchFamily="2" charset="2"/>
              </a:rPr>
              <a:t> Instalar SO (Sistema Operacional). Instalar Programas e dados</a:t>
            </a:r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34082"/>
          </a:xfrm>
        </p:spPr>
        <p:txBody>
          <a:bodyPr>
            <a:normAutofit fontScale="90000"/>
          </a:bodyPr>
          <a:lstStyle/>
          <a:p>
            <a:r>
              <a:rPr lang="pt-BR" u="sng" dirty="0" smtClean="0"/>
              <a:t>ESTUDO DA FORMATAÇÃO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0" y="980728"/>
            <a:ext cx="9108504" cy="5616624"/>
          </a:xfrm>
        </p:spPr>
        <p:txBody>
          <a:bodyPr>
            <a:normAutofit fontScale="92500" lnSpcReduction="10000"/>
          </a:bodyPr>
          <a:lstStyle/>
          <a:p>
            <a:r>
              <a:rPr lang="pt-BR" dirty="0" smtClean="0"/>
              <a:t>Após o particionamento, pode ser instalado um SO e o correspondente </a:t>
            </a:r>
            <a:r>
              <a:rPr lang="pt-BR" sz="3100" b="1" i="1" u="sng" dirty="0" smtClean="0">
                <a:solidFill>
                  <a:srgbClr val="FF0000"/>
                </a:solidFill>
              </a:rPr>
              <a:t>método de acesso </a:t>
            </a:r>
            <a:r>
              <a:rPr lang="pt-BR" dirty="0" smtClean="0">
                <a:solidFill>
                  <a:srgbClr val="FF0000"/>
                </a:solidFill>
              </a:rPr>
              <a:t>aos arquivos na partição </a:t>
            </a:r>
            <a:r>
              <a:rPr lang="pt-BR" dirty="0" smtClean="0"/>
              <a:t>(</a:t>
            </a:r>
            <a:r>
              <a:rPr lang="pt-BR" dirty="0" smtClean="0">
                <a:solidFill>
                  <a:srgbClr val="FF0000"/>
                </a:solidFill>
              </a:rPr>
              <a:t>formatação lógica</a:t>
            </a:r>
            <a:r>
              <a:rPr lang="pt-BR" dirty="0" smtClean="0"/>
              <a:t>).</a:t>
            </a:r>
          </a:p>
          <a:p>
            <a:r>
              <a:rPr lang="pt-BR" dirty="0" smtClean="0"/>
              <a:t>O método de acesso define o acesso e gerenciamento (sistema de arquivos) do HD. Um de seus elementos é a instalação da FAT (File </a:t>
            </a:r>
            <a:r>
              <a:rPr lang="pt-BR" dirty="0" err="1" smtClean="0"/>
              <a:t>Alocation</a:t>
            </a:r>
            <a:r>
              <a:rPr lang="pt-BR" dirty="0" smtClean="0"/>
              <a:t> </a:t>
            </a:r>
            <a:r>
              <a:rPr lang="pt-BR" dirty="0" err="1" smtClean="0"/>
              <a:t>Table</a:t>
            </a:r>
            <a:r>
              <a:rPr lang="pt-BR" dirty="0" smtClean="0"/>
              <a:t>) - Tabela de índices para localização dos arquivos no HD.</a:t>
            </a:r>
          </a:p>
          <a:p>
            <a:r>
              <a:rPr lang="pt-BR" dirty="0" smtClean="0"/>
              <a:t>A formatação lógica é feita pelo programa FORMAT.</a:t>
            </a:r>
          </a:p>
          <a:p>
            <a:r>
              <a:rPr lang="pt-BR" dirty="0" smtClean="0"/>
              <a:t>Exemplos de sistemas de arquivos:</a:t>
            </a:r>
          </a:p>
          <a:p>
            <a:pPr marL="0" indent="0">
              <a:buNone/>
            </a:pPr>
            <a:r>
              <a:rPr lang="pt-BR" dirty="0"/>
              <a:t> </a:t>
            </a:r>
            <a:r>
              <a:rPr lang="pt-BR" dirty="0" smtClean="0"/>
              <a:t>      Fat 12, FAT16; FAT32;</a:t>
            </a:r>
          </a:p>
          <a:p>
            <a:pPr marL="0" indent="0">
              <a:buNone/>
            </a:pPr>
            <a:r>
              <a:rPr lang="pt-BR" dirty="0" smtClean="0"/>
              <a:t>       NTFS (New Technology File System): </a:t>
            </a:r>
            <a:r>
              <a:rPr lang="pt-BR" dirty="0" smtClean="0">
                <a:sym typeface="Wingdings" panose="05000000000000000000" pitchFamily="2" charset="2"/>
              </a:rPr>
              <a:t>Windows</a:t>
            </a:r>
            <a:r>
              <a:rPr lang="pt-BR" dirty="0" smtClean="0"/>
              <a:t>; </a:t>
            </a:r>
          </a:p>
          <a:p>
            <a:pPr marL="0" indent="0">
              <a:buNone/>
            </a:pPr>
            <a:r>
              <a:rPr lang="pt-BR" dirty="0"/>
              <a:t> </a:t>
            </a:r>
            <a:r>
              <a:rPr lang="pt-BR" dirty="0" smtClean="0"/>
              <a:t>      ext3: </a:t>
            </a:r>
            <a:r>
              <a:rPr lang="pt-BR" dirty="0" smtClean="0">
                <a:sym typeface="Wingdings" panose="05000000000000000000" pitchFamily="2" charset="2"/>
              </a:rPr>
              <a:t>Linux</a:t>
            </a:r>
            <a:r>
              <a:rPr lang="pt-BR" dirty="0" smtClean="0"/>
              <a:t>...</a:t>
            </a:r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63688" y="274638"/>
            <a:ext cx="4680520" cy="346050"/>
          </a:xfrm>
        </p:spPr>
        <p:txBody>
          <a:bodyPr>
            <a:normAutofit fontScale="90000"/>
          </a:bodyPr>
          <a:lstStyle/>
          <a:p>
            <a:r>
              <a:rPr lang="pt-BR" dirty="0" smtClean="0"/>
              <a:t>Sistema de arquivos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23528" y="620688"/>
            <a:ext cx="8363272" cy="5904656"/>
          </a:xfrm>
        </p:spPr>
        <p:txBody>
          <a:bodyPr>
            <a:normAutofit fontScale="62500" lnSpcReduction="20000"/>
          </a:bodyPr>
          <a:lstStyle/>
          <a:p>
            <a:endParaRPr lang="pt-BR" dirty="0" smtClean="0"/>
          </a:p>
          <a:p>
            <a:r>
              <a:rPr lang="pt-BR" dirty="0" smtClean="0"/>
              <a:t>Fisicamente, na copia de um HD há a transferência de blocos(512B) .</a:t>
            </a:r>
            <a:endParaRPr lang="pt-BR" dirty="0"/>
          </a:p>
          <a:p>
            <a:r>
              <a:rPr lang="pt-BR" dirty="0" smtClean="0"/>
              <a:t>Um HD é considerado pelo SO como um conjunto de </a:t>
            </a:r>
            <a:r>
              <a:rPr lang="pt-BR" dirty="0" err="1" smtClean="0"/>
              <a:t>CLUSTERs</a:t>
            </a:r>
            <a:r>
              <a:rPr lang="pt-BR" dirty="0" smtClean="0"/>
              <a:t>, menor parcela do HD visto pelo SO.</a:t>
            </a:r>
          </a:p>
          <a:p>
            <a:r>
              <a:rPr lang="pt-BR" dirty="0" smtClean="0"/>
              <a:t>Cada cluster tem um endereço único que permite sua localização pelo SO.</a:t>
            </a:r>
          </a:p>
          <a:p>
            <a:r>
              <a:rPr lang="pt-BR" dirty="0" smtClean="0"/>
              <a:t>Em geral, cada cluster (aglomerado) contém de 1 a 64 blocos de 512Bytes. </a:t>
            </a:r>
          </a:p>
          <a:p>
            <a:r>
              <a:rPr lang="pt-BR" dirty="0" smtClean="0"/>
              <a:t>O cluster é a unidade básica de armazenamento do SO.</a:t>
            </a:r>
          </a:p>
          <a:p>
            <a:r>
              <a:rPr lang="pt-BR" dirty="0" smtClean="0"/>
              <a:t>Cluster de </a:t>
            </a:r>
            <a:r>
              <a:rPr lang="pt-BR" dirty="0" smtClean="0">
                <a:solidFill>
                  <a:srgbClr val="00B050"/>
                </a:solidFill>
              </a:rPr>
              <a:t>1 bloco </a:t>
            </a:r>
            <a:r>
              <a:rPr lang="pt-BR" dirty="0" smtClean="0">
                <a:solidFill>
                  <a:srgbClr val="00B050"/>
                </a:solidFill>
                <a:sym typeface="Wingdings" panose="05000000000000000000" pitchFamily="2" charset="2"/>
              </a:rPr>
              <a:t> 512 Bytes</a:t>
            </a:r>
          </a:p>
          <a:p>
            <a:r>
              <a:rPr lang="pt-BR" dirty="0">
                <a:sym typeface="Wingdings" panose="05000000000000000000" pitchFamily="2" charset="2"/>
              </a:rPr>
              <a:t> </a:t>
            </a:r>
            <a:r>
              <a:rPr lang="pt-BR" dirty="0" smtClean="0">
                <a:sym typeface="Wingdings" panose="05000000000000000000" pitchFamily="2" charset="2"/>
              </a:rPr>
              <a:t>                   </a:t>
            </a:r>
            <a:r>
              <a:rPr lang="pt-BR" dirty="0" smtClean="0">
                <a:solidFill>
                  <a:srgbClr val="FF0000"/>
                </a:solidFill>
                <a:sym typeface="Wingdings" panose="05000000000000000000" pitchFamily="2" charset="2"/>
              </a:rPr>
              <a:t>2 blocos  1024 Bytes = 1KB</a:t>
            </a:r>
          </a:p>
          <a:p>
            <a:endParaRPr lang="pt-BR" dirty="0">
              <a:sym typeface="Wingdings" panose="05000000000000000000" pitchFamily="2" charset="2"/>
            </a:endParaRPr>
          </a:p>
          <a:p>
            <a:r>
              <a:rPr lang="pt-BR" dirty="0" smtClean="0">
                <a:sym typeface="Wingdings" panose="05000000000000000000" pitchFamily="2" charset="2"/>
              </a:rPr>
              <a:t>                     </a:t>
            </a:r>
            <a:r>
              <a:rPr lang="pt-BR" dirty="0" smtClean="0">
                <a:solidFill>
                  <a:srgbClr val="00B0F0"/>
                </a:solidFill>
                <a:sym typeface="Wingdings" panose="05000000000000000000" pitchFamily="2" charset="2"/>
              </a:rPr>
              <a:t>64 blocos  32KB.</a:t>
            </a:r>
          </a:p>
          <a:p>
            <a:pPr>
              <a:buNone/>
            </a:pPr>
            <a:r>
              <a:rPr lang="pt-BR" dirty="0" smtClean="0"/>
              <a:t>		Atividades do sistema de arquivos:  </a:t>
            </a:r>
          </a:p>
          <a:p>
            <a:pPr marL="514350" indent="-514350">
              <a:buFont typeface="+mj-lt"/>
              <a:buAutoNum type="arabicPeriod"/>
            </a:pPr>
            <a:r>
              <a:rPr lang="pt-BR" dirty="0" smtClean="0"/>
              <a:t>Prepara as diversas partições para receber os arquivos. </a:t>
            </a:r>
          </a:p>
          <a:p>
            <a:pPr marL="514350" indent="-514350">
              <a:buFont typeface="+mj-lt"/>
              <a:buAutoNum type="arabicPeriod"/>
            </a:pPr>
            <a:r>
              <a:rPr lang="pt-BR" dirty="0" smtClean="0"/>
              <a:t>Define o tamanho mínimo que cada arquivo ocupará na partição. </a:t>
            </a:r>
          </a:p>
          <a:p>
            <a:pPr marL="514350" indent="-514350">
              <a:buFont typeface="+mj-lt"/>
              <a:buAutoNum type="arabicPeriod"/>
            </a:pPr>
            <a:r>
              <a:rPr lang="pt-BR" dirty="0" smtClean="0"/>
              <a:t>É criado no momento da formatação.</a:t>
            </a:r>
          </a:p>
          <a:p>
            <a:pPr marL="514350" indent="-514350">
              <a:buFont typeface="+mj-lt"/>
              <a:buAutoNum type="arabicPeriod"/>
            </a:pPr>
            <a:r>
              <a:rPr lang="pt-BR" dirty="0" smtClean="0"/>
              <a:t>Capacidade de endereçamento com formatação </a:t>
            </a:r>
            <a:r>
              <a:rPr lang="pt-BR" dirty="0" err="1" smtClean="0"/>
              <a:t>fat</a:t>
            </a:r>
            <a:r>
              <a:rPr lang="pt-BR" dirty="0" smtClean="0"/>
              <a:t>:</a:t>
            </a:r>
          </a:p>
          <a:p>
            <a:pPr marL="0" indent="0">
              <a:buNone/>
            </a:pPr>
            <a:r>
              <a:rPr lang="pt-BR" dirty="0" smtClean="0"/>
              <a:t>                  Fat12: 2^12;        Fat 16: 2^16;                    Fat31:  2^32</a:t>
            </a:r>
          </a:p>
          <a:p>
            <a:pPr marL="0" indent="0">
              <a:buNone/>
            </a:pPr>
            <a:r>
              <a:rPr lang="pt-BR" dirty="0"/>
              <a:t> </a:t>
            </a:r>
            <a:r>
              <a:rPr lang="pt-BR" dirty="0" smtClean="0"/>
              <a:t>             2^32 * 32KB =     2^2 *  2^30  * 32 KB =   4 * G * 32 KB=       128 TB</a:t>
            </a:r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Cluster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 smtClean="0"/>
              <a:t>São as unidades de alocação (gerenciamento) de dados do SO.</a:t>
            </a:r>
          </a:p>
          <a:p>
            <a:r>
              <a:rPr lang="pt-BR" dirty="0" smtClean="0"/>
              <a:t>São valores múltiplos de blocos. Exemplo:</a:t>
            </a:r>
          </a:p>
          <a:p>
            <a:r>
              <a:rPr lang="pt-BR" dirty="0" smtClean="0"/>
              <a:t>Cluster de 1 bloco :  512 Bytes;</a:t>
            </a:r>
          </a:p>
          <a:p>
            <a:pPr>
              <a:buNone/>
            </a:pPr>
            <a:r>
              <a:rPr lang="pt-BR" dirty="0" smtClean="0"/>
              <a:t>                       2 blocos: 1024 Bytes = 1KB</a:t>
            </a:r>
          </a:p>
          <a:p>
            <a:pPr>
              <a:buNone/>
            </a:pPr>
            <a:r>
              <a:rPr lang="pt-BR" dirty="0" smtClean="0"/>
              <a:t>                       4 blocos:  2048 Bytes = 2KB </a:t>
            </a:r>
          </a:p>
          <a:p>
            <a:pPr>
              <a:buNone/>
            </a:pPr>
            <a:r>
              <a:rPr lang="pt-BR" dirty="0" smtClean="0"/>
              <a:t>             ...</a:t>
            </a:r>
          </a:p>
          <a:p>
            <a:pPr>
              <a:buNone/>
            </a:pPr>
            <a:r>
              <a:rPr lang="pt-BR" dirty="0" smtClean="0"/>
              <a:t>                       32 blocos                       = 16KB,...               </a:t>
            </a:r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ítulo 1"/>
          <p:cNvSpPr>
            <a:spLocks noGrp="1"/>
          </p:cNvSpPr>
          <p:nvPr>
            <p:ph type="title"/>
          </p:nvPr>
        </p:nvSpPr>
        <p:spPr>
          <a:xfrm>
            <a:off x="0" y="274638"/>
            <a:ext cx="8892480" cy="1143000"/>
          </a:xfrm>
        </p:spPr>
        <p:txBody>
          <a:bodyPr>
            <a:normAutofit fontScale="90000"/>
          </a:bodyPr>
          <a:lstStyle/>
          <a:p>
            <a:r>
              <a:rPr lang="pt-BR" u="sng" dirty="0" smtClean="0"/>
              <a:t>Capacidade de </a:t>
            </a:r>
            <a:r>
              <a:rPr lang="pt-BR" u="sng" dirty="0" err="1" smtClean="0"/>
              <a:t>armazernamento</a:t>
            </a:r>
            <a:r>
              <a:rPr lang="pt-BR" u="sng" dirty="0" smtClean="0"/>
              <a:t>: FAT 16</a:t>
            </a:r>
          </a:p>
        </p:txBody>
      </p:sp>
      <p:sp>
        <p:nvSpPr>
          <p:cNvPr id="26627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493096"/>
          </a:xfrm>
        </p:spPr>
        <p:txBody>
          <a:bodyPr>
            <a:normAutofit fontScale="70000" lnSpcReduction="20000"/>
          </a:bodyPr>
          <a:lstStyle/>
          <a:p>
            <a:pPr algn="just"/>
            <a:r>
              <a:rPr lang="pt-BR" dirty="0" smtClean="0"/>
              <a:t>Padrão inicial: padrão FAT12.</a:t>
            </a:r>
          </a:p>
          <a:p>
            <a:pPr algn="just"/>
            <a:r>
              <a:rPr lang="pt-BR" dirty="0" smtClean="0"/>
              <a:t>FAT 16 (File </a:t>
            </a:r>
            <a:r>
              <a:rPr lang="pt-BR" dirty="0" err="1" smtClean="0"/>
              <a:t>Allocation</a:t>
            </a:r>
            <a:r>
              <a:rPr lang="pt-BR" dirty="0" smtClean="0"/>
              <a:t> </a:t>
            </a:r>
            <a:r>
              <a:rPr lang="pt-BR" dirty="0" err="1" smtClean="0"/>
              <a:t>Table</a:t>
            </a:r>
            <a:r>
              <a:rPr lang="pt-BR" dirty="0" smtClean="0"/>
              <a:t>). </a:t>
            </a:r>
          </a:p>
          <a:p>
            <a:pPr algn="just">
              <a:buFont typeface="Arial" charset="0"/>
              <a:buNone/>
            </a:pPr>
            <a:r>
              <a:rPr lang="pt-BR" dirty="0" smtClean="0"/>
              <a:t>    -Padrão de formatação compatível com quase todos SO e vários dispositivos (câmera, palmtop, cartões SD, </a:t>
            </a:r>
            <a:r>
              <a:rPr lang="pt-BR" dirty="0" err="1" smtClean="0"/>
              <a:t>pendrive</a:t>
            </a:r>
            <a:r>
              <a:rPr lang="pt-BR" dirty="0" smtClean="0"/>
              <a:t> </a:t>
            </a:r>
            <a:r>
              <a:rPr lang="pt-BR" dirty="0" smtClean="0">
                <a:sym typeface="Wingdings" pitchFamily="2" charset="2"/>
              </a:rPr>
              <a:t></a:t>
            </a:r>
            <a:r>
              <a:rPr lang="pt-BR" dirty="0" smtClean="0"/>
              <a:t> até 2GB).</a:t>
            </a:r>
          </a:p>
          <a:p>
            <a:pPr algn="just">
              <a:buFont typeface="Arial" charset="0"/>
              <a:buNone/>
            </a:pPr>
            <a:r>
              <a:rPr lang="pt-BR" sz="4000" dirty="0" smtClean="0">
                <a:solidFill>
                  <a:srgbClr val="FF0000"/>
                </a:solidFill>
              </a:rPr>
              <a:t>Qual a capacidade máxima em FAT com cluster de 2 blocos.</a:t>
            </a:r>
          </a:p>
          <a:p>
            <a:pPr algn="just">
              <a:buFont typeface="Arial" charset="0"/>
              <a:buNone/>
            </a:pPr>
            <a:r>
              <a:rPr lang="pt-BR" sz="4000" dirty="0" smtClean="0">
                <a:solidFill>
                  <a:srgbClr val="FF0000"/>
                </a:solidFill>
              </a:rPr>
              <a:t>Resposta :</a:t>
            </a:r>
          </a:p>
          <a:p>
            <a:pPr algn="just">
              <a:buFont typeface="Arial" charset="0"/>
              <a:buNone/>
            </a:pPr>
            <a:r>
              <a:rPr lang="pt-BR" sz="4000" dirty="0" smtClean="0">
                <a:solidFill>
                  <a:srgbClr val="FF0000"/>
                </a:solidFill>
              </a:rPr>
              <a:t>                 Cluster = 2 blocos = 1KB. </a:t>
            </a:r>
          </a:p>
          <a:p>
            <a:pPr algn="just">
              <a:buFont typeface="Arial" charset="0"/>
              <a:buNone/>
            </a:pPr>
            <a:r>
              <a:rPr lang="pt-BR" sz="4000" dirty="0" smtClean="0">
                <a:solidFill>
                  <a:srgbClr val="FF0000"/>
                </a:solidFill>
              </a:rPr>
              <a:t>                 2^32 * cluster = </a:t>
            </a:r>
          </a:p>
          <a:p>
            <a:pPr algn="just">
              <a:buFont typeface="Arial" charset="0"/>
              <a:buNone/>
            </a:pPr>
            <a:r>
              <a:rPr lang="pt-BR" sz="4000" dirty="0">
                <a:solidFill>
                  <a:srgbClr val="FF0000"/>
                </a:solidFill>
              </a:rPr>
              <a:t> </a:t>
            </a:r>
            <a:r>
              <a:rPr lang="pt-BR" sz="4000" dirty="0" smtClean="0">
                <a:solidFill>
                  <a:srgbClr val="FF0000"/>
                </a:solidFill>
              </a:rPr>
              <a:t>                = 2^2 * 2^30 * cluster</a:t>
            </a:r>
          </a:p>
          <a:p>
            <a:pPr algn="just">
              <a:buFont typeface="Arial" charset="0"/>
              <a:buNone/>
            </a:pPr>
            <a:r>
              <a:rPr lang="pt-BR" sz="4000" dirty="0" smtClean="0">
                <a:solidFill>
                  <a:srgbClr val="FF0000"/>
                </a:solidFill>
              </a:rPr>
              <a:t>                 =4G  * 1 KB  = 4GB</a:t>
            </a:r>
            <a:endParaRPr lang="pt-BR" sz="4000" dirty="0">
              <a:solidFill>
                <a:srgbClr val="FF0000"/>
              </a:solidFill>
            </a:endParaRPr>
          </a:p>
          <a:p>
            <a:pPr algn="just">
              <a:buFont typeface="Arial" charset="0"/>
              <a:buNone/>
            </a:pPr>
            <a:endParaRPr lang="pt-BR" sz="4000" dirty="0" smtClean="0">
              <a:solidFill>
                <a:srgbClr val="FF0000"/>
              </a:solidFill>
            </a:endParaRPr>
          </a:p>
          <a:p>
            <a:pPr algn="just">
              <a:buFont typeface="Arial" charset="0"/>
              <a:buNone/>
            </a:pPr>
            <a:endParaRPr lang="pt-BR" sz="4000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algn="just">
              <a:buFont typeface="Arial" charset="0"/>
              <a:buNone/>
            </a:pPr>
            <a:endParaRPr lang="pt-BR" sz="4000" dirty="0" smtClean="0">
              <a:solidFill>
                <a:srgbClr val="FF0000"/>
              </a:solidFill>
            </a:endParaRPr>
          </a:p>
          <a:p>
            <a:pPr algn="just">
              <a:buFont typeface="Arial" charset="0"/>
              <a:buNone/>
            </a:pPr>
            <a:endParaRPr lang="pt-BR" sz="4000" dirty="0" smtClean="0">
              <a:solidFill>
                <a:srgbClr val="FF0000"/>
              </a:solidFill>
            </a:endParaRPr>
          </a:p>
          <a:p>
            <a:pPr>
              <a:buFont typeface="Arial" charset="0"/>
              <a:buNone/>
            </a:pPr>
            <a:endParaRPr lang="pt-BR" sz="4000" dirty="0" smtClean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50900"/>
          </a:xfrm>
        </p:spPr>
        <p:txBody>
          <a:bodyPr/>
          <a:lstStyle/>
          <a:p>
            <a:r>
              <a:rPr lang="pt-BR" u="sng" dirty="0" smtClean="0"/>
              <a:t>Formatação: FAT 16</a:t>
            </a:r>
          </a:p>
        </p:txBody>
      </p:sp>
      <p:sp>
        <p:nvSpPr>
          <p:cNvPr id="27651" name="Espaço Reservado para Conteúdo 2"/>
          <p:cNvSpPr>
            <a:spLocks noGrp="1"/>
          </p:cNvSpPr>
          <p:nvPr>
            <p:ph idx="1"/>
          </p:nvPr>
        </p:nvSpPr>
        <p:spPr>
          <a:xfrm>
            <a:off x="323850" y="1125538"/>
            <a:ext cx="8640638" cy="5256212"/>
          </a:xfrm>
        </p:spPr>
        <p:txBody>
          <a:bodyPr>
            <a:normAutofit fontScale="85000" lnSpcReduction="10000"/>
          </a:bodyPr>
          <a:lstStyle/>
          <a:p>
            <a:pPr algn="just"/>
            <a:r>
              <a:rPr lang="pt-BR" dirty="0" smtClean="0"/>
              <a:t>Formatação.</a:t>
            </a:r>
          </a:p>
          <a:p>
            <a:pPr algn="just">
              <a:buFont typeface="Arial" charset="0"/>
              <a:buNone/>
            </a:pPr>
            <a:r>
              <a:rPr lang="pt-BR" dirty="0" smtClean="0"/>
              <a:t>   Divisão lógica em cluster  e física em blocos.</a:t>
            </a:r>
          </a:p>
          <a:p>
            <a:pPr algn="just">
              <a:buFont typeface="Arial" charset="0"/>
              <a:buNone/>
            </a:pPr>
            <a:r>
              <a:rPr lang="pt-BR" dirty="0" smtClean="0"/>
              <a:t>Cluster: endereço único para o SO localizar  arquivos.</a:t>
            </a:r>
          </a:p>
          <a:p>
            <a:pPr algn="just">
              <a:buNone/>
            </a:pPr>
            <a:r>
              <a:rPr lang="pt-BR" dirty="0" smtClean="0"/>
              <a:t>Cluster: 1 a 64 blocos (512 a 32 KB) definido no momento da formatação.</a:t>
            </a:r>
          </a:p>
          <a:p>
            <a:pPr algn="just">
              <a:buNone/>
            </a:pPr>
            <a:r>
              <a:rPr lang="pt-BR" b="1" i="1" dirty="0" smtClean="0"/>
              <a:t>                              FAT 16</a:t>
            </a:r>
          </a:p>
          <a:p>
            <a:pPr algn="ctr">
              <a:buNone/>
            </a:pPr>
            <a:r>
              <a:rPr lang="pt-BR" sz="4300" b="1" i="1" dirty="0" smtClean="0">
                <a:solidFill>
                  <a:srgbClr val="FF0000"/>
                </a:solidFill>
              </a:rPr>
              <a:t>Anote: 2^16= 64K endereços</a:t>
            </a:r>
          </a:p>
          <a:p>
            <a:pPr algn="just"/>
            <a:r>
              <a:rPr lang="pt-BR" dirty="0" smtClean="0"/>
              <a:t>Endereçamento por 16 bits: 2</a:t>
            </a:r>
            <a:r>
              <a:rPr lang="pt-BR" baseline="30000" dirty="0" smtClean="0"/>
              <a:t>16</a:t>
            </a:r>
            <a:r>
              <a:rPr lang="pt-BR" dirty="0" smtClean="0"/>
              <a:t> (=64K)clusters.</a:t>
            </a:r>
          </a:p>
          <a:p>
            <a:pPr algn="just">
              <a:buNone/>
            </a:pPr>
            <a:r>
              <a:rPr lang="pt-BR" dirty="0" smtClean="0"/>
              <a:t>                              2</a:t>
            </a:r>
            <a:r>
              <a:rPr lang="pt-BR" baseline="30000" dirty="0" smtClean="0"/>
              <a:t>16    = </a:t>
            </a:r>
            <a:r>
              <a:rPr lang="pt-BR" dirty="0" smtClean="0"/>
              <a:t>2</a:t>
            </a:r>
            <a:r>
              <a:rPr lang="pt-BR" baseline="30000" dirty="0" smtClean="0"/>
              <a:t>6    * </a:t>
            </a:r>
            <a:r>
              <a:rPr lang="pt-BR" dirty="0" smtClean="0"/>
              <a:t>2</a:t>
            </a:r>
            <a:r>
              <a:rPr lang="pt-BR" baseline="30000" dirty="0" smtClean="0"/>
              <a:t>10   = </a:t>
            </a:r>
            <a:r>
              <a:rPr lang="pt-BR" dirty="0"/>
              <a:t>64  K</a:t>
            </a:r>
          </a:p>
          <a:p>
            <a:pPr algn="just"/>
            <a:r>
              <a:rPr lang="pt-BR" dirty="0" smtClean="0"/>
              <a:t>Tamanho máximo da partição (64 bloco): </a:t>
            </a:r>
            <a:r>
              <a:rPr lang="pt-BR" dirty="0" smtClean="0">
                <a:solidFill>
                  <a:srgbClr val="00B0F0"/>
                </a:solidFill>
              </a:rPr>
              <a:t>64</a:t>
            </a:r>
            <a:r>
              <a:rPr lang="pt-BR" dirty="0" smtClean="0">
                <a:solidFill>
                  <a:srgbClr val="FF0000"/>
                </a:solidFill>
              </a:rPr>
              <a:t>K</a:t>
            </a:r>
            <a:r>
              <a:rPr lang="pt-BR" dirty="0" smtClean="0"/>
              <a:t> *32KB=2GB.</a:t>
            </a:r>
          </a:p>
          <a:p>
            <a:pPr algn="just">
              <a:buNone/>
            </a:pPr>
            <a:r>
              <a:rPr lang="pt-BR" dirty="0" smtClean="0"/>
              <a:t>  Nota: </a:t>
            </a:r>
            <a:r>
              <a:rPr lang="pt-BR" dirty="0">
                <a:solidFill>
                  <a:srgbClr val="00B0F0"/>
                </a:solidFill>
              </a:rPr>
              <a:t>2</a:t>
            </a:r>
            <a:r>
              <a:rPr lang="pt-BR" baseline="30000" dirty="0">
                <a:solidFill>
                  <a:srgbClr val="00B0F0"/>
                </a:solidFill>
              </a:rPr>
              <a:t>6</a:t>
            </a:r>
            <a:r>
              <a:rPr lang="pt-BR" dirty="0" smtClean="0"/>
              <a:t> * </a:t>
            </a:r>
            <a:r>
              <a:rPr lang="pt-BR" dirty="0" smtClean="0">
                <a:solidFill>
                  <a:srgbClr val="FF0000"/>
                </a:solidFill>
              </a:rPr>
              <a:t>2</a:t>
            </a:r>
            <a:r>
              <a:rPr lang="pt-BR" baseline="30000" dirty="0" smtClean="0">
                <a:solidFill>
                  <a:srgbClr val="FF0000"/>
                </a:solidFill>
              </a:rPr>
              <a:t>10</a:t>
            </a:r>
            <a:r>
              <a:rPr lang="pt-BR" dirty="0" smtClean="0"/>
              <a:t>   * 2</a:t>
            </a:r>
            <a:r>
              <a:rPr lang="pt-BR" baseline="30000" dirty="0" smtClean="0"/>
              <a:t>5 *</a:t>
            </a:r>
            <a:r>
              <a:rPr lang="pt-BR" dirty="0" smtClean="0"/>
              <a:t> </a:t>
            </a:r>
            <a:r>
              <a:rPr lang="pt-BR" dirty="0"/>
              <a:t>2</a:t>
            </a:r>
            <a:r>
              <a:rPr lang="pt-BR" baseline="30000" dirty="0"/>
              <a:t>10</a:t>
            </a:r>
            <a:r>
              <a:rPr lang="pt-BR" dirty="0" smtClean="0"/>
              <a:t>  B= 2</a:t>
            </a:r>
            <a:r>
              <a:rPr lang="pt-BR" baseline="30000" dirty="0" smtClean="0"/>
              <a:t>31</a:t>
            </a:r>
            <a:r>
              <a:rPr lang="pt-BR" dirty="0" smtClean="0"/>
              <a:t>   = 2</a:t>
            </a:r>
            <a:r>
              <a:rPr lang="pt-BR" baseline="30000" dirty="0" smtClean="0"/>
              <a:t>1</a:t>
            </a:r>
            <a:r>
              <a:rPr lang="pt-BR" dirty="0" smtClean="0"/>
              <a:t>    * 2</a:t>
            </a:r>
            <a:r>
              <a:rPr lang="pt-BR" baseline="30000" dirty="0"/>
              <a:t>30</a:t>
            </a:r>
            <a:r>
              <a:rPr lang="pt-BR" dirty="0" smtClean="0"/>
              <a:t>   </a:t>
            </a:r>
            <a:r>
              <a:rPr lang="pt-BR" dirty="0"/>
              <a:t>B = </a:t>
            </a:r>
            <a:r>
              <a:rPr lang="pt-BR" dirty="0" smtClean="0"/>
              <a:t>2GB</a:t>
            </a:r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u="sng" smtClean="0"/>
              <a:t>FAT 32</a:t>
            </a:r>
          </a:p>
        </p:txBody>
      </p:sp>
      <p:sp>
        <p:nvSpPr>
          <p:cNvPr id="28675" name="Espaço Reservado para Conteúdo 2"/>
          <p:cNvSpPr>
            <a:spLocks noGrp="1"/>
          </p:cNvSpPr>
          <p:nvPr>
            <p:ph idx="1"/>
          </p:nvPr>
        </p:nvSpPr>
        <p:spPr>
          <a:xfrm>
            <a:off x="107504" y="1600200"/>
            <a:ext cx="8928992" cy="4525963"/>
          </a:xfrm>
        </p:spPr>
        <p:txBody>
          <a:bodyPr>
            <a:normAutofit fontScale="85000" lnSpcReduction="10000"/>
          </a:bodyPr>
          <a:lstStyle/>
          <a:p>
            <a:pPr algn="just"/>
            <a:r>
              <a:rPr lang="pt-BR" dirty="0" smtClean="0"/>
              <a:t>Endereço de 32 bits .</a:t>
            </a:r>
          </a:p>
          <a:p>
            <a:pPr algn="just"/>
            <a:endParaRPr lang="pt-BR" dirty="0" smtClean="0"/>
          </a:p>
          <a:p>
            <a:pPr algn="r">
              <a:buNone/>
            </a:pPr>
            <a:r>
              <a:rPr lang="pt-BR" sz="4200" dirty="0" smtClean="0">
                <a:solidFill>
                  <a:srgbClr val="FF0000"/>
                </a:solidFill>
              </a:rPr>
              <a:t>Anote:  2</a:t>
            </a:r>
            <a:r>
              <a:rPr lang="pt-BR" sz="4200" baseline="30000" dirty="0" smtClean="0">
                <a:solidFill>
                  <a:srgbClr val="FF0000"/>
                </a:solidFill>
              </a:rPr>
              <a:t>32</a:t>
            </a:r>
            <a:r>
              <a:rPr lang="pt-BR" sz="4200" dirty="0" smtClean="0">
                <a:solidFill>
                  <a:srgbClr val="FF0000"/>
                </a:solidFill>
              </a:rPr>
              <a:t> = 4G endereços.</a:t>
            </a:r>
          </a:p>
          <a:p>
            <a:pPr algn="just"/>
            <a:r>
              <a:rPr lang="pt-BR" dirty="0" smtClean="0"/>
              <a:t>Exemplo 1.</a:t>
            </a:r>
          </a:p>
          <a:p>
            <a:pPr algn="just">
              <a:buNone/>
            </a:pPr>
            <a:r>
              <a:rPr lang="pt-BR" dirty="0" smtClean="0"/>
              <a:t>    Tamanho máximo de armazenamento para cluster de 512B:</a:t>
            </a:r>
          </a:p>
          <a:p>
            <a:pPr algn="just">
              <a:buNone/>
            </a:pPr>
            <a:r>
              <a:rPr lang="pt-BR" dirty="0" smtClean="0">
                <a:solidFill>
                  <a:srgbClr val="00B0F0"/>
                </a:solidFill>
              </a:rPr>
              <a:t>                                                       4G * 512B= 2TB.</a:t>
            </a:r>
          </a:p>
          <a:p>
            <a:pPr algn="just">
              <a:buNone/>
            </a:pPr>
            <a:r>
              <a:rPr lang="pt-BR" dirty="0" smtClean="0"/>
              <a:t>                                                  </a:t>
            </a:r>
            <a:endParaRPr lang="pt-BR" dirty="0"/>
          </a:p>
          <a:p>
            <a:pPr algn="just"/>
            <a:r>
              <a:rPr lang="pt-BR" dirty="0" smtClean="0"/>
              <a:t>Exemplo 2: Cluster - 4K (8 blocos)</a:t>
            </a:r>
          </a:p>
          <a:p>
            <a:pPr algn="just">
              <a:buNone/>
            </a:pPr>
            <a:r>
              <a:rPr lang="pt-BR" dirty="0" smtClean="0"/>
              <a:t>                      Tamanho máximo do HD: 4G * 4 K = 16TB</a:t>
            </a:r>
          </a:p>
          <a:p>
            <a:pPr algn="just"/>
            <a:endParaRPr lang="pt-BR" dirty="0" smtClean="0"/>
          </a:p>
          <a:p>
            <a:pPr algn="just"/>
            <a:endParaRPr lang="pt-BR" sz="2000" b="1" i="1" u="sng" dirty="0" smtClean="0"/>
          </a:p>
          <a:p>
            <a:endParaRPr lang="pt-BR" sz="20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u="sng" dirty="0" smtClean="0"/>
              <a:t>NTFS (</a:t>
            </a:r>
            <a:r>
              <a:rPr lang="pt-BR" u="sng" dirty="0" err="1" smtClean="0"/>
              <a:t>New</a:t>
            </a:r>
            <a:r>
              <a:rPr lang="pt-BR" u="sng" dirty="0" smtClean="0"/>
              <a:t> </a:t>
            </a:r>
            <a:r>
              <a:rPr lang="pt-BR" u="sng" dirty="0" err="1" smtClean="0"/>
              <a:t>Technology</a:t>
            </a:r>
            <a:r>
              <a:rPr lang="pt-BR" u="sng" dirty="0" smtClean="0"/>
              <a:t> </a:t>
            </a:r>
            <a:r>
              <a:rPr lang="pt-BR" u="sng" dirty="0" err="1" smtClean="0"/>
              <a:t>FileSystem</a:t>
            </a:r>
            <a:r>
              <a:rPr lang="pt-BR" u="sng" dirty="0" smtClean="0"/>
              <a:t>)</a:t>
            </a:r>
          </a:p>
        </p:txBody>
      </p:sp>
      <p:sp>
        <p:nvSpPr>
          <p:cNvPr id="29699" name="Espaço Reservado para Conteúdo 2"/>
          <p:cNvSpPr>
            <a:spLocks noGrp="1"/>
          </p:cNvSpPr>
          <p:nvPr>
            <p:ph idx="1"/>
          </p:nvPr>
        </p:nvSpPr>
        <p:spPr>
          <a:xfrm>
            <a:off x="107504" y="1600200"/>
            <a:ext cx="8784976" cy="4525963"/>
          </a:xfrm>
        </p:spPr>
        <p:txBody>
          <a:bodyPr>
            <a:normAutofit fontScale="92500"/>
          </a:bodyPr>
          <a:lstStyle/>
          <a:p>
            <a:pPr algn="just"/>
            <a:r>
              <a:rPr lang="pt-BR" dirty="0" smtClean="0"/>
              <a:t>Surgiu com o Windows NT, em 1990.</a:t>
            </a:r>
          </a:p>
          <a:p>
            <a:pPr algn="just"/>
            <a:r>
              <a:rPr lang="pt-BR" dirty="0" smtClean="0"/>
              <a:t>Endereçamento de 32 bits. </a:t>
            </a:r>
          </a:p>
          <a:p>
            <a:pPr algn="r">
              <a:buNone/>
            </a:pPr>
            <a:r>
              <a:rPr lang="pt-BR" dirty="0" smtClean="0">
                <a:solidFill>
                  <a:srgbClr val="FF0000"/>
                </a:solidFill>
              </a:rPr>
              <a:t>ANOTE</a:t>
            </a:r>
            <a:r>
              <a:rPr lang="pt-BR" dirty="0" smtClean="0"/>
              <a:t>:</a:t>
            </a:r>
            <a:r>
              <a:rPr lang="pt-BR" dirty="0" smtClean="0">
                <a:sym typeface="Wingdings" pitchFamily="2" charset="2"/>
              </a:rPr>
              <a:t> </a:t>
            </a:r>
            <a:r>
              <a:rPr lang="pt-BR" dirty="0" smtClean="0"/>
              <a:t>4G endereços.</a:t>
            </a:r>
          </a:p>
          <a:p>
            <a:pPr algn="just"/>
            <a:r>
              <a:rPr lang="pt-BR" dirty="0" smtClean="0"/>
              <a:t>Nome de arquivos e pastas: </a:t>
            </a:r>
          </a:p>
          <a:p>
            <a:pPr algn="r">
              <a:buNone/>
            </a:pPr>
            <a:r>
              <a:rPr lang="pt-BR" dirty="0" smtClean="0"/>
              <a:t>Padrão UNICODE (códigos de 32bits). </a:t>
            </a:r>
          </a:p>
          <a:p>
            <a:pPr algn="just"/>
            <a:r>
              <a:rPr lang="pt-BR" sz="3000" dirty="0" smtClean="0"/>
              <a:t>Sistema tolerante a falhas (</a:t>
            </a:r>
            <a:r>
              <a:rPr lang="pt-BR" sz="3000" dirty="0" err="1" smtClean="0"/>
              <a:t>log</a:t>
            </a:r>
            <a:r>
              <a:rPr lang="pt-BR" sz="3000" dirty="0" smtClean="0"/>
              <a:t>: histórico de ocorrências).</a:t>
            </a:r>
          </a:p>
          <a:p>
            <a:pPr algn="just"/>
            <a:r>
              <a:rPr lang="pt-BR" dirty="0" err="1" smtClean="0"/>
              <a:t>Log</a:t>
            </a:r>
            <a:r>
              <a:rPr lang="pt-BR" dirty="0" smtClean="0"/>
              <a:t> contém as atualizações realizadas. Minimizar perda de dados em caso de falhas.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8098"/>
          </a:xfrm>
        </p:spPr>
        <p:txBody>
          <a:bodyPr/>
          <a:lstStyle/>
          <a:p>
            <a:r>
              <a:rPr lang="pt-BR" u="sng" dirty="0" smtClean="0"/>
              <a:t>EXT3</a:t>
            </a:r>
            <a:r>
              <a:rPr lang="pt-BR" sz="2000" u="sng" dirty="0" smtClean="0"/>
              <a:t>(</a:t>
            </a:r>
            <a:r>
              <a:rPr lang="pt-BR" sz="2000" u="sng" dirty="0" err="1" smtClean="0"/>
              <a:t>third</a:t>
            </a:r>
            <a:r>
              <a:rPr lang="pt-BR" sz="2000" u="sng" dirty="0" smtClean="0"/>
              <a:t> </a:t>
            </a:r>
            <a:r>
              <a:rPr lang="pt-BR" sz="2000" u="sng" dirty="0" err="1" smtClean="0"/>
              <a:t>extended</a:t>
            </a:r>
            <a:r>
              <a:rPr lang="pt-BR" sz="2000" u="sng" dirty="0" smtClean="0"/>
              <a:t> </a:t>
            </a:r>
            <a:r>
              <a:rPr lang="pt-BR" sz="2000" u="sng" dirty="0" err="1" smtClean="0"/>
              <a:t>filesystem-terceiro</a:t>
            </a:r>
            <a:r>
              <a:rPr lang="pt-BR" sz="2000" u="sng" dirty="0" smtClean="0"/>
              <a:t> sistema de arquivo </a:t>
            </a:r>
            <a:r>
              <a:rPr lang="pt-BR" sz="2000" u="sng" dirty="0" err="1" smtClean="0"/>
              <a:t>extendido</a:t>
            </a:r>
            <a:r>
              <a:rPr lang="pt-BR" sz="2000" u="sng" dirty="0" smtClean="0"/>
              <a:t>)</a:t>
            </a:r>
            <a:endParaRPr lang="pt-BR" u="sng" dirty="0" smtClean="0"/>
          </a:p>
        </p:txBody>
      </p:sp>
      <p:sp>
        <p:nvSpPr>
          <p:cNvPr id="3072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1124744"/>
            <a:ext cx="8229600" cy="5001419"/>
          </a:xfrm>
        </p:spPr>
        <p:txBody>
          <a:bodyPr/>
          <a:lstStyle/>
          <a:p>
            <a:r>
              <a:rPr lang="pt-BR" dirty="0" smtClean="0"/>
              <a:t>Ambiente </a:t>
            </a:r>
            <a:r>
              <a:rPr lang="pt-BR" dirty="0" err="1" smtClean="0"/>
              <a:t>linux</a:t>
            </a:r>
            <a:r>
              <a:rPr lang="pt-BR" dirty="0" smtClean="0"/>
              <a:t>.</a:t>
            </a:r>
          </a:p>
          <a:p>
            <a:r>
              <a:rPr lang="pt-BR" dirty="0" err="1" smtClean="0"/>
              <a:t>Extended</a:t>
            </a:r>
            <a:r>
              <a:rPr lang="pt-BR" dirty="0" smtClean="0"/>
              <a:t> File System – 1992.</a:t>
            </a:r>
          </a:p>
          <a:p>
            <a:r>
              <a:rPr lang="pt-BR" dirty="0" smtClean="0"/>
              <a:t>EXT3 - 1999</a:t>
            </a:r>
          </a:p>
          <a:p>
            <a:r>
              <a:rPr lang="pt-BR" dirty="0" smtClean="0"/>
              <a:t>Partições de até 32TB</a:t>
            </a:r>
          </a:p>
          <a:p>
            <a:r>
              <a:rPr lang="pt-BR" b="1" dirty="0" smtClean="0"/>
              <a:t>Nomes de arquivos de até 255 caracteres.</a:t>
            </a:r>
          </a:p>
          <a:p>
            <a:r>
              <a:rPr lang="pt-BR" b="1" dirty="0" smtClean="0"/>
              <a:t>Recursos de </a:t>
            </a:r>
            <a:r>
              <a:rPr lang="pt-BR" b="1" dirty="0" err="1" smtClean="0"/>
              <a:t>Journaling</a:t>
            </a:r>
            <a:r>
              <a:rPr lang="pt-BR" b="1" dirty="0" smtClean="0"/>
              <a:t> (</a:t>
            </a:r>
            <a:r>
              <a:rPr lang="pt-BR" b="1" dirty="0" err="1" smtClean="0"/>
              <a:t>log</a:t>
            </a:r>
            <a:r>
              <a:rPr lang="pt-BR" b="1" dirty="0" smtClean="0"/>
              <a:t> de alterações realizadas permitindo a recuperação de dados em caso de perdas por falha de energia,...)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u="sng" smtClean="0"/>
              <a:t>EXT3</a:t>
            </a:r>
          </a:p>
        </p:txBody>
      </p:sp>
      <p:sp>
        <p:nvSpPr>
          <p:cNvPr id="31747" name="Espaço Reservado para Conteúdo 2"/>
          <p:cNvSpPr>
            <a:spLocks noGrp="1"/>
          </p:cNvSpPr>
          <p:nvPr>
            <p:ph idx="1"/>
          </p:nvPr>
        </p:nvSpPr>
        <p:spPr>
          <a:xfrm>
            <a:off x="323850" y="1124744"/>
            <a:ext cx="8712646" cy="5001419"/>
          </a:xfrm>
        </p:spPr>
        <p:txBody>
          <a:bodyPr/>
          <a:lstStyle/>
          <a:p>
            <a:r>
              <a:rPr lang="pt-BR" dirty="0" smtClean="0"/>
              <a:t>Endereços de 32 bits</a:t>
            </a:r>
          </a:p>
          <a:p>
            <a:pPr algn="r">
              <a:buNone/>
            </a:pPr>
            <a:r>
              <a:rPr lang="pt-BR" dirty="0" smtClean="0">
                <a:solidFill>
                  <a:srgbClr val="FF0000"/>
                </a:solidFill>
              </a:rPr>
              <a:t>Anote: 2^32= 4G endereços</a:t>
            </a:r>
          </a:p>
          <a:p>
            <a:pPr>
              <a:buNone/>
            </a:pPr>
            <a:endParaRPr lang="pt-BR" dirty="0" smtClean="0"/>
          </a:p>
          <a:p>
            <a:r>
              <a:rPr lang="pt-BR" dirty="0" smtClean="0"/>
              <a:t>Clusters com blocos de até 8KB.</a:t>
            </a:r>
          </a:p>
          <a:p>
            <a:pPr>
              <a:buFont typeface="Arial" charset="0"/>
              <a:buNone/>
            </a:pPr>
            <a:r>
              <a:rPr lang="pt-BR" sz="2000" u="sng" dirty="0" smtClean="0"/>
              <a:t>Tamanho do cluster</a:t>
            </a:r>
            <a:r>
              <a:rPr lang="pt-BR" sz="2000" dirty="0" smtClean="0"/>
              <a:t>   </a:t>
            </a:r>
            <a:r>
              <a:rPr lang="pt-BR" sz="2000" u="sng" dirty="0" smtClean="0"/>
              <a:t>Tamanho Maximo da Partição</a:t>
            </a:r>
            <a:r>
              <a:rPr lang="pt-BR" sz="2000" dirty="0" smtClean="0"/>
              <a:t>    </a:t>
            </a:r>
            <a:r>
              <a:rPr lang="pt-BR" sz="2000" u="sng" dirty="0" smtClean="0"/>
              <a:t>Tamanho máximo do arquivo</a:t>
            </a:r>
          </a:p>
          <a:p>
            <a:pPr>
              <a:buFont typeface="Arial" charset="0"/>
              <a:buNone/>
            </a:pPr>
            <a:endParaRPr lang="pt-BR" sz="2000" dirty="0" smtClean="0"/>
          </a:p>
          <a:p>
            <a:pPr>
              <a:buFont typeface="Arial" charset="0"/>
              <a:buNone/>
            </a:pPr>
            <a:r>
              <a:rPr lang="pt-BR" sz="2400" dirty="0" smtClean="0"/>
              <a:t>1KB                              2TB                                                   </a:t>
            </a:r>
            <a:r>
              <a:rPr lang="pt-BR" sz="2400" dirty="0" smtClean="0">
                <a:solidFill>
                  <a:srgbClr val="FF0000"/>
                </a:solidFill>
              </a:rPr>
              <a:t>16GB</a:t>
            </a:r>
          </a:p>
          <a:p>
            <a:pPr>
              <a:buFont typeface="Arial" charset="0"/>
              <a:buNone/>
            </a:pPr>
            <a:r>
              <a:rPr lang="pt-BR" sz="2400" dirty="0" smtClean="0"/>
              <a:t>2KB                              8TB                                                   </a:t>
            </a:r>
            <a:r>
              <a:rPr lang="pt-BR" sz="2400" dirty="0" smtClean="0">
                <a:solidFill>
                  <a:srgbClr val="FF0000"/>
                </a:solidFill>
              </a:rPr>
              <a:t>256GB</a:t>
            </a:r>
          </a:p>
          <a:p>
            <a:pPr>
              <a:buFont typeface="Arial" charset="0"/>
              <a:buNone/>
            </a:pPr>
            <a:r>
              <a:rPr lang="pt-BR" sz="2400" dirty="0" smtClean="0"/>
              <a:t>4KB                              16TB                                                 </a:t>
            </a:r>
            <a:r>
              <a:rPr lang="pt-BR" sz="2400" dirty="0" smtClean="0">
                <a:solidFill>
                  <a:srgbClr val="FF0000"/>
                </a:solidFill>
              </a:rPr>
              <a:t>2TB</a:t>
            </a:r>
          </a:p>
          <a:p>
            <a:pPr>
              <a:buFont typeface="Arial" charset="0"/>
              <a:buNone/>
            </a:pPr>
            <a:r>
              <a:rPr lang="pt-BR" sz="2400" dirty="0" smtClean="0"/>
              <a:t>8KB                              32TB                                                 </a:t>
            </a:r>
            <a:r>
              <a:rPr lang="pt-BR" sz="2400" dirty="0" smtClean="0">
                <a:solidFill>
                  <a:srgbClr val="FF0000"/>
                </a:solidFill>
              </a:rPr>
              <a:t>2TB</a:t>
            </a:r>
          </a:p>
          <a:p>
            <a:pPr>
              <a:buFont typeface="Arial" charset="0"/>
              <a:buNone/>
            </a:pPr>
            <a:endParaRPr lang="pt-BR" sz="20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u="sng" dirty="0" smtClean="0"/>
              <a:t>Adendo: Memória Flash</a:t>
            </a:r>
            <a:endParaRPr lang="pt-BR" b="1" u="sng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67544" y="1412776"/>
            <a:ext cx="8229600" cy="4525963"/>
          </a:xfrm>
        </p:spPr>
        <p:txBody>
          <a:bodyPr>
            <a:noAutofit/>
          </a:bodyPr>
          <a:lstStyle/>
          <a:p>
            <a:r>
              <a:rPr lang="pt-BR" dirty="0" smtClean="0"/>
              <a:t>Armazenamento rápido e fácil de dados em equipamentos, como câmeras digitais e celulares. </a:t>
            </a:r>
          </a:p>
          <a:p>
            <a:r>
              <a:rPr lang="pt-BR" dirty="0" smtClean="0"/>
              <a:t>Usada para armazenamento em substituição ao HD. </a:t>
            </a:r>
          </a:p>
          <a:p>
            <a:r>
              <a:rPr lang="pt-BR" dirty="0" smtClean="0"/>
              <a:t>É um dispositivo de armazenamento de estado sólido (</a:t>
            </a:r>
            <a:r>
              <a:rPr lang="pt-BR" dirty="0" err="1" smtClean="0">
                <a:solidFill>
                  <a:srgbClr val="FF0000"/>
                </a:solidFill>
              </a:rPr>
              <a:t>S</a:t>
            </a:r>
            <a:r>
              <a:rPr lang="pt-BR" dirty="0" err="1" smtClean="0"/>
              <a:t>olid</a:t>
            </a:r>
            <a:r>
              <a:rPr lang="pt-BR" dirty="0" smtClean="0"/>
              <a:t> </a:t>
            </a:r>
            <a:r>
              <a:rPr lang="pt-BR" dirty="0" err="1" smtClean="0">
                <a:solidFill>
                  <a:srgbClr val="FF0000"/>
                </a:solidFill>
              </a:rPr>
              <a:t>S</a:t>
            </a:r>
            <a:r>
              <a:rPr lang="pt-BR" dirty="0" err="1" smtClean="0"/>
              <a:t>tate</a:t>
            </a:r>
            <a:r>
              <a:rPr lang="pt-BR" dirty="0" smtClean="0"/>
              <a:t> </a:t>
            </a:r>
            <a:r>
              <a:rPr lang="pt-BR" dirty="0" err="1" smtClean="0">
                <a:solidFill>
                  <a:srgbClr val="FF0000"/>
                </a:solidFill>
              </a:rPr>
              <a:t>D</a:t>
            </a:r>
            <a:r>
              <a:rPr lang="pt-BR" dirty="0" err="1" smtClean="0"/>
              <a:t>evice</a:t>
            </a:r>
            <a:r>
              <a:rPr lang="pt-BR" dirty="0" smtClean="0"/>
              <a:t>). Não há partes móveis (tudo é eletrônico, em vez de mecânico).</a:t>
            </a:r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274638"/>
            <a:ext cx="8892480" cy="1143000"/>
          </a:xfrm>
        </p:spPr>
        <p:txBody>
          <a:bodyPr>
            <a:normAutofit fontScale="90000"/>
          </a:bodyPr>
          <a:lstStyle/>
          <a:p>
            <a:r>
              <a:rPr lang="pt-BR" b="1" u="sng" dirty="0" smtClean="0"/>
              <a:t>Tecnologia de HD </a:t>
            </a:r>
            <a:r>
              <a:rPr lang="pt-BR" b="1" u="sng" dirty="0" err="1" smtClean="0"/>
              <a:t>P</a:t>
            </a:r>
            <a:r>
              <a:rPr lang="pt-BR" sz="2000" b="1" u="sng" dirty="0" err="1" smtClean="0"/>
              <a:t>arallel</a:t>
            </a:r>
            <a:r>
              <a:rPr lang="pt-BR" b="1" u="sng" dirty="0" err="1" smtClean="0"/>
              <a:t>ATA</a:t>
            </a:r>
            <a:r>
              <a:rPr lang="pt-BR" sz="4000" b="1" u="sng" dirty="0" smtClean="0"/>
              <a:t>(IDE)</a:t>
            </a:r>
            <a:r>
              <a:rPr lang="pt-BR" b="1" u="sng" dirty="0" smtClean="0"/>
              <a:t> </a:t>
            </a:r>
            <a:r>
              <a:rPr lang="pt-BR" b="1" u="sng" dirty="0" smtClean="0">
                <a:sym typeface="Wingdings" panose="05000000000000000000" pitchFamily="2" charset="2"/>
              </a:rPr>
              <a:t></a:t>
            </a:r>
            <a:r>
              <a:rPr lang="pt-BR" b="1" u="sng" dirty="0" smtClean="0"/>
              <a:t> </a:t>
            </a:r>
            <a:r>
              <a:rPr lang="pt-BR" b="1" u="sng" dirty="0" err="1" smtClean="0"/>
              <a:t>S</a:t>
            </a:r>
            <a:r>
              <a:rPr lang="pt-BR" sz="2000" b="1" u="sng" dirty="0" err="1" smtClean="0"/>
              <a:t>erial</a:t>
            </a:r>
            <a:r>
              <a:rPr lang="pt-BR" b="1" u="sng" dirty="0" err="1" smtClean="0"/>
              <a:t>ATA</a:t>
            </a:r>
            <a:endParaRPr lang="pt-BR" b="1" u="sng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b="1" dirty="0" smtClean="0"/>
              <a:t>PATA</a:t>
            </a:r>
            <a:r>
              <a:rPr lang="pt-BR" dirty="0" smtClean="0"/>
              <a:t> (</a:t>
            </a:r>
            <a:r>
              <a:rPr lang="pt-BR" dirty="0" err="1" smtClean="0"/>
              <a:t>Parallel</a:t>
            </a:r>
            <a:r>
              <a:rPr lang="pt-BR" dirty="0" smtClean="0"/>
              <a:t> </a:t>
            </a:r>
            <a:r>
              <a:rPr lang="pt-BR" dirty="0" err="1" smtClean="0"/>
              <a:t>Advanced</a:t>
            </a:r>
            <a:r>
              <a:rPr lang="pt-BR" dirty="0" smtClean="0"/>
              <a:t> </a:t>
            </a:r>
            <a:r>
              <a:rPr lang="pt-BR" dirty="0" err="1" smtClean="0"/>
              <a:t>Technology</a:t>
            </a:r>
            <a:r>
              <a:rPr lang="pt-BR" dirty="0" smtClean="0"/>
              <a:t> </a:t>
            </a:r>
            <a:r>
              <a:rPr lang="pt-BR" dirty="0" err="1" smtClean="0"/>
              <a:t>Attachment</a:t>
            </a:r>
            <a:r>
              <a:rPr lang="pt-BR" dirty="0" smtClean="0"/>
              <a:t>)  Esta conexão trabalha com tráfego de dados em paralelo e velocidades de até </a:t>
            </a:r>
            <a:r>
              <a:rPr lang="pt-BR" dirty="0" smtClean="0">
                <a:solidFill>
                  <a:srgbClr val="FF0000"/>
                </a:solidFill>
              </a:rPr>
              <a:t>133 </a:t>
            </a:r>
            <a:r>
              <a:rPr lang="pt-BR" dirty="0" err="1" smtClean="0">
                <a:solidFill>
                  <a:srgbClr val="FF0000"/>
                </a:solidFill>
              </a:rPr>
              <a:t>Mbytes</a:t>
            </a:r>
            <a:r>
              <a:rPr lang="pt-BR" dirty="0" smtClean="0">
                <a:solidFill>
                  <a:srgbClr val="FF0000"/>
                </a:solidFill>
              </a:rPr>
              <a:t>/s</a:t>
            </a:r>
            <a:r>
              <a:rPr lang="pt-BR" dirty="0" smtClean="0"/>
              <a:t>. Cada interface PATA (IDE) suporta um disco </a:t>
            </a:r>
            <a:r>
              <a:rPr lang="pt-BR" dirty="0" err="1" smtClean="0"/>
              <a:t>master</a:t>
            </a:r>
            <a:r>
              <a:rPr lang="pt-BR" dirty="0" smtClean="0"/>
              <a:t> e um </a:t>
            </a:r>
            <a:r>
              <a:rPr lang="pt-BR" dirty="0" err="1" smtClean="0"/>
              <a:t>slave</a:t>
            </a:r>
            <a:r>
              <a:rPr lang="pt-BR" dirty="0" smtClean="0"/>
              <a:t>.</a:t>
            </a:r>
          </a:p>
          <a:p>
            <a:endParaRPr lang="pt-BR" dirty="0" smtClean="0"/>
          </a:p>
          <a:p>
            <a:r>
              <a:rPr lang="pt-BR" b="1" dirty="0" smtClean="0">
                <a:solidFill>
                  <a:srgbClr val="92D050"/>
                </a:solidFill>
              </a:rPr>
              <a:t>SATA</a:t>
            </a:r>
            <a:r>
              <a:rPr lang="pt-BR" dirty="0" smtClean="0"/>
              <a:t> (Serial </a:t>
            </a:r>
            <a:r>
              <a:rPr lang="pt-BR" dirty="0" err="1" smtClean="0"/>
              <a:t>Advanced</a:t>
            </a:r>
            <a:r>
              <a:rPr lang="pt-BR" dirty="0" smtClean="0"/>
              <a:t> Technology </a:t>
            </a:r>
            <a:r>
              <a:rPr lang="pt-BR" dirty="0" err="1" smtClean="0"/>
              <a:t>Attachment</a:t>
            </a:r>
            <a:r>
              <a:rPr lang="pt-BR" dirty="0" smtClean="0"/>
              <a:t>) permite a conexão de somente um dispositivo por interface, </a:t>
            </a:r>
            <a:r>
              <a:rPr lang="pt-BR" dirty="0" err="1" smtClean="0"/>
              <a:t>traféga</a:t>
            </a:r>
            <a:r>
              <a:rPr lang="pt-BR" dirty="0" smtClean="0"/>
              <a:t> dados em serial e tem velocidades de até </a:t>
            </a:r>
            <a:r>
              <a:rPr lang="pt-BR" dirty="0" smtClean="0">
                <a:solidFill>
                  <a:srgbClr val="92D050"/>
                </a:solidFill>
              </a:rPr>
              <a:t>375 </a:t>
            </a:r>
            <a:r>
              <a:rPr lang="pt-BR" dirty="0" err="1" smtClean="0">
                <a:solidFill>
                  <a:srgbClr val="92D050"/>
                </a:solidFill>
              </a:rPr>
              <a:t>Mbytes</a:t>
            </a:r>
            <a:r>
              <a:rPr lang="pt-BR" dirty="0" smtClean="0">
                <a:solidFill>
                  <a:srgbClr val="92D050"/>
                </a:solidFill>
              </a:rPr>
              <a:t>/s</a:t>
            </a:r>
            <a:r>
              <a:rPr lang="pt-BR" dirty="0" smtClean="0"/>
              <a:t>.</a:t>
            </a:r>
          </a:p>
          <a:p>
            <a:r>
              <a:rPr lang="pt-BR" b="1" dirty="0"/>
              <a:t>USB </a:t>
            </a:r>
            <a:r>
              <a:rPr lang="pt-BR" b="1" dirty="0" smtClean="0"/>
              <a:t>3.0: </a:t>
            </a:r>
            <a:r>
              <a:rPr lang="pt-BR" dirty="0" smtClean="0"/>
              <a:t>Taxa </a:t>
            </a:r>
            <a:r>
              <a:rPr lang="pt-BR" dirty="0"/>
              <a:t>de transferência de dados (teórica) de até 4.8 </a:t>
            </a:r>
            <a:r>
              <a:rPr lang="pt-BR" dirty="0" err="1"/>
              <a:t>Gbps</a:t>
            </a:r>
            <a:r>
              <a:rPr lang="pt-BR" dirty="0"/>
              <a:t>(0,6GB/s = 600MB/s</a:t>
            </a:r>
            <a:r>
              <a:rPr lang="pt-BR" dirty="0" smtClean="0"/>
              <a:t>).</a:t>
            </a:r>
          </a:p>
          <a:p>
            <a:r>
              <a:rPr lang="pt-BR" dirty="0" smtClean="0"/>
              <a:t>Sistemas híbridos: Flash + SATA. </a:t>
            </a:r>
            <a:r>
              <a:rPr lang="pt-BR" dirty="0" smtClean="0">
                <a:sym typeface="Wingdings" pitchFamily="2" charset="2"/>
              </a:rPr>
              <a:t> Em alguns </a:t>
            </a:r>
            <a:r>
              <a:rPr lang="pt-BR" dirty="0" err="1" smtClean="0">
                <a:sym typeface="Wingdings" pitchFamily="2" charset="2"/>
              </a:rPr>
              <a:t>PCs</a:t>
            </a:r>
            <a:endParaRPr lang="pt-BR" dirty="0" smtClean="0"/>
          </a:p>
          <a:p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ítulo 1"/>
          <p:cNvSpPr>
            <a:spLocks noGrp="1"/>
          </p:cNvSpPr>
          <p:nvPr>
            <p:ph type="title"/>
          </p:nvPr>
        </p:nvSpPr>
        <p:spPr>
          <a:xfrm>
            <a:off x="395288" y="0"/>
            <a:ext cx="8435975" cy="993775"/>
          </a:xfrm>
        </p:spPr>
        <p:txBody>
          <a:bodyPr/>
          <a:lstStyle/>
          <a:p>
            <a:pPr marL="514350" indent="-514350" eaLnBrk="1" hangingPunct="1"/>
            <a:r>
              <a:rPr lang="pt-BR" b="1" u="sng" smtClean="0"/>
              <a:t>Componentes de armazenamento</a:t>
            </a:r>
          </a:p>
        </p:txBody>
      </p:sp>
      <p:sp>
        <p:nvSpPr>
          <p:cNvPr id="32771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981075"/>
            <a:ext cx="8435975" cy="5256213"/>
          </a:xfrm>
        </p:spPr>
        <p:txBody>
          <a:bodyPr>
            <a:normAutofit fontScale="92500" lnSpcReduction="10000"/>
          </a:bodyPr>
          <a:lstStyle/>
          <a:p>
            <a:pPr algn="just" eaLnBrk="1" hangingPunct="1">
              <a:buFont typeface="Arial" charset="0"/>
              <a:buNone/>
            </a:pPr>
            <a:r>
              <a:rPr lang="pt-BR" u="sng" dirty="0" smtClean="0"/>
              <a:t>Determine as características do HD:</a:t>
            </a:r>
            <a:endParaRPr lang="pt-BR" sz="2800" dirty="0" smtClean="0"/>
          </a:p>
          <a:p>
            <a:pPr algn="just" eaLnBrk="1" hangingPunct="1">
              <a:buFont typeface="Arial" charset="0"/>
              <a:buNone/>
            </a:pPr>
            <a:r>
              <a:rPr lang="pt-BR" sz="2800" b="1" dirty="0" smtClean="0"/>
              <a:t>Capacidade:</a:t>
            </a:r>
          </a:p>
          <a:p>
            <a:pPr algn="just" eaLnBrk="1" hangingPunct="1">
              <a:buFont typeface="Arial" charset="0"/>
              <a:buNone/>
            </a:pPr>
            <a:r>
              <a:rPr lang="pt-BR" sz="2800" b="1" dirty="0" smtClean="0"/>
              <a:t>Formatação:</a:t>
            </a:r>
          </a:p>
          <a:p>
            <a:pPr algn="just">
              <a:buNone/>
            </a:pPr>
            <a:r>
              <a:rPr lang="pt-BR" sz="2800" dirty="0" smtClean="0">
                <a:solidFill>
                  <a:srgbClr val="FF0000"/>
                </a:solidFill>
              </a:rPr>
              <a:t>Modelo </a:t>
            </a:r>
            <a:r>
              <a:rPr lang="pt-BR" sz="2800" dirty="0">
                <a:solidFill>
                  <a:srgbClr val="FF0000"/>
                </a:solidFill>
              </a:rPr>
              <a:t>de </a:t>
            </a:r>
            <a:r>
              <a:rPr lang="pt-BR" sz="2800" dirty="0" smtClean="0">
                <a:solidFill>
                  <a:srgbClr val="FF0000"/>
                </a:solidFill>
              </a:rPr>
              <a:t>HD </a:t>
            </a:r>
            <a:r>
              <a:rPr lang="pt-BR" sz="2800" dirty="0">
                <a:solidFill>
                  <a:srgbClr val="FF0000"/>
                </a:solidFill>
              </a:rPr>
              <a:t>(Busque na Internet ou na sala) </a:t>
            </a:r>
            <a:r>
              <a:rPr lang="pt-BR" sz="2800" dirty="0" smtClean="0">
                <a:solidFill>
                  <a:srgbClr val="FF0000"/>
                </a:solidFill>
              </a:rPr>
              <a:t>:</a:t>
            </a:r>
            <a:endParaRPr lang="pt-BR" sz="2800" dirty="0">
              <a:solidFill>
                <a:srgbClr val="FF0000"/>
              </a:solidFill>
            </a:endParaRPr>
          </a:p>
          <a:p>
            <a:pPr algn="just" eaLnBrk="1" hangingPunct="1">
              <a:buFont typeface="Arial" charset="0"/>
              <a:buNone/>
            </a:pPr>
            <a:r>
              <a:rPr lang="pt-BR" sz="2800" b="1" dirty="0" smtClean="0"/>
              <a:t>exemplos:</a:t>
            </a:r>
          </a:p>
          <a:p>
            <a:pPr algn="just" eaLnBrk="1" hangingPunct="1"/>
            <a:r>
              <a:rPr lang="pt-BR" sz="2800" dirty="0" smtClean="0"/>
              <a:t>Seagate,  </a:t>
            </a:r>
            <a:r>
              <a:rPr lang="pt-BR" sz="2800" dirty="0" err="1" smtClean="0"/>
              <a:t>Maxtor</a:t>
            </a:r>
            <a:r>
              <a:rPr lang="pt-BR" sz="2800" dirty="0" smtClean="0"/>
              <a:t> , Fujitsu, Quantum, Western Digital, ...</a:t>
            </a:r>
          </a:p>
          <a:p>
            <a:pPr algn="just" eaLnBrk="1" hangingPunct="1"/>
            <a:r>
              <a:rPr lang="pt-BR" sz="2800" dirty="0" smtClean="0"/>
              <a:t>Capacidade (3GB ...  100GB), tempo de acesso </a:t>
            </a:r>
            <a:r>
              <a:rPr lang="pt-BR" sz="2800" dirty="0" smtClean="0">
                <a:solidFill>
                  <a:srgbClr val="00B0F0"/>
                </a:solidFill>
              </a:rPr>
              <a:t>(&lt;=10ms) </a:t>
            </a:r>
            <a:r>
              <a:rPr lang="pt-BR" sz="2800" dirty="0" smtClean="0"/>
              <a:t>e </a:t>
            </a:r>
            <a:r>
              <a:rPr lang="pt-BR" sz="2800" i="1" dirty="0" smtClean="0"/>
              <a:t>vazão </a:t>
            </a:r>
            <a:r>
              <a:rPr lang="pt-BR" sz="2800" b="1" i="1" dirty="0" smtClean="0"/>
              <a:t>(</a:t>
            </a:r>
            <a:r>
              <a:rPr lang="pt-BR" sz="2800" i="1" dirty="0" smtClean="0"/>
              <a:t>[</a:t>
            </a:r>
            <a:r>
              <a:rPr lang="pt-BR" sz="2800" i="1" dirty="0" err="1" smtClean="0"/>
              <a:t>trougput</a:t>
            </a:r>
            <a:r>
              <a:rPr lang="pt-BR" sz="2800" i="1" dirty="0" smtClean="0"/>
              <a:t>; taxa de transferência;] – quantidade de bits(bytes) transferidos por segundo.</a:t>
            </a:r>
            <a:r>
              <a:rPr lang="pt-BR" sz="2800" b="1" i="1" dirty="0" smtClean="0"/>
              <a:t>)</a:t>
            </a:r>
            <a:r>
              <a:rPr lang="pt-BR" sz="2800" i="1" dirty="0" smtClean="0"/>
              <a:t> </a:t>
            </a:r>
            <a:endParaRPr lang="pt-BR" sz="2800" b="1" i="1" dirty="0" smtClean="0">
              <a:solidFill>
                <a:srgbClr val="FF0000"/>
              </a:solidFill>
            </a:endParaRPr>
          </a:p>
          <a:p>
            <a:pPr algn="just" eaLnBrk="1" hangingPunct="1"/>
            <a:r>
              <a:rPr lang="pt-BR" sz="2800" dirty="0" smtClean="0"/>
              <a:t> (aproximadamente 100, 200, 300 MB/s) . Velocidade de rotação: 7200  rpm.</a:t>
            </a:r>
          </a:p>
          <a:p>
            <a:pPr algn="just" eaLnBrk="1" hangingPunct="1"/>
            <a:r>
              <a:rPr lang="pt-BR" sz="2800" dirty="0" smtClean="0"/>
              <a:t>Jumpers: </a:t>
            </a:r>
            <a:r>
              <a:rPr lang="pt-BR" sz="2800" dirty="0" err="1" smtClean="0"/>
              <a:t>master</a:t>
            </a:r>
            <a:r>
              <a:rPr lang="pt-BR" sz="2800" dirty="0" smtClean="0"/>
              <a:t> ou </a:t>
            </a:r>
            <a:r>
              <a:rPr lang="pt-BR" sz="2800" dirty="0" err="1" smtClean="0"/>
              <a:t>slave</a:t>
            </a:r>
            <a:endParaRPr lang="pt-BR" sz="2800" dirty="0" smtClean="0"/>
          </a:p>
          <a:p>
            <a:pPr eaLnBrk="1" hangingPunct="1">
              <a:buFont typeface="Arial" charset="0"/>
              <a:buNone/>
            </a:pPr>
            <a:endParaRPr lang="pt-BR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Título 1"/>
          <p:cNvSpPr>
            <a:spLocks noGrp="1"/>
          </p:cNvSpPr>
          <p:nvPr>
            <p:ph type="title"/>
          </p:nvPr>
        </p:nvSpPr>
        <p:spPr>
          <a:xfrm>
            <a:off x="323528" y="274638"/>
            <a:ext cx="8363272" cy="561975"/>
          </a:xfrm>
        </p:spPr>
        <p:txBody>
          <a:bodyPr>
            <a:noAutofit/>
          </a:bodyPr>
          <a:lstStyle/>
          <a:p>
            <a:pPr marL="514350" indent="-514350" eaLnBrk="1" hangingPunct="1"/>
            <a:r>
              <a:rPr lang="pt-BR" sz="3200" b="1" u="sng" dirty="0" smtClean="0"/>
              <a:t>Não esqueça: Componentes de armazenamento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981075"/>
            <a:ext cx="8435975" cy="5400675"/>
          </a:xfrm>
        </p:spPr>
        <p:txBody>
          <a:bodyPr>
            <a:normAutofit fontScale="92500" lnSpcReduction="10000"/>
          </a:bodyPr>
          <a:lstStyle/>
          <a:p>
            <a:pPr algn="just" eaLnBrk="1" hangingPunct="1">
              <a:buFont typeface="Arial" charset="0"/>
              <a:buNone/>
              <a:defRPr/>
            </a:pPr>
            <a:r>
              <a:rPr lang="pt-BR" b="1" dirty="0" smtClean="0"/>
              <a:t>Caracterize: </a:t>
            </a:r>
          </a:p>
          <a:p>
            <a:pPr marL="514350" indent="-514350" algn="just" eaLnBrk="1" hangingPunct="1">
              <a:defRPr/>
            </a:pPr>
            <a:r>
              <a:rPr lang="pt-BR" sz="2800" u="sng" dirty="0" err="1" smtClean="0"/>
              <a:t>Particionamento</a:t>
            </a:r>
            <a:r>
              <a:rPr lang="pt-BR" sz="2800" u="sng" dirty="0" smtClean="0"/>
              <a:t>: programa </a:t>
            </a:r>
            <a:r>
              <a:rPr lang="pt-BR" sz="2800" dirty="0" err="1" smtClean="0"/>
              <a:t>Fdisk</a:t>
            </a:r>
            <a:r>
              <a:rPr lang="pt-BR" sz="2800" dirty="0" smtClean="0"/>
              <a:t>.</a:t>
            </a:r>
          </a:p>
          <a:p>
            <a:pPr algn="just" eaLnBrk="1" hangingPunct="1">
              <a:defRPr/>
            </a:pPr>
            <a:endParaRPr lang="pt-BR" sz="2800" u="sng" dirty="0" smtClean="0"/>
          </a:p>
          <a:p>
            <a:pPr algn="just" eaLnBrk="1" hangingPunct="1">
              <a:defRPr/>
            </a:pPr>
            <a:r>
              <a:rPr lang="pt-BR" sz="2800" u="sng" dirty="0" smtClean="0"/>
              <a:t>Formatação: </a:t>
            </a:r>
            <a:r>
              <a:rPr lang="pt-BR" sz="2800" dirty="0" smtClean="0"/>
              <a:t>Programa </a:t>
            </a:r>
            <a:r>
              <a:rPr lang="pt-BR" sz="2800" dirty="0" err="1" smtClean="0"/>
              <a:t>Format</a:t>
            </a:r>
            <a:r>
              <a:rPr lang="pt-BR" sz="2800" dirty="0" smtClean="0"/>
              <a:t>.</a:t>
            </a:r>
          </a:p>
          <a:p>
            <a:pPr algn="just" eaLnBrk="1" hangingPunct="1">
              <a:defRPr/>
            </a:pPr>
            <a:r>
              <a:rPr lang="pt-BR" sz="2800" dirty="0" smtClean="0"/>
              <a:t>Caracterize o tipo de formatação da unidade do laboratório.  NTFS</a:t>
            </a:r>
          </a:p>
          <a:p>
            <a:pPr algn="just" eaLnBrk="1" hangingPunct="1">
              <a:defRPr/>
            </a:pPr>
            <a:endParaRPr lang="pt-BR" sz="2800" dirty="0" smtClean="0"/>
          </a:p>
          <a:p>
            <a:pPr algn="just" eaLnBrk="1" hangingPunct="1">
              <a:defRPr/>
            </a:pPr>
            <a:r>
              <a:rPr lang="pt-BR" sz="2800" u="sng" dirty="0" err="1" smtClean="0"/>
              <a:t>Grub</a:t>
            </a:r>
            <a:r>
              <a:rPr lang="pt-BR" sz="2800" u="sng" dirty="0" smtClean="0"/>
              <a:t>: gerenciador de boot </a:t>
            </a:r>
            <a:r>
              <a:rPr lang="pt-BR" sz="2800" dirty="0" smtClean="0"/>
              <a:t>- (caracterize).</a:t>
            </a:r>
          </a:p>
          <a:p>
            <a:pPr algn="just" eaLnBrk="1" hangingPunct="1">
              <a:defRPr/>
            </a:pPr>
            <a:endParaRPr lang="pt-BR" sz="2800" dirty="0" smtClean="0"/>
          </a:p>
          <a:p>
            <a:pPr algn="just" eaLnBrk="1" hangingPunct="1">
              <a:defRPr/>
            </a:pPr>
            <a:r>
              <a:rPr lang="pt-BR" sz="2800" u="sng" dirty="0" smtClean="0"/>
              <a:t>Tipos de formatação: </a:t>
            </a:r>
            <a:r>
              <a:rPr lang="pt-BR" sz="2800" dirty="0" smtClean="0"/>
              <a:t>Apresente e diga os SO onde são usados os vários tipos de formatação.</a:t>
            </a:r>
          </a:p>
          <a:p>
            <a:pPr algn="just" eaLnBrk="1" hangingPunct="1">
              <a:defRPr/>
            </a:pPr>
            <a:r>
              <a:rPr lang="pt-BR" sz="2800" dirty="0" smtClean="0"/>
              <a:t>Responda. </a:t>
            </a:r>
            <a:r>
              <a:rPr lang="pt-BR" sz="2800" b="1" dirty="0" smtClean="0"/>
              <a:t>Qual a formatação aplicada ao pen drive? </a:t>
            </a:r>
            <a:endParaRPr lang="pt-BR" sz="28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MBR – </a:t>
            </a:r>
            <a:r>
              <a:rPr lang="pt-BR" dirty="0" err="1" smtClean="0"/>
              <a:t>Master</a:t>
            </a:r>
            <a:r>
              <a:rPr lang="pt-BR" dirty="0" smtClean="0"/>
              <a:t> </a:t>
            </a:r>
            <a:r>
              <a:rPr lang="pt-BR" smtClean="0"/>
              <a:t>Boot Record??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Setor do HD com informações do Boot e das partições do dispositivo (HD).</a:t>
            </a:r>
          </a:p>
          <a:p>
            <a:pPr>
              <a:buNone/>
            </a:pPr>
            <a:r>
              <a:rPr lang="pt-BR" dirty="0" smtClean="0"/>
              <a:t>    Mesmo que o HD possua várias partições, o MBR é único.</a:t>
            </a:r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418058"/>
          </a:xfrm>
        </p:spPr>
        <p:txBody>
          <a:bodyPr>
            <a:normAutofit fontScale="90000"/>
          </a:bodyPr>
          <a:lstStyle/>
          <a:p>
            <a:r>
              <a:rPr lang="pt-BR" sz="3100" dirty="0" smtClean="0"/>
              <a:t>Responda</a:t>
            </a:r>
            <a:r>
              <a:rPr lang="pt-BR" dirty="0" smtClean="0"/>
              <a:t>.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45435"/>
          </a:xfrm>
        </p:spPr>
        <p:txBody>
          <a:bodyPr>
            <a:normAutofit fontScale="70000" lnSpcReduction="20000"/>
          </a:bodyPr>
          <a:lstStyle/>
          <a:p>
            <a:pPr marL="514350" indent="-514350">
              <a:buAutoNum type="arabicPeriod"/>
            </a:pPr>
            <a:r>
              <a:rPr lang="pt-BR" dirty="0" smtClean="0"/>
              <a:t>Estime o tempo para um HD de 10000 </a:t>
            </a:r>
            <a:r>
              <a:rPr lang="pt-BR" dirty="0" err="1" smtClean="0"/>
              <a:t>rpm</a:t>
            </a:r>
            <a:r>
              <a:rPr lang="pt-BR" dirty="0" smtClean="0"/>
              <a:t> efetuar meia rotação.</a:t>
            </a:r>
          </a:p>
          <a:p>
            <a:pPr marL="514350" indent="-514350">
              <a:buAutoNum type="arabicPeriod"/>
            </a:pPr>
            <a:r>
              <a:rPr lang="pt-BR" dirty="0" smtClean="0"/>
              <a:t>Quais os métodos de formatação para:     DOS:                Linux:              Windows:</a:t>
            </a:r>
          </a:p>
          <a:p>
            <a:pPr marL="514350" indent="-514350">
              <a:buAutoNum type="arabicPeriod"/>
            </a:pPr>
            <a:r>
              <a:rPr lang="pt-BR" dirty="0" smtClean="0"/>
              <a:t>Diferencie formatação física e lógica.</a:t>
            </a:r>
          </a:p>
          <a:p>
            <a:pPr marL="514350" indent="-514350">
              <a:buAutoNum type="arabicPeriod"/>
            </a:pPr>
            <a:r>
              <a:rPr lang="pt-BR" dirty="0" smtClean="0"/>
              <a:t>Quais as funções do:</a:t>
            </a:r>
          </a:p>
          <a:p>
            <a:pPr marL="514350" indent="-514350">
              <a:buNone/>
            </a:pPr>
            <a:r>
              <a:rPr lang="pt-BR" dirty="0" smtClean="0"/>
              <a:t>       FORMAT: </a:t>
            </a:r>
          </a:p>
          <a:p>
            <a:pPr marL="514350" indent="-514350">
              <a:buNone/>
            </a:pPr>
            <a:endParaRPr lang="pt-BR" dirty="0" smtClean="0"/>
          </a:p>
          <a:p>
            <a:pPr marL="514350" indent="-514350">
              <a:buNone/>
            </a:pPr>
            <a:r>
              <a:rPr lang="pt-BR" dirty="0" smtClean="0"/>
              <a:t>       FDISK:</a:t>
            </a:r>
          </a:p>
          <a:p>
            <a:pPr marL="514350" indent="-514350">
              <a:buNone/>
            </a:pPr>
            <a:endParaRPr lang="pt-BR" dirty="0" smtClean="0"/>
          </a:p>
          <a:p>
            <a:pPr marL="514350" indent="-514350">
              <a:buNone/>
            </a:pPr>
            <a:r>
              <a:rPr lang="pt-BR" dirty="0" smtClean="0"/>
              <a:t>5.    Diferencie Blocos e Clusters.</a:t>
            </a:r>
          </a:p>
          <a:p>
            <a:pPr marL="514350" indent="-514350">
              <a:buNone/>
            </a:pPr>
            <a:endParaRPr lang="pt-BR" dirty="0" smtClean="0"/>
          </a:p>
          <a:p>
            <a:pPr marL="514350" indent="-514350">
              <a:buNone/>
            </a:pPr>
            <a:r>
              <a:rPr lang="pt-BR" dirty="0" smtClean="0"/>
              <a:t>6. Quantos endereços são criados em: </a:t>
            </a:r>
          </a:p>
          <a:p>
            <a:pPr marL="514350" indent="-514350">
              <a:buNone/>
            </a:pPr>
            <a:r>
              <a:rPr lang="pt-BR" dirty="0" smtClean="0"/>
              <a:t> FAT12:                                            FAT16:                             FAT32: </a:t>
            </a:r>
          </a:p>
          <a:p>
            <a:pPr marL="514350" indent="-514350">
              <a:buNone/>
            </a:pPr>
            <a:r>
              <a:rPr lang="pt-BR" dirty="0" smtClean="0"/>
              <a:t> NTFS:                                              EXT3:</a:t>
            </a:r>
          </a:p>
          <a:p>
            <a:pPr marL="514350" indent="-514350">
              <a:buNone/>
            </a:pPr>
            <a:r>
              <a:rPr lang="pt-BR" dirty="0" smtClean="0"/>
              <a:t>    </a:t>
            </a:r>
          </a:p>
          <a:p>
            <a:pPr marL="514350" indent="-514350">
              <a:buAutoNum type="arabicPeriod"/>
            </a:pPr>
            <a:endParaRPr lang="pt-BR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418058"/>
          </a:xfrm>
        </p:spPr>
        <p:txBody>
          <a:bodyPr>
            <a:normAutofit fontScale="90000"/>
          </a:bodyPr>
          <a:lstStyle/>
          <a:p>
            <a:r>
              <a:rPr lang="pt-BR" sz="3100" dirty="0" smtClean="0"/>
              <a:t>Responda</a:t>
            </a:r>
            <a:r>
              <a:rPr lang="pt-BR" dirty="0" smtClean="0"/>
              <a:t>.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251520" y="980728"/>
            <a:ext cx="8496944" cy="5145435"/>
          </a:xfrm>
        </p:spPr>
        <p:txBody>
          <a:bodyPr/>
          <a:lstStyle/>
          <a:p>
            <a:pPr>
              <a:buNone/>
            </a:pPr>
            <a:r>
              <a:rPr lang="pt-BR" dirty="0" smtClean="0"/>
              <a:t>7. Calcule a capacidade máxima para FAT 32 com cluster de 32 Blocos.</a:t>
            </a:r>
          </a:p>
          <a:p>
            <a:pPr>
              <a:buNone/>
            </a:pPr>
            <a:endParaRPr lang="pt-BR" dirty="0" smtClean="0"/>
          </a:p>
          <a:p>
            <a:pPr>
              <a:buNone/>
            </a:pPr>
            <a:r>
              <a:rPr lang="pt-BR" dirty="0" smtClean="0"/>
              <a:t>8. Calcule a capacidade de armazenamento EXT3.</a:t>
            </a:r>
          </a:p>
          <a:p>
            <a:pPr>
              <a:buNone/>
            </a:pPr>
            <a:endParaRPr lang="pt-BR" dirty="0" smtClean="0"/>
          </a:p>
          <a:p>
            <a:pPr>
              <a:buNone/>
            </a:pPr>
            <a:r>
              <a:rPr lang="pt-BR" dirty="0" smtClean="0"/>
              <a:t>9. Qual o método de formatação de seu SO:</a:t>
            </a:r>
          </a:p>
          <a:p>
            <a:pPr>
              <a:buNone/>
            </a:pPr>
            <a:endParaRPr lang="pt-BR" dirty="0" smtClean="0"/>
          </a:p>
          <a:p>
            <a:pPr>
              <a:buNone/>
            </a:pPr>
            <a:r>
              <a:rPr lang="pt-BR" dirty="0" smtClean="0"/>
              <a:t>10. Qual o método de formatação do </a:t>
            </a:r>
            <a:r>
              <a:rPr lang="pt-BR" dirty="0" err="1" smtClean="0"/>
              <a:t>pen</a:t>
            </a:r>
            <a:r>
              <a:rPr lang="pt-BR" smtClean="0"/>
              <a:t> drive.</a:t>
            </a:r>
            <a:endParaRPr lang="pt-BR" dirty="0" smtClean="0"/>
          </a:p>
          <a:p>
            <a:pPr>
              <a:buNone/>
            </a:pPr>
            <a:endParaRPr lang="pt-BR" dirty="0" smtClean="0"/>
          </a:p>
          <a:p>
            <a:pPr>
              <a:buNone/>
            </a:pPr>
            <a:endParaRPr lang="pt-BR" dirty="0" smtClean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1399</Words>
  <Application>Microsoft Office PowerPoint</Application>
  <PresentationFormat>Apresentação na tela (4:3)</PresentationFormat>
  <Paragraphs>185</Paragraphs>
  <Slides>19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19</vt:i4>
      </vt:variant>
    </vt:vector>
  </HeadingPairs>
  <TitlesOfParts>
    <vt:vector size="23" baseType="lpstr">
      <vt:lpstr>Arial</vt:lpstr>
      <vt:lpstr>Calibri</vt:lpstr>
      <vt:lpstr>Wingdings</vt:lpstr>
      <vt:lpstr>Tema do Office</vt:lpstr>
      <vt:lpstr>Atividades em sala (6)</vt:lpstr>
      <vt:lpstr>ESTUDO DA FORMATAÇÃO</vt:lpstr>
      <vt:lpstr>FORMATAÇÃO(Relembrando)</vt:lpstr>
      <vt:lpstr>ESTUDO DA FORMATAÇÃO</vt:lpstr>
      <vt:lpstr>Sistema de arquivos</vt:lpstr>
      <vt:lpstr>Cluster</vt:lpstr>
      <vt:lpstr>Capacidade de armazernamento: FAT 16</vt:lpstr>
      <vt:lpstr>Formatação: FAT 16</vt:lpstr>
      <vt:lpstr>FAT 32</vt:lpstr>
      <vt:lpstr>NTFS (New Technology FileSystem)</vt:lpstr>
      <vt:lpstr>EXT3(third extended filesystem-terceiro sistema de arquivo extendido)</vt:lpstr>
      <vt:lpstr>EXT3</vt:lpstr>
      <vt:lpstr>Adendo: Memória Flash</vt:lpstr>
      <vt:lpstr>Tecnologia de HD ParallelATA(IDE)  SerialATA</vt:lpstr>
      <vt:lpstr>Componentes de armazenamento</vt:lpstr>
      <vt:lpstr>Não esqueça: Componentes de armazenamento</vt:lpstr>
      <vt:lpstr>MBR – Master Boot Record??</vt:lpstr>
      <vt:lpstr>Responda.</vt:lpstr>
      <vt:lpstr>Responda.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em sala (3)</dc:title>
  <dc:creator>DTI</dc:creator>
  <cp:lastModifiedBy>professor</cp:lastModifiedBy>
  <cp:revision>52</cp:revision>
  <dcterms:modified xsi:type="dcterms:W3CDTF">2019-04-03T14:16:51Z</dcterms:modified>
</cp:coreProperties>
</file>