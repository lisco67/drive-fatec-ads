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7" r:id="rId9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44" autoAdjust="0"/>
    <p:restoredTop sz="94660"/>
  </p:normalViewPr>
  <p:slideViewPr>
    <p:cSldViewPr>
      <p:cViewPr varScale="1">
        <p:scale>
          <a:sx n="69" d="100"/>
          <a:sy n="69" d="100"/>
        </p:scale>
        <p:origin x="540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20/03/2019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43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pt-BR" u="sng" dirty="0" smtClean="0">
                <a:solidFill>
                  <a:srgbClr val="FF0000"/>
                </a:solidFill>
              </a:rPr>
              <a:t>Atividade 5: Teste de dispositivos </a:t>
            </a:r>
          </a:p>
        </p:txBody>
      </p:sp>
      <p:sp>
        <p:nvSpPr>
          <p:cNvPr id="35843" name="Espaço Reservado para Conteúdo 2"/>
          <p:cNvSpPr>
            <a:spLocks noGrp="1"/>
          </p:cNvSpPr>
          <p:nvPr>
            <p:ph idx="1"/>
          </p:nvPr>
        </p:nvSpPr>
        <p:spPr>
          <a:xfrm>
            <a:off x="431800" y="1196752"/>
            <a:ext cx="8712200" cy="4929188"/>
          </a:xfrm>
        </p:spPr>
        <p:txBody>
          <a:bodyPr>
            <a:normAutofit/>
          </a:bodyPr>
          <a:lstStyle/>
          <a:p>
            <a:pPr algn="just" eaLnBrk="1" hangingPunct="1">
              <a:buFont typeface="Arial" charset="0"/>
              <a:buNone/>
            </a:pPr>
            <a:r>
              <a:rPr lang="pt-BR" sz="2800" dirty="0" smtClean="0"/>
              <a:t>“</a:t>
            </a:r>
            <a:r>
              <a:rPr lang="pt-BR" sz="3600" dirty="0" smtClean="0"/>
              <a:t>Estresse” da CPU: A CPU será colocada em uso intensivo. Serão carregados vários processos em loop de modo a executar vários programas ao mesmo tempo.</a:t>
            </a:r>
          </a:p>
          <a:p>
            <a:pPr eaLnBrk="1" hangingPunct="1"/>
            <a:r>
              <a:rPr lang="pt-BR" sz="3600" dirty="0" smtClean="0"/>
              <a:t>Estes processos serão monitorados pelo gerenciador de recursos</a:t>
            </a:r>
            <a:r>
              <a:rPr lang="pt-BR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ítulo 1"/>
          <p:cNvSpPr>
            <a:spLocks noGrp="1"/>
          </p:cNvSpPr>
          <p:nvPr>
            <p:ph type="title"/>
          </p:nvPr>
        </p:nvSpPr>
        <p:spPr>
          <a:xfrm>
            <a:off x="468313" y="188913"/>
            <a:ext cx="8229600" cy="836612"/>
          </a:xfrm>
        </p:spPr>
        <p:txBody>
          <a:bodyPr/>
          <a:lstStyle/>
          <a:p>
            <a:r>
              <a:rPr lang="pt-BR" sz="3600" b="1" u="sng" smtClean="0"/>
              <a:t>Padrões de sistemas computadorizados</a:t>
            </a:r>
          </a:p>
        </p:txBody>
      </p:sp>
      <p:sp>
        <p:nvSpPr>
          <p:cNvPr id="36867" name="Espaço Reservado para Conteúdo 2"/>
          <p:cNvSpPr>
            <a:spLocks noGrp="1"/>
          </p:cNvSpPr>
          <p:nvPr>
            <p:ph idx="1"/>
          </p:nvPr>
        </p:nvSpPr>
        <p:spPr>
          <a:xfrm>
            <a:off x="179388" y="981075"/>
            <a:ext cx="8496300" cy="4929188"/>
          </a:xfrm>
        </p:spPr>
        <p:txBody>
          <a:bodyPr/>
          <a:lstStyle/>
          <a:p>
            <a:pPr algn="just">
              <a:buFont typeface="Arial" charset="0"/>
              <a:buNone/>
            </a:pPr>
            <a:r>
              <a:rPr lang="pt-BR" sz="2800" b="1" i="1" u="sng" dirty="0" smtClean="0"/>
              <a:t>Tabela</a:t>
            </a:r>
            <a:r>
              <a:rPr lang="pt-BR" sz="2800" dirty="0" smtClean="0"/>
              <a:t> </a:t>
            </a:r>
            <a:r>
              <a:rPr lang="pt-BR" sz="2800" b="1" i="1" u="sng" dirty="0" smtClean="0"/>
              <a:t>ASCII</a:t>
            </a:r>
            <a:r>
              <a:rPr lang="pt-BR" sz="2800" dirty="0" smtClean="0"/>
              <a:t> </a:t>
            </a:r>
          </a:p>
          <a:p>
            <a:pPr algn="just">
              <a:buFont typeface="Arial" charset="0"/>
              <a:buNone/>
            </a:pPr>
            <a:r>
              <a:rPr lang="pt-BR" sz="2800" dirty="0" smtClean="0"/>
              <a:t>(</a:t>
            </a:r>
            <a:r>
              <a:rPr lang="pt-BR" sz="2800" dirty="0" err="1" smtClean="0"/>
              <a:t>American</a:t>
            </a:r>
            <a:r>
              <a:rPr lang="pt-BR" sz="2800" dirty="0" smtClean="0"/>
              <a:t> Standard </a:t>
            </a:r>
            <a:r>
              <a:rPr lang="pt-BR" sz="2800" dirty="0" err="1" smtClean="0"/>
              <a:t>Code</a:t>
            </a:r>
            <a:r>
              <a:rPr lang="pt-BR" sz="2800" dirty="0" smtClean="0"/>
              <a:t> for </a:t>
            </a:r>
            <a:r>
              <a:rPr lang="pt-BR" sz="2800" dirty="0" err="1" smtClean="0"/>
              <a:t>Information</a:t>
            </a:r>
            <a:r>
              <a:rPr lang="pt-BR" sz="2800" dirty="0" smtClean="0"/>
              <a:t> </a:t>
            </a:r>
            <a:r>
              <a:rPr lang="pt-BR" sz="2800" dirty="0" err="1" smtClean="0"/>
              <a:t>Interchange</a:t>
            </a:r>
            <a:r>
              <a:rPr lang="pt-BR" sz="2800" dirty="0" smtClean="0"/>
              <a:t>)</a:t>
            </a:r>
          </a:p>
          <a:p>
            <a:pPr algn="just">
              <a:buFont typeface="Arial" charset="0"/>
              <a:buNone/>
            </a:pPr>
            <a:r>
              <a:rPr lang="pt-BR" sz="2800" b="1" dirty="0" smtClean="0"/>
              <a:t>Características: </a:t>
            </a:r>
            <a:r>
              <a:rPr lang="pt-BR" sz="2800" dirty="0" smtClean="0"/>
              <a:t>8 bits para r</a:t>
            </a:r>
            <a:r>
              <a:rPr lang="pt-BR" sz="2800" dirty="0" smtClean="0">
                <a:sym typeface="Wingdings" pitchFamily="2" charset="2"/>
              </a:rPr>
              <a:t>epresentação de números, letras, caracteres gráficos,... </a:t>
            </a:r>
          </a:p>
          <a:p>
            <a:pPr algn="just">
              <a:buFont typeface="Arial" charset="0"/>
              <a:buNone/>
            </a:pPr>
            <a:r>
              <a:rPr lang="pt-BR" sz="2800" dirty="0" smtClean="0">
                <a:sym typeface="Wingdings" pitchFamily="2" charset="2"/>
              </a:rPr>
              <a:t>0 (</a:t>
            </a:r>
            <a:r>
              <a:rPr lang="pt-BR" sz="2800" dirty="0" err="1" smtClean="0">
                <a:sym typeface="Wingdings" pitchFamily="2" charset="2"/>
              </a:rPr>
              <a:t>ascii</a:t>
            </a:r>
            <a:r>
              <a:rPr lang="pt-BR" sz="2800" dirty="0" smtClean="0">
                <a:sym typeface="Wingdings" pitchFamily="2" charset="2"/>
              </a:rPr>
              <a:t>) 30(h); 1  31(h),..</a:t>
            </a:r>
          </a:p>
          <a:p>
            <a:pPr algn="just">
              <a:buFont typeface="Arial" charset="0"/>
              <a:buNone/>
            </a:pPr>
            <a:r>
              <a:rPr lang="pt-BR" sz="2800" b="1" i="1" u="sng" dirty="0" smtClean="0">
                <a:sym typeface="Wingdings" pitchFamily="2" charset="2"/>
              </a:rPr>
              <a:t>COM – interface para saída serial: </a:t>
            </a:r>
            <a:r>
              <a:rPr lang="pt-BR" sz="2800" dirty="0" smtClean="0">
                <a:sym typeface="Wingdings" pitchFamily="2" charset="2"/>
              </a:rPr>
              <a:t>COM0; COM1; COM2; COM3; (</a:t>
            </a:r>
            <a:r>
              <a:rPr lang="pt-BR" sz="2800" dirty="0" err="1" smtClean="0">
                <a:sym typeface="Wingdings" pitchFamily="2" charset="2"/>
              </a:rPr>
              <a:t>COMunicação</a:t>
            </a:r>
            <a:r>
              <a:rPr lang="pt-BR" sz="2800" dirty="0" smtClean="0">
                <a:sym typeface="Wingdings" pitchFamily="2" charset="2"/>
              </a:rPr>
              <a:t>).</a:t>
            </a:r>
          </a:p>
          <a:p>
            <a:pPr algn="just">
              <a:buFont typeface="Arial" charset="0"/>
              <a:buNone/>
            </a:pPr>
            <a:r>
              <a:rPr lang="pt-BR" sz="2800" b="1" i="1" u="sng" dirty="0" smtClean="0">
                <a:sym typeface="Wingdings" pitchFamily="2" charset="2"/>
              </a:rPr>
              <a:t>USB: Universal Serial Bus</a:t>
            </a:r>
          </a:p>
          <a:p>
            <a:pPr algn="just">
              <a:buFont typeface="Arial" charset="0"/>
              <a:buNone/>
            </a:pPr>
            <a:r>
              <a:rPr lang="pt-BR" sz="2800" b="1" i="1" u="sng" dirty="0" smtClean="0">
                <a:sym typeface="Wingdings" pitchFamily="2" charset="2"/>
              </a:rPr>
              <a:t>Atividade:</a:t>
            </a:r>
            <a:r>
              <a:rPr lang="pt-BR" sz="2800" b="1" dirty="0" smtClean="0">
                <a:sym typeface="Wingdings" pitchFamily="2" charset="2"/>
              </a:rPr>
              <a:t> </a:t>
            </a:r>
            <a:r>
              <a:rPr lang="pt-BR" sz="2800" dirty="0" smtClean="0">
                <a:sym typeface="Wingdings" pitchFamily="2" charset="2"/>
              </a:rPr>
              <a:t>Padrões  e Taxas de Transferência das interfaces USB (Internet).</a:t>
            </a:r>
            <a:endParaRPr lang="pt-BR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1975"/>
          </a:xfrm>
        </p:spPr>
        <p:txBody>
          <a:bodyPr>
            <a:normAutofit fontScale="90000"/>
          </a:bodyPr>
          <a:lstStyle/>
          <a:p>
            <a:r>
              <a:rPr lang="pt-BR" b="1" u="sng" smtClean="0"/>
              <a:t>Recursos do MS-DOS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79388" y="981075"/>
            <a:ext cx="8785225" cy="5400675"/>
          </a:xfrm>
        </p:spPr>
        <p:txBody>
          <a:bodyPr/>
          <a:lstStyle/>
          <a:p>
            <a:pPr marL="514350" indent="-514350" algn="ctr" eaLnBrk="1" hangingPunct="1">
              <a:buFont typeface="Arial" charset="0"/>
              <a:buNone/>
              <a:defRPr/>
            </a:pPr>
            <a:r>
              <a:rPr lang="pt-BR" b="1" i="1" u="sng" dirty="0" smtClean="0"/>
              <a:t> </a:t>
            </a:r>
            <a:r>
              <a:rPr lang="pt-BR" sz="2800" b="1" i="1" u="sng" dirty="0" smtClean="0"/>
              <a:t>(MS-DOS): </a:t>
            </a:r>
            <a:r>
              <a:rPr lang="pt-BR" sz="2400" b="1" i="1" u="sng" dirty="0" smtClean="0"/>
              <a:t>EMULADO NO WINDOWS</a:t>
            </a:r>
          </a:p>
          <a:p>
            <a:pPr algn="just" eaLnBrk="1" hangingPunct="1">
              <a:buFont typeface="Arial" charset="0"/>
              <a:buNone/>
              <a:defRPr/>
            </a:pPr>
            <a:r>
              <a:rPr lang="pt-BR" sz="2800" dirty="0" smtClean="0"/>
              <a:t>Interface com o hardware em modo texto. Comandos</a:t>
            </a:r>
          </a:p>
          <a:p>
            <a:pPr algn="just" eaLnBrk="1" hangingPunct="1">
              <a:defRPr/>
            </a:pPr>
            <a:r>
              <a:rPr lang="pt-BR" dirty="0" smtClean="0"/>
              <a:t>Mostrar Diretórios: </a:t>
            </a:r>
            <a:r>
              <a:rPr lang="pt-BR" b="1" dirty="0" smtClean="0"/>
              <a:t>DIR</a:t>
            </a:r>
          </a:p>
          <a:p>
            <a:pPr algn="just" eaLnBrk="1" hangingPunct="1">
              <a:defRPr/>
            </a:pPr>
            <a:r>
              <a:rPr lang="pt-BR" dirty="0" smtClean="0"/>
              <a:t>Mostrar conteúdo de arquivos: </a:t>
            </a:r>
            <a:r>
              <a:rPr lang="pt-BR" sz="2800" b="1" dirty="0" smtClean="0"/>
              <a:t>TYPE</a:t>
            </a:r>
            <a:r>
              <a:rPr lang="pt-BR" sz="2800" dirty="0" smtClean="0"/>
              <a:t> </a:t>
            </a:r>
            <a:r>
              <a:rPr lang="pt-BR" sz="2800" b="1" dirty="0" err="1" smtClean="0"/>
              <a:t>nome_arquivo</a:t>
            </a:r>
            <a:r>
              <a:rPr lang="pt-BR" sz="2800" dirty="0" smtClean="0"/>
              <a:t>.</a:t>
            </a:r>
          </a:p>
          <a:p>
            <a:pPr algn="just" eaLnBrk="1" hangingPunct="1">
              <a:defRPr/>
            </a:pPr>
            <a:r>
              <a:rPr lang="pt-BR" dirty="0" smtClean="0"/>
              <a:t>Criar/editar arquivo:  </a:t>
            </a:r>
            <a:r>
              <a:rPr lang="pt-BR" b="1" dirty="0" smtClean="0"/>
              <a:t>EDIT</a:t>
            </a:r>
            <a:r>
              <a:rPr lang="pt-BR" dirty="0" smtClean="0"/>
              <a:t> </a:t>
            </a:r>
            <a:r>
              <a:rPr lang="pt-BR" b="1" dirty="0" smtClean="0"/>
              <a:t>nome-arquivo</a:t>
            </a:r>
          </a:p>
          <a:p>
            <a:pPr algn="just" eaLnBrk="1" hangingPunct="1">
              <a:defRPr/>
            </a:pPr>
            <a:r>
              <a:rPr lang="pt-BR" dirty="0" smtClean="0">
                <a:sym typeface="Wingdings" pitchFamily="2" charset="2"/>
              </a:rPr>
              <a:t>“Limpa a Tela”: </a:t>
            </a:r>
            <a:r>
              <a:rPr lang="pt-BR" b="1" dirty="0" smtClean="0">
                <a:sym typeface="Wingdings" pitchFamily="2" charset="2"/>
              </a:rPr>
              <a:t>CLS</a:t>
            </a:r>
            <a:endParaRPr lang="pt-BR" b="1" dirty="0" smtClean="0"/>
          </a:p>
          <a:p>
            <a:pPr algn="just" eaLnBrk="1" hangingPunct="1">
              <a:defRPr/>
            </a:pPr>
            <a:r>
              <a:rPr lang="pt-BR" dirty="0" smtClean="0"/>
              <a:t>Gerenciamento de pastas e arquivos: </a:t>
            </a:r>
            <a:r>
              <a:rPr lang="pt-BR" b="1" dirty="0" smtClean="0"/>
              <a:t>MD</a:t>
            </a:r>
            <a:r>
              <a:rPr lang="pt-BR" dirty="0" smtClean="0"/>
              <a:t> (CRIA), </a:t>
            </a:r>
            <a:r>
              <a:rPr lang="pt-BR" b="1" dirty="0" err="1" smtClean="0"/>
              <a:t>RMdir</a:t>
            </a:r>
            <a:r>
              <a:rPr lang="pt-BR" dirty="0" smtClean="0"/>
              <a:t> (REMOVE), </a:t>
            </a:r>
            <a:r>
              <a:rPr lang="pt-BR" b="1" dirty="0" smtClean="0"/>
              <a:t>CD</a:t>
            </a:r>
            <a:r>
              <a:rPr lang="pt-BR" dirty="0" smtClean="0"/>
              <a:t> (TROCA).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800" b="1" dirty="0" smtClean="0"/>
              <a:t>Atividade: </a:t>
            </a:r>
            <a:r>
              <a:rPr lang="pt-BR" sz="2800" dirty="0" smtClean="0">
                <a:solidFill>
                  <a:srgbClr val="FF0000"/>
                </a:solidFill>
              </a:rPr>
              <a:t>Estresse da CPU (uso intensivo da CPU).</a:t>
            </a:r>
            <a:br>
              <a:rPr lang="pt-BR" sz="2800" dirty="0" smtClean="0">
                <a:solidFill>
                  <a:srgbClr val="FF0000"/>
                </a:solidFill>
              </a:rPr>
            </a:br>
            <a:r>
              <a:rPr lang="pt-BR" sz="2800" dirty="0" smtClean="0">
                <a:solidFill>
                  <a:srgbClr val="FF0000"/>
                </a:solidFill>
              </a:rPr>
              <a:t> </a:t>
            </a:r>
            <a:r>
              <a:rPr lang="pt-BR" sz="2800" b="1" i="1" u="sng" dirty="0" smtClean="0">
                <a:solidFill>
                  <a:srgbClr val="00B050"/>
                </a:solidFill>
              </a:rPr>
              <a:t>(CPU  BOUND??).</a:t>
            </a:r>
            <a:endParaRPr lang="pt-BR" sz="2800" dirty="0" smtClean="0"/>
          </a:p>
        </p:txBody>
      </p:sp>
      <p:sp>
        <p:nvSpPr>
          <p:cNvPr id="43011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975" cy="4924425"/>
          </a:xfrm>
        </p:spPr>
        <p:txBody>
          <a:bodyPr>
            <a:normAutofit lnSpcReduction="10000"/>
          </a:bodyPr>
          <a:lstStyle/>
          <a:p>
            <a:pPr algn="just" eaLnBrk="1" hangingPunct="1"/>
            <a:r>
              <a:rPr lang="pt-BR" sz="2400" dirty="0" smtClean="0"/>
              <a:t>Programação com o utilitário DEBUG (ASSEMBLY)</a:t>
            </a:r>
          </a:p>
          <a:p>
            <a:pPr algn="just"/>
            <a:r>
              <a:rPr lang="pt-BR" sz="2400" dirty="0" smtClean="0"/>
              <a:t>A 100  &lt;ENTER&gt;</a:t>
            </a:r>
          </a:p>
          <a:p>
            <a:pPr algn="just"/>
            <a:r>
              <a:rPr lang="pt-BR" sz="2400" dirty="0" smtClean="0"/>
              <a:t>0B07:0100      MOV AX, CAFE &lt;ENTER&gt; </a:t>
            </a:r>
          </a:p>
          <a:p>
            <a:pPr algn="just"/>
            <a:r>
              <a:rPr lang="pt-BR" sz="2400" dirty="0" smtClean="0"/>
              <a:t>0B07:0102      MOV BX, 1234 &lt;ENTER&gt;</a:t>
            </a:r>
          </a:p>
          <a:p>
            <a:pPr algn="just"/>
            <a:r>
              <a:rPr lang="pt-BR" sz="2400" dirty="0" smtClean="0"/>
              <a:t>0B07:0105      SUB AX,BX &lt;ENTER&gt;</a:t>
            </a:r>
          </a:p>
          <a:p>
            <a:pPr algn="just"/>
            <a:r>
              <a:rPr lang="pt-BR" sz="2400" dirty="0" smtClean="0"/>
              <a:t>0B07:0107      JMP 100 &lt;ENTER&gt;   ;       salto incondicional </a:t>
            </a:r>
          </a:p>
          <a:p>
            <a:pPr algn="just"/>
            <a:r>
              <a:rPr lang="pt-BR" sz="2400" dirty="0" smtClean="0"/>
              <a:t>0B07:0109      &lt;ENTER&gt;</a:t>
            </a:r>
          </a:p>
          <a:p>
            <a:pPr algn="just">
              <a:buNone/>
            </a:pPr>
            <a:r>
              <a:rPr lang="pt-BR" sz="2400" dirty="0" smtClean="0"/>
              <a:t>      -</a:t>
            </a:r>
          </a:p>
          <a:p>
            <a:pPr algn="just"/>
            <a:r>
              <a:rPr lang="pt-BR" sz="2400" dirty="0" smtClean="0"/>
              <a:t>VOLTA PARA O DEBUG</a:t>
            </a:r>
          </a:p>
          <a:p>
            <a:pPr algn="just"/>
            <a:r>
              <a:rPr lang="pt-BR" sz="2400" dirty="0" smtClean="0"/>
              <a:t>G 010A   </a:t>
            </a:r>
            <a:r>
              <a:rPr lang="pt-BR" sz="2400" dirty="0" smtClean="0">
                <a:sym typeface="Wingdings" pitchFamily="2" charset="2"/>
              </a:rPr>
              <a:t> executar o programa</a:t>
            </a:r>
          </a:p>
          <a:p>
            <a:pPr algn="just">
              <a:buFont typeface="Arial" charset="0"/>
              <a:buNone/>
            </a:pPr>
            <a:r>
              <a:rPr lang="pt-BR" sz="2400" dirty="0" smtClean="0">
                <a:solidFill>
                  <a:srgbClr val="FF0000"/>
                </a:solidFill>
                <a:sym typeface="Wingdings" pitchFamily="2" charset="2"/>
              </a:rPr>
              <a:t>Nota: antes de executar o programa (g 010A), ative o gerenciador de tarefas e monitore o desempenho</a:t>
            </a:r>
            <a:endParaRPr lang="pt-BR" sz="2400" dirty="0" smtClean="0">
              <a:solidFill>
                <a:srgbClr val="FF0000"/>
              </a:solidFill>
            </a:endParaRPr>
          </a:p>
          <a:p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ítulo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1228725"/>
          </a:xfrm>
        </p:spPr>
        <p:txBody>
          <a:bodyPr/>
          <a:lstStyle/>
          <a:p>
            <a:r>
              <a:rPr lang="pt-BR" sz="2800" b="1" dirty="0" smtClean="0"/>
              <a:t>Atividade: </a:t>
            </a:r>
            <a:r>
              <a:rPr lang="pt-BR" sz="2800" dirty="0" smtClean="0">
                <a:solidFill>
                  <a:srgbClr val="FF0000"/>
                </a:solidFill>
              </a:rPr>
              <a:t>Estresse de dispositivo (acesso a dispositivo)</a:t>
            </a:r>
            <a:br>
              <a:rPr lang="pt-BR" sz="2800" dirty="0" smtClean="0">
                <a:solidFill>
                  <a:srgbClr val="FF0000"/>
                </a:solidFill>
              </a:rPr>
            </a:br>
            <a:r>
              <a:rPr lang="pt-BR" sz="2800" dirty="0" smtClean="0">
                <a:solidFill>
                  <a:srgbClr val="FF0000"/>
                </a:solidFill>
              </a:rPr>
              <a:t> </a:t>
            </a:r>
            <a:r>
              <a:rPr lang="pt-BR" sz="2800" b="1" i="1" u="sng" dirty="0" smtClean="0">
                <a:solidFill>
                  <a:srgbClr val="00B050"/>
                </a:solidFill>
              </a:rPr>
              <a:t>(I/O  BOUND??).</a:t>
            </a:r>
            <a:endParaRPr lang="pt-BR" sz="2800" dirty="0" smtClean="0"/>
          </a:p>
        </p:txBody>
      </p:sp>
      <p:sp>
        <p:nvSpPr>
          <p:cNvPr id="44035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975" cy="4924425"/>
          </a:xfrm>
        </p:spPr>
        <p:txBody>
          <a:bodyPr/>
          <a:lstStyle/>
          <a:p>
            <a:pPr algn="just" eaLnBrk="1" hangingPunct="1"/>
            <a:r>
              <a:rPr lang="pt-BR" sz="2400" smtClean="0"/>
              <a:t>Programação com o utilitário DEBUG (ASSEMBLY)</a:t>
            </a:r>
          </a:p>
          <a:p>
            <a:pPr algn="just"/>
            <a:r>
              <a:rPr lang="pt-BR" sz="2400" smtClean="0"/>
              <a:t>A 100  &lt;ENTER&gt;</a:t>
            </a:r>
          </a:p>
          <a:p>
            <a:pPr algn="just"/>
            <a:r>
              <a:rPr lang="pt-BR" sz="2400" smtClean="0"/>
              <a:t>MOV AH, 02 &lt;ENTER&gt;   ; função escrever um caractere</a:t>
            </a:r>
          </a:p>
          <a:p>
            <a:pPr algn="just"/>
            <a:r>
              <a:rPr lang="pt-BR" sz="2400" smtClean="0"/>
              <a:t>MOV AL,30 &lt;ENTER&gt;     ; Caractere (30)  ZERO ASCII</a:t>
            </a:r>
          </a:p>
          <a:p>
            <a:pPr algn="just"/>
            <a:r>
              <a:rPr lang="pt-BR" sz="2400" smtClean="0"/>
              <a:t>INT 21 &lt;ENTER&gt;              ; Interrupção de SW (biblioteca DOS)</a:t>
            </a:r>
          </a:p>
          <a:p>
            <a:pPr algn="just"/>
            <a:r>
              <a:rPr lang="pt-BR" sz="2400" smtClean="0"/>
              <a:t>JMP 104 &lt;ENTER&gt;   ;       salto incondicional </a:t>
            </a:r>
          </a:p>
          <a:p>
            <a:pPr algn="just"/>
            <a:r>
              <a:rPr lang="pt-BR" sz="2400" smtClean="0"/>
              <a:t>&lt;ENTER&gt;                           ; encerra assembly</a:t>
            </a:r>
          </a:p>
          <a:p>
            <a:pPr algn="just"/>
            <a:r>
              <a:rPr lang="pt-BR" sz="2400" smtClean="0"/>
              <a:t>G 010A   </a:t>
            </a:r>
            <a:r>
              <a:rPr lang="pt-BR" sz="2400" smtClean="0">
                <a:sym typeface="Wingdings" pitchFamily="2" charset="2"/>
              </a:rPr>
              <a:t> executar o programa</a:t>
            </a:r>
          </a:p>
          <a:p>
            <a:pPr algn="just">
              <a:buFont typeface="Arial" charset="0"/>
              <a:buNone/>
            </a:pPr>
            <a:r>
              <a:rPr lang="pt-BR" sz="2400" smtClean="0">
                <a:solidFill>
                  <a:srgbClr val="FF0000"/>
                </a:solidFill>
                <a:sym typeface="Wingdings" pitchFamily="2" charset="2"/>
              </a:rPr>
              <a:t>Nota: antes de executar o programa (g 010A)., ative o gerenciador de tarefas e monitore o desempenho</a:t>
            </a:r>
            <a:endParaRPr lang="pt-BR" sz="2400" smtClean="0">
              <a:solidFill>
                <a:srgbClr val="FF0000"/>
              </a:solidFill>
            </a:endParaRPr>
          </a:p>
          <a:p>
            <a:endParaRPr lang="pt-BR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ítulo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1228725"/>
          </a:xfrm>
        </p:spPr>
        <p:txBody>
          <a:bodyPr/>
          <a:lstStyle/>
          <a:p>
            <a:r>
              <a:rPr lang="pt-BR" sz="2800" b="1" smtClean="0"/>
              <a:t>Atividade: </a:t>
            </a:r>
            <a:r>
              <a:rPr lang="pt-BR" sz="2800" smtClean="0">
                <a:solidFill>
                  <a:srgbClr val="FF0000"/>
                </a:solidFill>
              </a:rPr>
              <a:t>Estresse de dispositivo (acesso a dispositivo)</a:t>
            </a:r>
            <a:br>
              <a:rPr lang="pt-BR" sz="2800" smtClean="0">
                <a:solidFill>
                  <a:srgbClr val="FF0000"/>
                </a:solidFill>
              </a:rPr>
            </a:br>
            <a:r>
              <a:rPr lang="pt-BR" sz="2800" smtClean="0">
                <a:solidFill>
                  <a:srgbClr val="FF0000"/>
                </a:solidFill>
              </a:rPr>
              <a:t> </a:t>
            </a:r>
            <a:r>
              <a:rPr lang="pt-BR" sz="2800" b="1" i="1" u="sng" smtClean="0">
                <a:solidFill>
                  <a:srgbClr val="00B050"/>
                </a:solidFill>
              </a:rPr>
              <a:t>(I/O  BOUND).</a:t>
            </a:r>
            <a:endParaRPr lang="pt-BR" sz="2800" smtClean="0"/>
          </a:p>
        </p:txBody>
      </p:sp>
      <p:sp>
        <p:nvSpPr>
          <p:cNvPr id="45059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975" cy="4924425"/>
          </a:xfrm>
        </p:spPr>
        <p:txBody>
          <a:bodyPr/>
          <a:lstStyle/>
          <a:p>
            <a:pPr algn="just" eaLnBrk="1" hangingPunct="1"/>
            <a:r>
              <a:rPr lang="pt-BR" sz="2400" dirty="0" smtClean="0"/>
              <a:t>Programação com  arquivo  BATCH (Ambiente DOS – tela preta)</a:t>
            </a:r>
          </a:p>
          <a:p>
            <a:pPr algn="just"/>
            <a:r>
              <a:rPr lang="pt-BR" sz="2400" dirty="0" smtClean="0"/>
              <a:t>Edit  STRESSE.BAT  &lt;ENTER&gt;   (Editor de texto - tela azul)</a:t>
            </a:r>
          </a:p>
          <a:p>
            <a:pPr algn="just"/>
            <a:r>
              <a:rPr lang="pt-BR" sz="2400" dirty="0" smtClean="0"/>
              <a:t>:salto &lt;ENTER&gt;   ; </a:t>
            </a:r>
            <a:r>
              <a:rPr lang="pt-BR" sz="2400" dirty="0" err="1" smtClean="0"/>
              <a:t>label</a:t>
            </a:r>
            <a:r>
              <a:rPr lang="pt-BR" sz="2400" dirty="0" smtClean="0"/>
              <a:t> para salto</a:t>
            </a:r>
          </a:p>
          <a:p>
            <a:pPr algn="just"/>
            <a:r>
              <a:rPr lang="pt-BR" sz="2400" dirty="0" err="1" smtClean="0"/>
              <a:t>Dir</a:t>
            </a:r>
            <a:r>
              <a:rPr lang="pt-BR" sz="2400" dirty="0" smtClean="0"/>
              <a:t> c:/s &lt;</a:t>
            </a:r>
            <a:r>
              <a:rPr lang="pt-BR" sz="2400" dirty="0" err="1" smtClean="0"/>
              <a:t>enter</a:t>
            </a:r>
            <a:r>
              <a:rPr lang="pt-BR" sz="2400" dirty="0" smtClean="0"/>
              <a:t>&gt;         ; mostra diretório  subdiretório</a:t>
            </a:r>
          </a:p>
          <a:p>
            <a:pPr algn="just"/>
            <a:r>
              <a:rPr lang="pt-BR" sz="2400" dirty="0" smtClean="0"/>
              <a:t>GOTO salto                 ;   salto incondicional </a:t>
            </a:r>
          </a:p>
          <a:p>
            <a:pPr algn="just"/>
            <a:r>
              <a:rPr lang="pt-BR" sz="2400" dirty="0" smtClean="0"/>
              <a:t>Salve e encerre o editor</a:t>
            </a:r>
          </a:p>
          <a:p>
            <a:pPr algn="just"/>
            <a:r>
              <a:rPr lang="pt-BR" sz="2400" dirty="0" smtClean="0"/>
              <a:t>Estresse &lt;</a:t>
            </a:r>
            <a:r>
              <a:rPr lang="pt-BR" sz="2400" dirty="0" err="1" smtClean="0"/>
              <a:t>enter</a:t>
            </a:r>
            <a:r>
              <a:rPr lang="pt-BR" sz="2400" dirty="0" smtClean="0"/>
              <a:t>&gt; </a:t>
            </a:r>
            <a:endParaRPr lang="pt-BR" sz="2400" dirty="0" smtClean="0">
              <a:sym typeface="Wingdings" pitchFamily="2" charset="2"/>
            </a:endParaRPr>
          </a:p>
          <a:p>
            <a:pPr algn="just">
              <a:buFont typeface="Arial" charset="0"/>
              <a:buNone/>
            </a:pPr>
            <a:r>
              <a:rPr lang="pt-BR" sz="2400" dirty="0" smtClean="0">
                <a:solidFill>
                  <a:srgbClr val="FF0000"/>
                </a:solidFill>
                <a:sym typeface="Wingdings" pitchFamily="2" charset="2"/>
              </a:rPr>
              <a:t>Nota: antes de executar o programa (g 010A)., ative o gerenciador de tarefas e monitore o desempenho</a:t>
            </a:r>
            <a:endParaRPr lang="pt-BR" sz="2400" dirty="0" smtClean="0">
              <a:solidFill>
                <a:srgbClr val="FF0000"/>
              </a:solidFill>
            </a:endParaRPr>
          </a:p>
          <a:p>
            <a:endParaRPr lang="pt-BR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Questões propostas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040560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pt-BR" sz="1400" dirty="0" smtClean="0"/>
              <a:t>Quais os códigos ASCII correspondente as palavras FATEC/</a:t>
            </a:r>
            <a:r>
              <a:rPr lang="pt-BR" sz="1400" dirty="0" err="1" smtClean="0"/>
              <a:t>fatec</a:t>
            </a:r>
            <a:r>
              <a:rPr lang="pt-BR" sz="1400" dirty="0" smtClean="0"/>
              <a:t> em binário.</a:t>
            </a:r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514350" indent="-514350">
              <a:buNone/>
            </a:pPr>
            <a:endParaRPr lang="pt-BR" sz="1400" dirty="0" smtClean="0"/>
          </a:p>
          <a:p>
            <a:pPr marL="0" indent="-514350">
              <a:lnSpc>
                <a:spcPct val="110000"/>
              </a:lnSpc>
              <a:spcBef>
                <a:spcPts val="0"/>
              </a:spcBef>
              <a:buNone/>
            </a:pPr>
            <a:endParaRPr lang="pt-BR" sz="1400" dirty="0" smtClean="0"/>
          </a:p>
          <a:p>
            <a:pPr marL="0" indent="-514350">
              <a:lnSpc>
                <a:spcPct val="110000"/>
              </a:lnSpc>
              <a:spcBef>
                <a:spcPts val="0"/>
              </a:spcBef>
              <a:buNone/>
            </a:pPr>
            <a:r>
              <a:rPr lang="pt-BR" sz="1400" dirty="0" smtClean="0"/>
              <a:t>2. Caracterize CPU </a:t>
            </a:r>
            <a:r>
              <a:rPr lang="pt-BR" sz="1400" dirty="0" err="1" smtClean="0"/>
              <a:t>Bound</a:t>
            </a:r>
            <a:r>
              <a:rPr lang="pt-BR" sz="1400" dirty="0" smtClean="0"/>
              <a:t>.</a:t>
            </a:r>
          </a:p>
          <a:p>
            <a:pPr marL="0" indent="0">
              <a:buNone/>
            </a:pPr>
            <a:r>
              <a:rPr lang="pt-BR" sz="1400" dirty="0" smtClean="0"/>
              <a:t>________________________________________________________________________________________</a:t>
            </a:r>
          </a:p>
          <a:p>
            <a:pPr marL="0" indent="0">
              <a:buNone/>
            </a:pPr>
            <a:r>
              <a:rPr lang="pt-BR" sz="1400" dirty="0" smtClean="0"/>
              <a:t>________________________________________________________________________________________</a:t>
            </a:r>
          </a:p>
          <a:p>
            <a:pPr marL="0" indent="0">
              <a:buNone/>
            </a:pPr>
            <a:r>
              <a:rPr lang="pt-BR" sz="1400" dirty="0" smtClean="0"/>
              <a:t>________________________________________________________________________________________</a:t>
            </a:r>
          </a:p>
          <a:p>
            <a:pPr marL="0" indent="0">
              <a:buNone/>
            </a:pPr>
            <a:r>
              <a:rPr lang="pt-BR" sz="1400" dirty="0" smtClean="0"/>
              <a:t>3. Caracterize IO </a:t>
            </a:r>
            <a:r>
              <a:rPr lang="pt-BR" sz="1400" dirty="0" err="1" smtClean="0"/>
              <a:t>Bound</a:t>
            </a:r>
            <a:r>
              <a:rPr lang="pt-BR" sz="1400" dirty="0" smtClean="0"/>
              <a:t>.</a:t>
            </a:r>
          </a:p>
          <a:p>
            <a:pPr marL="0" indent="0">
              <a:buNone/>
            </a:pPr>
            <a:r>
              <a:rPr lang="pt-BR" sz="1400" dirty="0" smtClean="0"/>
              <a:t>________________________________________________________________________________________________________________________________________________________________________________</a:t>
            </a:r>
          </a:p>
          <a:p>
            <a:pPr marL="0" indent="0">
              <a:buNone/>
            </a:pPr>
            <a:r>
              <a:rPr lang="pt-BR" sz="1400" dirty="0" smtClean="0"/>
              <a:t>________________________________________________________________________________________</a:t>
            </a:r>
          </a:p>
          <a:p>
            <a:pPr marL="0" indent="0">
              <a:buNone/>
            </a:pPr>
            <a:endParaRPr lang="pt-BR" sz="1400" dirty="0" smtClean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827584" y="1628800"/>
          <a:ext cx="727280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64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F</a:t>
                      </a:r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f</a:t>
                      </a:r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A</a:t>
                      </a:r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a</a:t>
                      </a:r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T</a:t>
                      </a:r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t</a:t>
                      </a:r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E</a:t>
                      </a:r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e</a:t>
                      </a:r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C</a:t>
                      </a:r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dirty="0" smtClean="0"/>
                        <a:t>c</a:t>
                      </a:r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53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Questões propostas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pt-BR" sz="6400" dirty="0" smtClean="0"/>
              <a:t>4. DESCREVA os comandos para criar  um arquivo .</a:t>
            </a:r>
            <a:r>
              <a:rPr lang="pt-BR" sz="6400" dirty="0" err="1" smtClean="0"/>
              <a:t>bat</a:t>
            </a:r>
            <a:r>
              <a:rPr lang="pt-BR" sz="6400" dirty="0" smtClean="0"/>
              <a:t> em ambiente DOS</a:t>
            </a:r>
          </a:p>
          <a:p>
            <a:pPr marL="0" indent="0">
              <a:buNone/>
            </a:pPr>
            <a:endParaRPr lang="pt-BR" sz="6400" dirty="0" smtClean="0"/>
          </a:p>
          <a:p>
            <a:pPr fontAlgn="t"/>
            <a:r>
              <a:rPr lang="pt-BR" sz="4800" b="1" dirty="0" smtClean="0"/>
              <a:t>EDIT ...</a:t>
            </a:r>
          </a:p>
          <a:p>
            <a:pPr fontAlgn="t"/>
            <a:endParaRPr lang="pt-BR" sz="4800" b="1" dirty="0" smtClean="0"/>
          </a:p>
          <a:p>
            <a:pPr fontAlgn="t"/>
            <a:endParaRPr lang="pt-BR" sz="4800" b="1" dirty="0" smtClean="0"/>
          </a:p>
          <a:p>
            <a:pPr fontAlgn="t"/>
            <a:r>
              <a:rPr lang="pt-BR" sz="4800" dirty="0" err="1" smtClean="0"/>
              <a:t>Save</a:t>
            </a:r>
            <a:r>
              <a:rPr lang="pt-BR" sz="4800" dirty="0" smtClean="0"/>
              <a:t>:</a:t>
            </a:r>
          </a:p>
          <a:p>
            <a:pPr fontAlgn="t"/>
            <a:endParaRPr lang="pt-BR" sz="4800" dirty="0" smtClean="0"/>
          </a:p>
          <a:p>
            <a:pPr fontAlgn="t"/>
            <a:endParaRPr lang="pt-BR" sz="4800" dirty="0" smtClean="0"/>
          </a:p>
          <a:p>
            <a:pPr fontAlgn="t"/>
            <a:r>
              <a:rPr lang="pt-BR" sz="4800" dirty="0" smtClean="0"/>
              <a:t>EXECUÇÃO:</a:t>
            </a:r>
          </a:p>
          <a:p>
            <a:pPr fontAlgn="t"/>
            <a:endParaRPr lang="pt-BR" sz="4800" dirty="0" smtClean="0"/>
          </a:p>
          <a:p>
            <a:pPr marL="0" indent="0">
              <a:buNone/>
            </a:pPr>
            <a:endParaRPr lang="pt-BR" sz="4800" dirty="0" smtClean="0"/>
          </a:p>
          <a:p>
            <a:pPr marL="914400" indent="-914400">
              <a:buNone/>
            </a:pPr>
            <a:r>
              <a:rPr lang="pt-BR" sz="4800" u="sng" dirty="0" smtClean="0"/>
              <a:t>5.  Descreva o comando a100 e as instruções em </a:t>
            </a:r>
            <a:r>
              <a:rPr lang="pt-BR" sz="4800" u="sng" dirty="0" err="1" smtClean="0"/>
              <a:t>assembly</a:t>
            </a:r>
            <a:r>
              <a:rPr lang="pt-BR" sz="4800" u="sng" dirty="0" smtClean="0"/>
              <a:t> (</a:t>
            </a:r>
            <a:r>
              <a:rPr lang="pt-BR" sz="4800" u="sng" dirty="0" err="1" smtClean="0"/>
              <a:t>mov</a:t>
            </a:r>
            <a:r>
              <a:rPr lang="pt-BR" sz="4800" u="sng" dirty="0" smtClean="0"/>
              <a:t>,  sub,  </a:t>
            </a:r>
            <a:r>
              <a:rPr lang="pt-BR" sz="4800" u="sng" dirty="0" err="1" smtClean="0"/>
              <a:t>jmp</a:t>
            </a:r>
            <a:r>
              <a:rPr lang="pt-BR" sz="4800" u="sng" dirty="0" smtClean="0"/>
              <a:t> )</a:t>
            </a:r>
          </a:p>
          <a:p>
            <a:pPr marL="914400" indent="-914400">
              <a:buNone/>
            </a:pPr>
            <a:endParaRPr lang="pt-BR" sz="4800" u="sng" dirty="0" smtClean="0"/>
          </a:p>
          <a:p>
            <a:pPr algn="just"/>
            <a:r>
              <a:rPr lang="pt-BR" sz="4800" dirty="0" smtClean="0"/>
              <a:t>A 100  &lt;ENTER&gt;</a:t>
            </a:r>
          </a:p>
          <a:p>
            <a:pPr algn="just"/>
            <a:endParaRPr lang="pt-BR" sz="4800" dirty="0" smtClean="0"/>
          </a:p>
          <a:p>
            <a:pPr algn="just"/>
            <a:r>
              <a:rPr lang="pt-BR" sz="4800" dirty="0" smtClean="0"/>
              <a:t>0B07:0100      MOV AX, CAFE &lt;ENTER&gt; </a:t>
            </a:r>
          </a:p>
          <a:p>
            <a:pPr algn="just"/>
            <a:endParaRPr lang="pt-BR" sz="4800" dirty="0" smtClean="0"/>
          </a:p>
          <a:p>
            <a:pPr algn="just"/>
            <a:r>
              <a:rPr lang="pt-BR" sz="4800" dirty="0" smtClean="0"/>
              <a:t>0B07:0102      MOV BX, 1234 &lt;ENTER&gt;</a:t>
            </a:r>
          </a:p>
          <a:p>
            <a:pPr algn="just"/>
            <a:endParaRPr lang="pt-BR" sz="4800" dirty="0" smtClean="0"/>
          </a:p>
          <a:p>
            <a:pPr algn="just"/>
            <a:r>
              <a:rPr lang="pt-BR" sz="4800" dirty="0" smtClean="0"/>
              <a:t>0B07:0105      SUB AX,BX &lt;ENTER&gt;</a:t>
            </a:r>
          </a:p>
          <a:p>
            <a:pPr algn="just"/>
            <a:endParaRPr lang="pt-BR" sz="4800" dirty="0" smtClean="0"/>
          </a:p>
          <a:p>
            <a:pPr algn="just"/>
            <a:r>
              <a:rPr lang="pt-BR" sz="4800" dirty="0" smtClean="0"/>
              <a:t>0B07:0107      JMP 100 &lt;ENTER&gt;   ;       salto incondicional </a:t>
            </a:r>
          </a:p>
          <a:p>
            <a:pPr algn="just"/>
            <a:endParaRPr lang="pt-BR" sz="4800" dirty="0" smtClean="0"/>
          </a:p>
          <a:p>
            <a:pPr algn="just"/>
            <a:r>
              <a:rPr lang="pt-BR" sz="4800" dirty="0" smtClean="0"/>
              <a:t>0B07:0109      &lt;ENTER&gt;</a:t>
            </a:r>
          </a:p>
          <a:p>
            <a:pPr algn="just">
              <a:buNone/>
            </a:pPr>
            <a:r>
              <a:rPr lang="pt-BR" sz="4800" dirty="0" smtClean="0"/>
              <a:t>      -</a:t>
            </a:r>
          </a:p>
          <a:p>
            <a:pPr marL="514350" indent="-514350">
              <a:buNone/>
            </a:pPr>
            <a:endParaRPr lang="pt-BR" sz="4800" dirty="0" smtClean="0"/>
          </a:p>
          <a:p>
            <a:pPr marL="514350" indent="-514350">
              <a:buAutoNum type="arabicPeriod"/>
            </a:pPr>
            <a:endParaRPr lang="pt-BR" sz="1800" dirty="0" smtClean="0"/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r>
              <a:rPr lang="pt-BR" sz="1800" dirty="0" smtClean="0"/>
              <a:t>.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613539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581</Words>
  <Application>Microsoft Office PowerPoint</Application>
  <PresentationFormat>Apresentação na tela (4:3)</PresentationFormat>
  <Paragraphs>112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Tema do Office</vt:lpstr>
      <vt:lpstr>Atividade 5: Teste de dispositivos </vt:lpstr>
      <vt:lpstr>Padrões de sistemas computadorizados</vt:lpstr>
      <vt:lpstr>Recursos do MS-DOS</vt:lpstr>
      <vt:lpstr>Atividade: Estresse da CPU (uso intensivo da CPU).  (CPU  BOUND??).</vt:lpstr>
      <vt:lpstr>Atividade: Estresse de dispositivo (acesso a dispositivo)  (I/O  BOUND??).</vt:lpstr>
      <vt:lpstr>Atividade: Estresse de dispositivo (acesso a dispositivo)  (I/O  BOUND).</vt:lpstr>
      <vt:lpstr>Questões propostas</vt:lpstr>
      <vt:lpstr>Questões propostas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(4)</dc:title>
  <dc:creator>milton</dc:creator>
  <cp:lastModifiedBy>professor</cp:lastModifiedBy>
  <cp:revision>52</cp:revision>
  <dcterms:modified xsi:type="dcterms:W3CDTF">2019-03-20T14:15:33Z</dcterms:modified>
</cp:coreProperties>
</file>