
<file path=[Content_Types].xml><?xml version="1.0" encoding="utf-8"?>
<Types xmlns="http://schemas.openxmlformats.org/package/2006/content-types">
  <Default Extension="png" ContentType="image/png"/>
  <Default Extension="jpeg" ContentType="image/jpeg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5" r:id="rId1"/>
  </p:sldMasterIdLst>
  <p:notesMasterIdLst>
    <p:notesMasterId r:id="rId27"/>
  </p:notesMasterIdLst>
  <p:handoutMasterIdLst>
    <p:handoutMasterId r:id="rId28"/>
  </p:handoutMasterIdLst>
  <p:sldIdLst>
    <p:sldId id="363" r:id="rId2"/>
    <p:sldId id="364" r:id="rId3"/>
    <p:sldId id="294" r:id="rId4"/>
    <p:sldId id="365" r:id="rId5"/>
    <p:sldId id="395" r:id="rId6"/>
    <p:sldId id="398" r:id="rId7"/>
    <p:sldId id="377" r:id="rId8"/>
    <p:sldId id="378" r:id="rId9"/>
    <p:sldId id="379" r:id="rId10"/>
    <p:sldId id="380" r:id="rId11"/>
    <p:sldId id="386" r:id="rId12"/>
    <p:sldId id="387" r:id="rId13"/>
    <p:sldId id="388" r:id="rId14"/>
    <p:sldId id="389" r:id="rId15"/>
    <p:sldId id="390" r:id="rId16"/>
    <p:sldId id="391" r:id="rId17"/>
    <p:sldId id="392" r:id="rId18"/>
    <p:sldId id="393" r:id="rId19"/>
    <p:sldId id="394" r:id="rId20"/>
    <p:sldId id="396" r:id="rId21"/>
    <p:sldId id="399" r:id="rId22"/>
    <p:sldId id="382" r:id="rId23"/>
    <p:sldId id="381" r:id="rId24"/>
    <p:sldId id="384" r:id="rId25"/>
    <p:sldId id="397" r:id="rId26"/>
  </p:sldIdLst>
  <p:sldSz cx="9144000" cy="6858000" type="screen4x3"/>
  <p:notesSz cx="10234613" cy="70993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32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32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32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32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6CC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 autoAdjust="0"/>
    <p:restoredTop sz="94617" autoAdjust="0"/>
  </p:normalViewPr>
  <p:slideViewPr>
    <p:cSldViewPr>
      <p:cViewPr varScale="1">
        <p:scale>
          <a:sx n="102" d="100"/>
          <a:sy n="102" d="100"/>
        </p:scale>
        <p:origin x="264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885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79755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b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79755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pPr>
              <a:defRPr/>
            </a:pPr>
            <a:fld id="{8D9A485F-F69A-4A57-977B-4E6488AC2DB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57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755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89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341688" y="531813"/>
            <a:ext cx="3549650" cy="266223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22350" y="3371850"/>
            <a:ext cx="8189913" cy="3195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 smtClean="0"/>
              <a:t>Clique para editar os estilos do texto mestre</a:t>
            </a:r>
          </a:p>
          <a:p>
            <a:pPr lvl="1"/>
            <a:r>
              <a:rPr lang="pt-BR" noProof="0" smtClean="0"/>
              <a:t>Segundo nível</a:t>
            </a:r>
          </a:p>
          <a:p>
            <a:pPr lvl="2"/>
            <a:r>
              <a:rPr lang="pt-BR" noProof="0" smtClean="0"/>
              <a:t>Terceiro nível</a:t>
            </a:r>
          </a:p>
          <a:p>
            <a:pPr lvl="3"/>
            <a:r>
              <a:rPr lang="pt-BR" noProof="0" smtClean="0"/>
              <a:t>Quarto nível</a:t>
            </a:r>
          </a:p>
          <a:p>
            <a:pPr lvl="4"/>
            <a:r>
              <a:rPr lang="pt-BR" noProof="0" smtClean="0"/>
              <a:t>Quinto nível</a:t>
            </a:r>
          </a:p>
        </p:txBody>
      </p:sp>
      <p:sp>
        <p:nvSpPr>
          <p:cNvPr id="757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b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57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755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1" tIns="49521" rIns="99041" bIns="49521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pPr>
              <a:defRPr/>
            </a:pPr>
            <a:fld id="{B61F23FA-18F6-40F7-81D9-9E9CD2F8244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BE55ADE-246A-4A13-8745-A27DB38497FF}" type="slidenum">
              <a:rPr lang="pt-BR" smtClean="0"/>
              <a:pPr/>
              <a:t>17</a:t>
            </a:fld>
            <a:endParaRPr lang="pt-BR" smtClean="0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23938" y="3373438"/>
            <a:ext cx="8186737" cy="3194050"/>
          </a:xfrm>
          <a:noFill/>
          <a:ln/>
        </p:spPr>
        <p:txBody>
          <a:bodyPr/>
          <a:lstStyle/>
          <a:p>
            <a:pPr eaLnBrk="1" hangingPunct="1"/>
            <a:endParaRPr lang="es-UY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5867400" cy="6858000"/>
            <a:chOff x="0" y="0"/>
            <a:chExt cx="3696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auto">
            <a:xfrm>
              <a:off x="0" y="0"/>
              <a:ext cx="2880" cy="432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kumimoji="1" lang="pt-BR" sz="2400">
                <a:latin typeface="Times New Roman" pitchFamily="18" charset="0"/>
              </a:endParaRPr>
            </a:p>
          </p:txBody>
        </p:sp>
        <p:sp>
          <p:nvSpPr>
            <p:cNvPr id="6" name="AutoShape 4"/>
            <p:cNvSpPr>
              <a:spLocks noChangeArrowheads="1"/>
            </p:cNvSpPr>
            <p:nvPr/>
          </p:nvSpPr>
          <p:spPr bwMode="white">
            <a:xfrm>
              <a:off x="432" y="624"/>
              <a:ext cx="3264" cy="120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kumimoji="1" lang="pt-BR" sz="2400">
                <a:latin typeface="Times New Roman" pitchFamily="18" charset="0"/>
              </a:endParaRPr>
            </a:p>
          </p:txBody>
        </p:sp>
      </p:grpSp>
      <p:grpSp>
        <p:nvGrpSpPr>
          <p:cNvPr id="7" name="Group 5"/>
          <p:cNvGrpSpPr>
            <a:grpSpLocks/>
          </p:cNvGrpSpPr>
          <p:nvPr/>
        </p:nvGrpSpPr>
        <p:grpSpPr bwMode="auto">
          <a:xfrm>
            <a:off x="3632200" y="4889500"/>
            <a:ext cx="4876800" cy="319088"/>
            <a:chOff x="2288" y="3080"/>
            <a:chExt cx="3072" cy="201"/>
          </a:xfrm>
        </p:grpSpPr>
        <p:sp>
          <p:nvSpPr>
            <p:cNvPr id="8" name="AutoShape 6"/>
            <p:cNvSpPr>
              <a:spLocks noChangeArrowheads="1"/>
            </p:cNvSpPr>
            <p:nvPr/>
          </p:nvSpPr>
          <p:spPr bwMode="auto">
            <a:xfrm flipH="1">
              <a:off x="2288" y="3080"/>
              <a:ext cx="2914" cy="200"/>
            </a:xfrm>
            <a:prstGeom prst="roundRect">
              <a:avLst>
                <a:gd name="adj" fmla="val 0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pt-BR"/>
            </a:p>
          </p:txBody>
        </p:sp>
        <p:sp>
          <p:nvSpPr>
            <p:cNvPr id="9" name="AutoShape 7"/>
            <p:cNvSpPr>
              <a:spLocks noChangeArrowheads="1"/>
            </p:cNvSpPr>
            <p:nvPr/>
          </p:nvSpPr>
          <p:spPr bwMode="auto">
            <a:xfrm>
              <a:off x="5196" y="3080"/>
              <a:ext cx="164" cy="201"/>
            </a:xfrm>
            <a:prstGeom prst="flowChartDelay">
              <a:avLst/>
            </a:prstGeom>
            <a:solidFill>
              <a:schemeClr val="hlink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pt-BR"/>
            </a:p>
          </p:txBody>
        </p:sp>
      </p:grpSp>
      <p:sp>
        <p:nvSpPr>
          <p:cNvPr id="39944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73600" y="2927350"/>
            <a:ext cx="4013200" cy="1822450"/>
          </a:xfrm>
        </p:spPr>
        <p:txBody>
          <a:bodyPr anchor="b"/>
          <a:lstStyle>
            <a:lvl1pPr marL="0" indent="0">
              <a:buFont typeface="Wingdings" pitchFamily="2" charset="2"/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39948" name="AutoShape 12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990600"/>
            <a:ext cx="8229600" cy="1905000"/>
          </a:xfrm>
          <a:prstGeom prst="roundRect">
            <a:avLst>
              <a:gd name="adj" fmla="val 50000"/>
            </a:avLst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10" name="Rectangle 9"/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1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2" name="Rectangle 1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6200" y="6248400"/>
            <a:ext cx="587375" cy="488950"/>
          </a:xfrm>
        </p:spPr>
        <p:txBody>
          <a:bodyPr anchorCtr="0"/>
          <a:lstStyle>
            <a:lvl1pPr>
              <a:defRPr/>
            </a:lvl1pPr>
          </a:lstStyle>
          <a:p>
            <a:pPr>
              <a:defRPr/>
            </a:pPr>
            <a:fld id="{49CA5F51-E65F-41B3-A457-277D58503F2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7FEB4A-CD10-468D-80D4-E33F2A42945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22B90E-E2B2-4E44-8F0E-D3659417696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2362200"/>
            <a:ext cx="3770313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760913" y="2362200"/>
            <a:ext cx="3770312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D23BD8E-8D4E-49DA-B6A4-8C3B9003452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D4377E3-140E-4C2F-B135-AD30509CE77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A6A8F8-F0EF-436E-AA5A-2312ED0B013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BD620F-3DA6-48F4-9EAB-173CFB65F3D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B15242-14D8-452E-94D1-F185503FDCE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 smtClean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10C8F1-977A-47C3-B820-162DB93ACA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6A12C1-F2E7-4B72-B593-3BB60C1322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705600" y="762000"/>
            <a:ext cx="1981200" cy="532447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762000" y="762000"/>
            <a:ext cx="5791200" cy="532447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614E43-41F4-43BE-9741-22F8F73B0D8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/>
          <p:cNvGrpSpPr>
            <a:grpSpLocks/>
          </p:cNvGrpSpPr>
          <p:nvPr/>
        </p:nvGrpSpPr>
        <p:grpSpPr bwMode="auto">
          <a:xfrm>
            <a:off x="0" y="0"/>
            <a:ext cx="7620000" cy="6858000"/>
            <a:chOff x="0" y="0"/>
            <a:chExt cx="4800" cy="4320"/>
          </a:xfrm>
        </p:grpSpPr>
        <p:grpSp>
          <p:nvGrpSpPr>
            <p:cNvPr id="1032" name="Group 3"/>
            <p:cNvGrpSpPr>
              <a:grpSpLocks/>
            </p:cNvGrpSpPr>
            <p:nvPr userDrawn="1"/>
          </p:nvGrpSpPr>
          <p:grpSpPr bwMode="auto">
            <a:xfrm>
              <a:off x="0" y="0"/>
              <a:ext cx="2016" cy="4320"/>
              <a:chOff x="0" y="0"/>
              <a:chExt cx="2016" cy="4320"/>
            </a:xfrm>
          </p:grpSpPr>
          <p:sp>
            <p:nvSpPr>
              <p:cNvPr id="38916" name="Rectangle 4"/>
              <p:cNvSpPr>
                <a:spLocks noChangeArrowheads="1"/>
              </p:cNvSpPr>
              <p:nvPr userDrawn="1"/>
            </p:nvSpPr>
            <p:spPr bwMode="auto">
              <a:xfrm>
                <a:off x="0" y="0"/>
                <a:ext cx="480" cy="432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pt-BR"/>
              </a:p>
            </p:txBody>
          </p:sp>
          <p:sp>
            <p:nvSpPr>
              <p:cNvPr id="38917" name="Freeform 5"/>
              <p:cNvSpPr>
                <a:spLocks/>
              </p:cNvSpPr>
              <p:nvPr userDrawn="1"/>
            </p:nvSpPr>
            <p:spPr bwMode="auto">
              <a:xfrm>
                <a:off x="288" y="0"/>
                <a:ext cx="1728" cy="735"/>
              </a:xfrm>
              <a:custGeom>
                <a:avLst/>
                <a:gdLst/>
                <a:ahLst/>
                <a:cxnLst>
                  <a:cxn ang="0">
                    <a:pos x="1728" y="0"/>
                  </a:cxn>
                  <a:cxn ang="0">
                    <a:pos x="1728" y="480"/>
                  </a:cxn>
                  <a:cxn ang="0">
                    <a:pos x="380" y="482"/>
                  </a:cxn>
                  <a:cxn ang="0">
                    <a:pos x="354" y="480"/>
                  </a:cxn>
                  <a:cxn ang="0">
                    <a:pos x="308" y="489"/>
                  </a:cxn>
                  <a:cxn ang="0">
                    <a:pos x="246" y="531"/>
                  </a:cxn>
                  <a:cxn ang="0">
                    <a:pos x="206" y="597"/>
                  </a:cxn>
                  <a:cxn ang="0">
                    <a:pos x="192" y="666"/>
                  </a:cxn>
                  <a:cxn ang="0">
                    <a:pos x="192" y="735"/>
                  </a:cxn>
                  <a:cxn ang="0">
                    <a:pos x="0" y="735"/>
                  </a:cxn>
                  <a:cxn ang="0">
                    <a:pos x="0" y="480"/>
                  </a:cxn>
                  <a:cxn ang="0">
                    <a:pos x="0" y="0"/>
                  </a:cxn>
                  <a:cxn ang="0">
                    <a:pos x="1728" y="0"/>
                  </a:cxn>
                </a:cxnLst>
                <a:rect l="0" t="0" r="r" b="b"/>
                <a:pathLst>
                  <a:path w="1728" h="735">
                    <a:moveTo>
                      <a:pt x="1728" y="0"/>
                    </a:moveTo>
                    <a:lnTo>
                      <a:pt x="1728" y="480"/>
                    </a:lnTo>
                    <a:lnTo>
                      <a:pt x="380" y="482"/>
                    </a:lnTo>
                    <a:lnTo>
                      <a:pt x="354" y="480"/>
                    </a:lnTo>
                    <a:lnTo>
                      <a:pt x="308" y="489"/>
                    </a:lnTo>
                    <a:cubicBezTo>
                      <a:pt x="290" y="498"/>
                      <a:pt x="263" y="513"/>
                      <a:pt x="246" y="531"/>
                    </a:cubicBezTo>
                    <a:cubicBezTo>
                      <a:pt x="229" y="549"/>
                      <a:pt x="215" y="574"/>
                      <a:pt x="206" y="597"/>
                    </a:cubicBezTo>
                    <a:cubicBezTo>
                      <a:pt x="197" y="620"/>
                      <a:pt x="194" y="643"/>
                      <a:pt x="192" y="666"/>
                    </a:cubicBezTo>
                    <a:lnTo>
                      <a:pt x="192" y="735"/>
                    </a:lnTo>
                    <a:lnTo>
                      <a:pt x="0" y="735"/>
                    </a:lnTo>
                    <a:lnTo>
                      <a:pt x="0" y="480"/>
                    </a:lnTo>
                    <a:lnTo>
                      <a:pt x="0" y="0"/>
                    </a:lnTo>
                    <a:lnTo>
                      <a:pt x="172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wrap="none"/>
              <a:lstStyle/>
              <a:p>
                <a:pPr>
                  <a:defRPr/>
                </a:pPr>
                <a:endParaRPr lang="pt-BR"/>
              </a:p>
            </p:txBody>
          </p:sp>
        </p:grpSp>
        <p:grpSp>
          <p:nvGrpSpPr>
            <p:cNvPr id="1033" name="Group 6"/>
            <p:cNvGrpSpPr>
              <a:grpSpLocks/>
            </p:cNvGrpSpPr>
            <p:nvPr/>
          </p:nvGrpSpPr>
          <p:grpSpPr bwMode="auto">
            <a:xfrm>
              <a:off x="144" y="1248"/>
              <a:ext cx="4656" cy="201"/>
              <a:chOff x="144" y="1248"/>
              <a:chExt cx="4656" cy="201"/>
            </a:xfrm>
          </p:grpSpPr>
          <p:sp>
            <p:nvSpPr>
              <p:cNvPr id="38919" name="AutoShape 7"/>
              <p:cNvSpPr>
                <a:spLocks noChangeArrowheads="1"/>
              </p:cNvSpPr>
              <p:nvPr/>
            </p:nvSpPr>
            <p:spPr bwMode="auto">
              <a:xfrm>
                <a:off x="384" y="1248"/>
                <a:ext cx="4416" cy="200"/>
              </a:xfrm>
              <a:prstGeom prst="roundRect">
                <a:avLst>
                  <a:gd name="adj" fmla="val 0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pt-BR"/>
              </a:p>
            </p:txBody>
          </p:sp>
          <p:sp>
            <p:nvSpPr>
              <p:cNvPr id="38920" name="AutoShape 8"/>
              <p:cNvSpPr>
                <a:spLocks noChangeArrowheads="1"/>
              </p:cNvSpPr>
              <p:nvPr/>
            </p:nvSpPr>
            <p:spPr bwMode="auto">
              <a:xfrm flipH="1">
                <a:off x="144" y="1248"/>
                <a:ext cx="248" cy="201"/>
              </a:xfrm>
              <a:prstGeom prst="flowChartDelay">
                <a:avLst/>
              </a:prstGeom>
              <a:solidFill>
                <a:schemeClr val="hlink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pt-BR"/>
              </a:p>
            </p:txBody>
          </p:sp>
        </p:grpSp>
      </p:grpSp>
      <p:sp>
        <p:nvSpPr>
          <p:cNvPr id="1027" name="AutoShape 9"/>
          <p:cNvSpPr>
            <a:spLocks noGrp="1" noChangeArrowheads="1"/>
          </p:cNvSpPr>
          <p:nvPr>
            <p:ph type="title"/>
          </p:nvPr>
        </p:nvSpPr>
        <p:spPr bwMode="auto">
          <a:xfrm>
            <a:off x="762000" y="762000"/>
            <a:ext cx="7924800" cy="1143000"/>
          </a:xfrm>
          <a:prstGeom prst="roundRect">
            <a:avLst>
              <a:gd name="adj" fmla="val 21667"/>
            </a:avLst>
          </a:prstGeom>
          <a:noFill/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pt-BR" smtClean="0"/>
              <a:t>Clique para editar o estilo do título mestre</a:t>
            </a:r>
          </a:p>
        </p:txBody>
      </p:sp>
      <p:sp>
        <p:nvSpPr>
          <p:cNvPr id="1028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2362200"/>
            <a:ext cx="7693025" cy="3724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</a:p>
        </p:txBody>
      </p:sp>
      <p:sp>
        <p:nvSpPr>
          <p:cNvPr id="38923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38400" y="6248400"/>
            <a:ext cx="2130425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8924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791200" y="6248400"/>
            <a:ext cx="2897188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8925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4138" y="6242050"/>
            <a:ext cx="587375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1" compatLnSpc="1">
            <a:prstTxWarp prst="textNoShape">
              <a:avLst/>
            </a:prstTxWarp>
          </a:bodyPr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EB515B5-FC4B-4007-8DE5-1FA4FFF9C94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l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l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80000"/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oo.atividades@yahoo.com.br" TargetMode="External"/><Relationship Id="rId2" Type="http://schemas.openxmlformats.org/officeDocument/2006/relationships/hyperlink" Target="mailto:poo.profgrace@yahoo.com.br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image" Target="../media/image6.wmf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9.png"/><Relationship Id="rId5" Type="http://schemas.openxmlformats.org/officeDocument/2006/relationships/image" Target="../media/image8.wmf"/><Relationship Id="rId4" Type="http://schemas.openxmlformats.org/officeDocument/2006/relationships/image" Target="../media/image7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5" Type="http://schemas.openxmlformats.org/officeDocument/2006/relationships/image" Target="../media/image15.wmf"/><Relationship Id="rId4" Type="http://schemas.openxmlformats.org/officeDocument/2006/relationships/image" Target="../media/image14.w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mailto:poo.profgrace@yahoo.com.br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mailto:graceapborges@yahoo.com.br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fatechgirls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Apresentação da Disciplina</a:t>
            </a:r>
            <a:br>
              <a:rPr lang="pt-BR" smtClean="0"/>
            </a:br>
            <a:r>
              <a:rPr lang="pt-BR" smtClean="0"/>
              <a:t>Programação Orientada a Objetos</a:t>
            </a:r>
          </a:p>
        </p:txBody>
      </p:sp>
      <p:sp>
        <p:nvSpPr>
          <p:cNvPr id="3075" name="Espaço Reservado para Número de Slide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A07AF60-CE05-43D8-A245-4F4012690B91}" type="slidenum">
              <a:rPr lang="pt-BR" smtClean="0"/>
              <a:pPr/>
              <a:t>1</a:t>
            </a:fld>
            <a:endParaRPr lang="pt-BR" smtClean="0"/>
          </a:p>
        </p:txBody>
      </p:sp>
      <p:pic>
        <p:nvPicPr>
          <p:cNvPr id="3076" name="Picture 4" descr="http://techblog.desenvolvedores.net/wp-content/uploads/2010/12/orientacao-a-objetos-index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7250" y="2557463"/>
            <a:ext cx="5983288" cy="4014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5508625" y="5921375"/>
            <a:ext cx="3671888" cy="963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r">
              <a:spcBef>
                <a:spcPct val="20000"/>
              </a:spcBef>
              <a:buClr>
                <a:schemeClr val="tx1"/>
              </a:buClr>
              <a:buSzPct val="75000"/>
              <a:defRPr/>
            </a:pPr>
            <a:r>
              <a:rPr lang="pt-BR" sz="2400" i="1" kern="0" dirty="0">
                <a:latin typeface="+mn-lt"/>
              </a:rPr>
              <a:t>P. O. O.</a:t>
            </a:r>
          </a:p>
          <a:p>
            <a:pPr marL="342900" indent="-342900" algn="r">
              <a:spcBef>
                <a:spcPct val="20000"/>
              </a:spcBef>
              <a:buClr>
                <a:schemeClr val="tx1"/>
              </a:buClr>
              <a:buSzPct val="75000"/>
              <a:defRPr/>
            </a:pPr>
            <a:r>
              <a:rPr lang="pt-BR" sz="2400" i="1" kern="0" dirty="0" err="1">
                <a:latin typeface="+mn-lt"/>
              </a:rPr>
              <a:t>Profas</a:t>
            </a:r>
            <a:r>
              <a:rPr lang="pt-BR" sz="2400" i="1" kern="0" dirty="0">
                <a:latin typeface="+mn-lt"/>
              </a:rPr>
              <a:t>. Ângela e Grace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606D09C-EAB6-42B7-88B2-CAEB4403C2D1}" type="slidenum">
              <a:rPr lang="pt-BR" smtClean="0"/>
              <a:pPr/>
              <a:t>2</a:t>
            </a:fld>
            <a:endParaRPr lang="pt-BR" smtClean="0"/>
          </a:p>
        </p:txBody>
      </p:sp>
      <p:sp>
        <p:nvSpPr>
          <p:cNvPr id="409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dirty="0" smtClean="0"/>
              <a:t>Turmas 2020 - 1º semestre</a:t>
            </a:r>
          </a:p>
        </p:txBody>
      </p:sp>
      <p:sp>
        <p:nvSpPr>
          <p:cNvPr id="41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694613" cy="4235450"/>
          </a:xfrm>
        </p:spPr>
        <p:txBody>
          <a:bodyPr/>
          <a:lstStyle/>
          <a:p>
            <a:pPr eaLnBrk="1" hangingPunct="1">
              <a:spcBef>
                <a:spcPts val="1200"/>
              </a:spcBef>
            </a:pPr>
            <a:r>
              <a:rPr lang="pt-BR" sz="2400" dirty="0" smtClean="0"/>
              <a:t>Turmas 281 e 282 terão aula juntas no LAB 6 - Azul</a:t>
            </a:r>
          </a:p>
          <a:p>
            <a:pPr eaLnBrk="1" hangingPunct="1">
              <a:spcBef>
                <a:spcPts val="1200"/>
              </a:spcBef>
            </a:pPr>
            <a:endParaRPr lang="pt-BR" sz="2400" dirty="0" smtClean="0"/>
          </a:p>
          <a:p>
            <a:pPr eaLnBrk="1" hangingPunct="1">
              <a:spcBef>
                <a:spcPts val="1200"/>
              </a:spcBef>
            </a:pPr>
            <a:r>
              <a:rPr lang="pt-BR" sz="2400" dirty="0" smtClean="0"/>
              <a:t>Prazo de entrega de atividades de casa: 01 semana (via e-mail)</a:t>
            </a:r>
          </a:p>
          <a:p>
            <a:pPr eaLnBrk="1" hangingPunct="1">
              <a:spcBef>
                <a:spcPts val="1200"/>
              </a:spcBef>
            </a:pPr>
            <a:r>
              <a:rPr lang="pt-BR" sz="2400" dirty="0" smtClean="0"/>
              <a:t>Grace: </a:t>
            </a:r>
            <a:r>
              <a:rPr lang="pt-BR" sz="2400" i="1" dirty="0" smtClean="0">
                <a:hlinkClick r:id="rId2"/>
              </a:rPr>
              <a:t>poo.profgrace@yahoo.com.br</a:t>
            </a:r>
            <a:endParaRPr lang="pt-BR" sz="2400" i="1" dirty="0" smtClean="0"/>
          </a:p>
          <a:p>
            <a:pPr eaLnBrk="1" hangingPunct="1">
              <a:spcBef>
                <a:spcPts val="1200"/>
              </a:spcBef>
            </a:pPr>
            <a:r>
              <a:rPr lang="pt-BR" sz="2400" i="1" dirty="0" smtClean="0"/>
              <a:t>Ângela:  </a:t>
            </a:r>
            <a:r>
              <a:rPr lang="pt-BR" sz="2400" i="1" dirty="0" smtClean="0">
                <a:hlinkClick r:id="rId3"/>
              </a:rPr>
              <a:t>poo.atividades@yahoo.com.br</a:t>
            </a:r>
            <a:endParaRPr lang="pt-BR" sz="2400" i="1" dirty="0" smtClean="0"/>
          </a:p>
          <a:p>
            <a:pPr eaLnBrk="1" hangingPunct="1">
              <a:spcBef>
                <a:spcPts val="1200"/>
              </a:spcBef>
              <a:buFont typeface="Wingdings" pitchFamily="2" charset="2"/>
              <a:buNone/>
            </a:pPr>
            <a:endParaRPr lang="pt-BR" sz="2400" i="1" dirty="0" smtClean="0"/>
          </a:p>
          <a:p>
            <a:pPr eaLnBrk="1" hangingPunct="1">
              <a:spcBef>
                <a:spcPts val="1200"/>
              </a:spcBef>
              <a:buFont typeface="Wingdings" pitchFamily="2" charset="2"/>
              <a:buNone/>
            </a:pPr>
            <a:endParaRPr lang="pt-BR" sz="2400" i="1" dirty="0" smtClean="0"/>
          </a:p>
          <a:p>
            <a:pPr eaLnBrk="1" hangingPunct="1">
              <a:spcBef>
                <a:spcPts val="1200"/>
              </a:spcBef>
              <a:buFont typeface="Wingdings" pitchFamily="2" charset="2"/>
              <a:buNone/>
            </a:pPr>
            <a:endParaRPr lang="pt-BR" sz="2400" dirty="0" smtClean="0"/>
          </a:p>
          <a:p>
            <a:pPr eaLnBrk="1" hangingPunct="1">
              <a:spcBef>
                <a:spcPts val="1200"/>
              </a:spcBef>
            </a:pPr>
            <a:endParaRPr lang="pt-BR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BBC75AC-7A63-439B-B178-0ECE45851788}" type="slidenum">
              <a:rPr lang="pt-BR" smtClean="0"/>
              <a:pPr/>
              <a:t>3</a:t>
            </a:fld>
            <a:endParaRPr lang="pt-BR" smtClean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693025" cy="401955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mtClean="0"/>
              <a:t>Conceitos de orientação a objetos</a:t>
            </a:r>
          </a:p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r>
              <a:rPr lang="pt-BR" smtClean="0"/>
              <a:t>Programação orientada a objetos</a:t>
            </a:r>
          </a:p>
          <a:p>
            <a:pPr eaLnBrk="1" hangingPunct="1">
              <a:lnSpc>
                <a:spcPct val="120000"/>
              </a:lnSpc>
              <a:spcBef>
                <a:spcPct val="30000"/>
              </a:spcBef>
            </a:pPr>
            <a:endParaRPr lang="pt-BR" smtClean="0"/>
          </a:p>
          <a:p>
            <a:pPr eaLnBrk="1" hangingPunct="1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pt-BR" smtClean="0"/>
              <a:t>	Linguagem JAVA</a:t>
            </a:r>
          </a:p>
        </p:txBody>
      </p:sp>
      <p:sp>
        <p:nvSpPr>
          <p:cNvPr id="5124" name="AutoShap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pt-BR" smtClean="0"/>
              <a:t>Objetivo</a:t>
            </a:r>
          </a:p>
        </p:txBody>
      </p:sp>
      <p:sp>
        <p:nvSpPr>
          <p:cNvPr id="5125" name="AutoShape 5"/>
          <p:cNvSpPr>
            <a:spLocks noChangeArrowheads="1"/>
          </p:cNvSpPr>
          <p:nvPr/>
        </p:nvSpPr>
        <p:spPr bwMode="auto">
          <a:xfrm>
            <a:off x="1979613" y="3716338"/>
            <a:ext cx="792162" cy="576262"/>
          </a:xfrm>
          <a:prstGeom prst="down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A98BFE7-4D31-4358-9FA7-55AF5243BF5B}" type="slidenum">
              <a:rPr lang="pt-BR" smtClean="0"/>
              <a:pPr/>
              <a:t>4</a:t>
            </a:fld>
            <a:endParaRPr lang="pt-BR" smtClean="0"/>
          </a:p>
        </p:txBody>
      </p:sp>
      <p:sp>
        <p:nvSpPr>
          <p:cNvPr id="16387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621588" cy="4306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pt-BR" sz="2400" smtClean="0"/>
              <a:t>Fundamentos de Orientação a Objetos </a:t>
            </a:r>
          </a:p>
          <a:p>
            <a:pPr lvl="1" eaLnBrk="1" hangingPunct="1">
              <a:lnSpc>
                <a:spcPct val="90000"/>
              </a:lnSpc>
            </a:pPr>
            <a:r>
              <a:rPr lang="pt-BR" smtClean="0"/>
              <a:t>Classes e objetos</a:t>
            </a:r>
          </a:p>
          <a:p>
            <a:pPr lvl="1" eaLnBrk="1" hangingPunct="1">
              <a:lnSpc>
                <a:spcPct val="90000"/>
              </a:lnSpc>
            </a:pPr>
            <a:r>
              <a:rPr lang="pt-BR" smtClean="0"/>
              <a:t>Encapsulamento</a:t>
            </a:r>
          </a:p>
          <a:p>
            <a:pPr lvl="1" eaLnBrk="1" hangingPunct="1">
              <a:lnSpc>
                <a:spcPct val="90000"/>
              </a:lnSpc>
            </a:pPr>
            <a:r>
              <a:rPr lang="pt-BR" smtClean="0"/>
              <a:t>Herança, polimorfismo </a:t>
            </a:r>
          </a:p>
          <a:p>
            <a:pPr lvl="1" eaLnBrk="1" hangingPunct="1">
              <a:lnSpc>
                <a:spcPct val="90000"/>
              </a:lnSpc>
            </a:pPr>
            <a:r>
              <a:rPr lang="pt-BR" smtClean="0"/>
              <a:t>Sobrecarga</a:t>
            </a:r>
          </a:p>
          <a:p>
            <a:pPr eaLnBrk="1" hangingPunct="1">
              <a:lnSpc>
                <a:spcPct val="90000"/>
              </a:lnSpc>
            </a:pPr>
            <a:r>
              <a:rPr lang="pt-BR" sz="2400" smtClean="0"/>
              <a:t>Noções de UML</a:t>
            </a:r>
          </a:p>
          <a:p>
            <a:pPr eaLnBrk="1" hangingPunct="1">
              <a:lnSpc>
                <a:spcPct val="90000"/>
              </a:lnSpc>
            </a:pPr>
            <a:r>
              <a:rPr lang="pt-BR" sz="2400" smtClean="0"/>
              <a:t>Linguagem Java</a:t>
            </a:r>
          </a:p>
          <a:p>
            <a:pPr lvl="1" eaLnBrk="1" hangingPunct="1">
              <a:lnSpc>
                <a:spcPct val="90000"/>
              </a:lnSpc>
            </a:pPr>
            <a:r>
              <a:rPr lang="pt-BR" smtClean="0"/>
              <a:t>Estrutura da linguagem</a:t>
            </a:r>
          </a:p>
          <a:p>
            <a:pPr lvl="1" eaLnBrk="1" hangingPunct="1">
              <a:lnSpc>
                <a:spcPct val="90000"/>
              </a:lnSpc>
            </a:pPr>
            <a:r>
              <a:rPr lang="pt-BR" smtClean="0"/>
              <a:t>Classes e métodos</a:t>
            </a:r>
          </a:p>
          <a:p>
            <a:pPr lvl="1" eaLnBrk="1" hangingPunct="1">
              <a:lnSpc>
                <a:spcPct val="90000"/>
              </a:lnSpc>
            </a:pPr>
            <a:r>
              <a:rPr lang="pt-BR" smtClean="0"/>
              <a:t>Arrays </a:t>
            </a:r>
          </a:p>
          <a:p>
            <a:pPr lvl="1" eaLnBrk="1" hangingPunct="1">
              <a:lnSpc>
                <a:spcPct val="90000"/>
              </a:lnSpc>
            </a:pPr>
            <a:r>
              <a:rPr lang="pt-BR" smtClean="0"/>
              <a:t>Tratamento de Exceções e Componentes GUI</a:t>
            </a:r>
          </a:p>
        </p:txBody>
      </p:sp>
      <p:sp>
        <p:nvSpPr>
          <p:cNvPr id="16388" name="AutoShape 3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pt-BR" smtClean="0"/>
              <a:t>Assuntos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1F19E7E-245F-467B-82CA-5CC8FE9CF0D4}" type="slidenum">
              <a:rPr lang="pt-BR" smtClean="0"/>
              <a:pPr/>
              <a:t>5</a:t>
            </a:fld>
            <a:endParaRPr lang="pt-BR" smtClean="0"/>
          </a:p>
        </p:txBody>
      </p:sp>
      <p:sp>
        <p:nvSpPr>
          <p:cNvPr id="17411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Programação Java usando JGrasp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2051720" y="5877272"/>
            <a:ext cx="43298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https://www.jgrasp.org/</a:t>
            </a:r>
            <a:endParaRPr lang="pt-B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43608" y="2420888"/>
            <a:ext cx="6579814" cy="3456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Como aprendemos?</a:t>
            </a:r>
            <a:endParaRPr lang="pt-BR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1600" y="2276872"/>
            <a:ext cx="5976664" cy="4550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97FEAF4-F773-4ACB-AB5E-C8991F7A4733}" type="slidenum">
              <a:rPr lang="pt-BR" smtClean="0"/>
              <a:pPr/>
              <a:t>7</a:t>
            </a:fld>
            <a:endParaRPr lang="pt-BR" smtClean="0"/>
          </a:p>
        </p:txBody>
      </p:sp>
      <p:sp>
        <p:nvSpPr>
          <p:cNvPr id="18435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Metodologia</a:t>
            </a:r>
          </a:p>
        </p:txBody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20000"/>
              </a:lnSpc>
            </a:pPr>
            <a:r>
              <a:rPr lang="pt-BR" altLang="zh-CN" dirty="0" smtClean="0">
                <a:ea typeface="宋体" pitchFamily="2" charset="-122"/>
              </a:rPr>
              <a:t>Aulas expositivas com participação do aluno;</a:t>
            </a:r>
          </a:p>
          <a:p>
            <a:pPr eaLnBrk="1" hangingPunct="1">
              <a:lnSpc>
                <a:spcPct val="120000"/>
              </a:lnSpc>
            </a:pPr>
            <a:r>
              <a:rPr lang="pt-BR" altLang="zh-CN" dirty="0" smtClean="0">
                <a:ea typeface="宋体" pitchFamily="2" charset="-122"/>
              </a:rPr>
              <a:t>Exercícios individuais e em grupo;</a:t>
            </a:r>
          </a:p>
          <a:p>
            <a:pPr eaLnBrk="1" hangingPunct="1">
              <a:lnSpc>
                <a:spcPct val="120000"/>
              </a:lnSpc>
            </a:pPr>
            <a:r>
              <a:rPr lang="pt-BR" altLang="zh-CN" dirty="0" smtClean="0">
                <a:ea typeface="宋体" pitchFamily="2" charset="-122"/>
              </a:rPr>
              <a:t>Atividades práticas em laboratório;</a:t>
            </a:r>
          </a:p>
          <a:p>
            <a:pPr eaLnBrk="1" hangingPunct="1">
              <a:lnSpc>
                <a:spcPct val="120000"/>
              </a:lnSpc>
            </a:pPr>
            <a:r>
              <a:rPr lang="pt-BR" altLang="zh-CN" dirty="0" smtClean="0">
                <a:ea typeface="宋体" pitchFamily="2" charset="-122"/>
              </a:rPr>
              <a:t>Pesquisas bibliográficas;</a:t>
            </a:r>
          </a:p>
          <a:p>
            <a:pPr eaLnBrk="1" hangingPunct="1">
              <a:lnSpc>
                <a:spcPct val="120000"/>
              </a:lnSpc>
            </a:pPr>
            <a:r>
              <a:rPr lang="pt-BR" altLang="zh-CN" dirty="0" smtClean="0">
                <a:solidFill>
                  <a:srgbClr val="FF00FF"/>
                </a:solidFill>
                <a:ea typeface="宋体" pitchFamily="2" charset="-122"/>
              </a:rPr>
              <a:t>Lembre-se: exercícios também compõem sua nota final!</a:t>
            </a:r>
            <a:endParaRPr lang="pt-BR" dirty="0" smtClean="0">
              <a:solidFill>
                <a:srgbClr val="FF00FF"/>
              </a:solidFill>
            </a:endParaRPr>
          </a:p>
        </p:txBody>
      </p:sp>
      <p:sp>
        <p:nvSpPr>
          <p:cNvPr id="111620" name="WordArt 4"/>
          <p:cNvSpPr>
            <a:spLocks noChangeArrowheads="1" noChangeShapeType="1" noTextEdit="1"/>
          </p:cNvSpPr>
          <p:nvPr/>
        </p:nvSpPr>
        <p:spPr bwMode="auto">
          <a:xfrm>
            <a:off x="900113" y="5876925"/>
            <a:ext cx="6667500" cy="647700"/>
          </a:xfrm>
          <a:prstGeom prst="rect">
            <a:avLst/>
          </a:prstGeom>
        </p:spPr>
        <p:txBody>
          <a:bodyPr wrap="none" fromWordArt="1">
            <a:prstTxWarp prst="textFadeRight">
              <a:avLst>
                <a:gd name="adj" fmla="val 33333"/>
              </a:avLst>
            </a:prstTxWarp>
          </a:bodyPr>
          <a:lstStyle/>
          <a:p>
            <a:pPr algn="ctr"/>
            <a:r>
              <a:rPr lang="pt-BR" sz="3600" kern="10">
                <a:ln w="9525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FF0000"/>
                </a:solidFill>
                <a:latin typeface="Arial Black"/>
              </a:rPr>
              <a:t>Mas eu faltei aula passada...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184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1000"/>
                                        <p:tgtEl>
                                          <p:spTgt spid="111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6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8C4180D-7F14-4B92-A955-51DDB4D916D3}" type="slidenum">
              <a:rPr lang="pt-BR" smtClean="0"/>
              <a:pPr/>
              <a:t>8</a:t>
            </a:fld>
            <a:endParaRPr lang="pt-BR" smtClean="0"/>
          </a:p>
        </p:txBody>
      </p:sp>
      <p:sp>
        <p:nvSpPr>
          <p:cNvPr id="1945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Bibliografia básica</a:t>
            </a:r>
          </a:p>
        </p:txBody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20000"/>
              </a:lnSpc>
            </a:pPr>
            <a:r>
              <a:rPr lang="pt-BR" smtClean="0"/>
              <a:t>Java, como programar</a:t>
            </a:r>
            <a:r>
              <a:rPr lang="pt-BR" i="1" smtClean="0"/>
              <a:t>.</a:t>
            </a:r>
          </a:p>
          <a:p>
            <a:pPr eaLnBrk="1" hangingPunct="1">
              <a:lnSpc>
                <a:spcPct val="120000"/>
              </a:lnSpc>
              <a:buFont typeface="Wingdings" pitchFamily="2" charset="2"/>
              <a:buNone/>
            </a:pPr>
            <a:r>
              <a:rPr lang="pt-BR" i="1" smtClean="0"/>
              <a:t>	</a:t>
            </a:r>
            <a:r>
              <a:rPr lang="pt-BR" smtClean="0"/>
              <a:t>Deitel, H.M.; Deitel, P.J. </a:t>
            </a:r>
          </a:p>
          <a:p>
            <a:pPr eaLnBrk="1" hangingPunct="1">
              <a:lnSpc>
                <a:spcPct val="120000"/>
              </a:lnSpc>
              <a:buFont typeface="Wingdings" pitchFamily="2" charset="2"/>
              <a:buNone/>
            </a:pPr>
            <a:r>
              <a:rPr lang="pt-BR" smtClean="0"/>
              <a:t>	Prentice Hall, 2006.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5E64076-20F7-473D-86B8-0BEA210A6990}" type="slidenum">
              <a:rPr lang="pt-BR" smtClean="0"/>
              <a:pPr/>
              <a:t>9</a:t>
            </a:fld>
            <a:endParaRPr lang="pt-BR" smtClean="0"/>
          </a:p>
        </p:txBody>
      </p:sp>
      <p:sp>
        <p:nvSpPr>
          <p:cNvPr id="20483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Avaliação</a:t>
            </a:r>
          </a:p>
        </p:txBody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910513" cy="3946525"/>
          </a:xfrm>
        </p:spPr>
        <p:txBody>
          <a:bodyPr/>
          <a:lstStyle/>
          <a:p>
            <a:pPr eaLnBrk="1" hangingPunct="1">
              <a:lnSpc>
                <a:spcPct val="105000"/>
              </a:lnSpc>
            </a:pPr>
            <a:r>
              <a:rPr lang="pt-BR" sz="2000" dirty="0" smtClean="0"/>
              <a:t>Provas: P1, P2, SUB</a:t>
            </a:r>
          </a:p>
          <a:p>
            <a:pPr eaLnBrk="1" hangingPunct="1">
              <a:lnSpc>
                <a:spcPct val="105000"/>
              </a:lnSpc>
            </a:pPr>
            <a:r>
              <a:rPr lang="pt-BR" sz="2000" dirty="0" smtClean="0"/>
              <a:t>Trabalhos: T</a:t>
            </a:r>
          </a:p>
          <a:p>
            <a:pPr eaLnBrk="1" hangingPunct="1">
              <a:lnSpc>
                <a:spcPct val="105000"/>
              </a:lnSpc>
            </a:pPr>
            <a:r>
              <a:rPr lang="pt-BR" sz="2000" dirty="0" smtClean="0"/>
              <a:t>Média = (P1 x 4 + P2 x 4 + T x 2) / 10</a:t>
            </a:r>
          </a:p>
          <a:p>
            <a:pPr eaLnBrk="1" hangingPunct="1">
              <a:lnSpc>
                <a:spcPct val="105000"/>
              </a:lnSpc>
            </a:pPr>
            <a:r>
              <a:rPr lang="pt-BR" sz="2000" dirty="0" smtClean="0"/>
              <a:t>SUB: substitui menor das notas de prova. Não substitui nota do trabalho.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pt-BR" sz="2000" dirty="0" smtClean="0"/>
          </a:p>
          <a:p>
            <a:pPr eaLnBrk="1" hangingPunct="1">
              <a:lnSpc>
                <a:spcPct val="90000"/>
              </a:lnSpc>
              <a:buNone/>
            </a:pPr>
            <a:r>
              <a:rPr lang="pt-BR" sz="2000" dirty="0" smtClean="0"/>
              <a:t>			MF &gt;= 6.0   -  Aprovado</a:t>
            </a:r>
          </a:p>
          <a:p>
            <a:pPr eaLnBrk="1" hangingPunct="1">
              <a:lnSpc>
                <a:spcPct val="90000"/>
              </a:lnSpc>
              <a:buNone/>
            </a:pPr>
            <a:r>
              <a:rPr lang="pt-BR" sz="2000" dirty="0" smtClean="0"/>
              <a:t>			MF &lt; 6.0   -  Reprovado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pt-BR" sz="2000" dirty="0" smtClean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pt-BR" sz="2000" dirty="0" smtClean="0"/>
              <a:t>Frequência &lt; 75% - F: Reprovado por falta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EB419D7-D763-4E80-949F-2C403390DA07}" type="slidenum">
              <a:rPr lang="pt-BR" smtClean="0"/>
              <a:pPr/>
              <a:t>10</a:t>
            </a:fld>
            <a:endParaRPr lang="pt-BR" smtClean="0"/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Dúvidas</a:t>
            </a:r>
          </a:p>
        </p:txBody>
      </p:sp>
      <p:pic>
        <p:nvPicPr>
          <p:cNvPr id="21508" name="Picture 3" descr="MCj0404263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59113" y="2565400"/>
            <a:ext cx="3384550" cy="312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http://www.desenvolvimentosoftware.com/wordpress/wp-content/uploads/2013/01/orientacao-a-objeto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2363" y="3357563"/>
            <a:ext cx="4062412" cy="280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147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49DA860-104A-491F-B699-9EB729DDEC9D}" type="slidenum">
              <a:rPr lang="pt-BR" smtClean="0"/>
              <a:pPr/>
              <a:t>11</a:t>
            </a:fld>
            <a:endParaRPr lang="pt-BR" smtClean="0"/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7088" y="2349500"/>
            <a:ext cx="6769100" cy="4175125"/>
          </a:xfrm>
        </p:spPr>
        <p:txBody>
          <a:bodyPr/>
          <a:lstStyle/>
          <a:p>
            <a:pPr eaLnBrk="1" hangingPunct="1">
              <a:lnSpc>
                <a:spcPct val="120000"/>
              </a:lnSpc>
            </a:pPr>
            <a:r>
              <a:rPr lang="pt-BR" sz="2400" smtClean="0"/>
              <a:t>Programação modular (LEGO);</a:t>
            </a:r>
          </a:p>
          <a:p>
            <a:pPr eaLnBrk="1" hangingPunct="1">
              <a:lnSpc>
                <a:spcPct val="120000"/>
              </a:lnSpc>
            </a:pPr>
            <a:r>
              <a:rPr lang="pt-BR" sz="2400" smtClean="0"/>
              <a:t>Componentes reutilizáveis </a:t>
            </a:r>
            <a:r>
              <a:rPr lang="pt-BR" sz="2400" smtClean="0">
                <a:sym typeface="Wingdings" pitchFamily="2" charset="2"/>
              </a:rPr>
              <a:t></a:t>
            </a:r>
            <a:r>
              <a:rPr lang="pt-BR" sz="2400" smtClean="0"/>
              <a:t> objetos;</a:t>
            </a:r>
          </a:p>
          <a:p>
            <a:pPr eaLnBrk="1" hangingPunct="1">
              <a:lnSpc>
                <a:spcPct val="120000"/>
              </a:lnSpc>
            </a:pPr>
            <a:r>
              <a:rPr lang="pt-BR" sz="2400" smtClean="0"/>
              <a:t>Novos conceitos </a:t>
            </a:r>
            <a:r>
              <a:rPr lang="pt-BR" sz="2400" smtClean="0">
                <a:sym typeface="Wingdings" pitchFamily="2" charset="2"/>
              </a:rPr>
              <a:t></a:t>
            </a:r>
            <a:endParaRPr lang="pt-BR" sz="2400" smtClean="0"/>
          </a:p>
          <a:p>
            <a:pPr eaLnBrk="1" hangingPunct="1">
              <a:lnSpc>
                <a:spcPct val="120000"/>
              </a:lnSpc>
            </a:pPr>
            <a:endParaRPr lang="pt-BR" sz="2400" smtClean="0"/>
          </a:p>
          <a:p>
            <a:pPr eaLnBrk="1" hangingPunct="1">
              <a:lnSpc>
                <a:spcPct val="120000"/>
              </a:lnSpc>
            </a:pPr>
            <a:r>
              <a:rPr lang="pt-BR" sz="2400" smtClean="0"/>
              <a:t>Maior produtividade </a:t>
            </a:r>
          </a:p>
          <a:p>
            <a:pPr eaLnBrk="1" hangingPunct="1">
              <a:lnSpc>
                <a:spcPct val="120000"/>
              </a:lnSpc>
              <a:buFont typeface="Wingdings" pitchFamily="2" charset="2"/>
              <a:buNone/>
            </a:pPr>
            <a:r>
              <a:rPr lang="pt-BR" sz="2400" smtClean="0"/>
              <a:t>(reuso, modificação, correção)</a:t>
            </a:r>
          </a:p>
          <a:p>
            <a:pPr eaLnBrk="1" hangingPunct="1">
              <a:lnSpc>
                <a:spcPct val="120000"/>
              </a:lnSpc>
            </a:pPr>
            <a:r>
              <a:rPr lang="pt-BR" sz="2400" smtClean="0"/>
              <a:t>Engloba a programação</a:t>
            </a:r>
          </a:p>
          <a:p>
            <a:pPr eaLnBrk="1" hangingPunct="1">
              <a:lnSpc>
                <a:spcPct val="120000"/>
              </a:lnSpc>
              <a:buFont typeface="Wingdings" pitchFamily="2" charset="2"/>
              <a:buNone/>
            </a:pPr>
            <a:r>
              <a:rPr lang="pt-BR" sz="2400" smtClean="0"/>
              <a:t>estruturada;</a:t>
            </a:r>
          </a:p>
        </p:txBody>
      </p:sp>
      <p:sp>
        <p:nvSpPr>
          <p:cNvPr id="6149" name="AutoShap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pt-BR" smtClean="0"/>
              <a:t>Programação Orientada a Objetos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9A3F525-D038-4801-900E-6F4CBC6D92D3}" type="slidenum">
              <a:rPr lang="pt-BR" smtClean="0"/>
              <a:pPr/>
              <a:t>12</a:t>
            </a:fld>
            <a:endParaRPr lang="pt-BR" smtClean="0"/>
          </a:p>
        </p:txBody>
      </p:sp>
      <p:sp>
        <p:nvSpPr>
          <p:cNvPr id="8195" name="AutoShape 2"/>
          <p:cNvSpPr>
            <a:spLocks noGrp="1" noChangeArrowheads="1"/>
          </p:cNvSpPr>
          <p:nvPr>
            <p:ph type="title"/>
          </p:nvPr>
        </p:nvSpPr>
        <p:spPr>
          <a:xfrm>
            <a:off x="762000" y="762000"/>
            <a:ext cx="8167688" cy="1143000"/>
          </a:xfrm>
        </p:spPr>
        <p:txBody>
          <a:bodyPr/>
          <a:lstStyle/>
          <a:p>
            <a:pPr eaLnBrk="1" hangingPunct="1"/>
            <a:r>
              <a:rPr lang="pt-BR" smtClean="0"/>
              <a:t>Novos conceitos: objetos e classes</a:t>
            </a:r>
          </a:p>
        </p:txBody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910513" cy="1282700"/>
          </a:xfrm>
        </p:spPr>
        <p:txBody>
          <a:bodyPr/>
          <a:lstStyle/>
          <a:p>
            <a:pPr eaLnBrk="1" hangingPunct="1"/>
            <a:r>
              <a:rPr lang="pt-BR" smtClean="0"/>
              <a:t>Mundo real está repleto de </a:t>
            </a:r>
            <a:r>
              <a:rPr lang="pt-BR" b="1" smtClean="0"/>
              <a:t>objetos </a:t>
            </a:r>
          </a:p>
          <a:p>
            <a:pPr eaLnBrk="1" hangingPunct="1"/>
            <a:r>
              <a:rPr lang="pt-BR" smtClean="0"/>
              <a:t>Agrupamos objetos semelhantes em </a:t>
            </a:r>
            <a:r>
              <a:rPr lang="pt-BR" b="1" smtClean="0"/>
              <a:t>classes</a:t>
            </a:r>
          </a:p>
        </p:txBody>
      </p:sp>
      <p:pic>
        <p:nvPicPr>
          <p:cNvPr id="104452" name="Picture 4" descr="j03012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92275" y="5373688"/>
            <a:ext cx="1368425" cy="110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4453" name="Picture 5" descr="MCj0430053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419475" y="4797425"/>
            <a:ext cx="1409700" cy="1103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1619250" y="4292600"/>
            <a:ext cx="3313113" cy="2305050"/>
            <a:chOff x="1020" y="2704"/>
            <a:chExt cx="2087" cy="1452"/>
          </a:xfrm>
        </p:grpSpPr>
        <p:sp>
          <p:nvSpPr>
            <p:cNvPr id="8207" name="Rectangle 7"/>
            <p:cNvSpPr>
              <a:spLocks noChangeArrowheads="1"/>
            </p:cNvSpPr>
            <p:nvPr/>
          </p:nvSpPr>
          <p:spPr bwMode="auto">
            <a:xfrm>
              <a:off x="1020" y="2976"/>
              <a:ext cx="2087" cy="11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208" name="Text Box 8"/>
            <p:cNvSpPr txBox="1">
              <a:spLocks noChangeArrowheads="1"/>
            </p:cNvSpPr>
            <p:nvPr/>
          </p:nvSpPr>
          <p:spPr bwMode="auto">
            <a:xfrm>
              <a:off x="1700" y="2704"/>
              <a:ext cx="62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pt-BR" sz="1800" b="1"/>
                <a:t>Pessoa</a:t>
              </a:r>
            </a:p>
          </p:txBody>
        </p:sp>
      </p:grpSp>
      <p:pic>
        <p:nvPicPr>
          <p:cNvPr id="104457" name="Picture 9" descr="MCj0429625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76825" y="4149725"/>
            <a:ext cx="1943100" cy="1238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4458" name="Picture 10" descr="MCj0433895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35825" y="3357563"/>
            <a:ext cx="17145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5003800" y="3284538"/>
            <a:ext cx="3816350" cy="2232025"/>
            <a:chOff x="3152" y="2069"/>
            <a:chExt cx="2404" cy="1406"/>
          </a:xfrm>
        </p:grpSpPr>
        <p:sp>
          <p:nvSpPr>
            <p:cNvPr id="8205" name="Rectangle 12"/>
            <p:cNvSpPr>
              <a:spLocks noChangeArrowheads="1"/>
            </p:cNvSpPr>
            <p:nvPr/>
          </p:nvSpPr>
          <p:spPr bwMode="auto">
            <a:xfrm>
              <a:off x="3152" y="2296"/>
              <a:ext cx="2404" cy="11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206" name="Text Box 13"/>
            <p:cNvSpPr txBox="1">
              <a:spLocks noChangeArrowheads="1"/>
            </p:cNvSpPr>
            <p:nvPr/>
          </p:nvSpPr>
          <p:spPr bwMode="auto">
            <a:xfrm>
              <a:off x="4967" y="2069"/>
              <a:ext cx="50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pt-BR" sz="1800" b="1"/>
                <a:t>Carro</a:t>
              </a:r>
            </a:p>
          </p:txBody>
        </p:sp>
      </p:grpSp>
      <p:pic>
        <p:nvPicPr>
          <p:cNvPr id="104462" name="Picture 14" descr="MCj0434864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56325" y="5445125"/>
            <a:ext cx="1204913" cy="1204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4463" name="Picture 15" descr="MCj0396576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258888" y="3429000"/>
            <a:ext cx="1444625" cy="1249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500"/>
                                        <p:tgtEl>
                                          <p:spTgt spid="1044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" dur="500"/>
                                        <p:tgtEl>
                                          <p:spTgt spid="104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8" dur="500"/>
                                        <p:tgtEl>
                                          <p:spTgt spid="104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04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0" dur="500"/>
                                        <p:tgtEl>
                                          <p:spTgt spid="104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9" dur="500"/>
                                        <p:tgtEl>
                                          <p:spTgt spid="104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77C0F39-F60F-49D8-9575-859B92A1D226}" type="slidenum">
              <a:rPr lang="pt-BR" smtClean="0"/>
              <a:pPr/>
              <a:t>13</a:t>
            </a:fld>
            <a:endParaRPr lang="pt-BR" smtClean="0"/>
          </a:p>
        </p:txBody>
      </p:sp>
      <p:sp>
        <p:nvSpPr>
          <p:cNvPr id="921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z="3200" smtClean="0"/>
              <a:t>Em Programação Orientada a Objetos</a:t>
            </a:r>
          </a:p>
        </p:txBody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3446463" cy="3724275"/>
          </a:xfrm>
        </p:spPr>
        <p:txBody>
          <a:bodyPr/>
          <a:lstStyle/>
          <a:p>
            <a:pPr algn="ctr" eaLnBrk="1" hangingPunct="1">
              <a:buFont typeface="Wingdings" pitchFamily="2" charset="2"/>
              <a:buNone/>
            </a:pPr>
            <a:r>
              <a:rPr lang="pt-BR" sz="2400" smtClean="0"/>
              <a:t>Classe</a:t>
            </a:r>
          </a:p>
          <a:p>
            <a:pPr algn="ctr" eaLnBrk="1" hangingPunct="1">
              <a:buFont typeface="Wingdings" pitchFamily="2" charset="2"/>
              <a:buNone/>
            </a:pPr>
            <a:endParaRPr lang="pt-BR" sz="2400" smtClean="0"/>
          </a:p>
          <a:p>
            <a:pPr algn="ctr" eaLnBrk="1" hangingPunct="1">
              <a:buFont typeface="Wingdings" pitchFamily="2" charset="2"/>
              <a:buNone/>
            </a:pPr>
            <a:endParaRPr lang="pt-BR" sz="2400" smtClean="0"/>
          </a:p>
          <a:p>
            <a:pPr algn="ctr" eaLnBrk="1" hangingPunct="1">
              <a:buFont typeface="Wingdings" pitchFamily="2" charset="2"/>
              <a:buNone/>
            </a:pPr>
            <a:r>
              <a:rPr lang="pt-BR" sz="2400" smtClean="0"/>
              <a:t>Abstração</a:t>
            </a:r>
          </a:p>
          <a:p>
            <a:pPr algn="ctr" eaLnBrk="1" hangingPunct="1">
              <a:buFont typeface="Wingdings" pitchFamily="2" charset="2"/>
              <a:buNone/>
            </a:pPr>
            <a:r>
              <a:rPr lang="pt-BR" sz="2400" smtClean="0"/>
              <a:t>Molde</a:t>
            </a:r>
          </a:p>
          <a:p>
            <a:pPr algn="ctr" eaLnBrk="1" hangingPunct="1">
              <a:buFont typeface="Wingdings" pitchFamily="2" charset="2"/>
              <a:buNone/>
            </a:pPr>
            <a:r>
              <a:rPr lang="pt-BR" sz="2400" smtClean="0"/>
              <a:t>“Codifico apenas 1 vez”</a:t>
            </a:r>
          </a:p>
          <a:p>
            <a:pPr algn="ctr" eaLnBrk="1" hangingPunct="1">
              <a:buFont typeface="Wingdings" pitchFamily="2" charset="2"/>
              <a:buNone/>
            </a:pPr>
            <a:endParaRPr lang="pt-BR" sz="2400" smtClean="0"/>
          </a:p>
        </p:txBody>
      </p:sp>
      <p:sp>
        <p:nvSpPr>
          <p:cNvPr id="105476" name="Rectangle 4"/>
          <p:cNvSpPr>
            <a:spLocks noChangeArrowheads="1"/>
          </p:cNvSpPr>
          <p:nvPr/>
        </p:nvSpPr>
        <p:spPr bwMode="auto">
          <a:xfrm>
            <a:off x="4511675" y="2349500"/>
            <a:ext cx="4381500" cy="3724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ctr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r>
              <a:rPr lang="pt-BR" sz="2400"/>
              <a:t>Objeto</a:t>
            </a:r>
          </a:p>
          <a:p>
            <a:pPr marL="342900" indent="-342900" algn="ctr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endParaRPr lang="pt-BR" sz="2400"/>
          </a:p>
          <a:p>
            <a:pPr marL="342900" indent="-342900" algn="ctr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endParaRPr lang="pt-BR" sz="2400"/>
          </a:p>
          <a:p>
            <a:pPr marL="342900" indent="-342900" algn="ctr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r>
              <a:rPr lang="pt-BR" sz="2400"/>
              <a:t>Concreto</a:t>
            </a:r>
          </a:p>
          <a:p>
            <a:pPr marL="342900" indent="-342900" algn="ctr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r>
              <a:rPr lang="pt-BR" sz="2400"/>
              <a:t>Ocorrência real</a:t>
            </a:r>
          </a:p>
          <a:p>
            <a:pPr marL="342900" indent="-342900" algn="ctr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r>
              <a:rPr lang="pt-BR" sz="2400"/>
              <a:t>“Instancio quantos precisar a partir de uma mesma classe”</a:t>
            </a:r>
          </a:p>
        </p:txBody>
      </p:sp>
      <p:sp>
        <p:nvSpPr>
          <p:cNvPr id="105477" name="AutoShape 5"/>
          <p:cNvSpPr>
            <a:spLocks noChangeArrowheads="1"/>
          </p:cNvSpPr>
          <p:nvPr/>
        </p:nvSpPr>
        <p:spPr bwMode="auto">
          <a:xfrm>
            <a:off x="2195513" y="3068638"/>
            <a:ext cx="647700" cy="574675"/>
          </a:xfrm>
          <a:prstGeom prst="down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pt-BR"/>
          </a:p>
        </p:txBody>
      </p:sp>
      <p:sp>
        <p:nvSpPr>
          <p:cNvPr id="105478" name="AutoShape 6"/>
          <p:cNvSpPr>
            <a:spLocks noChangeArrowheads="1"/>
          </p:cNvSpPr>
          <p:nvPr/>
        </p:nvSpPr>
        <p:spPr bwMode="auto">
          <a:xfrm>
            <a:off x="6445250" y="3068638"/>
            <a:ext cx="647700" cy="574675"/>
          </a:xfrm>
          <a:prstGeom prst="down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pt-BR"/>
          </a:p>
        </p:txBody>
      </p:sp>
      <p:sp>
        <p:nvSpPr>
          <p:cNvPr id="105479" name="Text Box 7"/>
          <p:cNvSpPr txBox="1">
            <a:spLocks noChangeArrowheads="1"/>
          </p:cNvSpPr>
          <p:nvPr/>
        </p:nvSpPr>
        <p:spPr bwMode="auto">
          <a:xfrm>
            <a:off x="3930650" y="2801938"/>
            <a:ext cx="64135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5400">
                <a:solidFill>
                  <a:srgbClr val="FF0000"/>
                </a:solidFill>
              </a:rPr>
              <a:t>X</a:t>
            </a:r>
          </a:p>
        </p:txBody>
      </p:sp>
      <p:pic>
        <p:nvPicPr>
          <p:cNvPr id="136194" name="Picture 2" descr="http://2.bp.blogspot.com/-WP0K6X2cuZk/TxSlEvAf-aI/AAAAAAAAB4I/WuFt7PlqQA4/s1600/Coloque+sua+forma+de+bolos+de+cabe%25C3%25A7a+para+baixo+para+fazer+a+massa+d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113" y="5397500"/>
            <a:ext cx="2260600" cy="148748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10" name="Seta dobrada 9"/>
          <p:cNvSpPr/>
          <p:nvPr/>
        </p:nvSpPr>
        <p:spPr>
          <a:xfrm flipV="1">
            <a:off x="2268538" y="5229225"/>
            <a:ext cx="1079500" cy="1008063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>
              <a:solidFill>
                <a:schemeClr val="tx1"/>
              </a:solidFill>
            </a:endParaRPr>
          </a:p>
        </p:txBody>
      </p:sp>
      <p:sp>
        <p:nvSpPr>
          <p:cNvPr id="11" name="Seta dobrada 10"/>
          <p:cNvSpPr/>
          <p:nvPr/>
        </p:nvSpPr>
        <p:spPr>
          <a:xfrm flipH="1" flipV="1">
            <a:off x="5219700" y="5445125"/>
            <a:ext cx="1081088" cy="1008063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>
              <a:solidFill>
                <a:schemeClr val="tx1"/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54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054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054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054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054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54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054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05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6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75" grpId="0" build="p"/>
      <p:bldP spid="105476" grpId="0"/>
      <p:bldP spid="105477" grpId="0" animBg="1"/>
      <p:bldP spid="105478" grpId="0" animBg="1"/>
      <p:bldP spid="10547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204E1F1-0A63-4199-B00F-66B0AB469D45}" type="slidenum">
              <a:rPr lang="pt-BR" smtClean="0"/>
              <a:pPr/>
              <a:t>14</a:t>
            </a:fld>
            <a:endParaRPr lang="pt-BR" smtClean="0"/>
          </a:p>
        </p:txBody>
      </p:sp>
      <p:sp>
        <p:nvSpPr>
          <p:cNvPr id="10243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z="3200" smtClean="0"/>
              <a:t>Implementação: Classe Relógio</a:t>
            </a:r>
          </a:p>
        </p:txBody>
      </p:sp>
      <p:sp>
        <p:nvSpPr>
          <p:cNvPr id="1187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492375"/>
            <a:ext cx="4525963" cy="4105275"/>
          </a:xfrm>
          <a:noFill/>
          <a:ln w="28575">
            <a:solidFill>
              <a:srgbClr val="C0C0C0"/>
            </a:solidFill>
          </a:ln>
        </p:spPr>
        <p:txBody>
          <a:bodyPr/>
          <a:lstStyle/>
          <a:p>
            <a:pPr eaLnBrk="1" hangingPunct="1">
              <a:lnSpc>
                <a:spcPct val="120000"/>
              </a:lnSpc>
            </a:pPr>
            <a:r>
              <a:rPr lang="pt-BR" sz="2400" smtClean="0"/>
              <a:t>Atributos (dados privados):</a:t>
            </a:r>
          </a:p>
          <a:p>
            <a:pPr lvl="1" eaLnBrk="1" hangingPunct="1">
              <a:lnSpc>
                <a:spcPct val="120000"/>
              </a:lnSpc>
            </a:pPr>
            <a:r>
              <a:rPr lang="pt-BR" sz="2000" smtClean="0"/>
              <a:t>horas/ minutos/ segundos</a:t>
            </a:r>
          </a:p>
          <a:p>
            <a:pPr eaLnBrk="1" hangingPunct="1">
              <a:lnSpc>
                <a:spcPct val="120000"/>
              </a:lnSpc>
            </a:pPr>
            <a:r>
              <a:rPr lang="pt-BR" sz="2400" smtClean="0"/>
              <a:t>Métodos (operações públicas):</a:t>
            </a:r>
          </a:p>
          <a:p>
            <a:pPr lvl="1" eaLnBrk="1" hangingPunct="1">
              <a:lnSpc>
                <a:spcPct val="120000"/>
              </a:lnSpc>
            </a:pPr>
            <a:r>
              <a:rPr lang="pt-BR" sz="2000" smtClean="0"/>
              <a:t>Exibir Horário</a:t>
            </a:r>
          </a:p>
          <a:p>
            <a:pPr lvl="1" eaLnBrk="1" hangingPunct="1">
              <a:lnSpc>
                <a:spcPct val="120000"/>
              </a:lnSpc>
            </a:pPr>
            <a:r>
              <a:rPr lang="pt-BR" sz="2000" smtClean="0"/>
              <a:t>Ajuste de hora</a:t>
            </a:r>
          </a:p>
          <a:p>
            <a:pPr lvl="1" eaLnBrk="1" hangingPunct="1">
              <a:lnSpc>
                <a:spcPct val="120000"/>
              </a:lnSpc>
            </a:pPr>
            <a:r>
              <a:rPr lang="pt-BR" sz="2000" smtClean="0"/>
              <a:t>Ajuste de minutos</a:t>
            </a:r>
          </a:p>
          <a:p>
            <a:pPr lvl="1" eaLnBrk="1" hangingPunct="1">
              <a:lnSpc>
                <a:spcPct val="120000"/>
              </a:lnSpc>
            </a:pPr>
            <a:r>
              <a:rPr lang="pt-BR" sz="2000" smtClean="0"/>
              <a:t>Ajuste de segundos</a:t>
            </a:r>
          </a:p>
          <a:p>
            <a:pPr lvl="1" eaLnBrk="1" hangingPunct="1">
              <a:lnSpc>
                <a:spcPct val="120000"/>
              </a:lnSpc>
            </a:pPr>
            <a:r>
              <a:rPr lang="pt-BR" sz="2000" smtClean="0"/>
              <a:t>Zerar horário</a:t>
            </a:r>
          </a:p>
        </p:txBody>
      </p:sp>
      <p:pic>
        <p:nvPicPr>
          <p:cNvPr id="118788" name="Picture 4" descr="MCj0351897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8125" y="2320925"/>
            <a:ext cx="1152525" cy="1036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8789" name="Picture 5" descr="MCj0351894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524750" y="3579813"/>
            <a:ext cx="1008063" cy="150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8790" name="Picture 6" descr="MCj0351899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04025" y="5426075"/>
            <a:ext cx="1439863" cy="1027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8791" name="AutoShape 7"/>
          <p:cNvSpPr>
            <a:spLocks noChangeArrowheads="1"/>
          </p:cNvSpPr>
          <p:nvPr/>
        </p:nvSpPr>
        <p:spPr bwMode="auto">
          <a:xfrm>
            <a:off x="5508625" y="3789363"/>
            <a:ext cx="1079500" cy="1008062"/>
          </a:xfrm>
          <a:prstGeom prst="rightArrow">
            <a:avLst>
              <a:gd name="adj1" fmla="val 50000"/>
              <a:gd name="adj2" fmla="val 26772"/>
            </a:avLst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pt-BR"/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187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187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187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187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187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187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187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87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500"/>
                                        <p:tgtEl>
                                          <p:spTgt spid="118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500"/>
                                        <p:tgtEl>
                                          <p:spTgt spid="1187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500"/>
                                        <p:tgtEl>
                                          <p:spTgt spid="1187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87" grpId="0" build="p" animBg="1"/>
      <p:bldP spid="11879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8504300-471F-4A2E-A576-A8F9EDDDF134}" type="slidenum">
              <a:rPr lang="pt-BR" smtClean="0"/>
              <a:pPr/>
              <a:t>15</a:t>
            </a:fld>
            <a:endParaRPr lang="pt-BR" smtClean="0"/>
          </a:p>
        </p:txBody>
      </p:sp>
      <p:sp>
        <p:nvSpPr>
          <p:cNvPr id="11267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Membros de uma Classe</a:t>
            </a:r>
          </a:p>
        </p:txBody>
      </p:sp>
      <p:sp>
        <p:nvSpPr>
          <p:cNvPr id="112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693025" cy="635000"/>
          </a:xfrm>
        </p:spPr>
        <p:txBody>
          <a:bodyPr/>
          <a:lstStyle/>
          <a:p>
            <a:pPr algn="ctr" eaLnBrk="1" hangingPunct="1">
              <a:buFont typeface="Wingdings" pitchFamily="2" charset="2"/>
              <a:buNone/>
            </a:pPr>
            <a:r>
              <a:rPr lang="pt-BR" b="1" smtClean="0"/>
              <a:t>Uma classe é composta por:</a:t>
            </a:r>
          </a:p>
        </p:txBody>
      </p:sp>
      <p:sp>
        <p:nvSpPr>
          <p:cNvPr id="11269" name="Rectangle 4"/>
          <p:cNvSpPr>
            <a:spLocks noChangeArrowheads="1"/>
          </p:cNvSpPr>
          <p:nvPr/>
        </p:nvSpPr>
        <p:spPr bwMode="auto">
          <a:xfrm>
            <a:off x="827088" y="3068638"/>
            <a:ext cx="3457575" cy="280828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140000"/>
              </a:lnSpc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pt-BR" sz="2400"/>
              <a:t>Comportamentos ou operações</a:t>
            </a:r>
          </a:p>
          <a:p>
            <a:pPr marL="342900" indent="-342900">
              <a:lnSpc>
                <a:spcPct val="140000"/>
              </a:lnSpc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pt-BR" sz="2400"/>
              <a:t>Características ou atributos</a:t>
            </a:r>
          </a:p>
          <a:p>
            <a:pPr marL="342900" indent="-342900">
              <a:lnSpc>
                <a:spcPct val="140000"/>
              </a:lnSpc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r>
              <a:rPr lang="pt-BR" sz="2400"/>
              <a:t>	(modelo)</a:t>
            </a:r>
          </a:p>
        </p:txBody>
      </p:sp>
      <p:sp>
        <p:nvSpPr>
          <p:cNvPr id="11270" name="Rectangle 5"/>
          <p:cNvSpPr>
            <a:spLocks noChangeArrowheads="1"/>
          </p:cNvSpPr>
          <p:nvPr/>
        </p:nvSpPr>
        <p:spPr bwMode="auto">
          <a:xfrm>
            <a:off x="5219700" y="3068638"/>
            <a:ext cx="3600450" cy="280828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140000"/>
              </a:lnSpc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pt-BR" sz="2400"/>
              <a:t>Métodos ou funções</a:t>
            </a:r>
          </a:p>
          <a:p>
            <a:pPr marL="342900" indent="-342900">
              <a:lnSpc>
                <a:spcPct val="140000"/>
              </a:lnSpc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</a:pPr>
            <a:endParaRPr lang="pt-BR" sz="2400"/>
          </a:p>
          <a:p>
            <a:pPr marL="342900" indent="-342900">
              <a:lnSpc>
                <a:spcPct val="140000"/>
              </a:lnSpc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pt-BR" sz="2400"/>
              <a:t>Dados ou variáveis</a:t>
            </a:r>
          </a:p>
          <a:p>
            <a:pPr marL="342900" indent="-342900">
              <a:lnSpc>
                <a:spcPct val="140000"/>
              </a:lnSpc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r>
              <a:rPr lang="pt-BR" sz="1800"/>
              <a:t>	</a:t>
            </a:r>
          </a:p>
          <a:p>
            <a:pPr marL="342900" indent="-342900">
              <a:lnSpc>
                <a:spcPct val="140000"/>
              </a:lnSpc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None/>
            </a:pPr>
            <a:r>
              <a:rPr lang="pt-BR" sz="2400"/>
              <a:t>	(implementação)</a:t>
            </a:r>
          </a:p>
        </p:txBody>
      </p:sp>
      <p:sp>
        <p:nvSpPr>
          <p:cNvPr id="11271" name="Text Box 6"/>
          <p:cNvSpPr txBox="1">
            <a:spLocks noChangeArrowheads="1"/>
          </p:cNvSpPr>
          <p:nvPr/>
        </p:nvSpPr>
        <p:spPr bwMode="auto">
          <a:xfrm>
            <a:off x="4408488" y="3973513"/>
            <a:ext cx="717550" cy="519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2800" b="1">
                <a:solidFill>
                  <a:srgbClr val="FF0000"/>
                </a:solidFill>
              </a:rPr>
              <a:t>OU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534B1A9-7354-4693-8803-5AB9DAA3F682}" type="slidenum">
              <a:rPr lang="pt-BR" smtClean="0"/>
              <a:pPr/>
              <a:t>16</a:t>
            </a:fld>
            <a:endParaRPr lang="pt-BR" smtClean="0"/>
          </a:p>
        </p:txBody>
      </p:sp>
      <p:sp>
        <p:nvSpPr>
          <p:cNvPr id="12291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Herança entre Classes</a:t>
            </a:r>
          </a:p>
        </p:txBody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362200"/>
            <a:ext cx="7910513" cy="3724275"/>
          </a:xfrm>
        </p:spPr>
        <p:txBody>
          <a:bodyPr/>
          <a:lstStyle/>
          <a:p>
            <a:pPr eaLnBrk="1" hangingPunct="1">
              <a:lnSpc>
                <a:spcPct val="120000"/>
              </a:lnSpc>
            </a:pPr>
            <a:r>
              <a:rPr lang="pt-BR" smtClean="0"/>
              <a:t>Compartilham similaridades entre classes de uma mesma hierarquia</a:t>
            </a:r>
          </a:p>
          <a:p>
            <a:pPr eaLnBrk="1" hangingPunct="1">
              <a:lnSpc>
                <a:spcPct val="120000"/>
              </a:lnSpc>
            </a:pPr>
            <a:r>
              <a:rPr lang="pt-BR" smtClean="0"/>
              <a:t>Preservam suas diferenças</a:t>
            </a:r>
          </a:p>
          <a:p>
            <a:pPr eaLnBrk="1" hangingPunct="1">
              <a:lnSpc>
                <a:spcPct val="120000"/>
              </a:lnSpc>
            </a:pPr>
            <a:r>
              <a:rPr lang="pt-BR" smtClean="0"/>
              <a:t>Podem compartilhar implementação de código</a:t>
            </a:r>
          </a:p>
          <a:p>
            <a:pPr eaLnBrk="1" hangingPunct="1">
              <a:lnSpc>
                <a:spcPct val="120000"/>
              </a:lnSpc>
            </a:pPr>
            <a:r>
              <a:rPr lang="pt-BR" smtClean="0"/>
              <a:t>Ou apenas a estrutura e os conceitos (classes abstratas e interfaces)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4E302D44-4791-4BAF-867F-DCFB029BFE08}" type="slidenum">
              <a:rPr lang="pt-BR" smtClean="0"/>
              <a:pPr/>
              <a:t>17</a:t>
            </a:fld>
            <a:endParaRPr lang="pt-BR" smtClean="0"/>
          </a:p>
        </p:txBody>
      </p:sp>
      <p:sp>
        <p:nvSpPr>
          <p:cNvPr id="13315" name="AutoShape 2"/>
          <p:cNvSpPr>
            <a:spLocks noGrp="1" noChangeArrowheads="1"/>
          </p:cNvSpPr>
          <p:nvPr>
            <p:ph type="title"/>
          </p:nvPr>
        </p:nvSpPr>
        <p:spPr>
          <a:xfrm>
            <a:off x="762000" y="762000"/>
            <a:ext cx="7229475" cy="1143000"/>
          </a:xfrm>
          <a:noFill/>
        </p:spPr>
        <p:txBody>
          <a:bodyPr/>
          <a:lstStyle/>
          <a:p>
            <a:pPr eaLnBrk="1" hangingPunct="1"/>
            <a:r>
              <a:rPr lang="pt-BR" smtClean="0"/>
              <a:t>Exemplo de Herança – Membros de uma faculdade</a:t>
            </a:r>
            <a:endParaRPr lang="en-US" smtClean="0"/>
          </a:p>
        </p:txBody>
      </p:sp>
      <p:pic>
        <p:nvPicPr>
          <p:cNvPr id="1331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85813" y="3214688"/>
            <a:ext cx="6357937" cy="307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317" name="Text Box 5"/>
          <p:cNvSpPr txBox="1">
            <a:spLocks noChangeArrowheads="1"/>
          </p:cNvSpPr>
          <p:nvPr/>
        </p:nvSpPr>
        <p:spPr bwMode="auto">
          <a:xfrm>
            <a:off x="1274763" y="4059238"/>
            <a:ext cx="2082800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1800" b="1"/>
              <a:t>consultarPagto( )</a:t>
            </a:r>
          </a:p>
        </p:txBody>
      </p:sp>
      <p:sp>
        <p:nvSpPr>
          <p:cNvPr id="12" name="Chave esquerda 11"/>
          <p:cNvSpPr/>
          <p:nvPr/>
        </p:nvSpPr>
        <p:spPr>
          <a:xfrm>
            <a:off x="5786438" y="2571750"/>
            <a:ext cx="285750" cy="157162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  <p:sp>
        <p:nvSpPr>
          <p:cNvPr id="13319" name="Text Box 5"/>
          <p:cNvSpPr txBox="1">
            <a:spLocks noChangeArrowheads="1"/>
          </p:cNvSpPr>
          <p:nvPr/>
        </p:nvSpPr>
        <p:spPr bwMode="auto">
          <a:xfrm>
            <a:off x="5929313" y="2571750"/>
            <a:ext cx="3262312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1800" b="1"/>
              <a:t>autenticar(matricula, senha)</a:t>
            </a:r>
          </a:p>
          <a:p>
            <a:endParaRPr lang="pt-BR" sz="1800" b="1"/>
          </a:p>
          <a:p>
            <a:r>
              <a:rPr lang="pt-BR" sz="1800" b="1"/>
              <a:t>String matricula;</a:t>
            </a:r>
          </a:p>
          <a:p>
            <a:r>
              <a:rPr lang="pt-BR" sz="1800" b="1"/>
              <a:t>int senha;</a:t>
            </a:r>
          </a:p>
          <a:p>
            <a:r>
              <a:rPr lang="pt-BR" sz="1800" b="1"/>
              <a:t>String nome;</a:t>
            </a:r>
          </a:p>
        </p:txBody>
      </p:sp>
      <p:sp>
        <p:nvSpPr>
          <p:cNvPr id="13320" name="Text Box 5"/>
          <p:cNvSpPr txBox="1">
            <a:spLocks noChangeArrowheads="1"/>
          </p:cNvSpPr>
          <p:nvPr/>
        </p:nvSpPr>
        <p:spPr bwMode="auto">
          <a:xfrm>
            <a:off x="642938" y="6286500"/>
            <a:ext cx="2108200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1800" b="1"/>
              <a:t>consultarGrade( )</a:t>
            </a:r>
          </a:p>
        </p:txBody>
      </p:sp>
      <p:sp>
        <p:nvSpPr>
          <p:cNvPr id="13321" name="Text Box 5"/>
          <p:cNvSpPr txBox="1">
            <a:spLocks noChangeArrowheads="1"/>
          </p:cNvSpPr>
          <p:nvPr/>
        </p:nvSpPr>
        <p:spPr bwMode="auto">
          <a:xfrm>
            <a:off x="3429000" y="5072063"/>
            <a:ext cx="2185988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1800" b="1"/>
              <a:t>extratoMatricula( )</a:t>
            </a:r>
          </a:p>
        </p:txBody>
      </p:sp>
      <p:sp>
        <p:nvSpPr>
          <p:cNvPr id="13322" name="Text Box 5"/>
          <p:cNvSpPr txBox="1">
            <a:spLocks noChangeArrowheads="1"/>
          </p:cNvSpPr>
          <p:nvPr/>
        </p:nvSpPr>
        <p:spPr bwMode="auto">
          <a:xfrm>
            <a:off x="5602288" y="5059363"/>
            <a:ext cx="2197100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1800" b="1"/>
              <a:t>solicitarDiploma( )</a:t>
            </a:r>
          </a:p>
        </p:txBody>
      </p:sp>
      <p:sp>
        <p:nvSpPr>
          <p:cNvPr id="13323" name="Text Box 5"/>
          <p:cNvSpPr txBox="1">
            <a:spLocks noChangeArrowheads="1"/>
          </p:cNvSpPr>
          <p:nvPr/>
        </p:nvSpPr>
        <p:spPr bwMode="auto">
          <a:xfrm>
            <a:off x="2678113" y="6286500"/>
            <a:ext cx="2711450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1800" b="1"/>
              <a:t>consultarFolhaPonto( 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7ADB11D-4367-4DBE-A001-646422A393BE}" type="slidenum">
              <a:rPr lang="pt-BR" smtClean="0"/>
              <a:pPr/>
              <a:t>18</a:t>
            </a:fld>
            <a:endParaRPr lang="pt-BR" smtClean="0"/>
          </a:p>
        </p:txBody>
      </p:sp>
      <p:sp>
        <p:nvSpPr>
          <p:cNvPr id="1433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Herança X Polimorfismo</a:t>
            </a:r>
          </a:p>
        </p:txBody>
      </p:sp>
      <p:sp>
        <p:nvSpPr>
          <p:cNvPr id="14340" name="Rectangle 3"/>
          <p:cNvSpPr>
            <a:spLocks noChangeArrowheads="1"/>
          </p:cNvSpPr>
          <p:nvPr/>
        </p:nvSpPr>
        <p:spPr bwMode="auto">
          <a:xfrm>
            <a:off x="3276600" y="2636838"/>
            <a:ext cx="2159000" cy="11525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pt-BR" sz="2800"/>
              <a:t>Formas </a:t>
            </a:r>
          </a:p>
          <a:p>
            <a:pPr algn="ctr"/>
            <a:r>
              <a:rPr lang="pt-BR" sz="2800"/>
              <a:t>geométricas</a:t>
            </a:r>
          </a:p>
        </p:txBody>
      </p:sp>
      <p:sp>
        <p:nvSpPr>
          <p:cNvPr id="14341" name="AutoShape 4"/>
          <p:cNvSpPr>
            <a:spLocks noChangeArrowheads="1"/>
          </p:cNvSpPr>
          <p:nvPr/>
        </p:nvSpPr>
        <p:spPr bwMode="auto">
          <a:xfrm>
            <a:off x="1042988" y="4076700"/>
            <a:ext cx="1296987" cy="1223963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pt-BR"/>
          </a:p>
        </p:txBody>
      </p:sp>
      <p:sp>
        <p:nvSpPr>
          <p:cNvPr id="14342" name="Rectangle 5"/>
          <p:cNvSpPr>
            <a:spLocks noChangeArrowheads="1"/>
          </p:cNvSpPr>
          <p:nvPr/>
        </p:nvSpPr>
        <p:spPr bwMode="auto">
          <a:xfrm>
            <a:off x="3376613" y="5084763"/>
            <a:ext cx="1800225" cy="863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pt-BR"/>
          </a:p>
        </p:txBody>
      </p:sp>
      <p:sp>
        <p:nvSpPr>
          <p:cNvPr id="14343" name="Oval 6"/>
          <p:cNvSpPr>
            <a:spLocks noChangeArrowheads="1"/>
          </p:cNvSpPr>
          <p:nvPr/>
        </p:nvSpPr>
        <p:spPr bwMode="auto">
          <a:xfrm>
            <a:off x="6659563" y="4005263"/>
            <a:ext cx="1152525" cy="1008062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pt-BR"/>
          </a:p>
        </p:txBody>
      </p:sp>
      <p:sp>
        <p:nvSpPr>
          <p:cNvPr id="14344" name="Line 7"/>
          <p:cNvSpPr>
            <a:spLocks noChangeShapeType="1"/>
          </p:cNvSpPr>
          <p:nvPr/>
        </p:nvSpPr>
        <p:spPr bwMode="auto">
          <a:xfrm flipH="1">
            <a:off x="1908175" y="3644900"/>
            <a:ext cx="12954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4345" name="Line 8"/>
          <p:cNvSpPr>
            <a:spLocks noChangeShapeType="1"/>
          </p:cNvSpPr>
          <p:nvPr/>
        </p:nvSpPr>
        <p:spPr bwMode="auto">
          <a:xfrm>
            <a:off x="4284663" y="3789363"/>
            <a:ext cx="0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4346" name="Line 9"/>
          <p:cNvSpPr>
            <a:spLocks noChangeShapeType="1"/>
          </p:cNvSpPr>
          <p:nvPr/>
        </p:nvSpPr>
        <p:spPr bwMode="auto">
          <a:xfrm>
            <a:off x="5435600" y="3500438"/>
            <a:ext cx="1368425" cy="6492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4347" name="Text Box 10"/>
          <p:cNvSpPr txBox="1">
            <a:spLocks noChangeArrowheads="1"/>
          </p:cNvSpPr>
          <p:nvPr/>
        </p:nvSpPr>
        <p:spPr bwMode="auto">
          <a:xfrm>
            <a:off x="5508625" y="2636838"/>
            <a:ext cx="2849563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/>
              <a:t>calcularArea( )</a:t>
            </a:r>
          </a:p>
        </p:txBody>
      </p:sp>
      <p:sp>
        <p:nvSpPr>
          <p:cNvPr id="14348" name="Text Box 11"/>
          <p:cNvSpPr txBox="1">
            <a:spLocks noChangeArrowheads="1"/>
          </p:cNvSpPr>
          <p:nvPr/>
        </p:nvSpPr>
        <p:spPr bwMode="auto">
          <a:xfrm>
            <a:off x="950913" y="5464175"/>
            <a:ext cx="225901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2400"/>
              <a:t>área = (b x h)/2</a:t>
            </a:r>
          </a:p>
        </p:txBody>
      </p:sp>
      <p:sp>
        <p:nvSpPr>
          <p:cNvPr id="14349" name="Text Box 12"/>
          <p:cNvSpPr txBox="1">
            <a:spLocks noChangeArrowheads="1"/>
          </p:cNvSpPr>
          <p:nvPr/>
        </p:nvSpPr>
        <p:spPr bwMode="auto">
          <a:xfrm>
            <a:off x="3348038" y="5949950"/>
            <a:ext cx="180181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2400"/>
              <a:t>área = b x h</a:t>
            </a:r>
          </a:p>
        </p:txBody>
      </p:sp>
      <p:sp>
        <p:nvSpPr>
          <p:cNvPr id="14350" name="Text Box 13"/>
          <p:cNvSpPr txBox="1">
            <a:spLocks noChangeArrowheads="1"/>
          </p:cNvSpPr>
          <p:nvPr/>
        </p:nvSpPr>
        <p:spPr bwMode="auto">
          <a:xfrm>
            <a:off x="6516688" y="5084763"/>
            <a:ext cx="18859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pt-BR" sz="2400"/>
              <a:t>área = </a:t>
            </a:r>
            <a:r>
              <a:rPr lang="el-GR" sz="2400">
                <a:cs typeface="Arial" charset="0"/>
              </a:rPr>
              <a:t>π</a:t>
            </a:r>
            <a:r>
              <a:rPr lang="pt-BR" sz="2400"/>
              <a:t> x r</a:t>
            </a:r>
            <a:r>
              <a:rPr lang="pt-BR" sz="2400" baseline="30000"/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07B5ABD-F089-43B7-92FD-8B86566BA6FA}" type="slidenum">
              <a:rPr lang="pt-BR" smtClean="0"/>
              <a:pPr/>
              <a:t>19</a:t>
            </a:fld>
            <a:endParaRPr lang="pt-BR" smtClean="0"/>
          </a:p>
        </p:txBody>
      </p:sp>
      <p:sp>
        <p:nvSpPr>
          <p:cNvPr id="15363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Linguagens O. O.</a:t>
            </a:r>
          </a:p>
        </p:txBody>
      </p:sp>
      <p:pic>
        <p:nvPicPr>
          <p:cNvPr id="15364" name="Picture 10" descr="http://orion.lcg.ufrj.br/C++/curso/images/presen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088" y="2349500"/>
            <a:ext cx="2232025" cy="195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5" name="Picture 12" descr="http://www.smalltalk.org.uk/downloads/logo_smalltalk_a5_300dpi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419475" y="2420938"/>
            <a:ext cx="1368425" cy="1368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6" name="Picture 14" descr="http://www.revista.espiritolivre.org/wp-content/uploads/2013/01/java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779838" y="5084763"/>
            <a:ext cx="1512887" cy="1512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7" name="Picture 18" descr="http://1.bp.blogspot.com/-v9Nbt6ezbh4/UJUO_hJFPVI/AAAAAAAABO4/WwSefYeQ7Hg/s1600/csharpdotnet.pn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203825" y="2492375"/>
            <a:ext cx="3905250" cy="117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8" name="Picture 21" descr="Python logo.sv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419475" y="4021138"/>
            <a:ext cx="2857500" cy="847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9" name="Picture 22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300788" y="5084763"/>
            <a:ext cx="2333625" cy="1152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70" name="Picture 24" descr="http://4.bp.blogspot.com/-PoKBa7fdc68/TrsGiDkXcyI/AAAAAAAAASs/MzZ71yi69_Y/s1600/ruby.png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331913" y="4797425"/>
            <a:ext cx="1487487" cy="170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2091237-0CDF-4523-8C2F-4127FECAC12B}" type="slidenum">
              <a:rPr lang="pt-BR" smtClean="0"/>
              <a:pPr/>
              <a:t>20</a:t>
            </a:fld>
            <a:endParaRPr lang="pt-BR" smtClean="0"/>
          </a:p>
        </p:txBody>
      </p:sp>
      <p:sp>
        <p:nvSpPr>
          <p:cNvPr id="39939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Atividade 1 – Conceitos O. O.</a:t>
            </a:r>
          </a:p>
        </p:txBody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55650" y="2276475"/>
            <a:ext cx="8305800" cy="4495800"/>
          </a:xfrm>
        </p:spPr>
        <p:txBody>
          <a:bodyPr/>
          <a:lstStyle/>
          <a:p>
            <a:pPr eaLnBrk="1" hangingPunct="1">
              <a:spcBef>
                <a:spcPts val="600"/>
              </a:spcBef>
            </a:pPr>
            <a:r>
              <a:rPr lang="pt-BR" sz="2400" dirty="0" smtClean="0"/>
              <a:t>Explique em 1 parágrafo o que você entende por:</a:t>
            </a:r>
          </a:p>
          <a:p>
            <a:pPr lvl="1" eaLnBrk="1" hangingPunct="1">
              <a:spcBef>
                <a:spcPts val="600"/>
              </a:spcBef>
            </a:pPr>
            <a:r>
              <a:rPr lang="pt-BR" sz="2000" dirty="0" smtClean="0"/>
              <a:t>Classes e objetos:</a:t>
            </a:r>
          </a:p>
          <a:p>
            <a:pPr lvl="1" eaLnBrk="1" hangingPunct="1">
              <a:spcBef>
                <a:spcPts val="600"/>
              </a:spcBef>
            </a:pPr>
            <a:r>
              <a:rPr lang="pt-BR" sz="2000" dirty="0" smtClean="0"/>
              <a:t>Métodos e atributos:</a:t>
            </a:r>
          </a:p>
          <a:p>
            <a:pPr lvl="1" eaLnBrk="1" hangingPunct="1">
              <a:spcBef>
                <a:spcPts val="600"/>
              </a:spcBef>
            </a:pPr>
            <a:r>
              <a:rPr lang="pt-BR" sz="2000" dirty="0" err="1" smtClean="0"/>
              <a:t>Encapsulamento</a:t>
            </a:r>
            <a:r>
              <a:rPr lang="pt-BR" sz="2000" dirty="0" smtClean="0"/>
              <a:t>:</a:t>
            </a:r>
          </a:p>
          <a:p>
            <a:pPr lvl="1" eaLnBrk="1" hangingPunct="1">
              <a:spcBef>
                <a:spcPts val="600"/>
              </a:spcBef>
            </a:pPr>
            <a:r>
              <a:rPr lang="pt-BR" sz="2000" dirty="0" smtClean="0"/>
              <a:t>Herança: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400" dirty="0" smtClean="0"/>
              <a:t>Enviar para o e-mail </a:t>
            </a:r>
            <a:r>
              <a:rPr lang="pt-BR" sz="2400" b="1" i="1" dirty="0" smtClean="0">
                <a:solidFill>
                  <a:srgbClr val="FF0000"/>
                </a:solidFill>
                <a:hlinkClick r:id="rId2"/>
              </a:rPr>
              <a:t>poo.profgrace@yahoo.com.br</a:t>
            </a:r>
            <a:endParaRPr lang="pt-BR" sz="2400" b="1" i="1" dirty="0" smtClean="0">
              <a:solidFill>
                <a:srgbClr val="FF0000"/>
              </a:solidFill>
            </a:endParaRP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400" dirty="0" smtClean="0"/>
              <a:t>Identifique quais atividades estão sendo enviadas no </a:t>
            </a:r>
            <a:r>
              <a:rPr lang="pt-BR" sz="2400" b="1" i="1" dirty="0" err="1" smtClean="0"/>
              <a:t>subject</a:t>
            </a:r>
            <a:r>
              <a:rPr lang="pt-BR" sz="2400" b="1" i="1" dirty="0" smtClean="0"/>
              <a:t>/ assunto</a:t>
            </a:r>
            <a:r>
              <a:rPr lang="pt-BR" sz="2400" dirty="0" smtClean="0"/>
              <a:t> da mensagem.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buFontTx/>
              <a:buNone/>
            </a:pPr>
            <a:r>
              <a:rPr lang="pt-BR" sz="2000" dirty="0" smtClean="0"/>
              <a:t>Ex.: Assunto: Atividades 1 – Conceitos OO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Material disponível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pt-BR" dirty="0" smtClean="0"/>
          </a:p>
          <a:p>
            <a:pPr>
              <a:buNone/>
            </a:pPr>
            <a:r>
              <a:rPr lang="pt-BR" sz="4800"/>
              <a:t>http://bit.ly/324wS0n</a:t>
            </a:r>
            <a:endParaRPr lang="pt-BR" sz="48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7FEB4A-CD10-468D-80D4-E33F2A429451}" type="slidenum">
              <a:rPr lang="pt-BR" smtClean="0"/>
              <a:pPr>
                <a:defRPr/>
              </a:pPr>
              <a:t>21</a:t>
            </a:fld>
            <a:endParaRPr lang="pt-B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Avisos importantes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20080" y="4437112"/>
            <a:ext cx="8460432" cy="2232248"/>
          </a:xfrm>
        </p:spPr>
        <p:txBody>
          <a:bodyPr/>
          <a:lstStyle/>
          <a:p>
            <a:r>
              <a:rPr lang="pt-BR" dirty="0" smtClean="0"/>
              <a:t>Começando pelos ambientes que você frequenta:</a:t>
            </a:r>
          </a:p>
          <a:p>
            <a:pPr lvl="1"/>
            <a:r>
              <a:rPr lang="pt-BR" dirty="0" smtClean="0"/>
              <a:t>Mantenha salas/ laboratórios limpos;</a:t>
            </a:r>
          </a:p>
          <a:p>
            <a:pPr lvl="1"/>
            <a:r>
              <a:rPr lang="pt-BR" dirty="0" smtClean="0"/>
              <a:t>Desligue seu computador ao final da aula;</a:t>
            </a:r>
          </a:p>
          <a:p>
            <a:pPr lvl="1"/>
            <a:r>
              <a:rPr lang="pt-BR" dirty="0" smtClean="0"/>
              <a:t>Organize sua mesa e cadeira;</a:t>
            </a:r>
          </a:p>
          <a:p>
            <a:pPr lvl="1"/>
            <a:r>
              <a:rPr lang="pt-BR" dirty="0" smtClean="0"/>
              <a:t>Verifique se não esqueceu nenhum pertence.</a:t>
            </a:r>
          </a:p>
          <a:p>
            <a:pPr lvl="1"/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7FEB4A-CD10-468D-80D4-E33F2A429451}" type="slidenum">
              <a:rPr lang="pt-BR" smtClean="0"/>
              <a:pPr>
                <a:defRPr/>
              </a:pPr>
              <a:t>22</a:t>
            </a:fld>
            <a:endParaRPr lang="pt-BR"/>
          </a:p>
        </p:txBody>
      </p:sp>
      <p:pic>
        <p:nvPicPr>
          <p:cNvPr id="1026" name="Picture 2" descr="Resultado de imagem para deixe o mundo um pouco melhor do que encontrou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624" y="2348880"/>
            <a:ext cx="5641540" cy="208823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Espaço Reservado para Número de Slide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5661A81-9738-4ADD-85B5-A14ECAA0E478}" type="slidenum">
              <a:rPr lang="pt-BR" smtClean="0"/>
              <a:pPr/>
              <a:t>23</a:t>
            </a:fld>
            <a:endParaRPr lang="pt-BR" smtClean="0"/>
          </a:p>
        </p:txBody>
      </p:sp>
      <p:sp>
        <p:nvSpPr>
          <p:cNvPr id="22531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pt-BR" smtClean="0"/>
              <a:t>Contato com a professora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2443163"/>
            <a:ext cx="7693025" cy="3643312"/>
          </a:xfrm>
        </p:spPr>
        <p:txBody>
          <a:bodyPr/>
          <a:lstStyle/>
          <a:p>
            <a:pPr eaLnBrk="1" hangingPunct="1"/>
            <a:r>
              <a:rPr lang="pt-BR" sz="2400" dirty="0" smtClean="0"/>
              <a:t>Para falar com a </a:t>
            </a:r>
            <a:r>
              <a:rPr lang="pt-BR" sz="2400" dirty="0" err="1" smtClean="0"/>
              <a:t>prof.</a:t>
            </a:r>
            <a:r>
              <a:rPr lang="pt-BR" sz="2400" dirty="0" smtClean="0"/>
              <a:t>a sobre algum assunto que exija resposta </a:t>
            </a:r>
            <a:r>
              <a:rPr lang="pt-BR" sz="2400" b="1" dirty="0" smtClean="0">
                <a:solidFill>
                  <a:srgbClr val="FF0000"/>
                </a:solidFill>
              </a:rPr>
              <a:t>URGENTE</a:t>
            </a:r>
            <a:r>
              <a:rPr lang="pt-BR" sz="2400" dirty="0" smtClean="0"/>
              <a:t>, pode enviar mensagem para meu e-mail:</a:t>
            </a:r>
          </a:p>
          <a:p>
            <a:pPr eaLnBrk="1" hangingPunct="1"/>
            <a:endParaRPr lang="pt-BR" sz="2400" dirty="0" smtClean="0"/>
          </a:p>
          <a:p>
            <a:pPr eaLnBrk="1" hangingPunct="1">
              <a:buFont typeface="Wingdings" pitchFamily="2" charset="2"/>
              <a:buNone/>
            </a:pPr>
            <a:r>
              <a:rPr lang="pt-BR" sz="2400" dirty="0" smtClean="0"/>
              <a:t>	</a:t>
            </a:r>
            <a:r>
              <a:rPr lang="pt-BR" sz="3200" dirty="0" smtClean="0">
                <a:hlinkClick r:id="rId2"/>
              </a:rPr>
              <a:t>graceapborges@fatecsp.br</a:t>
            </a:r>
            <a:endParaRPr lang="pt-BR" sz="3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Palestras – Maratona de Programação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2276872"/>
            <a:ext cx="7982272" cy="4509120"/>
          </a:xfrm>
        </p:spPr>
        <p:txBody>
          <a:bodyPr/>
          <a:lstStyle/>
          <a:p>
            <a:r>
              <a:rPr lang="pt-BR" dirty="0" smtClean="0"/>
              <a:t>Dia 03/03: “Características Técnicas de Competições de Programação". </a:t>
            </a:r>
          </a:p>
          <a:p>
            <a:endParaRPr lang="pt-BR" dirty="0" smtClean="0"/>
          </a:p>
          <a:p>
            <a:r>
              <a:rPr lang="pt-BR" dirty="0" smtClean="0"/>
              <a:t>Todas as terças-feiras das 18h às 19h</a:t>
            </a:r>
          </a:p>
          <a:p>
            <a:pPr>
              <a:buNone/>
            </a:pPr>
            <a:r>
              <a:rPr lang="pt-BR" dirty="0" smtClean="0"/>
              <a:t>Laboratório 8 (Cinza) - Lucio Nunes</a:t>
            </a:r>
          </a:p>
          <a:p>
            <a:endParaRPr lang="pt-BR" dirty="0" smtClean="0"/>
          </a:p>
          <a:p>
            <a:pPr>
              <a:buNone/>
            </a:pPr>
            <a:r>
              <a:rPr lang="pt-BR" i="1" dirty="0" smtClean="0"/>
              <a:t>Inscrições: http://sec.fatecsp.br/publicas</a:t>
            </a:r>
          </a:p>
          <a:p>
            <a:endParaRPr lang="pt-BR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7FEB4A-CD10-468D-80D4-E33F2A429451}" type="slidenum">
              <a:rPr lang="pt-BR" smtClean="0"/>
              <a:pPr>
                <a:defRPr/>
              </a:pPr>
              <a:t>24</a:t>
            </a:fld>
            <a:endParaRPr lang="pt-B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FaTech</a:t>
            </a:r>
            <a:r>
              <a:rPr lang="pt-BR" dirty="0" smtClean="0"/>
              <a:t> Girls &amp; Centro Acadêmico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2492896"/>
            <a:ext cx="7693025" cy="3593579"/>
          </a:xfrm>
        </p:spPr>
        <p:txBody>
          <a:bodyPr/>
          <a:lstStyle/>
          <a:p>
            <a:r>
              <a:rPr lang="pt-BR" dirty="0" smtClean="0"/>
              <a:t>2º </a:t>
            </a:r>
            <a:r>
              <a:rPr lang="pt-BR" dirty="0" err="1" smtClean="0"/>
              <a:t>Tech</a:t>
            </a:r>
            <a:r>
              <a:rPr lang="pt-BR" dirty="0" smtClean="0"/>
              <a:t> </a:t>
            </a:r>
            <a:r>
              <a:rPr lang="pt-BR" dirty="0" err="1" smtClean="0"/>
              <a:t>Women</a:t>
            </a:r>
            <a:endParaRPr lang="pt-BR" dirty="0" smtClean="0"/>
          </a:p>
          <a:p>
            <a:pPr>
              <a:buNone/>
            </a:pPr>
            <a:r>
              <a:rPr lang="pt-BR" dirty="0" smtClean="0"/>
              <a:t>De 09 a 14/03/2020: semana de atividades em homenagem ao dia internacional da mulher (palestras, oficinas, exposições, filmes, etc.)</a:t>
            </a:r>
          </a:p>
          <a:p>
            <a:pPr>
              <a:buNone/>
            </a:pPr>
            <a:r>
              <a:rPr lang="pt-BR" dirty="0" smtClean="0"/>
              <a:t>Programação aberta ao público em geral com prioridade para mulheres. </a:t>
            </a:r>
          </a:p>
          <a:p>
            <a:pPr>
              <a:buNone/>
            </a:pPr>
            <a:r>
              <a:rPr lang="pt-BR" smtClean="0"/>
              <a:t>Em </a:t>
            </a:r>
            <a:r>
              <a:rPr lang="pt-BR" dirty="0" smtClean="0"/>
              <a:t>breve no site: </a:t>
            </a:r>
            <a:r>
              <a:rPr lang="pt-BR" dirty="0" smtClean="0">
                <a:hlinkClick r:id="rId2"/>
              </a:rPr>
              <a:t>https://fatechgirls.org/</a:t>
            </a:r>
            <a:endParaRPr lang="pt-BR" dirty="0" smtClean="0"/>
          </a:p>
          <a:p>
            <a:pPr>
              <a:buNone/>
            </a:pPr>
            <a:endParaRPr lang="pt-BR" dirty="0" smtClean="0"/>
          </a:p>
          <a:p>
            <a:pPr>
              <a:buNone/>
            </a:pPr>
            <a:endParaRPr lang="pt-BR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7FEB4A-CD10-468D-80D4-E33F2A429451}" type="slidenum">
              <a:rPr lang="pt-BR" smtClean="0"/>
              <a:pPr>
                <a:defRPr/>
              </a:pPr>
              <a:t>25</a:t>
            </a:fld>
            <a:endParaRPr lang="pt-BR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2|65.3|33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3|17.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11|32.8|20.7|59.3"/>
</p:tagLst>
</file>

<file path=ppt/theme/theme1.xml><?xml version="1.0" encoding="utf-8"?>
<a:theme xmlns:a="http://schemas.openxmlformats.org/drawingml/2006/main" name="Cápsulas">
  <a:themeElements>
    <a:clrScheme name="Cápsulas 1">
      <a:dk1>
        <a:srgbClr val="003366"/>
      </a:dk1>
      <a:lt1>
        <a:srgbClr val="FFFFFF"/>
      </a:lt1>
      <a:dk2>
        <a:srgbClr val="006666"/>
      </a:dk2>
      <a:lt2>
        <a:srgbClr val="666699"/>
      </a:lt2>
      <a:accent1>
        <a:srgbClr val="33CCCC"/>
      </a:accent1>
      <a:accent2>
        <a:srgbClr val="99CC99"/>
      </a:accent2>
      <a:accent3>
        <a:srgbClr val="FFFFFF"/>
      </a:accent3>
      <a:accent4>
        <a:srgbClr val="002A56"/>
      </a:accent4>
      <a:accent5>
        <a:srgbClr val="ADE2E2"/>
      </a:accent5>
      <a:accent6>
        <a:srgbClr val="8AB98A"/>
      </a:accent6>
      <a:hlink>
        <a:srgbClr val="003366"/>
      </a:hlink>
      <a:folHlink>
        <a:srgbClr val="CC99FF"/>
      </a:folHlink>
    </a:clrScheme>
    <a:fontScheme name="Cápsula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ápsulas 1">
        <a:dk1>
          <a:srgbClr val="003366"/>
        </a:dk1>
        <a:lt1>
          <a:srgbClr val="FFFFFF"/>
        </a:lt1>
        <a:dk2>
          <a:srgbClr val="006666"/>
        </a:dk2>
        <a:lt2>
          <a:srgbClr val="666699"/>
        </a:lt2>
        <a:accent1>
          <a:srgbClr val="33CCCC"/>
        </a:accent1>
        <a:accent2>
          <a:srgbClr val="99CC99"/>
        </a:accent2>
        <a:accent3>
          <a:srgbClr val="FFFFFF"/>
        </a:accent3>
        <a:accent4>
          <a:srgbClr val="002A56"/>
        </a:accent4>
        <a:accent5>
          <a:srgbClr val="ADE2E2"/>
        </a:accent5>
        <a:accent6>
          <a:srgbClr val="8AB98A"/>
        </a:accent6>
        <a:hlink>
          <a:srgbClr val="003366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2">
        <a:dk1>
          <a:srgbClr val="000000"/>
        </a:dk1>
        <a:lt1>
          <a:srgbClr val="FFFFFF"/>
        </a:lt1>
        <a:dk2>
          <a:srgbClr val="000000"/>
        </a:dk2>
        <a:lt2>
          <a:srgbClr val="808000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00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3">
        <a:dk1>
          <a:srgbClr val="006699"/>
        </a:dk1>
        <a:lt1>
          <a:srgbClr val="FFFFFF"/>
        </a:lt1>
        <a:dk2>
          <a:srgbClr val="6699FF"/>
        </a:dk2>
        <a:lt2>
          <a:srgbClr val="FFFFFF"/>
        </a:lt2>
        <a:accent1>
          <a:srgbClr val="33CCCC"/>
        </a:accent1>
        <a:accent2>
          <a:srgbClr val="006699"/>
        </a:accent2>
        <a:accent3>
          <a:srgbClr val="B8CAFF"/>
        </a:accent3>
        <a:accent4>
          <a:srgbClr val="DADADA"/>
        </a:accent4>
        <a:accent5>
          <a:srgbClr val="ADE2E2"/>
        </a:accent5>
        <a:accent6>
          <a:srgbClr val="005C8A"/>
        </a:accent6>
        <a:hlink>
          <a:srgbClr val="99CC00"/>
        </a:hlink>
        <a:folHlink>
          <a:srgbClr val="FFFF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4">
        <a:dk1>
          <a:srgbClr val="000000"/>
        </a:dk1>
        <a:lt1>
          <a:srgbClr val="FFFFFF"/>
        </a:lt1>
        <a:dk2>
          <a:srgbClr val="9900CC"/>
        </a:dk2>
        <a:lt2>
          <a:srgbClr val="006600"/>
        </a:lt2>
        <a:accent1>
          <a:srgbClr val="33CC33"/>
        </a:accent1>
        <a:accent2>
          <a:srgbClr val="FFCC66"/>
        </a:accent2>
        <a:accent3>
          <a:srgbClr val="FFFFFF"/>
        </a:accent3>
        <a:accent4>
          <a:srgbClr val="000000"/>
        </a:accent4>
        <a:accent5>
          <a:srgbClr val="ADE2AD"/>
        </a:accent5>
        <a:accent6>
          <a:srgbClr val="E7B95C"/>
        </a:accent6>
        <a:hlink>
          <a:srgbClr val="0033CC"/>
        </a:hlink>
        <a:folHlink>
          <a:srgbClr val="CC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5">
        <a:dk1>
          <a:srgbClr val="000066"/>
        </a:dk1>
        <a:lt1>
          <a:srgbClr val="FFFFFF"/>
        </a:lt1>
        <a:dk2>
          <a:srgbClr val="336699"/>
        </a:dk2>
        <a:lt2>
          <a:srgbClr val="FFFFEB"/>
        </a:lt2>
        <a:accent1>
          <a:srgbClr val="99CCFF"/>
        </a:accent1>
        <a:accent2>
          <a:srgbClr val="9999FF"/>
        </a:accent2>
        <a:accent3>
          <a:srgbClr val="ADB8CA"/>
        </a:accent3>
        <a:accent4>
          <a:srgbClr val="DADADA"/>
        </a:accent4>
        <a:accent5>
          <a:srgbClr val="CAE2FF"/>
        </a:accent5>
        <a:accent6>
          <a:srgbClr val="8A8AE7"/>
        </a:accent6>
        <a:hlink>
          <a:srgbClr val="CCCCFF"/>
        </a:hlink>
        <a:folHlink>
          <a:srgbClr val="C68D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6">
        <a:dk1>
          <a:srgbClr val="808000"/>
        </a:dk1>
        <a:lt1>
          <a:srgbClr val="FFFFFF"/>
        </a:lt1>
        <a:dk2>
          <a:srgbClr val="006666"/>
        </a:dk2>
        <a:lt2>
          <a:srgbClr val="FFFFFF"/>
        </a:lt2>
        <a:accent1>
          <a:srgbClr val="FFCC66"/>
        </a:accent1>
        <a:accent2>
          <a:srgbClr val="00ACA8"/>
        </a:accent2>
        <a:accent3>
          <a:srgbClr val="AAB8B8"/>
        </a:accent3>
        <a:accent4>
          <a:srgbClr val="DADADA"/>
        </a:accent4>
        <a:accent5>
          <a:srgbClr val="FFE2B8"/>
        </a:accent5>
        <a:accent6>
          <a:srgbClr val="009B98"/>
        </a:accent6>
        <a:hlink>
          <a:srgbClr val="CCCC00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7">
        <a:dk1>
          <a:srgbClr val="FFFFCC"/>
        </a:dk1>
        <a:lt1>
          <a:srgbClr val="FFFFFF"/>
        </a:lt1>
        <a:dk2>
          <a:srgbClr val="660033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B8AAAD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FFCC00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8">
        <a:dk1>
          <a:srgbClr val="FF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CC00"/>
        </a:accent1>
        <a:accent2>
          <a:srgbClr val="CC3300"/>
        </a:accent2>
        <a:accent3>
          <a:srgbClr val="AA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FF6600"/>
        </a:hlink>
        <a:folHlink>
          <a:srgbClr val="FF7C8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Capsules</Template>
  <TotalTime>1008</TotalTime>
  <Words>663</Words>
  <Application>Microsoft Office PowerPoint</Application>
  <PresentationFormat>Apresentação na tela (4:3)</PresentationFormat>
  <Paragraphs>184</Paragraphs>
  <Slides>25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1" baseType="lpstr">
      <vt:lpstr>宋体</vt:lpstr>
      <vt:lpstr>Arial</vt:lpstr>
      <vt:lpstr>Arial Black</vt:lpstr>
      <vt:lpstr>Times New Roman</vt:lpstr>
      <vt:lpstr>Wingdings</vt:lpstr>
      <vt:lpstr>Cápsulas</vt:lpstr>
      <vt:lpstr>Apresentação da Disciplina Programação Orientada a Objetos</vt:lpstr>
      <vt:lpstr>Turmas 2020 - 1º semestre</vt:lpstr>
      <vt:lpstr>Objetivo</vt:lpstr>
      <vt:lpstr>Assuntos</vt:lpstr>
      <vt:lpstr>Programação Java usando JGrasp</vt:lpstr>
      <vt:lpstr>Como aprendemos?</vt:lpstr>
      <vt:lpstr>Metodologia</vt:lpstr>
      <vt:lpstr>Bibliografia básica</vt:lpstr>
      <vt:lpstr>Avaliação</vt:lpstr>
      <vt:lpstr>Dúvidas</vt:lpstr>
      <vt:lpstr>Programação Orientada a Objetos</vt:lpstr>
      <vt:lpstr>Novos conceitos: objetos e classes</vt:lpstr>
      <vt:lpstr>Em Programação Orientada a Objetos</vt:lpstr>
      <vt:lpstr>Implementação: Classe Relógio</vt:lpstr>
      <vt:lpstr>Membros de uma Classe</vt:lpstr>
      <vt:lpstr>Herança entre Classes</vt:lpstr>
      <vt:lpstr>Exemplo de Herança – Membros de uma faculdade</vt:lpstr>
      <vt:lpstr>Herança X Polimorfismo</vt:lpstr>
      <vt:lpstr>Linguagens O. O.</vt:lpstr>
      <vt:lpstr>Atividade 1 – Conceitos O. O.</vt:lpstr>
      <vt:lpstr>Material disponível</vt:lpstr>
      <vt:lpstr>Avisos importantes</vt:lpstr>
      <vt:lpstr>Contato com a professora</vt:lpstr>
      <vt:lpstr>Palestras – Maratona de Programação</vt:lpstr>
      <vt:lpstr>FaTech Girls &amp; Centro Acadêmico</vt:lpstr>
    </vt:vector>
  </TitlesOfParts>
  <Company>Outgrow / Lukiano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Encapsulamento e construtores</dc:title>
  <dc:creator>Grace</dc:creator>
  <cp:lastModifiedBy>professor</cp:lastModifiedBy>
  <cp:revision>174</cp:revision>
  <dcterms:created xsi:type="dcterms:W3CDTF">2008-07-15T02:11:57Z</dcterms:created>
  <dcterms:modified xsi:type="dcterms:W3CDTF">2020-02-17T23:48:43Z</dcterms:modified>
</cp:coreProperties>
</file>