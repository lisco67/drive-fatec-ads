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5" r:id="rId1"/>
  </p:sldMasterIdLst>
  <p:notesMasterIdLst>
    <p:notesMasterId r:id="rId38"/>
  </p:notesMasterIdLst>
  <p:handoutMasterIdLst>
    <p:handoutMasterId r:id="rId39"/>
  </p:handoutMasterIdLst>
  <p:sldIdLst>
    <p:sldId id="331" r:id="rId2"/>
    <p:sldId id="398" r:id="rId3"/>
    <p:sldId id="408" r:id="rId4"/>
    <p:sldId id="409" r:id="rId5"/>
    <p:sldId id="410" r:id="rId6"/>
    <p:sldId id="411" r:id="rId7"/>
    <p:sldId id="402" r:id="rId8"/>
    <p:sldId id="403" r:id="rId9"/>
    <p:sldId id="404" r:id="rId10"/>
    <p:sldId id="405" r:id="rId11"/>
    <p:sldId id="406" r:id="rId12"/>
    <p:sldId id="397" r:id="rId13"/>
    <p:sldId id="325" r:id="rId14"/>
    <p:sldId id="341" r:id="rId15"/>
    <p:sldId id="335" r:id="rId16"/>
    <p:sldId id="336" r:id="rId17"/>
    <p:sldId id="337" r:id="rId18"/>
    <p:sldId id="327" r:id="rId19"/>
    <p:sldId id="351" r:id="rId20"/>
    <p:sldId id="360" r:id="rId21"/>
    <p:sldId id="359" r:id="rId22"/>
    <p:sldId id="345" r:id="rId23"/>
    <p:sldId id="342" r:id="rId24"/>
    <p:sldId id="352" r:id="rId25"/>
    <p:sldId id="353" r:id="rId26"/>
    <p:sldId id="354" r:id="rId27"/>
    <p:sldId id="355" r:id="rId28"/>
    <p:sldId id="356" r:id="rId29"/>
    <p:sldId id="369" r:id="rId30"/>
    <p:sldId id="399" r:id="rId31"/>
    <p:sldId id="400" r:id="rId32"/>
    <p:sldId id="396" r:id="rId33"/>
    <p:sldId id="395" r:id="rId34"/>
    <p:sldId id="412" r:id="rId35"/>
    <p:sldId id="417" r:id="rId36"/>
    <p:sldId id="407" r:id="rId37"/>
  </p:sldIdLst>
  <p:sldSz cx="9144000" cy="6858000" type="screen4x3"/>
  <p:notesSz cx="10234613" cy="70993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3200" kern="1200">
        <a:solidFill>
          <a:schemeClr val="tx1"/>
        </a:solidFill>
        <a:latin typeface="Arial" pitchFamily="34" charset="0"/>
        <a:ea typeface="+mn-ea"/>
        <a:cs typeface="+mn-cs"/>
      </a:defRPr>
    </a:lvl6pPr>
    <a:lvl7pPr marL="2743200" algn="l" defTabSz="914400" rtl="0" eaLnBrk="1" latinLnBrk="0" hangingPunct="1">
      <a:defRPr sz="3200" kern="1200">
        <a:solidFill>
          <a:schemeClr val="tx1"/>
        </a:solidFill>
        <a:latin typeface="Arial" pitchFamily="34" charset="0"/>
        <a:ea typeface="+mn-ea"/>
        <a:cs typeface="+mn-cs"/>
      </a:defRPr>
    </a:lvl7pPr>
    <a:lvl8pPr marL="3200400" algn="l" defTabSz="914400" rtl="0" eaLnBrk="1" latinLnBrk="0" hangingPunct="1">
      <a:defRPr sz="3200" kern="1200">
        <a:solidFill>
          <a:schemeClr val="tx1"/>
        </a:solidFill>
        <a:latin typeface="Arial" pitchFamily="34" charset="0"/>
        <a:ea typeface="+mn-ea"/>
        <a:cs typeface="+mn-cs"/>
      </a:defRPr>
    </a:lvl8pPr>
    <a:lvl9pPr marL="3657600" algn="l" defTabSz="914400" rtl="0" eaLnBrk="1" latinLnBrk="0" hangingPunct="1">
      <a:defRPr sz="3200" kern="1200">
        <a:solidFill>
          <a:schemeClr val="tx1"/>
        </a:solidFill>
        <a:latin typeface="Arial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3366CC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7" autoAdjust="0"/>
    <p:restoredTop sz="94617" autoAdjust="0"/>
  </p:normalViewPr>
  <p:slideViewPr>
    <p:cSldViewPr>
      <p:cViewPr varScale="1">
        <p:scale>
          <a:sx n="102" d="100"/>
          <a:sy n="102" d="100"/>
        </p:scale>
        <p:origin x="264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885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79755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b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79755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pPr>
              <a:defRPr/>
            </a:pPr>
            <a:fld id="{A6ADEA58-50F7-4A5D-9830-32EB6B1575D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57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755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341688" y="531813"/>
            <a:ext cx="3549650" cy="266223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22350" y="3371850"/>
            <a:ext cx="8189913" cy="3195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 smtClean="0"/>
              <a:t>Clique para editar os estilos do texto mestre</a:t>
            </a:r>
          </a:p>
          <a:p>
            <a:pPr lvl="1"/>
            <a:r>
              <a:rPr lang="pt-BR" noProof="0" smtClean="0"/>
              <a:t>Segundo nível</a:t>
            </a:r>
          </a:p>
          <a:p>
            <a:pPr lvl="2"/>
            <a:r>
              <a:rPr lang="pt-BR" noProof="0" smtClean="0"/>
              <a:t>Terceiro nível</a:t>
            </a:r>
          </a:p>
          <a:p>
            <a:pPr lvl="3"/>
            <a:r>
              <a:rPr lang="pt-BR" noProof="0" smtClean="0"/>
              <a:t>Quarto nível</a:t>
            </a:r>
          </a:p>
          <a:p>
            <a:pPr lvl="4"/>
            <a:r>
              <a:rPr lang="pt-BR" noProof="0" smtClean="0"/>
              <a:t>Quinto nível</a:t>
            </a:r>
          </a:p>
        </p:txBody>
      </p:sp>
      <p:sp>
        <p:nvSpPr>
          <p:cNvPr id="757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b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57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755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pPr>
              <a:defRPr/>
            </a:pPr>
            <a:fld id="{2FCA9F3C-8A51-41E7-950F-F916FFB263A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5867400" cy="6858000"/>
            <a:chOff x="0" y="0"/>
            <a:chExt cx="3696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auto">
            <a:xfrm>
              <a:off x="0" y="0"/>
              <a:ext cx="2880" cy="432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kumimoji="1" lang="pt-BR" sz="2400">
                <a:latin typeface="Times New Roman" pitchFamily="18" charset="0"/>
              </a:endParaRPr>
            </a:p>
          </p:txBody>
        </p:sp>
        <p:sp>
          <p:nvSpPr>
            <p:cNvPr id="6" name="AutoShape 4"/>
            <p:cNvSpPr>
              <a:spLocks noChangeArrowheads="1"/>
            </p:cNvSpPr>
            <p:nvPr/>
          </p:nvSpPr>
          <p:spPr bwMode="white">
            <a:xfrm>
              <a:off x="432" y="624"/>
              <a:ext cx="3264" cy="120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kumimoji="1" lang="pt-BR" sz="2400">
                <a:latin typeface="Times New Roman" pitchFamily="18" charset="0"/>
              </a:endParaRPr>
            </a:p>
          </p:txBody>
        </p:sp>
      </p:grpSp>
      <p:grpSp>
        <p:nvGrpSpPr>
          <p:cNvPr id="7" name="Group 5"/>
          <p:cNvGrpSpPr>
            <a:grpSpLocks/>
          </p:cNvGrpSpPr>
          <p:nvPr/>
        </p:nvGrpSpPr>
        <p:grpSpPr bwMode="auto">
          <a:xfrm>
            <a:off x="3632200" y="4889500"/>
            <a:ext cx="4876800" cy="319088"/>
            <a:chOff x="2288" y="3080"/>
            <a:chExt cx="3072" cy="201"/>
          </a:xfrm>
        </p:grpSpPr>
        <p:sp>
          <p:nvSpPr>
            <p:cNvPr id="8" name="AutoShape 6"/>
            <p:cNvSpPr>
              <a:spLocks noChangeArrowheads="1"/>
            </p:cNvSpPr>
            <p:nvPr/>
          </p:nvSpPr>
          <p:spPr bwMode="auto">
            <a:xfrm flipH="1">
              <a:off x="2288" y="3080"/>
              <a:ext cx="2914" cy="200"/>
            </a:xfrm>
            <a:prstGeom prst="roundRect">
              <a:avLst>
                <a:gd name="adj" fmla="val 0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pt-BR"/>
            </a:p>
          </p:txBody>
        </p:sp>
        <p:sp>
          <p:nvSpPr>
            <p:cNvPr id="9" name="AutoShape 7"/>
            <p:cNvSpPr>
              <a:spLocks noChangeArrowheads="1"/>
            </p:cNvSpPr>
            <p:nvPr/>
          </p:nvSpPr>
          <p:spPr bwMode="auto">
            <a:xfrm>
              <a:off x="5196" y="3080"/>
              <a:ext cx="164" cy="201"/>
            </a:xfrm>
            <a:prstGeom prst="flowChartDelay">
              <a:avLst/>
            </a:prstGeom>
            <a:solidFill>
              <a:schemeClr val="hlink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pt-BR"/>
            </a:p>
          </p:txBody>
        </p:sp>
      </p:grpSp>
      <p:sp>
        <p:nvSpPr>
          <p:cNvPr id="39944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4673600" y="2927350"/>
            <a:ext cx="4013200" cy="1822450"/>
          </a:xfrm>
        </p:spPr>
        <p:txBody>
          <a:bodyPr anchor="b"/>
          <a:lstStyle>
            <a:lvl1pPr marL="0" indent="0">
              <a:buFont typeface="Wingdings" pitchFamily="2" charset="2"/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39948" name="AutoShape 12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990600"/>
            <a:ext cx="8229600" cy="1905000"/>
          </a:xfrm>
          <a:prstGeom prst="roundRect">
            <a:avLst>
              <a:gd name="adj" fmla="val 50000"/>
            </a:avLst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10" name="Rectangle 9"/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1" name="Rectangle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2" name="Rectangle 1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6200" y="6248400"/>
            <a:ext cx="587375" cy="488950"/>
          </a:xfrm>
        </p:spPr>
        <p:txBody>
          <a:bodyPr anchorCtr="0"/>
          <a:lstStyle>
            <a:lvl1pPr>
              <a:defRPr/>
            </a:lvl1pPr>
          </a:lstStyle>
          <a:p>
            <a:pPr>
              <a:defRPr/>
            </a:pPr>
            <a:fld id="{E2E9F09B-614F-47C3-B8B7-F9704CB735A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AC33589-6E96-4CD5-ABAA-F3DF630F658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FBF382-4CE9-4AC1-94AE-63BA0CAB643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2362200"/>
            <a:ext cx="3770313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760913" y="2362200"/>
            <a:ext cx="3770312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BEF716-C429-4DBF-BFF8-2697D35962F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23650A-4F0B-4DBA-BD06-6EA9BB3453B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1E64DC-7108-49AF-9D75-9F62B8DE496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C12CA79-C34B-446F-A46F-A751905A3D7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BB78533-A537-470A-B667-FC6914359F1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 smtClean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7C863F6-2B02-4C65-8900-FCD489D6C2D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58B952-C07D-4338-B4B2-D614A8AE3E2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705600" y="762000"/>
            <a:ext cx="1981200" cy="532447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762000" y="762000"/>
            <a:ext cx="5791200" cy="532447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FE4823B-25B1-4A36-8B07-B9545BECC84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62000" y="762000"/>
            <a:ext cx="7924800" cy="1143000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838200" y="2362200"/>
            <a:ext cx="7693025" cy="3724275"/>
          </a:xfrm>
        </p:spPr>
        <p:txBody>
          <a:bodyPr/>
          <a:lstStyle/>
          <a:p>
            <a:pPr lvl="0"/>
            <a:endParaRPr lang="pt-BR" noProof="0" smtClean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884F2E-4E4A-4FBD-9601-8CE08E8775D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ítulo, text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62000" y="762000"/>
            <a:ext cx="7924800" cy="1143000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sz="half" idx="1"/>
          </p:nvPr>
        </p:nvSpPr>
        <p:spPr>
          <a:xfrm>
            <a:off x="838200" y="2362200"/>
            <a:ext cx="3770313" cy="3724275"/>
          </a:xfrm>
        </p:spPr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760913" y="2362200"/>
            <a:ext cx="3770312" cy="3724275"/>
          </a:xfrm>
        </p:spPr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89CF3D-5B8A-4F52-A78A-92038F3CE1A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/>
          <p:cNvGrpSpPr>
            <a:grpSpLocks/>
          </p:cNvGrpSpPr>
          <p:nvPr/>
        </p:nvGrpSpPr>
        <p:grpSpPr bwMode="auto">
          <a:xfrm>
            <a:off x="0" y="0"/>
            <a:ext cx="7620000" cy="6858000"/>
            <a:chOff x="0" y="0"/>
            <a:chExt cx="4800" cy="4320"/>
          </a:xfrm>
        </p:grpSpPr>
        <p:grpSp>
          <p:nvGrpSpPr>
            <p:cNvPr id="1032" name="Group 3"/>
            <p:cNvGrpSpPr>
              <a:grpSpLocks/>
            </p:cNvGrpSpPr>
            <p:nvPr userDrawn="1"/>
          </p:nvGrpSpPr>
          <p:grpSpPr bwMode="auto">
            <a:xfrm>
              <a:off x="0" y="0"/>
              <a:ext cx="2016" cy="4320"/>
              <a:chOff x="0" y="0"/>
              <a:chExt cx="2016" cy="4320"/>
            </a:xfrm>
          </p:grpSpPr>
          <p:sp>
            <p:nvSpPr>
              <p:cNvPr id="38916" name="Rectangle 4"/>
              <p:cNvSpPr>
                <a:spLocks noChangeArrowheads="1"/>
              </p:cNvSpPr>
              <p:nvPr userDrawn="1"/>
            </p:nvSpPr>
            <p:spPr bwMode="auto">
              <a:xfrm>
                <a:off x="0" y="0"/>
                <a:ext cx="480" cy="4320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pt-BR"/>
              </a:p>
            </p:txBody>
          </p:sp>
          <p:sp>
            <p:nvSpPr>
              <p:cNvPr id="38917" name="Freeform 5"/>
              <p:cNvSpPr>
                <a:spLocks/>
              </p:cNvSpPr>
              <p:nvPr userDrawn="1"/>
            </p:nvSpPr>
            <p:spPr bwMode="auto">
              <a:xfrm>
                <a:off x="288" y="0"/>
                <a:ext cx="1728" cy="735"/>
              </a:xfrm>
              <a:custGeom>
                <a:avLst/>
                <a:gdLst/>
                <a:ahLst/>
                <a:cxnLst>
                  <a:cxn ang="0">
                    <a:pos x="1728" y="0"/>
                  </a:cxn>
                  <a:cxn ang="0">
                    <a:pos x="1728" y="480"/>
                  </a:cxn>
                  <a:cxn ang="0">
                    <a:pos x="380" y="482"/>
                  </a:cxn>
                  <a:cxn ang="0">
                    <a:pos x="354" y="480"/>
                  </a:cxn>
                  <a:cxn ang="0">
                    <a:pos x="308" y="489"/>
                  </a:cxn>
                  <a:cxn ang="0">
                    <a:pos x="246" y="531"/>
                  </a:cxn>
                  <a:cxn ang="0">
                    <a:pos x="206" y="597"/>
                  </a:cxn>
                  <a:cxn ang="0">
                    <a:pos x="192" y="666"/>
                  </a:cxn>
                  <a:cxn ang="0">
                    <a:pos x="192" y="735"/>
                  </a:cxn>
                  <a:cxn ang="0">
                    <a:pos x="0" y="735"/>
                  </a:cxn>
                  <a:cxn ang="0">
                    <a:pos x="0" y="480"/>
                  </a:cxn>
                  <a:cxn ang="0">
                    <a:pos x="0" y="0"/>
                  </a:cxn>
                  <a:cxn ang="0">
                    <a:pos x="1728" y="0"/>
                  </a:cxn>
                </a:cxnLst>
                <a:rect l="0" t="0" r="r" b="b"/>
                <a:pathLst>
                  <a:path w="1728" h="735">
                    <a:moveTo>
                      <a:pt x="1728" y="0"/>
                    </a:moveTo>
                    <a:lnTo>
                      <a:pt x="1728" y="480"/>
                    </a:lnTo>
                    <a:lnTo>
                      <a:pt x="380" y="482"/>
                    </a:lnTo>
                    <a:lnTo>
                      <a:pt x="354" y="480"/>
                    </a:lnTo>
                    <a:lnTo>
                      <a:pt x="308" y="489"/>
                    </a:lnTo>
                    <a:cubicBezTo>
                      <a:pt x="290" y="498"/>
                      <a:pt x="263" y="513"/>
                      <a:pt x="246" y="531"/>
                    </a:cubicBezTo>
                    <a:cubicBezTo>
                      <a:pt x="229" y="549"/>
                      <a:pt x="215" y="574"/>
                      <a:pt x="206" y="597"/>
                    </a:cubicBezTo>
                    <a:cubicBezTo>
                      <a:pt x="197" y="620"/>
                      <a:pt x="194" y="643"/>
                      <a:pt x="192" y="666"/>
                    </a:cubicBezTo>
                    <a:lnTo>
                      <a:pt x="192" y="735"/>
                    </a:lnTo>
                    <a:lnTo>
                      <a:pt x="0" y="735"/>
                    </a:lnTo>
                    <a:lnTo>
                      <a:pt x="0" y="480"/>
                    </a:lnTo>
                    <a:lnTo>
                      <a:pt x="0" y="0"/>
                    </a:lnTo>
                    <a:lnTo>
                      <a:pt x="172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wrap="none"/>
              <a:lstStyle/>
              <a:p>
                <a:pPr>
                  <a:defRPr/>
                </a:pPr>
                <a:endParaRPr lang="pt-BR"/>
              </a:p>
            </p:txBody>
          </p:sp>
        </p:grpSp>
        <p:grpSp>
          <p:nvGrpSpPr>
            <p:cNvPr id="1033" name="Group 6"/>
            <p:cNvGrpSpPr>
              <a:grpSpLocks/>
            </p:cNvGrpSpPr>
            <p:nvPr/>
          </p:nvGrpSpPr>
          <p:grpSpPr bwMode="auto">
            <a:xfrm>
              <a:off x="144" y="1248"/>
              <a:ext cx="4656" cy="201"/>
              <a:chOff x="144" y="1248"/>
              <a:chExt cx="4656" cy="201"/>
            </a:xfrm>
          </p:grpSpPr>
          <p:sp>
            <p:nvSpPr>
              <p:cNvPr id="38919" name="AutoShape 7"/>
              <p:cNvSpPr>
                <a:spLocks noChangeArrowheads="1"/>
              </p:cNvSpPr>
              <p:nvPr/>
            </p:nvSpPr>
            <p:spPr bwMode="auto">
              <a:xfrm>
                <a:off x="384" y="1248"/>
                <a:ext cx="4416" cy="200"/>
              </a:xfrm>
              <a:prstGeom prst="roundRect">
                <a:avLst>
                  <a:gd name="adj" fmla="val 0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pt-BR"/>
              </a:p>
            </p:txBody>
          </p:sp>
          <p:sp>
            <p:nvSpPr>
              <p:cNvPr id="38920" name="AutoShape 8"/>
              <p:cNvSpPr>
                <a:spLocks noChangeArrowheads="1"/>
              </p:cNvSpPr>
              <p:nvPr/>
            </p:nvSpPr>
            <p:spPr bwMode="auto">
              <a:xfrm flipH="1">
                <a:off x="144" y="1248"/>
                <a:ext cx="248" cy="201"/>
              </a:xfrm>
              <a:prstGeom prst="flowChartDelay">
                <a:avLst/>
              </a:prstGeom>
              <a:solidFill>
                <a:schemeClr val="hlink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pt-BR"/>
              </a:p>
            </p:txBody>
          </p:sp>
        </p:grpSp>
      </p:grpSp>
      <p:sp>
        <p:nvSpPr>
          <p:cNvPr id="1027" name="AutoShape 9"/>
          <p:cNvSpPr>
            <a:spLocks noGrp="1" noChangeArrowheads="1"/>
          </p:cNvSpPr>
          <p:nvPr>
            <p:ph type="title"/>
          </p:nvPr>
        </p:nvSpPr>
        <p:spPr bwMode="auto">
          <a:xfrm>
            <a:off x="762000" y="762000"/>
            <a:ext cx="7924800" cy="1143000"/>
          </a:xfrm>
          <a:prstGeom prst="roundRect">
            <a:avLst>
              <a:gd name="adj" fmla="val 21667"/>
            </a:avLst>
          </a:pr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pt-BR" smtClean="0"/>
              <a:t>Clique para editar o estilo do título mestre</a:t>
            </a:r>
          </a:p>
        </p:txBody>
      </p:sp>
      <p:sp>
        <p:nvSpPr>
          <p:cNvPr id="1028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2362200"/>
            <a:ext cx="7693025" cy="3724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</a:p>
        </p:txBody>
      </p:sp>
      <p:sp>
        <p:nvSpPr>
          <p:cNvPr id="38923" name="Rectangle 11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38400" y="6248400"/>
            <a:ext cx="2130425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8924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791200" y="6248400"/>
            <a:ext cx="2897188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8925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4138" y="6242050"/>
            <a:ext cx="587375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1" compatLnSpc="1">
            <a:prstTxWarp prst="textNoShape">
              <a:avLst/>
            </a:prstTxWarp>
          </a:bodyPr>
          <a:lstStyle>
            <a:lvl1pPr>
              <a:defRPr sz="2600"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6BE5D22-090E-4322-90AF-B21BBDB73D6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l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l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80000"/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oracle.com/java/technologies/javase-downloads.html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mailto:atividadespoo@yahoo.com.br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AutoShap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Estrutura de decisão </a:t>
            </a:r>
            <a:br>
              <a:rPr lang="pt-BR" smtClean="0"/>
            </a:br>
            <a:r>
              <a:rPr lang="pt-BR" smtClean="0"/>
              <a:t>em JAVA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pt-BR" smtClean="0"/>
              <a:t>Aula 03 - P. O. O.</a:t>
            </a:r>
          </a:p>
          <a:p>
            <a:pPr eaLnBrk="1" hangingPunct="1"/>
            <a:r>
              <a:rPr lang="pt-BR" smtClean="0"/>
              <a:t>Prof. Grace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Aulas Anteriores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837488" cy="409098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pt-BR" dirty="0" smtClean="0"/>
              <a:t>Conceitos OO/ Ambiente Java</a:t>
            </a:r>
          </a:p>
          <a:p>
            <a:pPr>
              <a:lnSpc>
                <a:spcPct val="150000"/>
              </a:lnSpc>
            </a:pPr>
            <a:r>
              <a:rPr lang="pt-BR" dirty="0" smtClean="0"/>
              <a:t>Desenvolvimento com </a:t>
            </a:r>
            <a:r>
              <a:rPr lang="pt-BR" dirty="0" err="1" smtClean="0"/>
              <a:t>Jgrasp</a:t>
            </a:r>
            <a:endParaRPr lang="pt-BR" dirty="0" smtClean="0"/>
          </a:p>
          <a:p>
            <a:pPr>
              <a:lnSpc>
                <a:spcPct val="150000"/>
              </a:lnSpc>
            </a:pPr>
            <a:r>
              <a:rPr lang="pt-BR" dirty="0" smtClean="0"/>
              <a:t>Entrada e Saída de Dados:</a:t>
            </a:r>
          </a:p>
          <a:p>
            <a:pPr lvl="1">
              <a:lnSpc>
                <a:spcPct val="150000"/>
              </a:lnSpc>
            </a:pPr>
            <a:r>
              <a:rPr lang="pt-BR" dirty="0" smtClean="0"/>
              <a:t>Classe Scanner;</a:t>
            </a:r>
          </a:p>
          <a:p>
            <a:pPr lvl="1">
              <a:lnSpc>
                <a:spcPct val="150000"/>
              </a:lnSpc>
            </a:pPr>
            <a:r>
              <a:rPr lang="pt-BR" dirty="0" smtClean="0"/>
              <a:t>System.</a:t>
            </a:r>
            <a:r>
              <a:rPr lang="pt-BR" dirty="0" err="1" smtClean="0"/>
              <a:t>out.print</a:t>
            </a:r>
            <a:r>
              <a:rPr lang="pt-BR" dirty="0" smtClean="0"/>
              <a:t>() / </a:t>
            </a:r>
            <a:r>
              <a:rPr lang="pt-BR" dirty="0" err="1" smtClean="0"/>
              <a:t>printf</a:t>
            </a:r>
            <a:r>
              <a:rPr lang="pt-BR" dirty="0" smtClean="0"/>
              <a:t>()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71664A7-A541-4EFA-B9B5-5A67F6124AED}" type="slidenum">
              <a:rPr lang="pt-BR" smtClean="0"/>
              <a:pPr/>
              <a:t>3</a:t>
            </a:fld>
            <a:endParaRPr lang="pt-BR" smtClean="0"/>
          </a:p>
        </p:txBody>
      </p:sp>
      <p:sp>
        <p:nvSpPr>
          <p:cNvPr id="6147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dirty="0" smtClean="0"/>
              <a:t>Como funciona em múltiplas plataformas?</a:t>
            </a:r>
          </a:p>
        </p:txBody>
      </p:sp>
      <p:pic>
        <p:nvPicPr>
          <p:cNvPr id="6148" name="Picture 5" descr="Figure showing source code, compiler, and Java VM's for Win32, Solaris OS/Linux, and Mac O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28688" y="2420938"/>
            <a:ext cx="4392612" cy="4214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149" name="CaixaDeTexto 5"/>
          <p:cNvSpPr txBox="1">
            <a:spLocks noChangeArrowheads="1"/>
          </p:cNvSpPr>
          <p:nvPr/>
        </p:nvSpPr>
        <p:spPr bwMode="auto">
          <a:xfrm>
            <a:off x="5233988" y="3813175"/>
            <a:ext cx="3267075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pt-BR" sz="2400">
                <a:solidFill>
                  <a:srgbClr val="FF0000"/>
                </a:solidFill>
              </a:rPr>
              <a:t>Um compilador </a:t>
            </a:r>
          </a:p>
          <a:p>
            <a:pPr algn="ctr"/>
            <a:r>
              <a:rPr lang="pt-BR" sz="2400">
                <a:solidFill>
                  <a:srgbClr val="FF0000"/>
                </a:solidFill>
              </a:rPr>
              <a:t>para cada plataforma?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O mesmo bytecode (.class) executa em qualquer ambiente</a:t>
            </a:r>
          </a:p>
        </p:txBody>
      </p:sp>
      <p:sp>
        <p:nvSpPr>
          <p:cNvPr id="7171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2362200"/>
            <a:ext cx="8091488" cy="638175"/>
          </a:xfrm>
        </p:spPr>
        <p:txBody>
          <a:bodyPr/>
          <a:lstStyle/>
          <a:p>
            <a:r>
              <a:rPr lang="pt-BR" smtClean="0"/>
              <a:t>Desde que tenha a JVM para cada ambiente:</a:t>
            </a:r>
          </a:p>
        </p:txBody>
      </p:sp>
      <p:sp>
        <p:nvSpPr>
          <p:cNvPr id="7172" name="Espaço Reservado para Número de Slide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2F0D22D-24D9-4198-91D7-8CC7FCBF3A04}" type="slidenum">
              <a:rPr lang="pt-BR" smtClean="0"/>
              <a:pPr/>
              <a:t>4</a:t>
            </a:fld>
            <a:endParaRPr lang="pt-BR" smtClean="0"/>
          </a:p>
        </p:txBody>
      </p:sp>
      <p:pic>
        <p:nvPicPr>
          <p:cNvPr id="717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71625" y="3071813"/>
            <a:ext cx="5568950" cy="3143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Bytecode</a:t>
            </a:r>
          </a:p>
        </p:txBody>
      </p:sp>
      <p:sp>
        <p:nvSpPr>
          <p:cNvPr id="8195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b="1" i="1" smtClean="0"/>
              <a:t>BoasVindas.class</a:t>
            </a:r>
            <a:r>
              <a:rPr lang="pt-BR" sz="2400" smtClean="0"/>
              <a:t> não é legível (pelo menos não com editor de texto);</a:t>
            </a:r>
          </a:p>
          <a:p>
            <a:endParaRPr lang="pt-BR" sz="2400" smtClean="0"/>
          </a:p>
          <a:p>
            <a:endParaRPr lang="pt-BR" sz="2400" smtClean="0"/>
          </a:p>
          <a:p>
            <a:endParaRPr lang="pt-BR" sz="2400" smtClean="0"/>
          </a:p>
          <a:p>
            <a:endParaRPr lang="pt-BR" sz="2400" smtClean="0"/>
          </a:p>
          <a:p>
            <a:endParaRPr lang="pt-BR" sz="2400" smtClean="0"/>
          </a:p>
          <a:p>
            <a:pPr>
              <a:buFont typeface="Wingdings" pitchFamily="2" charset="2"/>
              <a:buNone/>
            </a:pPr>
            <a:endParaRPr lang="pt-BR" sz="2400" smtClean="0"/>
          </a:p>
          <a:p>
            <a:endParaRPr lang="pt-BR" sz="2400" smtClean="0"/>
          </a:p>
        </p:txBody>
      </p:sp>
      <p:sp>
        <p:nvSpPr>
          <p:cNvPr id="8196" name="Espaço Reservado para Número de Slide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D18FBD4-ED01-41FE-963F-F381D2B1EC2F}" type="slidenum">
              <a:rPr lang="pt-BR" smtClean="0"/>
              <a:pPr/>
              <a:t>5</a:t>
            </a:fld>
            <a:endParaRPr lang="pt-BR" smtClean="0"/>
          </a:p>
        </p:txBody>
      </p:sp>
      <p:pic>
        <p:nvPicPr>
          <p:cNvPr id="819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5813" y="3286125"/>
            <a:ext cx="8243887" cy="2500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Bytecode</a:t>
            </a:r>
          </a:p>
        </p:txBody>
      </p:sp>
      <p:sp>
        <p:nvSpPr>
          <p:cNvPr id="9219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2362200"/>
            <a:ext cx="8091488" cy="923925"/>
          </a:xfrm>
        </p:spPr>
        <p:txBody>
          <a:bodyPr/>
          <a:lstStyle/>
          <a:p>
            <a:r>
              <a:rPr lang="pt-BR" sz="2400" smtClean="0"/>
              <a:t>Código de Máquina (virtual): legível para qualquer JVM</a:t>
            </a:r>
          </a:p>
          <a:p>
            <a:pPr>
              <a:buFont typeface="Wingdings" pitchFamily="2" charset="2"/>
              <a:buNone/>
            </a:pPr>
            <a:r>
              <a:rPr lang="pt-BR" sz="2400" smtClean="0"/>
              <a:t>&gt; Javap – c BoasVindas</a:t>
            </a:r>
          </a:p>
        </p:txBody>
      </p:sp>
      <p:sp>
        <p:nvSpPr>
          <p:cNvPr id="9220" name="Espaço Reservado para Número de Slide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087A709-E3DF-43E2-8D3F-B03193D0706E}" type="slidenum">
              <a:rPr lang="pt-BR" smtClean="0"/>
              <a:pPr/>
              <a:t>6</a:t>
            </a:fld>
            <a:endParaRPr lang="pt-BR" smtClean="0"/>
          </a:p>
        </p:txBody>
      </p:sp>
      <p:pic>
        <p:nvPicPr>
          <p:cNvPr id="9221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00125" y="3267075"/>
            <a:ext cx="7072313" cy="3448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78302F2-9E54-4D2D-AE55-0F2F4A16A74E}" type="slidenum">
              <a:rPr lang="pt-BR" smtClean="0"/>
              <a:pPr/>
              <a:t>7</a:t>
            </a:fld>
            <a:endParaRPr lang="pt-BR" smtClean="0"/>
          </a:p>
        </p:txBody>
      </p:sp>
      <p:sp>
        <p:nvSpPr>
          <p:cNvPr id="9219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dirty="0" smtClean="0"/>
              <a:t>Desenvolvimento JAVA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7088" y="2349500"/>
            <a:ext cx="8054975" cy="423545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400" dirty="0" smtClean="0"/>
              <a:t>Ambiente de desenvolvimento – JDK (Java </a:t>
            </a:r>
            <a:r>
              <a:rPr lang="pt-BR" sz="2400" dirty="0" err="1" smtClean="0"/>
              <a:t>Development</a:t>
            </a:r>
            <a:r>
              <a:rPr lang="pt-BR" sz="2400" dirty="0" smtClean="0"/>
              <a:t> Kit)</a:t>
            </a:r>
            <a:endParaRPr lang="pt-BR" sz="2400" u="sng" dirty="0" smtClean="0"/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000" dirty="0" smtClean="0"/>
              <a:t>Conjunto de utilitários para desenvolvimento de software para plataforma Java</a:t>
            </a:r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000" dirty="0" smtClean="0"/>
              <a:t>Inclui: compilador (código fonte Java para </a:t>
            </a:r>
            <a:r>
              <a:rPr lang="pt-BR" sz="2000" dirty="0" err="1" smtClean="0"/>
              <a:t>bytecode</a:t>
            </a:r>
            <a:r>
              <a:rPr lang="pt-BR" sz="2000" dirty="0" smtClean="0"/>
              <a:t>) e o ambiente de execução JRE</a:t>
            </a:r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000" dirty="0" smtClean="0"/>
              <a:t>Pode ou não incluir ferramentas integradas de desenvolvimento (IDE), por exemplo </a:t>
            </a:r>
            <a:r>
              <a:rPr lang="pt-BR" sz="2000" dirty="0" err="1" smtClean="0"/>
              <a:t>NetBeans</a:t>
            </a:r>
            <a:endParaRPr lang="pt-BR" sz="2000" dirty="0" smtClean="0"/>
          </a:p>
          <a:p>
            <a:pPr>
              <a:lnSpc>
                <a:spcPct val="120000"/>
              </a:lnSpc>
              <a:spcBef>
                <a:spcPct val="30000"/>
              </a:spcBef>
              <a:buNone/>
            </a:pPr>
            <a:r>
              <a:rPr lang="pt-BR" sz="1800" dirty="0" smtClean="0">
                <a:hlinkClick r:id="rId2"/>
              </a:rPr>
              <a:t>https://www.oracle.com/java/technologies/javase-downloads.html</a:t>
            </a:r>
            <a:endParaRPr lang="pt-BR" dirty="0" smtClean="0"/>
          </a:p>
        </p:txBody>
      </p:sp>
      <p:pic>
        <p:nvPicPr>
          <p:cNvPr id="922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56325" y="115888"/>
            <a:ext cx="1439863" cy="1800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2AA9F55-9DAB-479D-BD99-1E590857290F}" type="slidenum">
              <a:rPr lang="pt-BR" smtClean="0"/>
              <a:pPr/>
              <a:t>8</a:t>
            </a:fld>
            <a:endParaRPr lang="pt-BR" smtClean="0"/>
          </a:p>
        </p:txBody>
      </p:sp>
      <p:sp>
        <p:nvSpPr>
          <p:cNvPr id="10243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Ferramentas Integradas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8126413" cy="2579688"/>
          </a:xfrm>
        </p:spPr>
        <p:txBody>
          <a:bodyPr/>
          <a:lstStyle/>
          <a:p>
            <a:pPr eaLnBrk="1" hangingPunct="1"/>
            <a:r>
              <a:rPr lang="pt-BR" sz="2400" smtClean="0"/>
              <a:t>IDE – Integrated Development Environment</a:t>
            </a:r>
          </a:p>
          <a:p>
            <a:pPr lvl="1" eaLnBrk="1" hangingPunct="1"/>
            <a:r>
              <a:rPr lang="pt-BR" sz="2000" smtClean="0"/>
              <a:t>Editor</a:t>
            </a:r>
          </a:p>
          <a:p>
            <a:pPr lvl="1" eaLnBrk="1" hangingPunct="1"/>
            <a:r>
              <a:rPr lang="pt-BR" sz="2000" smtClean="0"/>
              <a:t>Compilador</a:t>
            </a:r>
          </a:p>
          <a:p>
            <a:pPr lvl="1" eaLnBrk="1" hangingPunct="1"/>
            <a:r>
              <a:rPr lang="pt-BR" sz="2000" smtClean="0"/>
              <a:t>Execução</a:t>
            </a:r>
          </a:p>
          <a:p>
            <a:pPr lvl="1" eaLnBrk="1" hangingPunct="1"/>
            <a:r>
              <a:rPr lang="pt-BR" sz="2000" smtClean="0"/>
              <a:t>Debug</a:t>
            </a:r>
            <a:endParaRPr lang="pt-BR" smtClean="0"/>
          </a:p>
          <a:p>
            <a:pPr eaLnBrk="1" hangingPunct="1">
              <a:buFont typeface="Wingdings" pitchFamily="2" charset="2"/>
              <a:buNone/>
            </a:pPr>
            <a:r>
              <a:rPr lang="pt-BR" sz="2400" smtClean="0"/>
              <a:t>Mais simples e leves: 	     Mais complexos e pesados:</a:t>
            </a:r>
          </a:p>
          <a:p>
            <a:pPr lvl="1" eaLnBrk="1" hangingPunct="1">
              <a:buFontTx/>
              <a:buNone/>
            </a:pPr>
            <a:endParaRPr lang="pt-BR" sz="2000" smtClean="0"/>
          </a:p>
        </p:txBody>
      </p:sp>
      <p:grpSp>
        <p:nvGrpSpPr>
          <p:cNvPr id="2" name="Grupo 11"/>
          <p:cNvGrpSpPr>
            <a:grpSpLocks/>
          </p:cNvGrpSpPr>
          <p:nvPr/>
        </p:nvGrpSpPr>
        <p:grpSpPr bwMode="auto">
          <a:xfrm>
            <a:off x="900113" y="4797425"/>
            <a:ext cx="8064500" cy="1944688"/>
            <a:chOff x="899592" y="4725144"/>
            <a:chExt cx="8064896" cy="1944216"/>
          </a:xfrm>
        </p:grpSpPr>
        <p:pic>
          <p:nvPicPr>
            <p:cNvPr id="10247" name="Picture 2" descr="http://www.jcreator.com/i/logo.gif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043608" y="4797152"/>
              <a:ext cx="3481701" cy="7920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48" name="Picture 4" descr="http://it4schools.co.za/img/jgrasp.gif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043608" y="5805264"/>
              <a:ext cx="2143125" cy="5715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49" name="Picture 6" descr="http://www.estig.ipbeja.pt/~rmcp/estig/2002/2s/p1/bibliografia/images/bluej-logo.gif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275856" y="5373216"/>
              <a:ext cx="1514475" cy="12287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50" name="Picture 10" descr="http://www.mediaups.com/wp-content/uploads/2013/02/netbeans-logo.jpg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033414" y="5457774"/>
              <a:ext cx="2202882" cy="121158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0" name="Retângulo 9"/>
            <p:cNvSpPr/>
            <p:nvPr/>
          </p:nvSpPr>
          <p:spPr>
            <a:xfrm>
              <a:off x="899592" y="4725144"/>
              <a:ext cx="3961006" cy="19442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/>
            </a:p>
          </p:txBody>
        </p:sp>
        <p:sp>
          <p:nvSpPr>
            <p:cNvPr id="11" name="Retângulo 10"/>
            <p:cNvSpPr/>
            <p:nvPr/>
          </p:nvSpPr>
          <p:spPr>
            <a:xfrm>
              <a:off x="5003481" y="4725144"/>
              <a:ext cx="3961007" cy="19442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/>
            </a:p>
          </p:txBody>
        </p:sp>
        <p:pic>
          <p:nvPicPr>
            <p:cNvPr id="10253" name="Picture 8" descr="http://blog.gustavohenrique.net/wp-content/uploads/2010/01/eclipse-logo.jpg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6957367" y="4797152"/>
              <a:ext cx="1935113" cy="1127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pic>
        <p:nvPicPr>
          <p:cNvPr id="10246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56325" y="115888"/>
            <a:ext cx="1439863" cy="1800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741EDA0-D2A1-4AC3-A764-3463E5D3338F}" type="slidenum">
              <a:rPr lang="pt-BR" smtClean="0"/>
              <a:pPr/>
              <a:t>9</a:t>
            </a:fld>
            <a:endParaRPr lang="pt-BR" smtClean="0"/>
          </a:p>
        </p:txBody>
      </p:sp>
      <p:sp>
        <p:nvSpPr>
          <p:cNvPr id="15363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z="3200" smtClean="0"/>
              <a:t>Processo de desenvolvimento JAVA</a:t>
            </a:r>
          </a:p>
        </p:txBody>
      </p:sp>
      <p:pic>
        <p:nvPicPr>
          <p:cNvPr id="15364" name="Picture 5" descr="Figure showing MyProgram.java, compiler, MyProgram.class, Java VM, and My Program running on a computer.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450" y="3357563"/>
            <a:ext cx="6192838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2" name="Grupo 8"/>
          <p:cNvGrpSpPr>
            <a:grpSpLocks/>
          </p:cNvGrpSpPr>
          <p:nvPr/>
        </p:nvGrpSpPr>
        <p:grpSpPr bwMode="auto">
          <a:xfrm>
            <a:off x="827088" y="4149725"/>
            <a:ext cx="7777162" cy="1233488"/>
            <a:chOff x="827584" y="4149080"/>
            <a:chExt cx="7776864" cy="1233428"/>
          </a:xfrm>
        </p:grpSpPr>
        <p:sp>
          <p:nvSpPr>
            <p:cNvPr id="15366" name="CaixaDeTexto 5"/>
            <p:cNvSpPr txBox="1">
              <a:spLocks noChangeArrowheads="1"/>
            </p:cNvSpPr>
            <p:nvPr/>
          </p:nvSpPr>
          <p:spPr bwMode="auto">
            <a:xfrm>
              <a:off x="827584" y="5013176"/>
              <a:ext cx="777686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pt-BR" sz="1800" b="1">
                  <a:latin typeface="Courier New" pitchFamily="49" charset="0"/>
                  <a:cs typeface="Courier New" pitchFamily="49" charset="0"/>
                </a:rPr>
                <a:t>      </a:t>
              </a:r>
              <a:r>
                <a:rPr lang="pt-BR" sz="1800" b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javac</a:t>
              </a:r>
              <a:r>
                <a:rPr lang="pt-BR" sz="1800" b="1">
                  <a:latin typeface="Courier New" pitchFamily="49" charset="0"/>
                  <a:cs typeface="Courier New" pitchFamily="49" charset="0"/>
                </a:rPr>
                <a:t> MyProgram.java     </a:t>
              </a:r>
              <a:r>
                <a:rPr lang="pt-BR" sz="1800" b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java</a:t>
              </a:r>
              <a:r>
                <a:rPr lang="pt-BR" sz="1800" b="1">
                  <a:latin typeface="Courier New" pitchFamily="49" charset="0"/>
                  <a:cs typeface="Courier New" pitchFamily="49" charset="0"/>
                </a:rPr>
                <a:t> MyProgram</a:t>
              </a:r>
            </a:p>
          </p:txBody>
        </p:sp>
        <p:sp>
          <p:nvSpPr>
            <p:cNvPr id="7" name="Seta para cima 6"/>
            <p:cNvSpPr/>
            <p:nvPr/>
          </p:nvSpPr>
          <p:spPr>
            <a:xfrm>
              <a:off x="2988088" y="4149080"/>
              <a:ext cx="287327" cy="86355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/>
            </a:p>
          </p:txBody>
        </p:sp>
        <p:sp>
          <p:nvSpPr>
            <p:cNvPr id="8" name="Seta para cima 7"/>
            <p:cNvSpPr/>
            <p:nvPr/>
          </p:nvSpPr>
          <p:spPr>
            <a:xfrm>
              <a:off x="5364485" y="4149080"/>
              <a:ext cx="287326" cy="86355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Espaço Reservado para Número de Slide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CC02829-7E2D-4B9A-BB8D-AA8CEE8ACB9A}" type="slidenum">
              <a:rPr lang="pt-BR" smtClean="0"/>
              <a:pPr/>
              <a:t>10</a:t>
            </a:fld>
            <a:endParaRPr lang="pt-BR" smtClean="0"/>
          </a:p>
        </p:txBody>
      </p:sp>
      <p:sp>
        <p:nvSpPr>
          <p:cNvPr id="19459" name="AutoShape 2"/>
          <p:cNvSpPr>
            <a:spLocks noGrp="1" noChangeArrowheads="1"/>
          </p:cNvSpPr>
          <p:nvPr>
            <p:ph type="title"/>
          </p:nvPr>
        </p:nvSpPr>
        <p:spPr>
          <a:xfrm>
            <a:off x="900113" y="908050"/>
            <a:ext cx="7127875" cy="990600"/>
          </a:xfrm>
        </p:spPr>
        <p:txBody>
          <a:bodyPr/>
          <a:lstStyle/>
          <a:p>
            <a:pPr eaLnBrk="1" hangingPunct="1"/>
            <a:r>
              <a:rPr lang="pt-BR" smtClean="0"/>
              <a:t>Primeiro programa JAVA</a:t>
            </a:r>
          </a:p>
        </p:txBody>
      </p:sp>
      <p:sp>
        <p:nvSpPr>
          <p:cNvPr id="19460" name="Text Box 3"/>
          <p:cNvSpPr txBox="1">
            <a:spLocks noChangeArrowheads="1"/>
          </p:cNvSpPr>
          <p:nvPr/>
        </p:nvSpPr>
        <p:spPr bwMode="auto">
          <a:xfrm>
            <a:off x="819150" y="2420938"/>
            <a:ext cx="7151688" cy="31400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endParaRPr lang="pt-BR" sz="2200" b="1">
              <a:latin typeface="Courier New" pitchFamily="49" charset="0"/>
              <a:cs typeface="Times New Roman" pitchFamily="18" charset="0"/>
            </a:endParaRPr>
          </a:p>
          <a:p>
            <a:r>
              <a:rPr lang="pt-BR" sz="2200" b="1" u="sng">
                <a:latin typeface="Courier New" pitchFamily="49" charset="0"/>
                <a:cs typeface="Times New Roman" pitchFamily="18" charset="0"/>
              </a:rPr>
              <a:t>Para compilar (NA LINHA DE COMANDO):</a:t>
            </a:r>
            <a:r>
              <a:rPr lang="pt-BR" sz="2200" b="1">
                <a:latin typeface="Courier New" pitchFamily="49" charset="0"/>
                <a:cs typeface="Times New Roman" pitchFamily="18" charset="0"/>
              </a:rPr>
              <a:t>    </a:t>
            </a:r>
          </a:p>
          <a:p>
            <a:endParaRPr lang="pt-BR" sz="2200" b="1">
              <a:latin typeface="Courier New" pitchFamily="49" charset="0"/>
              <a:cs typeface="Times New Roman" pitchFamily="18" charset="0"/>
            </a:endParaRPr>
          </a:p>
          <a:p>
            <a:r>
              <a:rPr lang="pt-BR" sz="2200" b="1">
                <a:latin typeface="Courier New" pitchFamily="49" charset="0"/>
                <a:cs typeface="Times New Roman" pitchFamily="18" charset="0"/>
              </a:rPr>
              <a:t>&lt;Drive e Diretório&gt;\</a:t>
            </a:r>
            <a:r>
              <a:rPr lang="pt-BR" sz="2200" b="1">
                <a:solidFill>
                  <a:srgbClr val="FF0000"/>
                </a:solidFill>
                <a:latin typeface="Courier New" pitchFamily="49" charset="0"/>
                <a:cs typeface="Times New Roman" pitchFamily="18" charset="0"/>
              </a:rPr>
              <a:t>javac</a:t>
            </a:r>
            <a:r>
              <a:rPr lang="pt-BR" sz="2200" b="1">
                <a:latin typeface="Courier New" pitchFamily="49" charset="0"/>
                <a:cs typeface="Times New Roman" pitchFamily="18" charset="0"/>
              </a:rPr>
              <a:t> BoasVindas.java</a:t>
            </a:r>
          </a:p>
          <a:p>
            <a:endParaRPr lang="pt-BR" sz="2200" b="1">
              <a:latin typeface="Courier New" pitchFamily="49" charset="0"/>
              <a:cs typeface="Times New Roman" pitchFamily="18" charset="0"/>
            </a:endParaRPr>
          </a:p>
          <a:p>
            <a:endParaRPr lang="pt-BR" sz="2200" b="1">
              <a:latin typeface="Courier New" pitchFamily="49" charset="0"/>
              <a:cs typeface="Times New Roman" pitchFamily="18" charset="0"/>
            </a:endParaRPr>
          </a:p>
          <a:p>
            <a:r>
              <a:rPr lang="pt-BR" sz="2200" b="1" u="sng">
                <a:latin typeface="Courier New" pitchFamily="49" charset="0"/>
                <a:cs typeface="Times New Roman" pitchFamily="18" charset="0"/>
              </a:rPr>
              <a:t>Para Interpretar (NA LINHA DE COMANDO):</a:t>
            </a:r>
            <a:r>
              <a:rPr lang="pt-BR" sz="2200" b="1">
                <a:latin typeface="Courier New" pitchFamily="49" charset="0"/>
                <a:cs typeface="Times New Roman" pitchFamily="18" charset="0"/>
              </a:rPr>
              <a:t> </a:t>
            </a:r>
          </a:p>
          <a:p>
            <a:endParaRPr lang="pt-BR" sz="2200" b="1">
              <a:latin typeface="Courier New" pitchFamily="49" charset="0"/>
              <a:cs typeface="Times New Roman" pitchFamily="18" charset="0"/>
            </a:endParaRPr>
          </a:p>
          <a:p>
            <a:r>
              <a:rPr lang="pt-BR" sz="2200" b="1">
                <a:latin typeface="Courier New" pitchFamily="49" charset="0"/>
                <a:cs typeface="Times New Roman" pitchFamily="18" charset="0"/>
              </a:rPr>
              <a:t>&lt;Drive e Diretório&gt;\</a:t>
            </a:r>
            <a:r>
              <a:rPr lang="pt-BR" sz="2200" b="1">
                <a:solidFill>
                  <a:srgbClr val="FF0000"/>
                </a:solidFill>
                <a:latin typeface="Courier New" pitchFamily="49" charset="0"/>
                <a:cs typeface="Times New Roman" pitchFamily="18" charset="0"/>
              </a:rPr>
              <a:t>java</a:t>
            </a:r>
            <a:r>
              <a:rPr lang="pt-BR" sz="2200" b="1">
                <a:latin typeface="Courier New" pitchFamily="49" charset="0"/>
                <a:cs typeface="Times New Roman" pitchFamily="18" charset="0"/>
              </a:rPr>
              <a:t> BoasVindas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20988" y="1857375"/>
            <a:ext cx="6251575" cy="1785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483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Exemplo com Bloco de Notas</a:t>
            </a:r>
          </a:p>
        </p:txBody>
      </p:sp>
      <p:sp>
        <p:nvSpPr>
          <p:cNvPr id="20484" name="Espaço Reservado para Número de Slide 2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CA16A6C-B91F-4E3C-8AD1-9E79B25F4F11}" type="slidenum">
              <a:rPr lang="pt-BR" smtClean="0"/>
              <a:pPr/>
              <a:t>11</a:t>
            </a:fld>
            <a:endParaRPr lang="pt-BR" smtClean="0"/>
          </a:p>
        </p:txBody>
      </p:sp>
      <p:pic>
        <p:nvPicPr>
          <p:cNvPr id="2048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85813" y="3429000"/>
            <a:ext cx="8239125" cy="328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CaixaDeTexto 10"/>
          <p:cNvSpPr txBox="1"/>
          <p:nvPr/>
        </p:nvSpPr>
        <p:spPr>
          <a:xfrm>
            <a:off x="5367338" y="3814763"/>
            <a:ext cx="327660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pt-BR" sz="20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Compilando código fonte</a:t>
            </a:r>
          </a:p>
        </p:txBody>
      </p:sp>
      <p:sp>
        <p:nvSpPr>
          <p:cNvPr id="12" name="CaixaDeTexto 11"/>
          <p:cNvSpPr txBox="1"/>
          <p:nvPr/>
        </p:nvSpPr>
        <p:spPr>
          <a:xfrm>
            <a:off x="4714875" y="4171950"/>
            <a:ext cx="3106738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pt-BR" sz="20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Interpretando </a:t>
            </a:r>
            <a:r>
              <a:rPr lang="pt-BR" sz="2000" b="1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ByteCode</a:t>
            </a:r>
            <a:endParaRPr lang="pt-BR" sz="2000" b="1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>
            <a:off x="4500563" y="4000500"/>
            <a:ext cx="785812" cy="1588"/>
          </a:xfrm>
          <a:prstGeom prst="straightConnector1">
            <a:avLst/>
          </a:prstGeom>
          <a:ln w="25400">
            <a:solidFill>
              <a:schemeClr val="accent4">
                <a:lumMod val="10000"/>
                <a:lumOff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>
            <a:off x="3929063" y="4356100"/>
            <a:ext cx="785812" cy="1588"/>
          </a:xfrm>
          <a:prstGeom prst="straightConnector1">
            <a:avLst/>
          </a:prstGeom>
          <a:ln w="25400">
            <a:solidFill>
              <a:schemeClr val="accent4">
                <a:lumMod val="10000"/>
                <a:lumOff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rot="5400000" flipH="1" flipV="1">
            <a:off x="5643562" y="4643438"/>
            <a:ext cx="1000125" cy="857250"/>
          </a:xfrm>
          <a:prstGeom prst="straightConnector1">
            <a:avLst/>
          </a:prstGeom>
          <a:ln w="25400">
            <a:solidFill>
              <a:schemeClr val="accent4">
                <a:lumMod val="10000"/>
                <a:lumOff val="90000"/>
              </a:schemeClr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de seta reta 18"/>
          <p:cNvCxnSpPr/>
          <p:nvPr/>
        </p:nvCxnSpPr>
        <p:spPr>
          <a:xfrm flipV="1">
            <a:off x="6000750" y="4143375"/>
            <a:ext cx="2214563" cy="1643063"/>
          </a:xfrm>
          <a:prstGeom prst="straightConnector1">
            <a:avLst/>
          </a:prstGeom>
          <a:ln w="25400">
            <a:solidFill>
              <a:schemeClr val="accent4">
                <a:lumMod val="10000"/>
                <a:lumOff val="90000"/>
              </a:schemeClr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Aula 03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837488" cy="4090988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pt-BR" smtClean="0"/>
              <a:t>Operadores relacionais</a:t>
            </a:r>
          </a:p>
          <a:p>
            <a:pPr>
              <a:spcBef>
                <a:spcPts val="1200"/>
              </a:spcBef>
            </a:pPr>
            <a:r>
              <a:rPr lang="pt-BR" smtClean="0"/>
              <a:t>Operadores lógicos</a:t>
            </a:r>
          </a:p>
          <a:p>
            <a:pPr>
              <a:spcBef>
                <a:spcPts val="1200"/>
              </a:spcBef>
            </a:pPr>
            <a:r>
              <a:rPr lang="pt-BR" smtClean="0"/>
              <a:t>Estrutura de decisão</a:t>
            </a:r>
          </a:p>
          <a:p>
            <a:pPr lvl="1">
              <a:spcBef>
                <a:spcPts val="1200"/>
              </a:spcBef>
            </a:pPr>
            <a:r>
              <a:rPr lang="pt-BR" smtClean="0"/>
              <a:t>if-else</a:t>
            </a:r>
          </a:p>
          <a:p>
            <a:pPr lvl="1">
              <a:spcBef>
                <a:spcPts val="1200"/>
              </a:spcBef>
            </a:pPr>
            <a:r>
              <a:rPr lang="pt-BR" smtClean="0"/>
              <a:t>operador ternário</a:t>
            </a:r>
          </a:p>
          <a:p>
            <a:pPr lvl="1">
              <a:spcBef>
                <a:spcPts val="1200"/>
              </a:spcBef>
            </a:pPr>
            <a:r>
              <a:rPr lang="pt-BR" smtClean="0"/>
              <a:t>switch-case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6F50E95-DDDA-410A-A9E4-BCF304D1ABE6}" type="slidenum">
              <a:rPr lang="pt-BR" smtClean="0"/>
              <a:pPr/>
              <a:t>13</a:t>
            </a:fld>
            <a:endParaRPr lang="pt-BR" smtClean="0"/>
          </a:p>
        </p:txBody>
      </p:sp>
      <p:sp>
        <p:nvSpPr>
          <p:cNvPr id="6147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Operadores relacionais</a:t>
            </a:r>
          </a:p>
        </p:txBody>
      </p:sp>
      <p:graphicFrame>
        <p:nvGraphicFramePr>
          <p:cNvPr id="124931" name="Group 3"/>
          <p:cNvGraphicFramePr>
            <a:graphicFrameLocks noGrp="1"/>
          </p:cNvGraphicFramePr>
          <p:nvPr>
            <p:ph idx="1"/>
          </p:nvPr>
        </p:nvGraphicFramePr>
        <p:xfrm>
          <a:off x="838200" y="2362200"/>
          <a:ext cx="7693025" cy="2917190"/>
        </p:xfrm>
        <a:graphic>
          <a:graphicData uri="http://schemas.openxmlformats.org/drawingml/2006/table">
            <a:tbl>
              <a:tblPr/>
              <a:tblGrid>
                <a:gridCol w="246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Operador relacional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Resultado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x == y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Verdadeiro se x igual a 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4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x != y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Verdadeiro se x diferente de 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x &lt; y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Verdadeiro se x menor que 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x &gt; y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Verdadeiro se x maior que 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4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x &lt;= y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Verdadeiro se x menor ou igual a 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8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x &gt;= y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Verdadeiro se x maior ou igual a 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Espaço Reservado para Número de Slide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9FAEEB3-6088-42DA-9915-E48613087637}" type="slidenum">
              <a:rPr lang="pt-BR" smtClean="0"/>
              <a:pPr/>
              <a:t>14</a:t>
            </a:fld>
            <a:endParaRPr lang="pt-BR" smtClean="0"/>
          </a:p>
        </p:txBody>
      </p:sp>
      <p:sp>
        <p:nvSpPr>
          <p:cNvPr id="7171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Operadores lógicos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38200" y="2362200"/>
            <a:ext cx="7659688" cy="646113"/>
          </a:xfrm>
        </p:spPr>
        <p:txBody>
          <a:bodyPr/>
          <a:lstStyle/>
          <a:p>
            <a:pPr eaLnBrk="1" hangingPunct="1"/>
            <a:r>
              <a:rPr lang="pt-BR" sz="2400" smtClean="0"/>
              <a:t>Usados em expressões lógicas</a:t>
            </a:r>
          </a:p>
          <a:p>
            <a:pPr eaLnBrk="1" hangingPunct="1">
              <a:buFont typeface="Wingdings" pitchFamily="2" charset="2"/>
              <a:buNone/>
            </a:pPr>
            <a:endParaRPr lang="pt-BR" sz="2400" smtClean="0"/>
          </a:p>
        </p:txBody>
      </p:sp>
      <p:graphicFrame>
        <p:nvGraphicFramePr>
          <p:cNvPr id="142340" name="Group 4"/>
          <p:cNvGraphicFramePr>
            <a:graphicFrameLocks noGrp="1"/>
          </p:cNvGraphicFramePr>
          <p:nvPr>
            <p:ph sz="half" idx="2"/>
          </p:nvPr>
        </p:nvGraphicFramePr>
        <p:xfrm>
          <a:off x="1019175" y="2944813"/>
          <a:ext cx="7512050" cy="2376489"/>
        </p:xfrm>
        <a:graphic>
          <a:graphicData uri="http://schemas.openxmlformats.org/drawingml/2006/table">
            <a:tbl>
              <a:tblPr/>
              <a:tblGrid>
                <a:gridCol w="1730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8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68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Operador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Resultado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!x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Verdadeiro se x for falso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8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x &amp;&amp; y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Verdadeiro se x e y ambos verdadeiros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x || y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pt-BR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Verdadeiro se x ou y (ou ambos) verdadeiros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419F9E9-A976-4A0F-A7AF-4782EE48A87B}" type="slidenum">
              <a:rPr lang="pt-BR" smtClean="0"/>
              <a:pPr/>
              <a:t>15</a:t>
            </a:fld>
            <a:endParaRPr lang="pt-BR" smtClean="0"/>
          </a:p>
        </p:txBody>
      </p:sp>
      <p:sp>
        <p:nvSpPr>
          <p:cNvPr id="8195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Estrutura de decisão simples</a:t>
            </a: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64163" y="2347913"/>
            <a:ext cx="2447925" cy="2665412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pt-BR" smtClean="0"/>
              <a:t>Em Java: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pt-BR" sz="900" smtClean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pt-BR" smtClean="0"/>
              <a:t>if (condição) 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pt-BR" smtClean="0"/>
              <a:t>	comando1;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pt-BR" smtClean="0"/>
              <a:t>else 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pt-BR" smtClean="0"/>
              <a:t>	comando2;</a:t>
            </a:r>
          </a:p>
        </p:txBody>
      </p:sp>
      <p:pic>
        <p:nvPicPr>
          <p:cNvPr id="8197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8675" y="2333625"/>
            <a:ext cx="3959225" cy="2751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198" name="Text Box 5"/>
          <p:cNvSpPr txBox="1">
            <a:spLocks noChangeArrowheads="1"/>
          </p:cNvSpPr>
          <p:nvPr/>
        </p:nvSpPr>
        <p:spPr bwMode="auto">
          <a:xfrm>
            <a:off x="900113" y="5229225"/>
            <a:ext cx="7848600" cy="1339850"/>
          </a:xfrm>
          <a:prstGeom prst="rect">
            <a:avLst/>
          </a:prstGeom>
          <a:noFill/>
          <a:ln w="28575">
            <a:solidFill>
              <a:schemeClr val="accent2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BR" sz="2000">
                <a:latin typeface="Verdana" pitchFamily="34" charset="0"/>
              </a:rPr>
              <a:t>if( m &gt;= 7.0 ) </a:t>
            </a:r>
          </a:p>
          <a:p>
            <a:r>
              <a:rPr lang="pt-BR" sz="2000">
                <a:latin typeface="Verdana" pitchFamily="34" charset="0"/>
              </a:rPr>
              <a:t>	 System.out.println(“Aprovado”);</a:t>
            </a:r>
          </a:p>
          <a:p>
            <a:r>
              <a:rPr lang="pt-BR" sz="2000">
                <a:latin typeface="Verdana" pitchFamily="34" charset="0"/>
              </a:rPr>
              <a:t>else </a:t>
            </a:r>
          </a:p>
          <a:p>
            <a:r>
              <a:rPr lang="pt-BR" sz="2000">
                <a:latin typeface="Verdana" pitchFamily="34" charset="0"/>
              </a:rPr>
              <a:t>	 System.out.println(“Reprovado”);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5BE33F1-308F-46F1-AAD4-AC3514B61BCD}" type="slidenum">
              <a:rPr lang="pt-BR" smtClean="0"/>
              <a:pPr/>
              <a:t>16</a:t>
            </a:fld>
            <a:endParaRPr lang="pt-BR" smtClean="0"/>
          </a:p>
        </p:txBody>
      </p:sp>
      <p:sp>
        <p:nvSpPr>
          <p:cNvPr id="9219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Condicional aninhada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3919538" cy="3724275"/>
          </a:xfrm>
        </p:spPr>
        <p:txBody>
          <a:bodyPr/>
          <a:lstStyle/>
          <a:p>
            <a:pPr eaLnBrk="1" hangingPunct="1">
              <a:buFont typeface="Wingdings" pitchFamily="2" charset="2"/>
              <a:buNone/>
            </a:pPr>
            <a:endParaRPr lang="pt-BR" sz="2400" i="1" smtClean="0"/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if</a:t>
            </a:r>
            <a:r>
              <a:rPr lang="pt-BR" sz="2400" smtClean="0"/>
              <a:t>( </a:t>
            </a:r>
            <a:r>
              <a:rPr lang="pt-BR" sz="2400" i="1" smtClean="0"/>
              <a:t>condição1</a:t>
            </a:r>
            <a:r>
              <a:rPr lang="pt-BR" sz="2400" smtClean="0"/>
              <a:t> )</a:t>
            </a:r>
            <a:endParaRPr lang="pt-BR" sz="2400" i="1" smtClean="0"/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if (condição2)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	Comando1;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else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	Comando2;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else 	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Comando3;</a:t>
            </a:r>
          </a:p>
        </p:txBody>
      </p:sp>
      <p:pic>
        <p:nvPicPr>
          <p:cNvPr id="9221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54450" y="2368550"/>
            <a:ext cx="5038725" cy="3724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4C02CD0-4D73-4A39-854E-3B72A125E675}" type="slidenum">
              <a:rPr lang="pt-BR" smtClean="0"/>
              <a:pPr/>
              <a:t>17</a:t>
            </a:fld>
            <a:endParaRPr lang="pt-BR" smtClean="0"/>
          </a:p>
        </p:txBody>
      </p:sp>
      <p:sp>
        <p:nvSpPr>
          <p:cNvPr id="10243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Condicional encadeada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if</a:t>
            </a:r>
            <a:r>
              <a:rPr lang="pt-BR" sz="2400" smtClean="0"/>
              <a:t>( </a:t>
            </a:r>
            <a:r>
              <a:rPr lang="pt-BR" sz="2400" i="1" smtClean="0"/>
              <a:t>condição1</a:t>
            </a:r>
            <a:r>
              <a:rPr lang="pt-BR" sz="2400" smtClean="0"/>
              <a:t> )</a:t>
            </a:r>
            <a:endParaRPr lang="pt-BR" sz="2400" i="1" smtClean="0"/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Comando1;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else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if (condição2)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	Comando2;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else 	</a:t>
            </a:r>
          </a:p>
          <a:p>
            <a:pPr eaLnBrk="1" hangingPunct="1">
              <a:buFont typeface="Wingdings" pitchFamily="2" charset="2"/>
              <a:buNone/>
            </a:pPr>
            <a:r>
              <a:rPr lang="pt-BR" sz="2400" i="1" smtClean="0"/>
              <a:t>		Comando3;</a:t>
            </a:r>
          </a:p>
          <a:p>
            <a:pPr eaLnBrk="1" hangingPunct="1">
              <a:buFont typeface="Wingdings" pitchFamily="2" charset="2"/>
              <a:buNone/>
            </a:pPr>
            <a:endParaRPr lang="pt-BR" smtClean="0"/>
          </a:p>
        </p:txBody>
      </p:sp>
      <p:pic>
        <p:nvPicPr>
          <p:cNvPr id="1024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92500" y="2492375"/>
            <a:ext cx="5400675" cy="3876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C668471-C4B7-420E-BCD3-E2BEA1CC3F50}" type="slidenum">
              <a:rPr lang="pt-BR" smtClean="0"/>
              <a:pPr/>
              <a:t>18</a:t>
            </a:fld>
            <a:endParaRPr lang="pt-BR" smtClean="0"/>
          </a:p>
        </p:txBody>
      </p:sp>
      <p:sp>
        <p:nvSpPr>
          <p:cNvPr id="11267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dirty="0" smtClean="0"/>
              <a:t>Exemplo - Média</a:t>
            </a:r>
          </a:p>
        </p:txBody>
      </p:sp>
      <p:sp>
        <p:nvSpPr>
          <p:cNvPr id="1126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mtClean="0"/>
              <a:t>Faça um programa que leia as 2 notas de um aluno, calcule e exiba a média aritmética das notas e se o mesmo foi aprovado (M&gt;=7),  reprovado (M &lt; 4) ou está de recuperação (4&lt;= M &lt; 7).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4132D61A-0289-41B8-B944-8CA51C46D5CA}" type="slidenum">
              <a:rPr lang="pt-BR" smtClean="0"/>
              <a:pPr/>
              <a:t>19</a:t>
            </a:fld>
            <a:endParaRPr lang="pt-BR" smtClean="0"/>
          </a:p>
        </p:txBody>
      </p:sp>
      <p:sp>
        <p:nvSpPr>
          <p:cNvPr id="12291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Possível solução (Encadeada)</a:t>
            </a:r>
          </a:p>
        </p:txBody>
      </p:sp>
      <p:pic>
        <p:nvPicPr>
          <p:cNvPr id="1229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55650" y="2016125"/>
            <a:ext cx="7848600" cy="47085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13320" name="Line 8"/>
          <p:cNvSpPr>
            <a:spLocks noChangeShapeType="1"/>
          </p:cNvSpPr>
          <p:nvPr/>
        </p:nvSpPr>
        <p:spPr bwMode="auto">
          <a:xfrm>
            <a:off x="2843213" y="4076700"/>
            <a:ext cx="136683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3321" name="Line 9"/>
          <p:cNvSpPr>
            <a:spLocks noChangeShapeType="1"/>
          </p:cNvSpPr>
          <p:nvPr/>
        </p:nvSpPr>
        <p:spPr bwMode="auto">
          <a:xfrm>
            <a:off x="3059113" y="4724400"/>
            <a:ext cx="136683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3322" name="Line 10"/>
          <p:cNvSpPr>
            <a:spLocks noChangeShapeType="1"/>
          </p:cNvSpPr>
          <p:nvPr/>
        </p:nvSpPr>
        <p:spPr bwMode="auto">
          <a:xfrm>
            <a:off x="1908175" y="5300663"/>
            <a:ext cx="136683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3323" name="Line 11"/>
          <p:cNvSpPr>
            <a:spLocks noChangeShapeType="1"/>
          </p:cNvSpPr>
          <p:nvPr/>
        </p:nvSpPr>
        <p:spPr bwMode="auto">
          <a:xfrm>
            <a:off x="2484438" y="5734050"/>
            <a:ext cx="136683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3325" name="Text Box 13"/>
          <p:cNvSpPr txBox="1">
            <a:spLocks noChangeArrowheads="1"/>
          </p:cNvSpPr>
          <p:nvPr/>
        </p:nvSpPr>
        <p:spPr bwMode="auto">
          <a:xfrm>
            <a:off x="4500563" y="6345238"/>
            <a:ext cx="4643437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BR" sz="2000">
                <a:solidFill>
                  <a:srgbClr val="FF0000"/>
                </a:solidFill>
              </a:rPr>
              <a:t>Implemente e teste este programa!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3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3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20" grpId="0" animBg="1"/>
      <p:bldP spid="13321" grpId="0" animBg="1"/>
      <p:bldP spid="13322" grpId="0" animBg="1"/>
      <p:bldP spid="13323" grpId="0" animBg="1"/>
      <p:bldP spid="133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1D53580-5C08-4513-881C-C2683C219A59}" type="slidenum">
              <a:rPr lang="pt-BR" smtClean="0"/>
              <a:pPr/>
              <a:t>20</a:t>
            </a:fld>
            <a:endParaRPr lang="pt-BR" smtClean="0"/>
          </a:p>
        </p:txBody>
      </p:sp>
      <p:sp>
        <p:nvSpPr>
          <p:cNvPr id="13315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Como seria...</a:t>
            </a:r>
          </a:p>
        </p:txBody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20000"/>
              </a:lnSpc>
            </a:pPr>
            <a:r>
              <a:rPr lang="pt-BR" smtClean="0"/>
              <a:t>Uma solução que testa 1º quem está reprovado, depois os aprovados, por último, de recuperação?</a:t>
            </a:r>
          </a:p>
          <a:p>
            <a:pPr eaLnBrk="1" hangingPunct="1">
              <a:lnSpc>
                <a:spcPct val="120000"/>
              </a:lnSpc>
            </a:pPr>
            <a:endParaRPr lang="pt-BR" smtClean="0"/>
          </a:p>
          <a:p>
            <a:pPr eaLnBrk="1" hangingPunct="1">
              <a:lnSpc>
                <a:spcPct val="120000"/>
              </a:lnSpc>
            </a:pPr>
            <a:r>
              <a:rPr lang="pt-BR" smtClean="0"/>
              <a:t>Como fazer uma solução aninhada? Qual seria a 1ª condição a ser testada?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0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61113C8-62F2-49D0-9E15-CFC28C76E438}" type="slidenum">
              <a:rPr lang="pt-BR" smtClean="0"/>
              <a:pPr/>
              <a:t>21</a:t>
            </a:fld>
            <a:endParaRPr lang="pt-BR" smtClean="0"/>
          </a:p>
        </p:txBody>
      </p:sp>
      <p:sp>
        <p:nvSpPr>
          <p:cNvPr id="14339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Exemplo de condicional simples</a:t>
            </a:r>
          </a:p>
        </p:txBody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8054975" cy="960438"/>
          </a:xfrm>
        </p:spPr>
        <p:txBody>
          <a:bodyPr/>
          <a:lstStyle/>
          <a:p>
            <a:pPr eaLnBrk="1" hangingPunct="1">
              <a:lnSpc>
                <a:spcPct val="130000"/>
              </a:lnSpc>
            </a:pPr>
            <a:r>
              <a:rPr lang="pt-BR" sz="2200" smtClean="0"/>
              <a:t>Dado um número real n, imprimir seu valor absoluto (módulo).</a:t>
            </a:r>
          </a:p>
        </p:txBody>
      </p:sp>
      <p:pic>
        <p:nvPicPr>
          <p:cNvPr id="16384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088" y="3319463"/>
            <a:ext cx="7272337" cy="33496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15367" name="Line 7"/>
          <p:cNvSpPr>
            <a:spLocks noChangeShapeType="1"/>
          </p:cNvSpPr>
          <p:nvPr/>
        </p:nvSpPr>
        <p:spPr bwMode="auto">
          <a:xfrm>
            <a:off x="2411413" y="5734050"/>
            <a:ext cx="136683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163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39B6CD8-7A6D-4B49-AF17-99D3AE7BAC1F}" type="slidenum">
              <a:rPr lang="pt-BR" smtClean="0"/>
              <a:pPr/>
              <a:t>22</a:t>
            </a:fld>
            <a:endParaRPr lang="pt-BR" smtClean="0"/>
          </a:p>
        </p:txBody>
      </p:sp>
      <p:sp>
        <p:nvSpPr>
          <p:cNvPr id="15363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Operador condicional ternário</a:t>
            </a:r>
          </a:p>
        </p:txBody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766050" cy="401955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400" smtClean="0"/>
              <a:t>Operador para representar decisões simples de maneira mais compacta.</a:t>
            </a:r>
          </a:p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400" smtClean="0"/>
              <a:t>Sintaxe:</a:t>
            </a:r>
          </a:p>
          <a:p>
            <a:pPr eaLnBrk="1" hangingPunct="1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pt-BR" sz="2400" i="1" smtClean="0"/>
              <a:t>	</a:t>
            </a:r>
            <a:r>
              <a:rPr lang="pt-BR" sz="2000" i="1" smtClean="0"/>
              <a:t>condição</a:t>
            </a:r>
            <a:r>
              <a:rPr lang="pt-BR" sz="2000" smtClean="0"/>
              <a:t> ? </a:t>
            </a:r>
            <a:r>
              <a:rPr lang="pt-BR" sz="2000" b="1" i="1" smtClean="0">
                <a:solidFill>
                  <a:srgbClr val="3366CC"/>
                </a:solidFill>
              </a:rPr>
              <a:t>expressão1</a:t>
            </a:r>
            <a:r>
              <a:rPr lang="pt-BR" sz="2000" smtClean="0"/>
              <a:t> : </a:t>
            </a:r>
            <a:r>
              <a:rPr lang="pt-BR" sz="2000" b="1" i="1" smtClean="0">
                <a:solidFill>
                  <a:srgbClr val="FF3300"/>
                </a:solidFill>
              </a:rPr>
              <a:t>expressão2</a:t>
            </a:r>
            <a:endParaRPr lang="pt-BR" sz="2000" b="1" smtClean="0">
              <a:solidFill>
                <a:srgbClr val="FF3300"/>
              </a:solidFill>
            </a:endParaRPr>
          </a:p>
          <a:p>
            <a:pPr eaLnBrk="1" hangingPunct="1">
              <a:lnSpc>
                <a:spcPct val="120000"/>
              </a:lnSpc>
              <a:spcBef>
                <a:spcPct val="50000"/>
              </a:spcBef>
            </a:pPr>
            <a:r>
              <a:rPr lang="pt-BR" sz="2400" smtClean="0"/>
              <a:t>Avalia a </a:t>
            </a:r>
            <a:r>
              <a:rPr lang="pt-BR" sz="2400" i="1" smtClean="0"/>
              <a:t>condição</a:t>
            </a:r>
            <a:r>
              <a:rPr lang="pt-BR" sz="2400" smtClean="0"/>
              <a:t>;</a:t>
            </a:r>
            <a:endParaRPr lang="pt-BR" sz="2400" smtClean="0">
              <a:sym typeface="Monotype Sorts"/>
            </a:endParaRPr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000" smtClean="0"/>
              <a:t>se for </a:t>
            </a:r>
            <a:r>
              <a:rPr lang="pt-BR" sz="2000" b="1" smtClean="0">
                <a:solidFill>
                  <a:srgbClr val="3366CC"/>
                </a:solidFill>
              </a:rPr>
              <a:t>verdadeira</a:t>
            </a:r>
            <a:r>
              <a:rPr lang="pt-BR" sz="2000" smtClean="0"/>
              <a:t>, o resultado é o valor da </a:t>
            </a:r>
            <a:r>
              <a:rPr lang="pt-BR" sz="2000" b="1" i="1" smtClean="0">
                <a:solidFill>
                  <a:srgbClr val="3366CC"/>
                </a:solidFill>
              </a:rPr>
              <a:t>expressão1</a:t>
            </a:r>
            <a:r>
              <a:rPr lang="pt-BR" sz="2000" smtClean="0"/>
              <a:t>;</a:t>
            </a:r>
            <a:endParaRPr lang="pt-BR" sz="2000" smtClean="0">
              <a:sym typeface="Monotype Sorts"/>
            </a:endParaRPr>
          </a:p>
          <a:p>
            <a:pPr lvl="1"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000" b="1" smtClean="0">
                <a:solidFill>
                  <a:srgbClr val="FF3300"/>
                </a:solidFill>
              </a:rPr>
              <a:t>senão</a:t>
            </a:r>
            <a:r>
              <a:rPr lang="pt-BR" sz="2000" smtClean="0"/>
              <a:t>, o resultado é o valor da </a:t>
            </a:r>
            <a:r>
              <a:rPr lang="pt-BR" sz="2000" b="1" i="1" smtClean="0">
                <a:solidFill>
                  <a:srgbClr val="FF3300"/>
                </a:solidFill>
              </a:rPr>
              <a:t>expressão2</a:t>
            </a:r>
            <a:r>
              <a:rPr lang="pt-BR" sz="200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6CB60E5-54CB-4076-BF9C-D6C45F978782}" type="slidenum">
              <a:rPr lang="pt-BR" smtClean="0"/>
              <a:pPr/>
              <a:t>23</a:t>
            </a:fld>
            <a:endParaRPr lang="pt-BR" smtClean="0"/>
          </a:p>
        </p:txBody>
      </p:sp>
      <p:sp>
        <p:nvSpPr>
          <p:cNvPr id="16387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dirty="0" smtClean="0"/>
              <a:t>Atividade - Módulo</a:t>
            </a: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693025" cy="960438"/>
          </a:xfrm>
        </p:spPr>
        <p:txBody>
          <a:bodyPr/>
          <a:lstStyle/>
          <a:p>
            <a:pPr eaLnBrk="1" hangingPunct="1">
              <a:lnSpc>
                <a:spcPct val="110000"/>
              </a:lnSpc>
              <a:spcBef>
                <a:spcPct val="0"/>
              </a:spcBef>
            </a:pPr>
            <a:r>
              <a:rPr lang="pt-BR" sz="2100" smtClean="0"/>
              <a:t>Dado um número real n, imprimir seu valor absoluto (módulo) usando operador condicional ternário.</a:t>
            </a:r>
          </a:p>
        </p:txBody>
      </p:sp>
      <p:pic>
        <p:nvPicPr>
          <p:cNvPr id="14336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55650" y="3282950"/>
            <a:ext cx="8208963" cy="2954338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17415" name="Line 7"/>
          <p:cNvSpPr>
            <a:spLocks noChangeShapeType="1"/>
          </p:cNvSpPr>
          <p:nvPr/>
        </p:nvSpPr>
        <p:spPr bwMode="auto">
          <a:xfrm>
            <a:off x="7092950" y="5734050"/>
            <a:ext cx="136683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7416" name="Text Box 8"/>
          <p:cNvSpPr txBox="1">
            <a:spLocks noChangeArrowheads="1"/>
          </p:cNvSpPr>
          <p:nvPr/>
        </p:nvSpPr>
        <p:spPr bwMode="auto">
          <a:xfrm>
            <a:off x="4427538" y="5876925"/>
            <a:ext cx="4643437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BR" sz="2000">
                <a:solidFill>
                  <a:srgbClr val="FF0000"/>
                </a:solidFill>
              </a:rPr>
              <a:t>Implemente e teste este programa!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143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7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5" grpId="0" animBg="1"/>
      <p:bldP spid="1741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E337013-E370-41A2-AD96-F088ADA03C9C}" type="slidenum">
              <a:rPr lang="pt-BR" smtClean="0"/>
              <a:pPr/>
              <a:t>24</a:t>
            </a:fld>
            <a:endParaRPr lang="pt-BR" smtClean="0"/>
          </a:p>
        </p:txBody>
      </p:sp>
      <p:sp>
        <p:nvSpPr>
          <p:cNvPr id="17411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Estrutura de decisão múltipla</a:t>
            </a:r>
          </a:p>
        </p:txBody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55650" y="2276475"/>
            <a:ext cx="8181975" cy="4510088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10000"/>
              </a:lnSpc>
              <a:spcBef>
                <a:spcPct val="15000"/>
              </a:spcBef>
            </a:pPr>
            <a:r>
              <a:rPr lang="pt-BR" sz="1900" b="1" smtClean="0"/>
              <a:t>Usada quando precisamos escolher uma entre várias alternativas previamente definidas;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 switch(</a:t>
            </a:r>
            <a:r>
              <a:rPr lang="en-US" sz="1800" b="1" i="1" smtClean="0">
                <a:solidFill>
                  <a:srgbClr val="FF3300"/>
                </a:solidFill>
              </a:rPr>
              <a:t>exp</a:t>
            </a:r>
            <a:r>
              <a:rPr lang="en-US" sz="1800" b="1" smtClean="0"/>
              <a:t>)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 {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     	case </a:t>
            </a:r>
            <a:r>
              <a:rPr lang="en-US" sz="1800" b="1" i="1" smtClean="0">
                <a:solidFill>
                  <a:srgbClr val="FF3300"/>
                </a:solidFill>
              </a:rPr>
              <a:t>const1</a:t>
            </a:r>
            <a:r>
              <a:rPr lang="en-US" sz="1800" b="1" smtClean="0"/>
              <a:t>: comando1;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	                   break;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     	case </a:t>
            </a:r>
            <a:r>
              <a:rPr lang="en-US" sz="1800" b="1" i="1" smtClean="0">
                <a:solidFill>
                  <a:srgbClr val="FF3300"/>
                </a:solidFill>
              </a:rPr>
              <a:t>const2</a:t>
            </a:r>
            <a:r>
              <a:rPr lang="en-US" sz="1800" b="1" smtClean="0"/>
              <a:t>: comando2;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	                   break;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	...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     	case </a:t>
            </a:r>
            <a:r>
              <a:rPr lang="en-US" sz="1800" b="1" i="1" smtClean="0">
                <a:solidFill>
                  <a:srgbClr val="FF3300"/>
                </a:solidFill>
              </a:rPr>
              <a:t>constn</a:t>
            </a:r>
            <a:r>
              <a:rPr lang="en-US" sz="1800" b="1" smtClean="0"/>
              <a:t>: comandon;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	                break;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     </a:t>
            </a:r>
            <a:r>
              <a:rPr lang="en-US" sz="1800" b="1" i="1" smtClean="0"/>
              <a:t>	</a:t>
            </a:r>
            <a:r>
              <a:rPr lang="en-US" sz="1800" b="1" i="1" smtClean="0">
                <a:solidFill>
                  <a:srgbClr val="FF3300"/>
                </a:solidFill>
              </a:rPr>
              <a:t>default</a:t>
            </a:r>
            <a:r>
              <a:rPr lang="en-US" sz="1800" b="1" smtClean="0"/>
              <a:t>: comando;</a:t>
            </a:r>
          </a:p>
          <a:p>
            <a:pPr lvl="1" eaLnBrk="1" hangingPunct="1">
              <a:lnSpc>
                <a:spcPct val="110000"/>
              </a:lnSpc>
              <a:spcBef>
                <a:spcPct val="15000"/>
              </a:spcBef>
              <a:buFontTx/>
              <a:buNone/>
            </a:pPr>
            <a:r>
              <a:rPr lang="en-US" sz="1800" b="1" smtClean="0"/>
              <a:t>    }</a:t>
            </a:r>
            <a:endParaRPr lang="pt-BR" sz="1800" b="1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1DE0A05-BAC7-4AFE-BF21-13B4615AAC36}" type="slidenum">
              <a:rPr lang="pt-BR" smtClean="0"/>
              <a:pPr/>
              <a:t>25</a:t>
            </a:fld>
            <a:endParaRPr lang="pt-BR" smtClean="0"/>
          </a:p>
        </p:txBody>
      </p:sp>
      <p:sp>
        <p:nvSpPr>
          <p:cNvPr id="18435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Quais as saídas nesse exemplo?</a:t>
            </a:r>
          </a:p>
        </p:txBody>
      </p:sp>
      <p:pic>
        <p:nvPicPr>
          <p:cNvPr id="18436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55650" y="2017713"/>
            <a:ext cx="5905500" cy="4595812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CA6B64B-F39C-4C0F-84F9-273B61E61DDE}" type="slidenum">
              <a:rPr lang="pt-BR" smtClean="0"/>
              <a:pPr/>
              <a:t>26</a:t>
            </a:fld>
            <a:endParaRPr lang="pt-BR" smtClean="0"/>
          </a:p>
        </p:txBody>
      </p:sp>
      <p:sp>
        <p:nvSpPr>
          <p:cNvPr id="19459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dirty="0" smtClean="0"/>
              <a:t>Atividade - Calculadora</a:t>
            </a:r>
          </a:p>
        </p:txBody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400" smtClean="0"/>
              <a:t>Uso da estrutura de decisão múltipla para implementar uma simples calculadora;</a:t>
            </a:r>
          </a:p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400" smtClean="0"/>
              <a:t>O usuário digita uma expressão da forma </a:t>
            </a:r>
            <a:r>
              <a:rPr lang="pt-BR" sz="2400" b="1" i="1" smtClean="0"/>
              <a:t>val</a:t>
            </a:r>
            <a:r>
              <a:rPr lang="pt-BR" sz="2400" b="1" smtClean="0"/>
              <a:t>1</a:t>
            </a:r>
            <a:r>
              <a:rPr lang="pt-BR" sz="2400" i="1" smtClean="0"/>
              <a:t> &lt;enter&gt; </a:t>
            </a:r>
            <a:r>
              <a:rPr lang="pt-BR" sz="2400" b="1" i="1" smtClean="0"/>
              <a:t>operador</a:t>
            </a:r>
            <a:r>
              <a:rPr lang="pt-BR" sz="2400" i="1" smtClean="0"/>
              <a:t> &lt;enter&gt; </a:t>
            </a:r>
            <a:r>
              <a:rPr lang="pt-BR" sz="2400" b="1" i="1" smtClean="0"/>
              <a:t>val</a:t>
            </a:r>
            <a:r>
              <a:rPr lang="pt-BR" sz="2400" b="1" smtClean="0"/>
              <a:t>2 </a:t>
            </a:r>
            <a:r>
              <a:rPr lang="pt-BR" sz="2400" smtClean="0"/>
              <a:t>&lt;enter&gt;</a:t>
            </a:r>
            <a:r>
              <a:rPr lang="pt-BR" sz="2400" b="1" smtClean="0"/>
              <a:t> </a:t>
            </a:r>
            <a:r>
              <a:rPr lang="pt-BR" sz="2400" smtClean="0"/>
              <a:t>e o programa fornece-lhe seu valor como resposta. </a:t>
            </a:r>
          </a:p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z="2400" smtClean="0"/>
              <a:t>Os valores podem ser reais e os operadores aceitos são: +, -, * e /.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876579C-ED32-4FA1-BBD8-0A7528B81438}" type="slidenum">
              <a:rPr lang="pt-BR" smtClean="0"/>
              <a:pPr/>
              <a:t>27</a:t>
            </a:fld>
            <a:endParaRPr lang="pt-BR" smtClean="0"/>
          </a:p>
        </p:txBody>
      </p:sp>
      <p:sp>
        <p:nvSpPr>
          <p:cNvPr id="20483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Solução</a:t>
            </a:r>
          </a:p>
        </p:txBody>
      </p:sp>
      <p:pic>
        <p:nvPicPr>
          <p:cNvPr id="2048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55650" y="2027238"/>
            <a:ext cx="6553200" cy="4684712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159748" name="Line 4"/>
          <p:cNvSpPr>
            <a:spLocks noChangeShapeType="1"/>
          </p:cNvSpPr>
          <p:nvPr/>
        </p:nvSpPr>
        <p:spPr bwMode="auto">
          <a:xfrm flipV="1">
            <a:off x="2628900" y="3860800"/>
            <a:ext cx="158273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59749" name="Line 5"/>
          <p:cNvSpPr>
            <a:spLocks noChangeShapeType="1"/>
          </p:cNvSpPr>
          <p:nvPr/>
        </p:nvSpPr>
        <p:spPr bwMode="auto">
          <a:xfrm flipV="1">
            <a:off x="2484438" y="4365625"/>
            <a:ext cx="1223962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5975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3779838" y="4149725"/>
            <a:ext cx="4608512" cy="287338"/>
          </a:xfrm>
          <a:noFill/>
        </p:spPr>
        <p:txBody>
          <a:bodyPr/>
          <a:lstStyle/>
          <a:p>
            <a:pPr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pt-BR" sz="1600" b="1" smtClean="0">
                <a:solidFill>
                  <a:srgbClr val="FF0000"/>
                </a:solidFill>
              </a:rPr>
              <a:t>Converte o operador de String para caracter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59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9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7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597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mph" presetSubtype="0" accel="50000" decel="50000" autoRev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2000" fill="hold"/>
                                        <p:tgtEl>
                                          <p:spTgt spid="1597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748" grpId="0" animBg="1"/>
      <p:bldP spid="159749" grpId="0" animBg="1"/>
      <p:bldP spid="159750" grpId="0" build="p"/>
      <p:bldP spid="159750" grpI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0B49FCF-4342-4093-ACE7-757D419C6964}" type="slidenum">
              <a:rPr lang="pt-BR" smtClean="0"/>
              <a:pPr/>
              <a:t>28</a:t>
            </a:fld>
            <a:endParaRPr lang="pt-BR" smtClean="0"/>
          </a:p>
        </p:txBody>
      </p:sp>
      <p:sp>
        <p:nvSpPr>
          <p:cNvPr id="21507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Alterando a calculadora</a:t>
            </a:r>
          </a:p>
        </p:txBody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693025" cy="12747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pt-BR" sz="2400" smtClean="0"/>
              <a:t>Altere o exemplo anterior para que a calculadora exiba um erro caso seja feita uma divisão por zero.</a:t>
            </a:r>
          </a:p>
        </p:txBody>
      </p:sp>
      <p:pic>
        <p:nvPicPr>
          <p:cNvPr id="16077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55650" y="3429000"/>
            <a:ext cx="8137525" cy="1135063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1607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Atividade - Perfil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981950" cy="2362200"/>
          </a:xfrm>
        </p:spPr>
        <p:txBody>
          <a:bodyPr/>
          <a:lstStyle/>
          <a:p>
            <a:r>
              <a:rPr lang="pt-BR" sz="2400" smtClean="0"/>
              <a:t>O perfil de uma pessoa pode ser determinado a partir da sua data de nascimento, conforme exemplificado a seguir. Dada uma data de nascimento, informe o perfil correspondente. </a:t>
            </a:r>
          </a:p>
        </p:txBody>
      </p:sp>
      <p:pic>
        <p:nvPicPr>
          <p:cNvPr id="2253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913" y="3860800"/>
            <a:ext cx="6121400" cy="2970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Atividade – Cegonha </a:t>
            </a:r>
            <a:br>
              <a:rPr lang="pt-BR" dirty="0" smtClean="0"/>
            </a:br>
            <a:r>
              <a:rPr lang="pt-BR" sz="2400" dirty="0" smtClean="0"/>
              <a:t>(</a:t>
            </a:r>
            <a:r>
              <a:rPr lang="pt-BR" sz="2400" dirty="0" smtClean="0">
                <a:solidFill>
                  <a:schemeClr val="tx1"/>
                </a:solidFill>
              </a:rPr>
              <a:t>www.fatecsjc.edu.br/interfatecs/</a:t>
            </a:r>
            <a:r>
              <a:rPr lang="pt-BR" sz="2400" dirty="0" smtClean="0"/>
              <a:t>)</a:t>
            </a:r>
          </a:p>
        </p:txBody>
      </p:sp>
      <p:sp>
        <p:nvSpPr>
          <p:cNvPr id="23555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BR" sz="2400" smtClean="0"/>
              <a:t>(...) Para orientar o médico no acompanhamento da gestação existe uma tabela de referência, elaborada pelo </a:t>
            </a:r>
            <a:r>
              <a:rPr lang="pt-BR" sz="2400" i="1" smtClean="0"/>
              <a:t>Institute of Medicine</a:t>
            </a:r>
            <a:r>
              <a:rPr lang="pt-BR" sz="2400" smtClean="0"/>
              <a:t>, que associa o ganho de peso tolerado conforme a situação de peso da mulher antes da gravidez.</a:t>
            </a:r>
          </a:p>
        </p:txBody>
      </p:sp>
      <p:sp>
        <p:nvSpPr>
          <p:cNvPr id="23556" name="Espaço Reservado para Número de Slide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A8180BB-BCA9-460F-9DD6-2874BFF4E898}" type="slidenum">
              <a:rPr lang="pt-BR" smtClean="0"/>
              <a:pPr/>
              <a:t>30</a:t>
            </a:fld>
            <a:endParaRPr lang="pt-BR" smtClean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936625" y="4457700"/>
          <a:ext cx="7920880" cy="18288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IMC antes da gravidez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&lt;18.5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&gt;=18.5 </a:t>
                      </a:r>
                    </a:p>
                    <a:p>
                      <a:pPr algn="ctr"/>
                      <a:r>
                        <a:rPr lang="pt-BR" b="1" dirty="0" smtClean="0"/>
                        <a:t>e </a:t>
                      </a:r>
                    </a:p>
                    <a:p>
                      <a:pPr algn="ctr"/>
                      <a:r>
                        <a:rPr lang="pt-BR" b="1" dirty="0" smtClean="0"/>
                        <a:t>&lt;25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&gt;=25</a:t>
                      </a:r>
                      <a:r>
                        <a:rPr lang="pt-BR" b="1" baseline="0" dirty="0" smtClean="0"/>
                        <a:t> </a:t>
                      </a:r>
                    </a:p>
                    <a:p>
                      <a:pPr algn="ctr"/>
                      <a:r>
                        <a:rPr lang="pt-BR" b="1" baseline="0" dirty="0" smtClean="0"/>
                        <a:t>e </a:t>
                      </a:r>
                    </a:p>
                    <a:p>
                      <a:pPr algn="ctr"/>
                      <a:r>
                        <a:rPr lang="pt-BR" b="1" baseline="0" dirty="0" smtClean="0"/>
                        <a:t>&lt;30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&gt;=30</a:t>
                      </a:r>
                      <a:endParaRPr lang="pt-B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Ganho de peso esperado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12,5 </a:t>
                      </a:r>
                    </a:p>
                    <a:p>
                      <a:pPr algn="ctr"/>
                      <a:r>
                        <a:rPr lang="pt-BR" b="1" dirty="0" smtClean="0"/>
                        <a:t>a 18kg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b="1" dirty="0" smtClean="0"/>
                    </a:p>
                    <a:p>
                      <a:pPr algn="ctr"/>
                      <a:r>
                        <a:rPr lang="pt-BR" b="1" dirty="0" smtClean="0"/>
                        <a:t>11 a 16kg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b="1" dirty="0" smtClean="0"/>
                    </a:p>
                    <a:p>
                      <a:pPr algn="ctr"/>
                      <a:r>
                        <a:rPr lang="pt-BR" b="1" dirty="0" smtClean="0"/>
                        <a:t>7 a 11.5kg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b="1" dirty="0" smtClean="0"/>
                    </a:p>
                    <a:p>
                      <a:pPr algn="ctr"/>
                      <a:r>
                        <a:rPr lang="pt-BR" b="1" dirty="0" smtClean="0"/>
                        <a:t>5 a 9kg</a:t>
                      </a:r>
                      <a:endParaRPr lang="pt-B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Problema Cegonha (cont.)</a:t>
            </a:r>
          </a:p>
        </p:txBody>
      </p:sp>
      <p:sp>
        <p:nvSpPr>
          <p:cNvPr id="24579" name="Espaço Reservado para Conteúdo 2"/>
          <p:cNvSpPr>
            <a:spLocks noGrp="1"/>
          </p:cNvSpPr>
          <p:nvPr>
            <p:ph idx="1"/>
          </p:nvPr>
        </p:nvSpPr>
        <p:spPr>
          <a:xfrm>
            <a:off x="785813" y="2286000"/>
            <a:ext cx="8143875" cy="3800475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lang="pt-BR" sz="2400" smtClean="0"/>
              <a:t>Devemos lembrar que o IMC de uma pessoa é um calculado dividindo-se o peso da pessoa (em Kg) pelo quadrado da sua altura (m).</a:t>
            </a:r>
          </a:p>
          <a:p>
            <a:pPr>
              <a:spcBef>
                <a:spcPts val="600"/>
              </a:spcBef>
            </a:pPr>
            <a:r>
              <a:rPr lang="pt-BR" sz="2400" smtClean="0"/>
              <a:t>Elabore um programa que leia 3 números reais positivos (H, O, e A), representando a altura e peso da gestante antes de engravidar e o seu peso atual. Informe se o peso está dentro do tolerado de acordo com a tabela abaixo.</a:t>
            </a:r>
          </a:p>
          <a:p>
            <a:pPr>
              <a:spcBef>
                <a:spcPts val="600"/>
              </a:spcBef>
            </a:pPr>
            <a:endParaRPr lang="pt-BR" sz="2400" smtClean="0"/>
          </a:p>
        </p:txBody>
      </p:sp>
      <p:sp>
        <p:nvSpPr>
          <p:cNvPr id="24580" name="Espaço Reservado para Número de Slide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4ABAA1C-A53D-4D82-9B11-5F6C7FD7A9DA}" type="slidenum">
              <a:rPr lang="pt-BR" smtClean="0"/>
              <a:pPr/>
              <a:t>31</a:t>
            </a:fld>
            <a:endParaRPr lang="pt-BR" smtClean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895350" y="5303838"/>
          <a:ext cx="8034686" cy="14833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173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73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Situação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Mensagem</a:t>
                      </a:r>
                      <a:endParaRPr lang="pt-B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Peso atual &lt; peso esperado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GANHO</a:t>
                      </a:r>
                      <a:r>
                        <a:rPr lang="pt-BR" b="1" baseline="0" dirty="0" smtClean="0"/>
                        <a:t> INSUFICIENTE</a:t>
                      </a:r>
                      <a:endParaRPr lang="pt-B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Peso atual dentro do esperado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GANHO NORMAL</a:t>
                      </a:r>
                      <a:endParaRPr lang="pt-B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Peso atual</a:t>
                      </a:r>
                      <a:r>
                        <a:rPr lang="pt-BR" b="1" baseline="0" dirty="0" smtClean="0"/>
                        <a:t> &gt; peso esperado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 smtClean="0"/>
                        <a:t>GANHO EXAGERADO</a:t>
                      </a:r>
                      <a:endParaRPr lang="pt-B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Identificação de exercícios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443163"/>
            <a:ext cx="7693025" cy="3643312"/>
          </a:xfrm>
        </p:spPr>
        <p:txBody>
          <a:bodyPr/>
          <a:lstStyle/>
          <a:p>
            <a:pPr>
              <a:lnSpc>
                <a:spcPct val="120000"/>
              </a:lnSpc>
              <a:buFont typeface="Wingdings" pitchFamily="2" charset="2"/>
              <a:buNone/>
            </a:pPr>
            <a:endParaRPr lang="pt-BR" sz="2400" dirty="0" smtClean="0"/>
          </a:p>
          <a:p>
            <a:pPr>
              <a:lnSpc>
                <a:spcPct val="120000"/>
              </a:lnSpc>
              <a:buFont typeface="Wingdings" pitchFamily="2" charset="2"/>
              <a:buNone/>
            </a:pPr>
            <a:r>
              <a:rPr lang="pt-BR" sz="2400" dirty="0" smtClean="0"/>
              <a:t>FATEC – ADS </a:t>
            </a:r>
          </a:p>
          <a:p>
            <a:pPr>
              <a:lnSpc>
                <a:spcPct val="120000"/>
              </a:lnSpc>
              <a:buFont typeface="Wingdings" pitchFamily="2" charset="2"/>
              <a:buNone/>
            </a:pPr>
            <a:r>
              <a:rPr lang="pt-BR" sz="2400" dirty="0" smtClean="0"/>
              <a:t>POO – Prof. Grace - 09/03/2020</a:t>
            </a:r>
          </a:p>
          <a:p>
            <a:pPr>
              <a:lnSpc>
                <a:spcPct val="120000"/>
              </a:lnSpc>
              <a:buFont typeface="Wingdings" pitchFamily="2" charset="2"/>
              <a:buNone/>
            </a:pPr>
            <a:r>
              <a:rPr lang="pt-BR" sz="2400" dirty="0" smtClean="0"/>
              <a:t>Nome: Fulano de Tal – Matrícula: </a:t>
            </a:r>
            <a:r>
              <a:rPr lang="pt-BR" sz="2400" dirty="0" err="1" smtClean="0"/>
              <a:t>xxxxx</a:t>
            </a:r>
            <a:r>
              <a:rPr lang="pt-BR" sz="2400" dirty="0" smtClean="0"/>
              <a:t>-x</a:t>
            </a:r>
          </a:p>
          <a:p>
            <a:pPr>
              <a:lnSpc>
                <a:spcPct val="120000"/>
              </a:lnSpc>
              <a:buFont typeface="Wingdings" pitchFamily="2" charset="2"/>
              <a:buNone/>
            </a:pPr>
            <a:endParaRPr lang="pt-BR" sz="2400" dirty="0" smtClean="0"/>
          </a:p>
          <a:p>
            <a:pPr>
              <a:lnSpc>
                <a:spcPct val="120000"/>
              </a:lnSpc>
              <a:buFont typeface="Wingdings" pitchFamily="2" charset="2"/>
              <a:buNone/>
            </a:pPr>
            <a:endParaRPr lang="pt-BR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Atividades para enviar por e-mail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8305800" cy="4495800"/>
          </a:xfrm>
        </p:spPr>
        <p:txBody>
          <a:bodyPr/>
          <a:lstStyle/>
          <a:p>
            <a:r>
              <a:rPr lang="pt-BR" sz="2000" dirty="0" smtClean="0"/>
              <a:t>Classes:</a:t>
            </a:r>
          </a:p>
          <a:p>
            <a:pPr lvl="1"/>
            <a:r>
              <a:rPr lang="pt-BR" sz="1800" dirty="0" smtClean="0"/>
              <a:t>Atividade - Media</a:t>
            </a:r>
          </a:p>
          <a:p>
            <a:pPr lvl="1"/>
            <a:r>
              <a:rPr lang="pt-BR" sz="1800" dirty="0" smtClean="0"/>
              <a:t>Atividade - Módulo</a:t>
            </a:r>
          </a:p>
          <a:p>
            <a:pPr lvl="1"/>
            <a:r>
              <a:rPr lang="pt-BR" sz="1800" dirty="0" smtClean="0"/>
              <a:t>Atividade - Calculadora</a:t>
            </a:r>
          </a:p>
          <a:p>
            <a:pPr lvl="1"/>
            <a:r>
              <a:rPr lang="pt-BR" sz="1800" dirty="0" smtClean="0"/>
              <a:t>Atividade - Perfil</a:t>
            </a:r>
          </a:p>
          <a:p>
            <a:pPr lvl="1"/>
            <a:r>
              <a:rPr lang="pt-BR" sz="1800" dirty="0" smtClean="0"/>
              <a:t>Atividade - Cegonha</a:t>
            </a:r>
          </a:p>
          <a:p>
            <a:r>
              <a:rPr lang="pt-BR" sz="2000" dirty="0" smtClean="0"/>
              <a:t>Atividade de pesquisa: Classe String</a:t>
            </a:r>
          </a:p>
          <a:p>
            <a:pPr lvl="1"/>
            <a:r>
              <a:rPr lang="pt-BR" sz="1800" dirty="0" smtClean="0"/>
              <a:t>Apresente 3 métodos da classe String exemplificando seu uso.</a:t>
            </a:r>
          </a:p>
          <a:p>
            <a:r>
              <a:rPr lang="pt-BR" sz="2000" dirty="0" smtClean="0"/>
              <a:t>E-mail </a:t>
            </a:r>
            <a:r>
              <a:rPr lang="pt-BR" sz="2000" b="1" i="1" dirty="0" smtClean="0">
                <a:solidFill>
                  <a:srgbClr val="FF0000"/>
                </a:solidFill>
                <a:hlinkClick r:id="rId2"/>
              </a:rPr>
              <a:t>poo.profgrace@yahoo.com.br</a:t>
            </a:r>
            <a:endParaRPr lang="pt-BR" sz="2000" b="1" i="1" dirty="0" smtClean="0">
              <a:solidFill>
                <a:srgbClr val="FF0000"/>
              </a:solidFill>
            </a:endParaRPr>
          </a:p>
          <a:p>
            <a:r>
              <a:rPr lang="pt-BR" sz="2000" dirty="0" smtClean="0"/>
              <a:t>Identifique quais atividades estão sendo enviadas no </a:t>
            </a:r>
            <a:r>
              <a:rPr lang="pt-BR" sz="2000" b="1" i="1" dirty="0" err="1" smtClean="0"/>
              <a:t>subject</a:t>
            </a:r>
            <a:r>
              <a:rPr lang="pt-BR" sz="2000" b="1" i="1" dirty="0" smtClean="0"/>
              <a:t>/ assunto</a:t>
            </a:r>
            <a:r>
              <a:rPr lang="pt-BR" sz="2000" dirty="0" smtClean="0"/>
              <a:t> da mensagem. </a:t>
            </a:r>
          </a:p>
          <a:p>
            <a:pPr lvl="1">
              <a:buFontTx/>
              <a:buNone/>
            </a:pPr>
            <a:r>
              <a:rPr lang="pt-BR" sz="1800" dirty="0" smtClean="0"/>
              <a:t>Ex.: Assunto: Entrega de Atividades – Aula 03 - Decisão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Material disponível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pt-BR" dirty="0" smtClean="0"/>
          </a:p>
          <a:p>
            <a:pPr>
              <a:buNone/>
            </a:pPr>
            <a:r>
              <a:rPr lang="pt-BR" sz="4800" dirty="0" smtClean="0"/>
              <a:t>http://</a:t>
            </a:r>
            <a:r>
              <a:rPr lang="pt-BR" sz="4800" dirty="0" smtClean="0"/>
              <a:t>bit.ly/324wS0n</a:t>
            </a:r>
            <a:endParaRPr lang="pt-BR" sz="48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7FEB4A-CD10-468D-80D4-E33F2A429451}" type="slidenum">
              <a:rPr lang="pt-BR" smtClean="0"/>
              <a:pPr>
                <a:defRPr/>
              </a:pPr>
              <a:t>34</a:t>
            </a:fld>
            <a:endParaRPr lang="pt-B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76056" y="2362200"/>
            <a:ext cx="3672408" cy="3724275"/>
          </a:xfrm>
        </p:spPr>
        <p:txBody>
          <a:bodyPr/>
          <a:lstStyle/>
          <a:p>
            <a:r>
              <a:rPr lang="pt-BR" b="1" i="1" dirty="0" smtClean="0"/>
              <a:t>Inscrições:</a:t>
            </a:r>
          </a:p>
          <a:p>
            <a:endParaRPr lang="pt-BR" b="1" i="1" dirty="0" smtClean="0"/>
          </a:p>
          <a:p>
            <a:pPr>
              <a:buNone/>
            </a:pPr>
            <a:r>
              <a:rPr lang="pt-BR" b="1" i="1" dirty="0" smtClean="0"/>
              <a:t>www.sympla.com.br/fatechgirls</a:t>
            </a:r>
            <a:endParaRPr lang="pt-BR" b="1" i="1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C33589-6E96-4CD5-ABAA-F3DF630F6584}" type="slidenum">
              <a:rPr lang="pt-BR" smtClean="0"/>
              <a:pPr>
                <a:defRPr/>
              </a:pPr>
              <a:t>35</a:t>
            </a:fld>
            <a:endParaRPr lang="pt-BR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512" y="-27384"/>
            <a:ext cx="4896544" cy="6933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Palestras – Maratona de Programação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6021288"/>
            <a:ext cx="7693025" cy="576064"/>
          </a:xfrm>
        </p:spPr>
        <p:txBody>
          <a:bodyPr/>
          <a:lstStyle/>
          <a:p>
            <a:r>
              <a:rPr lang="pt-BR" dirty="0" smtClean="0"/>
              <a:t>Inscrições: http://sec.fatecsp.br/publicas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7FEB4A-CD10-468D-80D4-E33F2A429451}" type="slidenum">
              <a:rPr lang="pt-BR" smtClean="0"/>
              <a:pPr>
                <a:defRPr/>
              </a:pPr>
              <a:t>36</a:t>
            </a:fld>
            <a:endParaRPr lang="pt-BR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3" y="2348880"/>
            <a:ext cx="7675179" cy="36724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ápsulas">
  <a:themeElements>
    <a:clrScheme name="Cápsulas 1">
      <a:dk1>
        <a:srgbClr val="003366"/>
      </a:dk1>
      <a:lt1>
        <a:srgbClr val="FFFFFF"/>
      </a:lt1>
      <a:dk2>
        <a:srgbClr val="006666"/>
      </a:dk2>
      <a:lt2>
        <a:srgbClr val="666699"/>
      </a:lt2>
      <a:accent1>
        <a:srgbClr val="33CCCC"/>
      </a:accent1>
      <a:accent2>
        <a:srgbClr val="99CC99"/>
      </a:accent2>
      <a:accent3>
        <a:srgbClr val="FFFFFF"/>
      </a:accent3>
      <a:accent4>
        <a:srgbClr val="002A56"/>
      </a:accent4>
      <a:accent5>
        <a:srgbClr val="ADE2E2"/>
      </a:accent5>
      <a:accent6>
        <a:srgbClr val="8AB98A"/>
      </a:accent6>
      <a:hlink>
        <a:srgbClr val="003366"/>
      </a:hlink>
      <a:folHlink>
        <a:srgbClr val="CC99FF"/>
      </a:folHlink>
    </a:clrScheme>
    <a:fontScheme name="Cápsula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ápsulas 1">
        <a:dk1>
          <a:srgbClr val="003366"/>
        </a:dk1>
        <a:lt1>
          <a:srgbClr val="FFFFFF"/>
        </a:lt1>
        <a:dk2>
          <a:srgbClr val="006666"/>
        </a:dk2>
        <a:lt2>
          <a:srgbClr val="666699"/>
        </a:lt2>
        <a:accent1>
          <a:srgbClr val="33CCCC"/>
        </a:accent1>
        <a:accent2>
          <a:srgbClr val="99CC99"/>
        </a:accent2>
        <a:accent3>
          <a:srgbClr val="FFFFFF"/>
        </a:accent3>
        <a:accent4>
          <a:srgbClr val="002A56"/>
        </a:accent4>
        <a:accent5>
          <a:srgbClr val="ADE2E2"/>
        </a:accent5>
        <a:accent6>
          <a:srgbClr val="8AB98A"/>
        </a:accent6>
        <a:hlink>
          <a:srgbClr val="003366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2">
        <a:dk1>
          <a:srgbClr val="000000"/>
        </a:dk1>
        <a:lt1>
          <a:srgbClr val="FFFFFF"/>
        </a:lt1>
        <a:dk2>
          <a:srgbClr val="000000"/>
        </a:dk2>
        <a:lt2>
          <a:srgbClr val="808000"/>
        </a:lt2>
        <a:accent1>
          <a:srgbClr val="FFCC99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8AB900"/>
        </a:accent6>
        <a:hlink>
          <a:srgbClr val="336600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3">
        <a:dk1>
          <a:srgbClr val="006699"/>
        </a:dk1>
        <a:lt1>
          <a:srgbClr val="FFFFFF"/>
        </a:lt1>
        <a:dk2>
          <a:srgbClr val="6699FF"/>
        </a:dk2>
        <a:lt2>
          <a:srgbClr val="FFFFFF"/>
        </a:lt2>
        <a:accent1>
          <a:srgbClr val="33CCCC"/>
        </a:accent1>
        <a:accent2>
          <a:srgbClr val="006699"/>
        </a:accent2>
        <a:accent3>
          <a:srgbClr val="B8CAFF"/>
        </a:accent3>
        <a:accent4>
          <a:srgbClr val="DADADA"/>
        </a:accent4>
        <a:accent5>
          <a:srgbClr val="ADE2E2"/>
        </a:accent5>
        <a:accent6>
          <a:srgbClr val="005C8A"/>
        </a:accent6>
        <a:hlink>
          <a:srgbClr val="99CC00"/>
        </a:hlink>
        <a:folHlink>
          <a:srgbClr val="FFFF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4">
        <a:dk1>
          <a:srgbClr val="000000"/>
        </a:dk1>
        <a:lt1>
          <a:srgbClr val="FFFFFF"/>
        </a:lt1>
        <a:dk2>
          <a:srgbClr val="9900CC"/>
        </a:dk2>
        <a:lt2>
          <a:srgbClr val="006600"/>
        </a:lt2>
        <a:accent1>
          <a:srgbClr val="33CC33"/>
        </a:accent1>
        <a:accent2>
          <a:srgbClr val="FFCC66"/>
        </a:accent2>
        <a:accent3>
          <a:srgbClr val="FFFFFF"/>
        </a:accent3>
        <a:accent4>
          <a:srgbClr val="000000"/>
        </a:accent4>
        <a:accent5>
          <a:srgbClr val="ADE2AD"/>
        </a:accent5>
        <a:accent6>
          <a:srgbClr val="E7B95C"/>
        </a:accent6>
        <a:hlink>
          <a:srgbClr val="0033CC"/>
        </a:hlink>
        <a:folHlink>
          <a:srgbClr val="CC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5">
        <a:dk1>
          <a:srgbClr val="000066"/>
        </a:dk1>
        <a:lt1>
          <a:srgbClr val="FFFFFF"/>
        </a:lt1>
        <a:dk2>
          <a:srgbClr val="336699"/>
        </a:dk2>
        <a:lt2>
          <a:srgbClr val="FFFFEB"/>
        </a:lt2>
        <a:accent1>
          <a:srgbClr val="99CCFF"/>
        </a:accent1>
        <a:accent2>
          <a:srgbClr val="9999FF"/>
        </a:accent2>
        <a:accent3>
          <a:srgbClr val="ADB8CA"/>
        </a:accent3>
        <a:accent4>
          <a:srgbClr val="DADADA"/>
        </a:accent4>
        <a:accent5>
          <a:srgbClr val="CAE2FF"/>
        </a:accent5>
        <a:accent6>
          <a:srgbClr val="8A8AE7"/>
        </a:accent6>
        <a:hlink>
          <a:srgbClr val="CCCCFF"/>
        </a:hlink>
        <a:folHlink>
          <a:srgbClr val="C68D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6">
        <a:dk1>
          <a:srgbClr val="808000"/>
        </a:dk1>
        <a:lt1>
          <a:srgbClr val="FFFFFF"/>
        </a:lt1>
        <a:dk2>
          <a:srgbClr val="006666"/>
        </a:dk2>
        <a:lt2>
          <a:srgbClr val="FFFFFF"/>
        </a:lt2>
        <a:accent1>
          <a:srgbClr val="FFCC66"/>
        </a:accent1>
        <a:accent2>
          <a:srgbClr val="00ACA8"/>
        </a:accent2>
        <a:accent3>
          <a:srgbClr val="AAB8B8"/>
        </a:accent3>
        <a:accent4>
          <a:srgbClr val="DADADA"/>
        </a:accent4>
        <a:accent5>
          <a:srgbClr val="FFE2B8"/>
        </a:accent5>
        <a:accent6>
          <a:srgbClr val="009B98"/>
        </a:accent6>
        <a:hlink>
          <a:srgbClr val="CCCC00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7">
        <a:dk1>
          <a:srgbClr val="FFFFCC"/>
        </a:dk1>
        <a:lt1>
          <a:srgbClr val="FFFFFF"/>
        </a:lt1>
        <a:dk2>
          <a:srgbClr val="660033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B8AAAD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FFCC00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8">
        <a:dk1>
          <a:srgbClr val="FF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CC00"/>
        </a:accent1>
        <a:accent2>
          <a:srgbClr val="CC3300"/>
        </a:accent2>
        <a:accent3>
          <a:srgbClr val="AA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FF6600"/>
        </a:hlink>
        <a:folHlink>
          <a:srgbClr val="FF7C8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Capsules</Template>
  <TotalTime>2119</TotalTime>
  <Words>954</Words>
  <Application>Microsoft Office PowerPoint</Application>
  <PresentationFormat>Apresentação na tela (4:3)</PresentationFormat>
  <Paragraphs>242</Paragraphs>
  <Slides>36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36</vt:i4>
      </vt:variant>
    </vt:vector>
  </HeadingPairs>
  <TitlesOfParts>
    <vt:vector size="43" baseType="lpstr">
      <vt:lpstr>Arial</vt:lpstr>
      <vt:lpstr>Courier New</vt:lpstr>
      <vt:lpstr>Monotype Sorts</vt:lpstr>
      <vt:lpstr>Times New Roman</vt:lpstr>
      <vt:lpstr>Verdana</vt:lpstr>
      <vt:lpstr>Wingdings</vt:lpstr>
      <vt:lpstr>Cápsulas</vt:lpstr>
      <vt:lpstr>Estrutura de decisão  em JAVA</vt:lpstr>
      <vt:lpstr>Aulas Anteriores</vt:lpstr>
      <vt:lpstr>Como funciona em múltiplas plataformas?</vt:lpstr>
      <vt:lpstr>O mesmo bytecode (.class) executa em qualquer ambiente</vt:lpstr>
      <vt:lpstr>Bytecode</vt:lpstr>
      <vt:lpstr>Bytecode</vt:lpstr>
      <vt:lpstr>Desenvolvimento JAVA</vt:lpstr>
      <vt:lpstr>Ferramentas Integradas</vt:lpstr>
      <vt:lpstr>Processo de desenvolvimento JAVA</vt:lpstr>
      <vt:lpstr>Primeiro programa JAVA</vt:lpstr>
      <vt:lpstr>Exemplo com Bloco de Notas</vt:lpstr>
      <vt:lpstr>Aula 03</vt:lpstr>
      <vt:lpstr>Operadores relacionais</vt:lpstr>
      <vt:lpstr>Operadores lógicos</vt:lpstr>
      <vt:lpstr>Estrutura de decisão simples</vt:lpstr>
      <vt:lpstr>Condicional aninhada</vt:lpstr>
      <vt:lpstr>Condicional encadeada</vt:lpstr>
      <vt:lpstr>Exemplo - Média</vt:lpstr>
      <vt:lpstr>Possível solução (Encadeada)</vt:lpstr>
      <vt:lpstr>Como seria...</vt:lpstr>
      <vt:lpstr>Exemplo de condicional simples</vt:lpstr>
      <vt:lpstr>Operador condicional ternário</vt:lpstr>
      <vt:lpstr>Atividade - Módulo</vt:lpstr>
      <vt:lpstr>Estrutura de decisão múltipla</vt:lpstr>
      <vt:lpstr>Quais as saídas nesse exemplo?</vt:lpstr>
      <vt:lpstr>Atividade - Calculadora</vt:lpstr>
      <vt:lpstr>Solução</vt:lpstr>
      <vt:lpstr>Alterando a calculadora</vt:lpstr>
      <vt:lpstr>Atividade - Perfil</vt:lpstr>
      <vt:lpstr>Atividade – Cegonha  (www.fatecsjc.edu.br/interfatecs/)</vt:lpstr>
      <vt:lpstr>Problema Cegonha (cont.)</vt:lpstr>
      <vt:lpstr>Identificação de exercícios</vt:lpstr>
      <vt:lpstr>Atividades para enviar por e-mail</vt:lpstr>
      <vt:lpstr>Material disponível</vt:lpstr>
      <vt:lpstr>Apresentação do PowerPoint</vt:lpstr>
      <vt:lpstr>Palestras – Maratona de Programação</vt:lpstr>
    </vt:vector>
  </TitlesOfParts>
  <Company>Outgrow / Lukiano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Linguagem de Programação Plataforma JAVA 1</dc:title>
  <dc:creator>Grace</dc:creator>
  <cp:lastModifiedBy>professor</cp:lastModifiedBy>
  <cp:revision>286</cp:revision>
  <dcterms:created xsi:type="dcterms:W3CDTF">2008-07-15T02:11:57Z</dcterms:created>
  <dcterms:modified xsi:type="dcterms:W3CDTF">2020-03-09T23:39:28Z</dcterms:modified>
</cp:coreProperties>
</file>