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59" r:id="rId8"/>
    <p:sldId id="263" r:id="rId9"/>
    <p:sldId id="264" r:id="rId10"/>
    <p:sldId id="267" r:id="rId11"/>
    <p:sldId id="265" r:id="rId12"/>
    <p:sldId id="268" r:id="rId13"/>
    <p:sldId id="266" r:id="rId14"/>
    <p:sldId id="269" r:id="rId15"/>
    <p:sldId id="270" r:id="rId16"/>
    <p:sldId id="272" r:id="rId17"/>
    <p:sldId id="271" r:id="rId18"/>
    <p:sldId id="273" r:id="rId19"/>
    <p:sldId id="276" r:id="rId20"/>
    <p:sldId id="277" r:id="rId21"/>
    <p:sldId id="278" r:id="rId22"/>
    <p:sldId id="274" r:id="rId23"/>
    <p:sldId id="279" r:id="rId24"/>
    <p:sldId id="275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290" r:id="rId35"/>
    <p:sldId id="294" r:id="rId36"/>
    <p:sldId id="299" r:id="rId37"/>
    <p:sldId id="297" r:id="rId38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114100-E4E5-373E-35A9-EFE33E9BD24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0FF2F33-ED1C-CF28-46E9-7DA1A90F47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EB98D6CB-2EE9-82A7-92E9-B3D5CEFD3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FE5A533B-E165-E517-D17B-54339C3CD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1578DF2D-7FD0-9D50-EBA5-75F81D8F7B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5BE72D3-EE4D-2FB4-4E0F-070D97690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9138B0-143C-2B2E-7C75-E09D47107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7C1D017B-99A3-45B8-59A4-C85146707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2760431-6E4A-3A7B-F240-477480A4A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56833AF-900B-F70D-A1E0-1232D0E500D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2C73B3F0-59F9-4CCA-A6F6-E9CA2B61F9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9DEEAEE-58B5-54B5-6E8A-228B2A213F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878A7C51-88C6-67E5-F713-617292D0EE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AB0A5E6-C2AF-481B-AC17-C7235C8A240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51150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D293CB6-3475-CDE6-47D8-FB24EB3E3F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42BCF75-33D8-FF98-4E1A-0825FCF5DD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5F06D7C-15E1-882F-8C78-18D1E92AC6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77339C-AF87-41F5-B8C4-3078BB34FB5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107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8EF72CA-CF10-AFBB-C115-1A207B2385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63CCA52-7CE6-C5AB-CBD1-153209CD03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24800BB-0FD7-78E1-6CF9-94C09234B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D41CF5-F0E5-475E-A86A-3FF708F20BD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8258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30BD189-67E1-7B06-9358-53EACD881D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087300-B4DB-0909-94DF-02EF5B2A2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5F8DF0A-4E26-FFA2-F5B9-382A1B125A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064BDC-36DA-40EC-A016-C95939B5609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70084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4FA18E6-2270-D930-10CB-9D3FF6FE6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F310C1B-58B9-B7BF-7059-860CCF5A3E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FE0B4ABB-02F4-BB40-FBE8-BABC730095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63687-E1B2-4400-859D-D8E1B37CF15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3321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C57D96DC-A06B-2E5E-9732-9A44A71001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947CE24-F8B8-23AA-BAE8-CFA0BCEB50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CA36ABB-6736-0E41-2D17-9BFFE3F9A7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7DDAD7-78F1-4E0D-A515-FEE81FFB19D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9670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7B8EED90-5801-D93C-5215-647B3FC439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FFF117AC-EC16-37BD-F7B6-4CEB802842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BDA90ED-840B-5642-137D-7820CB4C2C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2FC14D-07AC-4384-914B-F23C28E7722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6249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2B5EF82-8581-EC15-131E-7D3245ACC6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7518E59-40B2-A201-9A60-EB4DD3D4AE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0105AF5-FBAD-DB01-F03C-3E63E3A801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D51DE2-64FD-4AB9-8AF6-97D0D58B2FB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57247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F8356A-5357-8D36-6A06-E2EC160019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4824559-5AE9-2A98-197B-805BC72A04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6792569-053F-F3E4-C919-2698439657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714D1A-37CC-4915-AD92-81F7AF5D2F1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1874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E2369B1-D412-FCA1-4E38-2E888E2D1C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91116C-1301-A172-DE82-4E802A85F6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0DDEE5E-9271-C731-9431-270823BE35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3FD4D8-7BC3-4D83-8BB9-CE1B8FDF60A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7071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B6628A5-BEFB-031B-0467-E2327D0897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7BF2E7B-65AF-367F-CFFE-DEDADDDB7C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F6B806E-9C60-F07D-55FA-2570838FF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174176-092B-41E9-9531-C50A6DCE855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33366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E14E998-AE07-5A8F-78B7-7E02D48904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E8129D6-814D-AC51-D0F0-67B2E0672E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ABD06DF-516D-A7DB-5CDC-1EAA13DBC7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EF3AF5-B9A3-490C-A14A-2CC7B3273DC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5842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E3A4AC2-AE2F-5FC3-8753-B15DF743977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pt-BR" altLang="pt-BR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17AF34-B816-16E0-C9F1-5F385608B41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pt-BR" altLang="pt-BR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799626A-3C6E-9471-E521-AA5C3130057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pt-BR" altLang="pt-BR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AD98F6C-250B-070B-985F-265B5344EE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pt-BR" altLang="pt-BR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FD3483E-8191-4113-C9C3-F268FBF6193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pt-BR" altLang="pt-BR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C519054-6525-B14D-7A3D-A8E43749850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pt-BR" altLang="pt-BR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4E70C10-68D1-00FE-4B3F-56E7F27A41F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pt-BR" altLang="pt-BR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1DCB7CA4-DB39-EB12-DA68-7D98C9EE78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47590CCC-D5AA-40E7-4787-47B46E39F5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8A4B6F01-275B-574E-7E90-12DF513C15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C35D5175-4DA4-4B91-8C9B-15F457F25B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9B8B53FF-7EB3-CE66-0870-CB01DC6C2C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0CFC0A6C-A2A7-43EA-B72B-62E6CC949BD9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298FA65-8C82-2D68-7E49-DB8D9B0216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pt-BR" altLang="pt-BR"/>
              <a:t>Desenvolvimento Android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A1CAEEA-1A73-8654-94C6-C5D329027F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389438"/>
            <a:ext cx="6400800" cy="695325"/>
          </a:xfrm>
        </p:spPr>
        <p:txBody>
          <a:bodyPr/>
          <a:lstStyle/>
          <a:p>
            <a:pPr eaLnBrk="1" hangingPunct="1"/>
            <a:r>
              <a:rPr lang="pt-BR" altLang="pt-BR"/>
              <a:t>Osvaldo Cesar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A13B72D-609E-CC41-2E78-49F34E741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 que é o Android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2E1279F-8719-D490-8FEE-8523404959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91012"/>
          </a:xfrm>
        </p:spPr>
        <p:txBody>
          <a:bodyPr/>
          <a:lstStyle/>
          <a:p>
            <a:pPr eaLnBrk="1" hangingPunct="1"/>
            <a:r>
              <a:rPr lang="pt-BR" altLang="pt-BR"/>
              <a:t>Sistema Operacional</a:t>
            </a:r>
          </a:p>
          <a:p>
            <a:pPr lvl="1" eaLnBrk="1" hangingPunct="1"/>
            <a:r>
              <a:rPr lang="pt-BR" altLang="pt-BR"/>
              <a:t>Sistema operacional baseado no kernel Linux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pt-BR" altLang="pt-BR"/>
          </a:p>
          <a:p>
            <a:pPr eaLnBrk="1" hangingPunct="1"/>
            <a:r>
              <a:rPr lang="pt-BR" altLang="pt-BR"/>
              <a:t>Desenvolvido por AOSP</a:t>
            </a:r>
          </a:p>
          <a:p>
            <a:pPr lvl="1" eaLnBrk="1" hangingPunct="1"/>
            <a:r>
              <a:rPr lang="pt-BR" altLang="pt-BR"/>
              <a:t>Android Open Source Project</a:t>
            </a:r>
          </a:p>
          <a:p>
            <a:pPr lvl="1" eaLnBrk="1" hangingPunct="1"/>
            <a:r>
              <a:rPr lang="pt-BR" altLang="pt-BR"/>
              <a:t>Liderado principalmente pelo Google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D78C3DE-2446-7EEF-AC82-27C4EBA22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 que é o Android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6EE4497-9D24-1130-228A-EB271A3E6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91012"/>
          </a:xfrm>
        </p:spPr>
        <p:txBody>
          <a:bodyPr/>
          <a:lstStyle/>
          <a:p>
            <a:pPr eaLnBrk="1" hangingPunct="1"/>
            <a:r>
              <a:rPr lang="pt-BR" altLang="pt-BR"/>
              <a:t>Android</a:t>
            </a:r>
          </a:p>
          <a:p>
            <a:pPr lvl="1" eaLnBrk="1" hangingPunct="1"/>
            <a:r>
              <a:rPr lang="pt-BR" altLang="pt-BR"/>
              <a:t>Pilha de software open source</a:t>
            </a:r>
          </a:p>
          <a:p>
            <a:pPr lvl="1" eaLnBrk="1" hangingPunct="1"/>
            <a:r>
              <a:rPr lang="pt-BR" altLang="pt-BR"/>
              <a:t>Suporta processamento em background</a:t>
            </a:r>
          </a:p>
          <a:p>
            <a:pPr lvl="1" eaLnBrk="1" hangingPunct="1"/>
            <a:r>
              <a:rPr lang="pt-BR" altLang="pt-BR"/>
              <a:t>Rica interface de usuários</a:t>
            </a:r>
          </a:p>
          <a:p>
            <a:pPr lvl="1" eaLnBrk="1" hangingPunct="1"/>
            <a:r>
              <a:rPr lang="pt-BR" altLang="pt-BR"/>
              <a:t>Suporte gráfico 2D e 3D (OpenGL)</a:t>
            </a:r>
          </a:p>
          <a:p>
            <a:pPr lvl="1" eaLnBrk="1" hangingPunct="1"/>
            <a:r>
              <a:rPr lang="pt-BR" altLang="pt-BR"/>
              <a:t>Acesso padrão ao sistema de arquivos</a:t>
            </a:r>
          </a:p>
          <a:p>
            <a:pPr lvl="1" eaLnBrk="1" hangingPunct="1"/>
            <a:r>
              <a:rPr lang="pt-BR" altLang="pt-BR"/>
              <a:t>Banco de dados embutido (SQLite)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FB7A608-4B08-7F75-EE35-1A6CBA1559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Principais objetivos do Android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24D6A57-C186-2548-5BE1-C7AF3C58B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83100"/>
          </a:xfrm>
        </p:spPr>
        <p:txBody>
          <a:bodyPr/>
          <a:lstStyle/>
          <a:p>
            <a:pPr eaLnBrk="1" hangingPunct="1"/>
            <a:r>
              <a:rPr lang="pt-BR" altLang="pt-BR"/>
              <a:t>Plataforma de software open source</a:t>
            </a:r>
          </a:p>
          <a:p>
            <a:pPr lvl="1" eaLnBrk="1" hangingPunct="1"/>
            <a:r>
              <a:rPr lang="pt-BR" altLang="pt-BR"/>
              <a:t>Para operadoras</a:t>
            </a:r>
          </a:p>
          <a:p>
            <a:pPr lvl="1" eaLnBrk="1" hangingPunct="1"/>
            <a:r>
              <a:rPr lang="pt-BR" altLang="pt-BR"/>
              <a:t>Para OEMs (Empresas como Sansung)</a:t>
            </a:r>
          </a:p>
          <a:p>
            <a:pPr lvl="1" eaLnBrk="1" hangingPunct="1"/>
            <a:r>
              <a:rPr lang="pt-BR" altLang="pt-BR"/>
              <a:t>Para desenvolvedores</a:t>
            </a:r>
          </a:p>
          <a:p>
            <a:pPr eaLnBrk="1" hangingPunct="1"/>
            <a:r>
              <a:rPr lang="pt-BR" altLang="pt-BR"/>
              <a:t>Oferecendo suporte para:</a:t>
            </a:r>
          </a:p>
          <a:p>
            <a:pPr lvl="1" eaLnBrk="1" hangingPunct="1"/>
            <a:r>
              <a:rPr lang="pt-BR" altLang="pt-BR"/>
              <a:t>A realização de ideias inovadoras</a:t>
            </a:r>
          </a:p>
          <a:p>
            <a:pPr lvl="1" eaLnBrk="1" hangingPunct="1"/>
            <a:r>
              <a:rPr lang="pt-BR" altLang="pt-BR"/>
              <a:t>Melhorar a experiência de usuários finais no uso de dispositivos móveis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72ACFDD-0BA7-7666-39C3-F607CE979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Principais objetivos do Android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B6AFFD4-A1AE-6A0C-8C13-8C56123726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83100"/>
          </a:xfrm>
        </p:spPr>
        <p:txBody>
          <a:bodyPr/>
          <a:lstStyle/>
          <a:p>
            <a:pPr eaLnBrk="1" hangingPunct="1"/>
            <a:r>
              <a:rPr lang="pt-BR" altLang="pt-BR"/>
              <a:t>Evitar ponto central de falha  </a:t>
            </a:r>
          </a:p>
          <a:p>
            <a:pPr lvl="1" eaLnBrk="1" hangingPunct="1"/>
            <a:r>
              <a:rPr lang="pt-BR" altLang="pt-BR"/>
              <a:t>Restrições e controle de uma empresa por outras</a:t>
            </a:r>
          </a:p>
          <a:p>
            <a:pPr eaLnBrk="1" hangingPunct="1"/>
            <a:r>
              <a:rPr lang="pt-BR" altLang="pt-BR"/>
              <a:t>Código fonte aberto</a:t>
            </a:r>
          </a:p>
          <a:p>
            <a:pPr lvl="1" eaLnBrk="1" hangingPunct="1"/>
            <a:r>
              <a:rPr lang="pt-BR" altLang="pt-BR"/>
              <a:t>Customização</a:t>
            </a:r>
          </a:p>
          <a:p>
            <a:pPr lvl="1" eaLnBrk="1" hangingPunct="1"/>
            <a:r>
              <a:rPr lang="pt-BR" altLang="pt-BR"/>
              <a:t>Portabilidade</a:t>
            </a:r>
          </a:p>
          <a:p>
            <a:pPr eaLnBrk="1" hangingPunct="1"/>
            <a:r>
              <a:rPr lang="pt-BR" altLang="pt-BR"/>
              <a:t>Programa de compatibilidade Android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ndroid framework details">
            <a:extLst>
              <a:ext uri="{FF2B5EF4-FFF2-40B4-BE49-F238E27FC236}">
                <a16:creationId xmlns:a16="http://schemas.microsoft.com/office/drawing/2014/main" id="{4EF77BD0-9401-A50E-2704-AED782E95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25"/>
            <a:ext cx="9086850" cy="63579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5037592-9864-9215-4D58-89C7D9A988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Características Android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07DE14F-1F83-EA4C-F6C0-8CF0B69D05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91012"/>
          </a:xfrm>
        </p:spPr>
        <p:txBody>
          <a:bodyPr/>
          <a:lstStyle/>
          <a:p>
            <a:pPr eaLnBrk="1" hangingPunct="1"/>
            <a:r>
              <a:rPr lang="pt-BR" altLang="pt-BR" dirty="0"/>
              <a:t>Codinome da Plataforma</a:t>
            </a:r>
          </a:p>
          <a:p>
            <a:pPr lvl="1" eaLnBrk="1" hangingPunct="1"/>
            <a:r>
              <a:rPr lang="pt-BR" altLang="pt-BR" dirty="0" err="1"/>
              <a:t>Lollipop</a:t>
            </a:r>
            <a:r>
              <a:rPr lang="pt-BR" altLang="pt-BR" dirty="0"/>
              <a:t>, KitKat, </a:t>
            </a:r>
            <a:r>
              <a:rPr lang="pt-BR" altLang="pt-BR" dirty="0" err="1"/>
              <a:t>Gingerbread</a:t>
            </a:r>
            <a:endParaRPr lang="pt-BR" altLang="pt-BR" dirty="0"/>
          </a:p>
          <a:p>
            <a:pPr eaLnBrk="1" hangingPunct="1"/>
            <a:r>
              <a:rPr lang="pt-BR" altLang="pt-BR" dirty="0"/>
              <a:t>Versão</a:t>
            </a:r>
          </a:p>
          <a:p>
            <a:pPr eaLnBrk="1" hangingPunct="1"/>
            <a:r>
              <a:rPr lang="pt-BR" altLang="pt-BR" dirty="0"/>
              <a:t>API </a:t>
            </a:r>
            <a:r>
              <a:rPr lang="pt-BR" altLang="pt-BR" dirty="0" err="1"/>
              <a:t>level</a:t>
            </a:r>
            <a:endParaRPr lang="pt-BR" altLang="pt-BR" dirty="0"/>
          </a:p>
          <a:p>
            <a:pPr lvl="1" eaLnBrk="1" hangingPunct="1"/>
            <a:r>
              <a:rPr lang="pt-BR" altLang="pt-BR" dirty="0"/>
              <a:t>1, 2, 3, ..., 27, 28, 29, 30</a:t>
            </a:r>
          </a:p>
          <a:p>
            <a:pPr eaLnBrk="1" hangingPunct="1"/>
            <a:r>
              <a:rPr lang="pt-BR" altLang="pt-BR" dirty="0"/>
              <a:t>NDK</a:t>
            </a:r>
          </a:p>
          <a:p>
            <a:pPr lvl="1" eaLnBrk="1" hangingPunct="1"/>
            <a:r>
              <a:rPr lang="pt-BR" altLang="pt-BR" dirty="0"/>
              <a:t>Implementação em código nativo C/C++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EA17F58F-0E9F-7295-B260-C1ACFC205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053C33C-2998-B3ED-F352-C7311B347A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Regras do projeto Android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4F8D3A5-A0F6-5844-DC5F-20A02D0BB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25975"/>
          </a:xfrm>
        </p:spPr>
        <p:txBody>
          <a:bodyPr/>
          <a:lstStyle/>
          <a:p>
            <a:pPr eaLnBrk="1" hangingPunct="1"/>
            <a:r>
              <a:rPr lang="pt-BR" altLang="pt-BR"/>
              <a:t>Contribuidor</a:t>
            </a:r>
          </a:p>
          <a:p>
            <a:pPr lvl="1" eaLnBrk="1" hangingPunct="1"/>
            <a:r>
              <a:rPr lang="pt-BR" altLang="pt-BR"/>
              <a:t>Desenvolve o Android</a:t>
            </a:r>
          </a:p>
          <a:p>
            <a:pPr eaLnBrk="1" hangingPunct="1"/>
            <a:r>
              <a:rPr lang="pt-BR" altLang="pt-BR"/>
              <a:t>Desenvolvedor</a:t>
            </a:r>
          </a:p>
          <a:p>
            <a:pPr lvl="1" eaLnBrk="1" hangingPunct="1"/>
            <a:r>
              <a:rPr lang="pt-BR" altLang="pt-BR"/>
              <a:t>Desenvolve aplicações Android</a:t>
            </a:r>
          </a:p>
          <a:p>
            <a:pPr eaLnBrk="1" hangingPunct="1"/>
            <a:r>
              <a:rPr lang="pt-BR" altLang="pt-BR"/>
              <a:t>Verificador</a:t>
            </a:r>
          </a:p>
          <a:p>
            <a:pPr eaLnBrk="1" hangingPunct="1"/>
            <a:r>
              <a:rPr lang="pt-BR" altLang="pt-BR"/>
              <a:t>Aprovador</a:t>
            </a:r>
          </a:p>
          <a:p>
            <a:pPr lvl="1" eaLnBrk="1" hangingPunct="1"/>
            <a:r>
              <a:rPr lang="pt-BR" altLang="pt-BR"/>
              <a:t>Membros experientes do projeto</a:t>
            </a:r>
          </a:p>
          <a:p>
            <a:pPr eaLnBrk="1" hangingPunct="1"/>
            <a:r>
              <a:rPr lang="pt-BR" altLang="pt-BR"/>
              <a:t>Líder de projeto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C824094-435A-F249-D4AE-308A554FDE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Regras do projeto Android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2772232-5876-506D-C19C-1D1CEFB68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25975"/>
          </a:xfrm>
        </p:spPr>
        <p:txBody>
          <a:bodyPr/>
          <a:lstStyle/>
          <a:p>
            <a:pPr eaLnBrk="1" hangingPunct="1"/>
            <a:r>
              <a:rPr lang="pt-BR" altLang="pt-BR"/>
              <a:t>Google é responsável pelo gerenciamento</a:t>
            </a:r>
          </a:p>
          <a:p>
            <a:pPr eaLnBrk="1" hangingPunct="1"/>
            <a:r>
              <a:rPr lang="pt-BR" altLang="pt-BR"/>
              <a:t>Qualquer pessoa pode participar</a:t>
            </a:r>
          </a:p>
          <a:p>
            <a:pPr lvl="1" eaLnBrk="1" hangingPunct="1"/>
            <a:r>
              <a:rPr lang="pt-BR" altLang="pt-BR"/>
              <a:t>Empresa ou indivíduo</a:t>
            </a:r>
          </a:p>
          <a:p>
            <a:pPr eaLnBrk="1" hangingPunct="1"/>
            <a:r>
              <a:rPr lang="pt-BR" altLang="pt-BR"/>
              <a:t>Podem contribuir com:</a:t>
            </a:r>
          </a:p>
          <a:p>
            <a:pPr lvl="1" eaLnBrk="1" hangingPunct="1"/>
            <a:r>
              <a:rPr lang="pt-BR" altLang="pt-BR"/>
              <a:t>Listas de discussões e perguntas</a:t>
            </a:r>
          </a:p>
          <a:p>
            <a:pPr lvl="1" eaLnBrk="1" hangingPunct="1"/>
            <a:r>
              <a:rPr lang="pt-BR" altLang="pt-BR"/>
              <a:t>Relatar </a:t>
            </a:r>
            <a:r>
              <a:rPr lang="pt-BR" altLang="pt-BR" i="1"/>
              <a:t>bugs</a:t>
            </a:r>
            <a:r>
              <a:rPr lang="pt-BR" altLang="pt-BR"/>
              <a:t> e sugerir correções</a:t>
            </a:r>
          </a:p>
          <a:p>
            <a:pPr lvl="1" eaLnBrk="1" hangingPunct="1"/>
            <a:r>
              <a:rPr lang="pt-BR" altLang="pt-BR"/>
              <a:t>Ver as correções e usar ferramentas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D6F9B00-68A8-0037-427C-014FD288E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Tarefas no Android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1E1586A-4430-98A5-82C2-C7C34039AF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91012"/>
          </a:xfrm>
        </p:spPr>
        <p:txBody>
          <a:bodyPr/>
          <a:lstStyle/>
          <a:p>
            <a:pPr eaLnBrk="1" hangingPunct="1"/>
            <a:r>
              <a:rPr lang="pt-BR" altLang="pt-BR"/>
              <a:t>O Android consiste em um conjunto de componentes visuais e não visuais </a:t>
            </a:r>
          </a:p>
          <a:p>
            <a:pPr lvl="1" eaLnBrk="1" hangingPunct="1"/>
            <a:r>
              <a:rPr lang="pt-BR" altLang="pt-BR"/>
              <a:t>Permite o reuso de componentes de outras aplicações</a:t>
            </a:r>
          </a:p>
          <a:p>
            <a:pPr eaLnBrk="1" hangingPunct="1"/>
            <a:r>
              <a:rPr lang="pt-BR" altLang="pt-BR" u="sng"/>
              <a:t>Tarefa</a:t>
            </a:r>
          </a:p>
          <a:p>
            <a:pPr lvl="1" eaLnBrk="1" hangingPunct="1"/>
            <a:r>
              <a:rPr lang="pt-BR" altLang="pt-BR"/>
              <a:t>Uso de uma outra aplicação Android para acessar outros componentes</a:t>
            </a:r>
          </a:p>
          <a:p>
            <a:pPr lvl="1" eaLnBrk="1" hangingPunct="1"/>
            <a:endParaRPr lang="pt-BR" alt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FAEEBA5-2A0B-AF13-F63F-401AC8E98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Tarefas no Android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3348CA6-CEBA-91F8-1D2B-590E29C90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91012"/>
          </a:xfrm>
        </p:spPr>
        <p:txBody>
          <a:bodyPr/>
          <a:lstStyle/>
          <a:p>
            <a:pPr eaLnBrk="1" hangingPunct="1"/>
            <a:r>
              <a:rPr lang="pt-BR" altLang="pt-BR"/>
              <a:t>Exemplo</a:t>
            </a:r>
          </a:p>
          <a:p>
            <a:pPr lvl="1" eaLnBrk="1" hangingPunct="1"/>
            <a:r>
              <a:rPr lang="pt-BR" altLang="pt-BR"/>
              <a:t>Construir uma aplicação que acessa o gerenciador de fotos</a:t>
            </a:r>
          </a:p>
          <a:p>
            <a:pPr lvl="1" eaLnBrk="1" hangingPunct="1"/>
            <a:r>
              <a:rPr lang="pt-BR" altLang="pt-BR"/>
              <a:t>Ao acessar o gerenciador pode-se escolher uma foto, mesmo o componente não fazendo parte da sua aplicação</a:t>
            </a:r>
          </a:p>
          <a:p>
            <a:pPr lvl="1" eaLnBrk="1" hangingPunct="1"/>
            <a:r>
              <a:rPr lang="pt-BR" altLang="pt-BR"/>
              <a:t>A foto escolhida pode ser usada na sua aplicação</a:t>
            </a:r>
          </a:p>
          <a:p>
            <a:pPr lvl="1" eaLnBrk="1" hangingPunct="1"/>
            <a:endParaRPr lang="pt-BR" alt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EA380C3E-3B9B-6B0C-ACDB-EE31AA217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2214563"/>
            <a:ext cx="9001125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2">
            <a:extLst>
              <a:ext uri="{FF2B5EF4-FFF2-40B4-BE49-F238E27FC236}">
                <a16:creationId xmlns:a16="http://schemas.microsoft.com/office/drawing/2014/main" id="{05FE22DD-C799-B40A-121A-B838E33B2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Tarefas no Android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1E02088-05E5-B1FD-19BD-85D5C3E42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Componentes do Android</a:t>
            </a:r>
          </a:p>
        </p:txBody>
      </p:sp>
      <p:pic>
        <p:nvPicPr>
          <p:cNvPr id="16387" name="Picture 9">
            <a:extLst>
              <a:ext uri="{FF2B5EF4-FFF2-40B4-BE49-F238E27FC236}">
                <a16:creationId xmlns:a16="http://schemas.microsoft.com/office/drawing/2014/main" id="{0BC84630-04C2-A057-EFA0-C7C4156D3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138" y="1857375"/>
            <a:ext cx="67897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72FC918-6A75-DF5B-9D65-8E5A2FC77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Componentes Android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C5F86D7-2604-00A1-97C1-2BA16B7A8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91012"/>
          </a:xfrm>
        </p:spPr>
        <p:txBody>
          <a:bodyPr/>
          <a:lstStyle/>
          <a:p>
            <a:pPr eaLnBrk="1" hangingPunct="1"/>
            <a:r>
              <a:rPr lang="pt-BR" altLang="pt-BR"/>
              <a:t>Aplicações</a:t>
            </a:r>
          </a:p>
          <a:p>
            <a:pPr lvl="1" eaLnBrk="1" hangingPunct="1"/>
            <a:r>
              <a:rPr lang="pt-BR" altLang="pt-BR"/>
              <a:t>Aplicativos padrões como navegador, câmera, galeria, telefone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pt-BR" altLang="pt-BR"/>
              <a:t>  </a:t>
            </a:r>
          </a:p>
          <a:p>
            <a:pPr eaLnBrk="1" hangingPunct="1"/>
            <a:r>
              <a:rPr lang="pt-BR" altLang="pt-BR"/>
              <a:t>Framework de aplicações</a:t>
            </a:r>
          </a:p>
          <a:p>
            <a:pPr lvl="1" eaLnBrk="1" hangingPunct="1"/>
            <a:r>
              <a:rPr lang="pt-BR" altLang="pt-BR"/>
              <a:t>API que permite interações de alto nível com o sistem Android a partir de aplicativos do Android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EBEF7F7-EAA2-3617-220C-79ECE443D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Componentes Android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65A792C-9BC3-D33C-3331-0D7827937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91012"/>
          </a:xfrm>
        </p:spPr>
        <p:txBody>
          <a:bodyPr/>
          <a:lstStyle/>
          <a:p>
            <a:pPr eaLnBrk="1" hangingPunct="1"/>
            <a:r>
              <a:rPr lang="pt-BR" altLang="pt-BR" dirty="0"/>
              <a:t>Bibliotecas e </a:t>
            </a:r>
            <a:r>
              <a:rPr lang="pt-BR" altLang="pt-BR" dirty="0" err="1"/>
              <a:t>runtime</a:t>
            </a:r>
            <a:endParaRPr lang="pt-BR" altLang="pt-BR" dirty="0"/>
          </a:p>
          <a:p>
            <a:pPr lvl="1" eaLnBrk="1" hangingPunct="1"/>
            <a:r>
              <a:rPr lang="pt-BR" altLang="pt-BR" dirty="0"/>
              <a:t>Bibliotecas para funções comuns como renderização e armazenamento de dados</a:t>
            </a:r>
          </a:p>
          <a:p>
            <a:pPr lvl="1" eaLnBrk="1" hangingPunct="1"/>
            <a:r>
              <a:rPr lang="pt-BR" altLang="pt-BR" dirty="0"/>
              <a:t>ART e </a:t>
            </a:r>
            <a:r>
              <a:rPr lang="pt-BR" altLang="pt-BR" dirty="0" err="1"/>
              <a:t>Dalvik</a:t>
            </a:r>
            <a:r>
              <a:rPr lang="pt-BR" altLang="pt-BR" dirty="0"/>
              <a:t> </a:t>
            </a:r>
            <a:r>
              <a:rPr lang="pt-BR" altLang="pt-BR" dirty="0" err="1"/>
              <a:t>runtime</a:t>
            </a:r>
            <a:r>
              <a:rPr lang="pt-BR" altLang="pt-BR" dirty="0"/>
              <a:t> – Máquina virtual Java</a:t>
            </a:r>
          </a:p>
          <a:p>
            <a:pPr lvl="1" eaLnBrk="1" hangingPunct="1"/>
            <a:endParaRPr lang="pt-BR" altLang="pt-BR" dirty="0"/>
          </a:p>
          <a:p>
            <a:pPr eaLnBrk="1" hangingPunct="1"/>
            <a:r>
              <a:rPr lang="pt-BR" altLang="pt-BR" dirty="0"/>
              <a:t>Kernel Linux</a:t>
            </a:r>
          </a:p>
          <a:p>
            <a:pPr lvl="1" eaLnBrk="1" hangingPunct="1"/>
            <a:r>
              <a:rPr lang="pt-BR" altLang="pt-BR" dirty="0"/>
              <a:t>Camada de comunicação com o Hardware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3091CAA-B153-418A-D297-6C4ED00F9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Google Play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DB1B97C-182B-D5FD-CFF2-8E19ED1DF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91012"/>
          </a:xfrm>
        </p:spPr>
        <p:txBody>
          <a:bodyPr/>
          <a:lstStyle/>
          <a:p>
            <a:pPr eaLnBrk="1" hangingPunct="1"/>
            <a:r>
              <a:rPr lang="pt-BR" altLang="pt-BR"/>
              <a:t>Google oferece o Google Play Service</a:t>
            </a:r>
          </a:p>
          <a:p>
            <a:pPr lvl="1" eaLnBrk="1" hangingPunct="1"/>
            <a:r>
              <a:rPr lang="pt-BR" altLang="pt-BR"/>
              <a:t>Mercado de aplicações Android que permite comprar e instalar aplicações </a:t>
            </a:r>
          </a:p>
          <a:p>
            <a:pPr eaLnBrk="1" hangingPunct="1"/>
            <a:r>
              <a:rPr lang="pt-BR" altLang="pt-BR"/>
              <a:t>Aviso de atualização</a:t>
            </a:r>
          </a:p>
          <a:p>
            <a:pPr lvl="1" eaLnBrk="1" hangingPunct="1"/>
            <a:r>
              <a:rPr lang="pt-BR" altLang="pt-BR"/>
              <a:t>Aviso de atualizações dos aplicativos</a:t>
            </a:r>
          </a:p>
          <a:p>
            <a:pPr eaLnBrk="1" hangingPunct="1"/>
            <a:r>
              <a:rPr lang="pt-BR" altLang="pt-BR"/>
              <a:t>Serviços para desenvolvedores</a:t>
            </a:r>
          </a:p>
          <a:p>
            <a:pPr lvl="1" eaLnBrk="1" hangingPunct="1"/>
            <a:r>
              <a:rPr lang="pt-BR" altLang="pt-BR"/>
              <a:t>Google maps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A73CB74-7CC6-06E0-2CB8-AE02FC16A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Ferramentas de Desenvolvimento Android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747CB32-1A1C-765B-42BE-89F17E636D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91012"/>
          </a:xfrm>
        </p:spPr>
        <p:txBody>
          <a:bodyPr/>
          <a:lstStyle/>
          <a:p>
            <a:pPr eaLnBrk="1" hangingPunct="1"/>
            <a:r>
              <a:rPr lang="pt-BR" altLang="pt-BR"/>
              <a:t>Android SDK</a:t>
            </a:r>
          </a:p>
          <a:p>
            <a:pPr lvl="1" eaLnBrk="1" hangingPunct="1"/>
            <a:r>
              <a:rPr lang="pt-BR" altLang="pt-BR"/>
              <a:t>Android Software Development Kit</a:t>
            </a:r>
          </a:p>
          <a:p>
            <a:pPr lvl="1" eaLnBrk="1" hangingPunct="1"/>
            <a:r>
              <a:rPr lang="pt-BR" altLang="pt-BR"/>
              <a:t>Criar, compilar e empacotar aplicativos </a:t>
            </a:r>
          </a:p>
          <a:p>
            <a:pPr eaLnBrk="1" hangingPunct="1"/>
            <a:r>
              <a:rPr lang="pt-BR" altLang="pt-BR"/>
              <a:t>Android Debug Bridge (ADB)</a:t>
            </a:r>
          </a:p>
          <a:p>
            <a:pPr lvl="1" eaLnBrk="1" hangingPunct="1"/>
            <a:r>
              <a:rPr lang="pt-BR" altLang="pt-BR"/>
              <a:t>Ponte de depuração</a:t>
            </a:r>
          </a:p>
          <a:p>
            <a:pPr lvl="1" eaLnBrk="1" hangingPunct="1"/>
            <a:r>
              <a:rPr lang="pt-BR" altLang="pt-BR"/>
              <a:t>Dispositivo real ou virtual</a:t>
            </a:r>
          </a:p>
          <a:p>
            <a:pPr lvl="1" eaLnBrk="1" hangingPunct="1"/>
            <a:r>
              <a:rPr lang="pt-BR" altLang="pt-BR"/>
              <a:t>Gerenciamento e depuração de aplicação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3348066-E3DA-0A65-7442-5E16DEE7C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Ferramentas de Desenvolvimento Android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5B20C8B-B707-B55E-A665-79CF04F46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291012"/>
          </a:xfrm>
        </p:spPr>
        <p:txBody>
          <a:bodyPr/>
          <a:lstStyle/>
          <a:p>
            <a:pPr eaLnBrk="1" hangingPunct="1"/>
            <a:r>
              <a:rPr lang="pt-BR" altLang="pt-BR"/>
              <a:t>Gradle</a:t>
            </a:r>
          </a:p>
          <a:p>
            <a:pPr lvl="1" eaLnBrk="1" hangingPunct="1"/>
            <a:r>
              <a:rPr lang="pt-BR" altLang="pt-BR"/>
              <a:t>Kit de ferramentas de construção de aplicações</a:t>
            </a:r>
          </a:p>
          <a:p>
            <a:pPr lvl="1" eaLnBrk="1" hangingPunct="1"/>
            <a:r>
              <a:rPr lang="pt-BR" altLang="pt-BR"/>
              <a:t>Gerenciador de dependências</a:t>
            </a:r>
          </a:p>
          <a:p>
            <a:pPr lvl="1" eaLnBrk="1" hangingPunct="1"/>
            <a:r>
              <a:rPr lang="pt-BR" altLang="pt-BR"/>
              <a:t>Processo automatizado de compilação</a:t>
            </a:r>
          </a:p>
          <a:p>
            <a:pPr lvl="1" eaLnBrk="1" hangingPunct="1"/>
            <a:endParaRPr lang="pt-BR" altLang="pt-BR"/>
          </a:p>
          <a:p>
            <a:pPr eaLnBrk="1" hangingPunct="1"/>
            <a:r>
              <a:rPr lang="pt-BR" altLang="pt-BR"/>
              <a:t>Android plugin para Gradle</a:t>
            </a:r>
          </a:p>
          <a:p>
            <a:pPr lvl="1" eaLnBrk="1" hangingPunct="1"/>
            <a:r>
              <a:rPr lang="pt-BR" altLang="pt-BR"/>
              <a:t>Mecanismos de compilação para Android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BC99ADF-F06E-CECA-0133-7F6A444B9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Ferramentas de Desenvolvimento Android</a:t>
            </a:r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759D1DE2-3F26-6A6F-16CA-22DD38C73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857375"/>
            <a:ext cx="8570912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5C523BA-D9BD-B284-4511-7F1218075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Ferramentas de Desenvolvimento Android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EEABD93-2BFD-D619-AFB4-BB5AA7D16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83100"/>
          </a:xfrm>
        </p:spPr>
        <p:txBody>
          <a:bodyPr/>
          <a:lstStyle/>
          <a:p>
            <a:pPr eaLnBrk="1" hangingPunct="1"/>
            <a:r>
              <a:rPr lang="pt-BR" altLang="pt-BR"/>
              <a:t>Android Studio</a:t>
            </a:r>
          </a:p>
          <a:p>
            <a:pPr lvl="1" eaLnBrk="1" hangingPunct="1"/>
            <a:r>
              <a:rPr lang="pt-BR" altLang="pt-BR"/>
              <a:t>IDE – Ambiente de desenvolvimento integrado, baseado no IntelliJ IDE</a:t>
            </a:r>
          </a:p>
          <a:p>
            <a:pPr eaLnBrk="1" hangingPunct="1"/>
            <a:r>
              <a:rPr lang="pt-BR" altLang="pt-BR"/>
              <a:t>Android ART runtime</a:t>
            </a:r>
          </a:p>
          <a:p>
            <a:pPr lvl="1" eaLnBrk="1" hangingPunct="1"/>
            <a:r>
              <a:rPr lang="pt-BR" altLang="pt-BR"/>
              <a:t>Máquina virtual (Android 4.4 &gt;)</a:t>
            </a:r>
          </a:p>
          <a:p>
            <a:pPr lvl="1" eaLnBrk="1" hangingPunct="1"/>
            <a:r>
              <a:rPr lang="pt-BR" altLang="pt-BR"/>
              <a:t>Compilação Ahead-of-time (AOT)</a:t>
            </a:r>
          </a:p>
          <a:p>
            <a:pPr lvl="1" eaLnBrk="1" hangingPunct="1"/>
            <a:r>
              <a:rPr lang="pt-BR" altLang="pt-BR"/>
              <a:t>Melhoria na coleta de lixo</a:t>
            </a:r>
          </a:p>
          <a:p>
            <a:pPr lvl="1" eaLnBrk="1" hangingPunct="1"/>
            <a:r>
              <a:rPr lang="pt-BR" altLang="pt-BR"/>
              <a:t>Melhoria no desenvolvimento e depuração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4937549-EE50-E6FC-1F11-09722A06E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Desenvolvendo para Android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19CAF36-E564-84E2-EB3D-61CB63F6E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840287"/>
          </a:xfrm>
        </p:spPr>
        <p:txBody>
          <a:bodyPr/>
          <a:lstStyle/>
          <a:p>
            <a:pPr eaLnBrk="1" hangingPunct="1"/>
            <a:r>
              <a:rPr lang="pt-BR" altLang="pt-BR"/>
              <a:t>Como desenvolver?</a:t>
            </a:r>
          </a:p>
          <a:p>
            <a:pPr lvl="1" eaLnBrk="1" hangingPunct="1"/>
            <a:r>
              <a:rPr lang="pt-BR" altLang="pt-BR"/>
              <a:t>Criação de aplicação em Java</a:t>
            </a:r>
          </a:p>
          <a:p>
            <a:pPr lvl="1" eaLnBrk="1" hangingPunct="1"/>
            <a:r>
              <a:rPr lang="pt-BR" altLang="pt-BR"/>
              <a:t>Definição de arquivos de configuração do Android (XML)</a:t>
            </a:r>
          </a:p>
          <a:p>
            <a:pPr eaLnBrk="1" hangingPunct="1"/>
            <a:r>
              <a:rPr lang="pt-BR" altLang="pt-BR"/>
              <a:t>Construção do aplicativo Android</a:t>
            </a:r>
          </a:p>
          <a:p>
            <a:pPr lvl="1" eaLnBrk="1" hangingPunct="1"/>
            <a:r>
              <a:rPr lang="pt-BR" altLang="pt-BR"/>
              <a:t>Compilar</a:t>
            </a:r>
          </a:p>
          <a:p>
            <a:pPr lvl="1" eaLnBrk="1" hangingPunct="1"/>
            <a:r>
              <a:rPr lang="pt-BR" altLang="pt-BR"/>
              <a:t>Empacotar</a:t>
            </a:r>
          </a:p>
          <a:p>
            <a:pPr lvl="1" eaLnBrk="1" hangingPunct="1"/>
            <a:r>
              <a:rPr lang="pt-BR" altLang="pt-BR"/>
              <a:t>Implantar</a:t>
            </a:r>
          </a:p>
          <a:p>
            <a:pPr lvl="1" eaLnBrk="1" hangingPunct="1"/>
            <a:r>
              <a:rPr lang="pt-BR" altLang="pt-BR"/>
              <a:t>Iniciar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F8191AC-23A5-7E5A-7A1A-D7B920A14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Desenvolvendo para Android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82D388A-F231-B352-2DE6-7D331F853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840287"/>
          </a:xfrm>
        </p:spPr>
        <p:txBody>
          <a:bodyPr/>
          <a:lstStyle/>
          <a:p>
            <a:pPr eaLnBrk="1" hangingPunct="1"/>
            <a:r>
              <a:rPr lang="pt-BR" altLang="pt-BR" dirty="0"/>
              <a:t>Compilação Java</a:t>
            </a:r>
          </a:p>
          <a:p>
            <a:pPr lvl="1" eaLnBrk="1" hangingPunct="1"/>
            <a:r>
              <a:rPr lang="pt-BR" altLang="pt-BR" dirty="0"/>
              <a:t>Arquivo fonte transforma em .</a:t>
            </a:r>
            <a:r>
              <a:rPr lang="pt-BR" altLang="pt-BR" dirty="0" err="1"/>
              <a:t>class</a:t>
            </a:r>
            <a:endParaRPr lang="pt-BR" altLang="pt-BR" dirty="0"/>
          </a:p>
          <a:p>
            <a:pPr eaLnBrk="1" hangingPunct="1"/>
            <a:r>
              <a:rPr lang="pt-BR" altLang="pt-BR" dirty="0"/>
              <a:t>Android SDK</a:t>
            </a:r>
          </a:p>
          <a:p>
            <a:pPr lvl="1" eaLnBrk="1" hangingPunct="1"/>
            <a:r>
              <a:rPr lang="pt-BR" altLang="pt-BR" dirty="0"/>
              <a:t>Transformação do .</a:t>
            </a:r>
            <a:r>
              <a:rPr lang="pt-BR" altLang="pt-BR" dirty="0" err="1"/>
              <a:t>class</a:t>
            </a:r>
            <a:r>
              <a:rPr lang="pt-BR" altLang="pt-BR" dirty="0"/>
              <a:t> em .</a:t>
            </a:r>
            <a:r>
              <a:rPr lang="pt-BR" altLang="pt-BR" dirty="0" err="1"/>
              <a:t>dex</a:t>
            </a:r>
            <a:r>
              <a:rPr lang="pt-BR" altLang="pt-BR" dirty="0"/>
              <a:t> (Executável </a:t>
            </a:r>
            <a:r>
              <a:rPr lang="pt-BR" altLang="pt-BR" dirty="0" err="1"/>
              <a:t>Dalvik</a:t>
            </a:r>
            <a:r>
              <a:rPr lang="pt-BR" altLang="pt-BR" dirty="0"/>
              <a:t>)</a:t>
            </a:r>
          </a:p>
          <a:p>
            <a:pPr eaLnBrk="1" hangingPunct="1"/>
            <a:r>
              <a:rPr lang="pt-BR" altLang="pt-BR" dirty="0"/>
              <a:t>Android </a:t>
            </a:r>
            <a:r>
              <a:rPr lang="pt-BR" altLang="pt-BR" dirty="0" err="1"/>
              <a:t>Package</a:t>
            </a:r>
            <a:endParaRPr lang="pt-BR" altLang="pt-BR" dirty="0"/>
          </a:p>
          <a:p>
            <a:pPr lvl="1" eaLnBrk="1" hangingPunct="1"/>
            <a:r>
              <a:rPr lang="pt-BR" altLang="pt-BR" dirty="0"/>
              <a:t>Empacotamento dos arquivos .</a:t>
            </a:r>
            <a:r>
              <a:rPr lang="pt-BR" altLang="pt-BR" dirty="0" err="1"/>
              <a:t>dex</a:t>
            </a:r>
            <a:r>
              <a:rPr lang="pt-BR" altLang="pt-BR" dirty="0"/>
              <a:t>, </a:t>
            </a:r>
            <a:r>
              <a:rPr lang="pt-BR" altLang="pt-BR" dirty="0" err="1"/>
              <a:t>imagense</a:t>
            </a:r>
            <a:r>
              <a:rPr lang="pt-BR" altLang="pt-BR" dirty="0"/>
              <a:t> e .</a:t>
            </a:r>
            <a:r>
              <a:rPr lang="pt-BR" altLang="pt-BR" dirty="0" err="1"/>
              <a:t>xml</a:t>
            </a:r>
            <a:r>
              <a:rPr lang="pt-BR" altLang="pt-BR" dirty="0"/>
              <a:t> em um .</a:t>
            </a:r>
            <a:r>
              <a:rPr lang="pt-BR" altLang="pt-BR" dirty="0" err="1"/>
              <a:t>apk</a:t>
            </a:r>
            <a:endParaRPr lang="pt-BR" alt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3">
            <a:extLst>
              <a:ext uri="{FF2B5EF4-FFF2-40B4-BE49-F238E27FC236}">
                <a16:creationId xmlns:a16="http://schemas.microsoft.com/office/drawing/2014/main" id="{9AEA7F67-8157-4A87-7313-74894AAC4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6063"/>
            <a:ext cx="9144000" cy="241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68E2C446-27D5-F53F-49F9-E4F6E820D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3667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pt-BR" sz="44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Desenvolvendo para Android</a:t>
            </a:r>
            <a:endParaRPr lang="pt-BR" sz="44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454D59E-C9B2-772E-605A-BD3D6672A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Fluxo de </a:t>
            </a:r>
            <a:br>
              <a:rPr lang="pt-BR" altLang="pt-BR"/>
            </a:br>
            <a:r>
              <a:rPr lang="pt-BR" altLang="pt-BR"/>
              <a:t>Trabalho</a:t>
            </a:r>
          </a:p>
        </p:txBody>
      </p:sp>
      <p:pic>
        <p:nvPicPr>
          <p:cNvPr id="27651" name="Picture 2" descr="Development process for Android applications">
            <a:extLst>
              <a:ext uri="{FF2B5EF4-FFF2-40B4-BE49-F238E27FC236}">
                <a16:creationId xmlns:a16="http://schemas.microsoft.com/office/drawing/2014/main" id="{94D57E67-B73F-6DD2-045B-D85BD47B9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-17463"/>
            <a:ext cx="4286250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>
            <a:extLst>
              <a:ext uri="{FF2B5EF4-FFF2-40B4-BE49-F238E27FC236}">
                <a16:creationId xmlns:a16="http://schemas.microsoft.com/office/drawing/2014/main" id="{1CE65E57-DEA4-B423-567B-AFCAF9D0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Fluxo de trabalho</a:t>
            </a:r>
          </a:p>
        </p:txBody>
      </p:sp>
      <p:pic>
        <p:nvPicPr>
          <p:cNvPr id="28675" name="Picture 2">
            <a:extLst>
              <a:ext uri="{FF2B5EF4-FFF2-40B4-BE49-F238E27FC236}">
                <a16:creationId xmlns:a16="http://schemas.microsoft.com/office/drawing/2014/main" id="{6628EEB1-C911-03B7-0DB6-F993813FE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928813"/>
            <a:ext cx="7646988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>
            <a:extLst>
              <a:ext uri="{FF2B5EF4-FFF2-40B4-BE49-F238E27FC236}">
                <a16:creationId xmlns:a16="http://schemas.microsoft.com/office/drawing/2014/main" id="{2718B7D2-288A-0330-9B1B-B81579DB6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Fluxo de </a:t>
            </a:r>
            <a:br>
              <a:rPr lang="pt-BR" altLang="pt-BR"/>
            </a:br>
            <a:r>
              <a:rPr lang="pt-BR" altLang="pt-BR"/>
              <a:t>trabalho</a:t>
            </a:r>
          </a:p>
        </p:txBody>
      </p:sp>
      <p:pic>
        <p:nvPicPr>
          <p:cNvPr id="29699" name="Picture 2">
            <a:extLst>
              <a:ext uri="{FF2B5EF4-FFF2-40B4-BE49-F238E27FC236}">
                <a16:creationId xmlns:a16="http://schemas.microsoft.com/office/drawing/2014/main" id="{C339854A-8A8B-4D38-402E-9F0978C74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1062038"/>
            <a:ext cx="5711825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>
            <a:extLst>
              <a:ext uri="{FF2B5EF4-FFF2-40B4-BE49-F238E27FC236}">
                <a16:creationId xmlns:a16="http://schemas.microsoft.com/office/drawing/2014/main" id="{87EEFD53-A2BC-79C8-82E9-35A3F802F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Fluxo de Trabalho</a:t>
            </a:r>
          </a:p>
        </p:txBody>
      </p:sp>
      <p:sp>
        <p:nvSpPr>
          <p:cNvPr id="30723" name="Espaço Reservado para Conteúdo 2">
            <a:extLst>
              <a:ext uri="{FF2B5EF4-FFF2-40B4-BE49-F238E27FC236}">
                <a16:creationId xmlns:a16="http://schemas.microsoft.com/office/drawing/2014/main" id="{7BC1D114-8E15-834F-1CA9-2B5E3C5DB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340225"/>
          </a:xfrm>
        </p:spPr>
        <p:txBody>
          <a:bodyPr/>
          <a:lstStyle/>
          <a:p>
            <a:r>
              <a:rPr lang="pt-BR" altLang="pt-BR"/>
              <a:t>Configuração do Ambiente</a:t>
            </a:r>
          </a:p>
          <a:p>
            <a:pPr lvl="1"/>
            <a:endParaRPr lang="pt-BR" altLang="pt-BR"/>
          </a:p>
          <a:p>
            <a:r>
              <a:rPr lang="pt-BR" altLang="pt-BR"/>
              <a:t>Configuração do projeto e desenvolvimento</a:t>
            </a:r>
          </a:p>
          <a:p>
            <a:pPr lvl="1"/>
            <a:endParaRPr lang="pt-BR" altLang="pt-BR"/>
          </a:p>
          <a:p>
            <a:r>
              <a:rPr lang="pt-BR" altLang="pt-BR"/>
              <a:t>Construção, depuração e teste</a:t>
            </a:r>
          </a:p>
          <a:p>
            <a:pPr lvl="1"/>
            <a:endParaRPr lang="pt-BR" altLang="pt-BR"/>
          </a:p>
          <a:p>
            <a:r>
              <a:rPr lang="pt-BR" altLang="pt-BR"/>
              <a:t>Publicação</a:t>
            </a:r>
          </a:p>
          <a:p>
            <a:endParaRPr lang="pt-BR" altLang="pt-B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>
            <a:extLst>
              <a:ext uri="{FF2B5EF4-FFF2-40B4-BE49-F238E27FC236}">
                <a16:creationId xmlns:a16="http://schemas.microsoft.com/office/drawing/2014/main" id="{4C49E30F-2B5C-11D1-C212-7281256C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SDK Manager</a:t>
            </a:r>
          </a:p>
        </p:txBody>
      </p:sp>
      <p:sp>
        <p:nvSpPr>
          <p:cNvPr id="31747" name="Espaço Reservado para Conteúdo 2">
            <a:extLst>
              <a:ext uri="{FF2B5EF4-FFF2-40B4-BE49-F238E27FC236}">
                <a16:creationId xmlns:a16="http://schemas.microsoft.com/office/drawing/2014/main" id="{D0511DC7-09B4-BD66-85C7-DF99F77FB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/>
              <a:t>Gerenciador SDK separa os pacotes em:</a:t>
            </a:r>
          </a:p>
          <a:p>
            <a:pPr lvl="1"/>
            <a:r>
              <a:rPr lang="pt-BR" altLang="pt-BR"/>
              <a:t>Ferramentas do SDK</a:t>
            </a:r>
          </a:p>
          <a:p>
            <a:pPr lvl="1"/>
            <a:r>
              <a:rPr lang="pt-BR" altLang="pt-BR"/>
              <a:t>Plataformas</a:t>
            </a:r>
          </a:p>
          <a:p>
            <a:pPr lvl="1"/>
            <a:r>
              <a:rPr lang="pt-BR" altLang="pt-BR"/>
              <a:t>Outros componentes</a:t>
            </a:r>
          </a:p>
          <a:p>
            <a:endParaRPr lang="pt-BR" altLang="pt-BR"/>
          </a:p>
          <a:p>
            <a:r>
              <a:rPr lang="pt-BR" altLang="pt-BR"/>
              <a:t>Com objetivo de facilitar o acesso de gestão de recursos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>
            <a:extLst>
              <a:ext uri="{FF2B5EF4-FFF2-40B4-BE49-F238E27FC236}">
                <a16:creationId xmlns:a16="http://schemas.microsoft.com/office/drawing/2014/main" id="{546000AE-76FC-8375-B2AE-C9D47617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SDK Manager</a:t>
            </a:r>
          </a:p>
        </p:txBody>
      </p:sp>
      <p:pic>
        <p:nvPicPr>
          <p:cNvPr id="32771" name="Picture 2">
            <a:extLst>
              <a:ext uri="{FF2B5EF4-FFF2-40B4-BE49-F238E27FC236}">
                <a16:creationId xmlns:a16="http://schemas.microsoft.com/office/drawing/2014/main" id="{7C4D0D0E-1C5E-3045-B534-A95CB26E8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6163"/>
            <a:ext cx="91440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>
            <a:extLst>
              <a:ext uri="{FF2B5EF4-FFF2-40B4-BE49-F238E27FC236}">
                <a16:creationId xmlns:a16="http://schemas.microsoft.com/office/drawing/2014/main" id="{2C100A43-998A-DBAE-C9BB-BAFDEFBF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SDK Manager</a:t>
            </a:r>
          </a:p>
        </p:txBody>
      </p:sp>
      <p:sp>
        <p:nvSpPr>
          <p:cNvPr id="34819" name="Espaço Reservado para Conteúdo 2">
            <a:extLst>
              <a:ext uri="{FF2B5EF4-FFF2-40B4-BE49-F238E27FC236}">
                <a16:creationId xmlns:a16="http://schemas.microsoft.com/office/drawing/2014/main" id="{FBC1695A-07C7-E19C-C16A-24EFECBCE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/>
              <a:t>Pacotes necessários:</a:t>
            </a:r>
          </a:p>
          <a:p>
            <a:pPr lvl="1"/>
            <a:r>
              <a:rPr lang="pt-BR" altLang="pt-BR"/>
              <a:t>SDK Tools</a:t>
            </a:r>
          </a:p>
          <a:p>
            <a:pPr lvl="1"/>
            <a:r>
              <a:rPr lang="pt-BR" altLang="pt-BR"/>
              <a:t>SDK Platform-tools</a:t>
            </a:r>
          </a:p>
          <a:p>
            <a:pPr lvl="1"/>
            <a:r>
              <a:rPr lang="pt-BR" altLang="pt-BR"/>
              <a:t>SDK Platform</a:t>
            </a:r>
          </a:p>
          <a:p>
            <a:endParaRPr lang="pt-BR" altLang="pt-BR"/>
          </a:p>
          <a:p>
            <a:r>
              <a:rPr lang="pt-BR" altLang="pt-BR"/>
              <a:t>Pacotes que devem estar instalados</a:t>
            </a:r>
          </a:p>
          <a:p>
            <a:pPr lvl="1"/>
            <a:r>
              <a:rPr lang="pt-BR" altLang="pt-BR"/>
              <a:t>Pode-se instalar versões alternativas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>
            <a:extLst>
              <a:ext uri="{FF2B5EF4-FFF2-40B4-BE49-F238E27FC236}">
                <a16:creationId xmlns:a16="http://schemas.microsoft.com/office/drawing/2014/main" id="{1841F3A7-29A8-D93A-A90E-94A1FF317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SDK Manager</a:t>
            </a:r>
          </a:p>
        </p:txBody>
      </p:sp>
      <p:sp>
        <p:nvSpPr>
          <p:cNvPr id="35843" name="Espaço Reservado para Conteúdo 2">
            <a:extLst>
              <a:ext uri="{FF2B5EF4-FFF2-40B4-BE49-F238E27FC236}">
                <a16:creationId xmlns:a16="http://schemas.microsoft.com/office/drawing/2014/main" id="{E33E0220-9677-D5B8-65A4-191C7E96D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/>
              <a:t>Pacotes sugeridos:</a:t>
            </a:r>
          </a:p>
          <a:p>
            <a:pPr lvl="1"/>
            <a:r>
              <a:rPr lang="pt-BR" altLang="pt-BR"/>
              <a:t>System Image</a:t>
            </a:r>
          </a:p>
          <a:p>
            <a:pPr lvl="1"/>
            <a:r>
              <a:rPr lang="pt-BR" altLang="pt-BR"/>
              <a:t>Android Support Library</a:t>
            </a:r>
          </a:p>
          <a:p>
            <a:pPr lvl="1"/>
            <a:r>
              <a:rPr lang="pt-BR" altLang="pt-BR"/>
              <a:t>Android Support Repository</a:t>
            </a:r>
          </a:p>
          <a:p>
            <a:pPr lvl="1"/>
            <a:r>
              <a:rPr lang="pt-BR" altLang="pt-BR"/>
              <a:t>Google Play services</a:t>
            </a:r>
          </a:p>
          <a:p>
            <a:pPr lvl="1"/>
            <a:r>
              <a:rPr lang="pt-BR" altLang="pt-BR"/>
              <a:t>Google Repository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>
            <a:extLst>
              <a:ext uri="{FF2B5EF4-FFF2-40B4-BE49-F238E27FC236}">
                <a16:creationId xmlns:a16="http://schemas.microsoft.com/office/drawing/2014/main" id="{5969E8FB-56BF-C99C-A30A-233B24AA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Emulador</a:t>
            </a:r>
          </a:p>
        </p:txBody>
      </p:sp>
      <p:sp>
        <p:nvSpPr>
          <p:cNvPr id="36867" name="Espaço Reservado para Conteúdo 2">
            <a:extLst>
              <a:ext uri="{FF2B5EF4-FFF2-40B4-BE49-F238E27FC236}">
                <a16:creationId xmlns:a16="http://schemas.microsoft.com/office/drawing/2014/main" id="{700E5F06-2B29-1FAB-6C9D-452BE8949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/>
          </a:p>
          <a:p>
            <a:r>
              <a:rPr lang="pt-BR" altLang="pt-BR"/>
              <a:t>O Android SDK inclui um emulador que virtualiza um dispositivo móvel</a:t>
            </a:r>
          </a:p>
          <a:p>
            <a:pPr lvl="1"/>
            <a:endParaRPr lang="pt-BR" altLang="pt-BR"/>
          </a:p>
          <a:p>
            <a:r>
              <a:rPr lang="pt-BR" altLang="pt-BR"/>
              <a:t>O emulador permite desenvolver e testar aplicação sem usar dispositivo físico</a:t>
            </a:r>
          </a:p>
          <a:p>
            <a:endParaRPr lang="pt-BR" altLang="pt-B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>
            <a:extLst>
              <a:ext uri="{FF2B5EF4-FFF2-40B4-BE49-F238E27FC236}">
                <a16:creationId xmlns:a16="http://schemas.microsoft.com/office/drawing/2014/main" id="{6B2F3E06-4979-BB2C-9C67-047862F5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Acelerador de Hardware</a:t>
            </a:r>
          </a:p>
        </p:txBody>
      </p:sp>
      <p:sp>
        <p:nvSpPr>
          <p:cNvPr id="37891" name="Espaço Reservado para Conteúdo 2">
            <a:extLst>
              <a:ext uri="{FF2B5EF4-FFF2-40B4-BE49-F238E27FC236}">
                <a16:creationId xmlns:a16="http://schemas.microsoft.com/office/drawing/2014/main" id="{ADEB5F37-2918-D1F7-1D8C-2EF928273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/>
              <a:t>Pacotes instalados</a:t>
            </a:r>
          </a:p>
          <a:p>
            <a:pPr lvl="1"/>
            <a:r>
              <a:rPr lang="pt-BR" altLang="pt-BR"/>
              <a:t>Android SDK Tools, revisão 17</a:t>
            </a:r>
          </a:p>
          <a:p>
            <a:pPr lvl="1"/>
            <a:r>
              <a:rPr lang="pt-BR" altLang="pt-BR"/>
              <a:t>Android SDK Platform API 15, revisão 3</a:t>
            </a:r>
          </a:p>
          <a:p>
            <a:pPr lvl="1"/>
            <a:endParaRPr lang="pt-BR" altLang="pt-BR"/>
          </a:p>
          <a:p>
            <a:r>
              <a:rPr lang="pt-BR" altLang="pt-BR"/>
              <a:t>No emulador usar a opção GPU emulation</a:t>
            </a:r>
          </a:p>
          <a:p>
            <a:pPr lvl="1"/>
            <a:r>
              <a:rPr lang="pt-BR" altLang="pt-BR"/>
              <a:t>Não usar o Snapshot</a:t>
            </a:r>
          </a:p>
          <a:p>
            <a:endParaRPr lang="pt-BR" altLang="pt-B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>
            <a:extLst>
              <a:ext uri="{FF2B5EF4-FFF2-40B4-BE49-F238E27FC236}">
                <a16:creationId xmlns:a16="http://schemas.microsoft.com/office/drawing/2014/main" id="{8A499C97-7B90-218C-817D-F4F88FD5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AVD Manager</a:t>
            </a:r>
          </a:p>
        </p:txBody>
      </p:sp>
      <p:sp>
        <p:nvSpPr>
          <p:cNvPr id="38915" name="Espaço Reservado para Conteúdo 2">
            <a:extLst>
              <a:ext uri="{FF2B5EF4-FFF2-40B4-BE49-F238E27FC236}">
                <a16:creationId xmlns:a16="http://schemas.microsoft.com/office/drawing/2014/main" id="{6BC81BBC-9D6F-697F-3F16-49295A19E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818437" cy="4411662"/>
          </a:xfrm>
        </p:spPr>
        <p:txBody>
          <a:bodyPr/>
          <a:lstStyle/>
          <a:p>
            <a:r>
              <a:rPr lang="pt-BR" altLang="pt-BR"/>
              <a:t>Gerenciador de AVD (Dispositivos Virtuais Android)</a:t>
            </a:r>
          </a:p>
          <a:p>
            <a:pPr lvl="1"/>
            <a:r>
              <a:rPr lang="pt-BR" altLang="pt-BR"/>
              <a:t>Configurações para o Emulador Android</a:t>
            </a:r>
          </a:p>
          <a:p>
            <a:pPr lvl="1"/>
            <a:r>
              <a:rPr lang="pt-BR" altLang="pt-BR"/>
              <a:t>Configuração de hardware</a:t>
            </a:r>
          </a:p>
          <a:p>
            <a:pPr lvl="1"/>
            <a:r>
              <a:rPr lang="pt-BR" altLang="pt-BR"/>
              <a:t>Mapeamento da imagem do sistema</a:t>
            </a:r>
          </a:p>
          <a:p>
            <a:pPr lvl="1"/>
            <a:r>
              <a:rPr lang="pt-BR" altLang="pt-BR"/>
              <a:t>Outras opções como aparência e tamanho</a:t>
            </a:r>
          </a:p>
          <a:p>
            <a:pPr lvl="1"/>
            <a:r>
              <a:rPr lang="pt-BR" altLang="pt-BR"/>
              <a:t>Define área de armazenamento dedicada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>
            <a:extLst>
              <a:ext uri="{FF2B5EF4-FFF2-40B4-BE49-F238E27FC236}">
                <a16:creationId xmlns:a16="http://schemas.microsoft.com/office/drawing/2014/main" id="{3C0471D0-C14B-685A-BF82-3EC3E898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AVD Manager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940C3F3-8FE9-80DA-BAF3-0256F3F8F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28" y="2636912"/>
            <a:ext cx="87534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49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>
            <a:extLst>
              <a:ext uri="{FF2B5EF4-FFF2-40B4-BE49-F238E27FC236}">
                <a16:creationId xmlns:a16="http://schemas.microsoft.com/office/drawing/2014/main" id="{4448F00D-5EEB-0CED-B835-AE2B31EC1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AVD Manager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36C9E5-B767-E744-F7BF-C070BC37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029836"/>
            <a:ext cx="8136904" cy="48021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ométrico">
  <a:themeElements>
    <a:clrScheme name="Geométrico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é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eomé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étrico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étrico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étrico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é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é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Geométrico</Template>
  <TotalTime>660</TotalTime>
  <Words>766</Words>
  <Application>Microsoft Office PowerPoint</Application>
  <PresentationFormat>Apresentação na tela (4:3)</PresentationFormat>
  <Paragraphs>186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2" baseType="lpstr">
      <vt:lpstr>Tahoma</vt:lpstr>
      <vt:lpstr>Arial</vt:lpstr>
      <vt:lpstr>Wingdings</vt:lpstr>
      <vt:lpstr>Calibri</vt:lpstr>
      <vt:lpstr>Geométrico</vt:lpstr>
      <vt:lpstr>Desenvolvimento Android</vt:lpstr>
      <vt:lpstr>O que é o Android</vt:lpstr>
      <vt:lpstr>O que é o Android</vt:lpstr>
      <vt:lpstr>Principais objetivos do Android</vt:lpstr>
      <vt:lpstr>Principais objetivos do Android</vt:lpstr>
      <vt:lpstr>Apresentação do PowerPoint</vt:lpstr>
      <vt:lpstr>Características Android</vt:lpstr>
      <vt:lpstr>Apresentação do PowerPoint</vt:lpstr>
      <vt:lpstr>Regras do projeto Android</vt:lpstr>
      <vt:lpstr>Regras do projeto Android</vt:lpstr>
      <vt:lpstr>Tarefas no Android</vt:lpstr>
      <vt:lpstr>Tarefas no Android</vt:lpstr>
      <vt:lpstr>Tarefas no Android</vt:lpstr>
      <vt:lpstr>Componentes do Android</vt:lpstr>
      <vt:lpstr>Componentes Android</vt:lpstr>
      <vt:lpstr>Componentes Android</vt:lpstr>
      <vt:lpstr>Google Play</vt:lpstr>
      <vt:lpstr>Ferramentas de Desenvolvimento Android</vt:lpstr>
      <vt:lpstr>Ferramentas de Desenvolvimento Android</vt:lpstr>
      <vt:lpstr>Ferramentas de Desenvolvimento Android</vt:lpstr>
      <vt:lpstr>Ferramentas de Desenvolvimento Android</vt:lpstr>
      <vt:lpstr>Desenvolvendo para Android</vt:lpstr>
      <vt:lpstr>Desenvolvendo para Android</vt:lpstr>
      <vt:lpstr>Apresentação do PowerPoint</vt:lpstr>
      <vt:lpstr>Fluxo de  Trabalho</vt:lpstr>
      <vt:lpstr>Fluxo de trabalho</vt:lpstr>
      <vt:lpstr>Fluxo de  trabalho</vt:lpstr>
      <vt:lpstr>Fluxo de Trabalho</vt:lpstr>
      <vt:lpstr>SDK Manager</vt:lpstr>
      <vt:lpstr>SDK Manager</vt:lpstr>
      <vt:lpstr>SDK Manager</vt:lpstr>
      <vt:lpstr>SDK Manager</vt:lpstr>
      <vt:lpstr>Emulador</vt:lpstr>
      <vt:lpstr>Acelerador de Hardware</vt:lpstr>
      <vt:lpstr>AVD Manager</vt:lpstr>
      <vt:lpstr>AVD Manager</vt:lpstr>
      <vt:lpstr>AVD Manager</vt:lpstr>
    </vt:vector>
  </TitlesOfParts>
  <Company>Tomolgorov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BDI – Definições Gerais</dc:title>
  <dc:creator>Osvaldo Cesar Pinheiro de Almeida</dc:creator>
  <cp:lastModifiedBy>OSVALDO CESAR PINHEIRO DE ALMEIDA</cp:lastModifiedBy>
  <cp:revision>64</cp:revision>
  <dcterms:created xsi:type="dcterms:W3CDTF">2008-08-21T12:42:04Z</dcterms:created>
  <dcterms:modified xsi:type="dcterms:W3CDTF">2022-08-09T20:32:29Z</dcterms:modified>
</cp:coreProperties>
</file>